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wav" ContentType="audio/x-wav"/>
  <Default Extension="jpeg" ContentType="image/jpeg"/>
  <Default Extension="JPG" ContentType="image/.jpg"/>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80"/>
  </p:handoutMasterIdLst>
  <p:sldIdLst>
    <p:sldId id="256" r:id="rId3"/>
    <p:sldId id="460" r:id="rId5"/>
    <p:sldId id="461" r:id="rId6"/>
    <p:sldId id="339" r:id="rId7"/>
    <p:sldId id="311" r:id="rId8"/>
    <p:sldId id="312" r:id="rId9"/>
    <p:sldId id="388" r:id="rId10"/>
    <p:sldId id="389" r:id="rId11"/>
    <p:sldId id="391" r:id="rId12"/>
    <p:sldId id="392" r:id="rId13"/>
    <p:sldId id="393" r:id="rId14"/>
    <p:sldId id="396" r:id="rId15"/>
    <p:sldId id="397" r:id="rId16"/>
    <p:sldId id="395" r:id="rId17"/>
    <p:sldId id="398" r:id="rId18"/>
    <p:sldId id="386" r:id="rId19"/>
    <p:sldId id="399" r:id="rId20"/>
    <p:sldId id="400" r:id="rId21"/>
    <p:sldId id="402" r:id="rId22"/>
    <p:sldId id="403" r:id="rId23"/>
    <p:sldId id="401" r:id="rId24"/>
    <p:sldId id="405" r:id="rId25"/>
    <p:sldId id="463" r:id="rId26"/>
    <p:sldId id="404" r:id="rId27"/>
    <p:sldId id="406" r:id="rId28"/>
    <p:sldId id="407" r:id="rId29"/>
    <p:sldId id="408" r:id="rId30"/>
    <p:sldId id="409" r:id="rId31"/>
    <p:sldId id="410" r:id="rId32"/>
    <p:sldId id="412" r:id="rId33"/>
    <p:sldId id="413" r:id="rId34"/>
    <p:sldId id="414" r:id="rId35"/>
    <p:sldId id="415" r:id="rId36"/>
    <p:sldId id="416" r:id="rId37"/>
    <p:sldId id="417" r:id="rId38"/>
    <p:sldId id="418" r:id="rId39"/>
    <p:sldId id="419" r:id="rId40"/>
    <p:sldId id="420" r:id="rId41"/>
    <p:sldId id="421" r:id="rId42"/>
    <p:sldId id="422" r:id="rId43"/>
    <p:sldId id="423" r:id="rId44"/>
    <p:sldId id="424" r:id="rId45"/>
    <p:sldId id="425" r:id="rId46"/>
    <p:sldId id="426" r:id="rId47"/>
    <p:sldId id="427" r:id="rId48"/>
    <p:sldId id="428" r:id="rId49"/>
    <p:sldId id="429" r:id="rId50"/>
    <p:sldId id="430" r:id="rId51"/>
    <p:sldId id="431" r:id="rId52"/>
    <p:sldId id="432" r:id="rId53"/>
    <p:sldId id="433" r:id="rId54"/>
    <p:sldId id="434" r:id="rId55"/>
    <p:sldId id="435" r:id="rId56"/>
    <p:sldId id="436" r:id="rId57"/>
    <p:sldId id="437" r:id="rId58"/>
    <p:sldId id="438" r:id="rId59"/>
    <p:sldId id="439" r:id="rId60"/>
    <p:sldId id="440" r:id="rId61"/>
    <p:sldId id="441" r:id="rId62"/>
    <p:sldId id="442" r:id="rId63"/>
    <p:sldId id="443" r:id="rId64"/>
    <p:sldId id="444" r:id="rId65"/>
    <p:sldId id="445" r:id="rId66"/>
    <p:sldId id="446" r:id="rId67"/>
    <p:sldId id="447" r:id="rId68"/>
    <p:sldId id="448" r:id="rId69"/>
    <p:sldId id="449" r:id="rId70"/>
    <p:sldId id="450" r:id="rId71"/>
    <p:sldId id="451" r:id="rId72"/>
    <p:sldId id="452" r:id="rId73"/>
    <p:sldId id="453" r:id="rId74"/>
    <p:sldId id="454" r:id="rId75"/>
    <p:sldId id="455" r:id="rId76"/>
    <p:sldId id="458" r:id="rId77"/>
    <p:sldId id="459" r:id="rId78"/>
    <p:sldId id="462" r:id="rId79"/>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377129"/>
    <a:srgbClr val="080808"/>
    <a:srgbClr val="333333"/>
    <a:srgbClr val="000000"/>
    <a:srgbClr val="1E587C"/>
    <a:srgbClr val="38B2B2"/>
    <a:srgbClr val="082A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20567"/>
    <p:restoredTop sz="86341"/>
  </p:normalViewPr>
  <p:slideViewPr>
    <p:cSldViewPr showGuides="1">
      <p:cViewPr varScale="1">
        <p:scale>
          <a:sx n="68" d="100"/>
          <a:sy n="68" d="100"/>
        </p:scale>
        <p:origin x="1048"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426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3" Type="http://schemas.openxmlformats.org/officeDocument/2006/relationships/tableStyles" Target="tableStyles.xml"/><Relationship Id="rId82" Type="http://schemas.openxmlformats.org/officeDocument/2006/relationships/viewProps" Target="viewProps.xml"/><Relationship Id="rId81" Type="http://schemas.openxmlformats.org/officeDocument/2006/relationships/presProps" Target="presProps.xml"/><Relationship Id="rId80" Type="http://schemas.openxmlformats.org/officeDocument/2006/relationships/handoutMaster" Target="handoutMasters/handoutMaster1.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767F91B-3DC2-49F9-B784-29B6828F5538}" type="datetimeFigureOut">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6320EDD6-92EE-4488-9B5F-31018A6444CA}" type="slidenum">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2FEEFC36-6295-4501-A0D6-C51DC7284462}" type="datetimeFigureOut">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C1A323F6-D64E-4064-B2D9-DAC186D10630}" type="slidenum">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幻灯片图像占位符 1"/>
          <p:cNvSpPr>
            <a:spLocks noGrp="1" noRot="1" noChangeAspect="1" noTextEdit="1"/>
          </p:cNvSpPr>
          <p:nvPr>
            <p:ph type="sldImg"/>
          </p:nvPr>
        </p:nvSpPr>
        <p:spPr>
          <a:ln>
            <a:solidFill>
              <a:srgbClr val="000000">
                <a:alpha val="100000"/>
              </a:srgbClr>
            </a:solidFill>
            <a:miter lim="800000"/>
          </a:ln>
        </p:spPr>
      </p:sp>
      <p:sp>
        <p:nvSpPr>
          <p:cNvPr id="6147" name="备注占位符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zh-CN" altLang="en-US" dirty="0">
              <a:ea typeface="宋体" panose="02010600030101010101" pitchFamily="2" charset="-122"/>
            </a:endParaRPr>
          </a:p>
        </p:txBody>
      </p:sp>
      <p:sp>
        <p:nvSpPr>
          <p:cNvPr id="614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Times New Roman" panose="02020603050405020304" pitchFamily="18" charset="0"/>
                <a:ea typeface="宋体" panose="02010600030101010101" pitchFamily="2" charset="-122"/>
              </a:rPr>
            </a:fld>
            <a:endParaRPr lang="zh-CN" altLang="en-US"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defTabSz="911225" eaLnBrk="1" hangingPunct="1">
              <a:spcBef>
                <a:spcPct val="0"/>
              </a:spcBef>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82947" name="Rectangle 2"/>
          <p:cNvSpPr>
            <a:spLocks noGrp="1" noRot="1" noChangeAspect="1" noTextEdit="1"/>
          </p:cNvSpPr>
          <p:nvPr>
            <p:ph type="sldImg"/>
          </p:nvPr>
        </p:nvSpPr>
        <p:spPr>
          <a:ln>
            <a:solidFill>
              <a:srgbClr val="000000">
                <a:alpha val="100000"/>
              </a:srgbClr>
            </a:solidFill>
            <a:miter lim="800000"/>
          </a:ln>
        </p:spPr>
      </p:sp>
      <p:sp>
        <p:nvSpPr>
          <p:cNvPr id="82948" name="Rectangle 3"/>
          <p:cNvSpPr>
            <a:spLocks noGrp="1"/>
          </p:cNvSpPr>
          <p:nvPr>
            <p:ph type="body" idx="1"/>
          </p:nvPr>
        </p:nvSpPr>
        <p:spPr>
          <a:noFill/>
          <a:ln>
            <a:noFill/>
          </a:ln>
        </p:spPr>
        <p:txBody>
          <a:bodyPr wrap="square" lIns="91440" tIns="45720" rIns="91440" bIns="45720" anchor="t" anchorCtr="0"/>
          <a:p>
            <a:pPr lvl="0" eaLnBrk="1" hangingPunct="1"/>
            <a:endParaRPr lang="zh-CN" altLang="en-US" dirty="0">
              <a:latin typeface="Arial" panose="020B060402020202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gradFill rotWithShape="0">
          <a:gsLst>
            <a:gs pos="0">
              <a:schemeClr val="bg2"/>
            </a:gs>
            <a:gs pos="50000">
              <a:schemeClr val="bg1"/>
            </a:gs>
            <a:gs pos="100000">
              <a:schemeClr val="bg2"/>
            </a:gs>
          </a:gsLst>
          <a:lin ang="5400000" scaled="1"/>
        </a:gradFill>
        <a:effectLst/>
      </p:bgPr>
    </p:bg>
    <p:spTree>
      <p:nvGrpSpPr>
        <p:cNvPr id="1" name=""/>
        <p:cNvGrpSpPr/>
        <p:nvPr/>
      </p:nvGrpSpPr>
      <p:grpSpPr>
        <a:xfrm>
          <a:off x="0" y="0"/>
          <a:ext cx="0" cy="0"/>
          <a:chOff x="0" y="0"/>
          <a:chExt cx="0" cy="0"/>
        </a:xfrm>
      </p:grpSpPr>
      <p:pic>
        <p:nvPicPr>
          <p:cNvPr id="2050" name="Picture 2"/>
          <p:cNvPicPr>
            <a:picLocks noChangeAspect="1"/>
          </p:cNvPicPr>
          <p:nvPr userDrawn="1"/>
        </p:nvPicPr>
        <p:blipFill>
          <a:blip r:embed="rId2"/>
          <a:stretch>
            <a:fillRect/>
          </a:stretch>
        </p:blipFill>
        <p:spPr>
          <a:xfrm>
            <a:off x="14288" y="4763"/>
            <a:ext cx="9115425" cy="6848475"/>
          </a:xfrm>
          <a:prstGeom prst="rect">
            <a:avLst/>
          </a:prstGeom>
          <a:noFill/>
          <a:ln w="9525">
            <a:noFill/>
          </a:ln>
        </p:spPr>
      </p:pic>
      <p:sp>
        <p:nvSpPr>
          <p:cNvPr id="3100" name="Rectangle 28"/>
          <p:cNvSpPr>
            <a:spLocks noGrp="1" noChangeArrowheads="1"/>
          </p:cNvSpPr>
          <p:nvPr>
            <p:ph type="ctrTitle" sz="quarter"/>
          </p:nvPr>
        </p:nvSpPr>
        <p:spPr>
          <a:xfrm>
            <a:off x="1857356" y="1928802"/>
            <a:ext cx="6643734" cy="1470025"/>
          </a:xfrm>
        </p:spPr>
        <p:txBody>
          <a:bodyPr/>
          <a:lstStyle>
            <a:lvl1pPr>
              <a:defRPr sz="4800" b="1">
                <a:solidFill>
                  <a:schemeClr val="tx1"/>
                </a:solidFill>
              </a:defRPr>
            </a:lvl1pPr>
          </a:lstStyle>
          <a:p>
            <a:r>
              <a:rPr lang="zh-CN" altLang="en-US"/>
              <a:t>单击此处编辑母版标题样式</a:t>
            </a:r>
            <a:endParaRPr lang="zh-CN" altLang="en-US" dirty="0"/>
          </a:p>
        </p:txBody>
      </p:sp>
      <p:sp>
        <p:nvSpPr>
          <p:cNvPr id="3101" name="Rectangle 29"/>
          <p:cNvSpPr>
            <a:spLocks noGrp="1" noChangeArrowheads="1"/>
          </p:cNvSpPr>
          <p:nvPr>
            <p:ph type="subTitle" sz="quarter" idx="1"/>
          </p:nvPr>
        </p:nvSpPr>
        <p:spPr>
          <a:xfrm>
            <a:off x="2214546" y="4386266"/>
            <a:ext cx="5200664" cy="685808"/>
          </a:xfrm>
        </p:spPr>
        <p:txBody>
          <a:bodyPr/>
          <a:lstStyle>
            <a:lvl1pPr marL="0" indent="0">
              <a:buFont typeface="Wingdings" panose="05000000000000000000" pitchFamily="2" charset="2"/>
              <a:buNone/>
              <a:defRPr>
                <a:solidFill>
                  <a:schemeClr val="tx1">
                    <a:lumMod val="25000"/>
                  </a:schemeClr>
                </a:solidFill>
                <a:latin typeface="宋体" panose="02010600030101010101" pitchFamily="2" charset="-122"/>
                <a:ea typeface="宋体" panose="02010600030101010101" pitchFamily="2" charset="-122"/>
              </a:defRPr>
            </a:lvl1pPr>
          </a:lstStyle>
          <a:p>
            <a:r>
              <a:rPr lang="zh-CN" altLang="en-US" dirty="0"/>
              <a:t>单击此处编辑母版副标题样式</a:t>
            </a:r>
            <a:endParaRPr lang="en-US" altLang="zh-CN" dirty="0"/>
          </a:p>
        </p:txBody>
      </p:sp>
      <p:sp>
        <p:nvSpPr>
          <p:cNvPr id="9" name="Rectangle 25"/>
          <p:cNvSpPr>
            <a:spLocks noGrp="1" noChangeArrowheads="1"/>
          </p:cNvSpPr>
          <p:nvPr>
            <p:ph type="dt" sz="quarter" idx="2"/>
          </p:nvPr>
        </p:nvSpPr>
        <p:spPr bwMode="auto">
          <a:xfrm>
            <a:off x="457200" y="6245225"/>
            <a:ext cx="21336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 name="Rectangle 26"/>
          <p:cNvSpPr>
            <a:spLocks noGrp="1" noChangeArrowheads="1"/>
          </p:cNvSpPr>
          <p:nvPr>
            <p:ph type="ftr" sz="quarter" idx="3"/>
          </p:nvPr>
        </p:nvSpPr>
        <p:spPr bwMode="auto">
          <a:xfrm>
            <a:off x="3124200" y="6245225"/>
            <a:ext cx="28956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 name="Rectangle 27"/>
          <p:cNvSpPr>
            <a:spLocks noGrp="1" noChangeArrowheads="1"/>
          </p:cNvSpPr>
          <p:nvPr>
            <p:ph type="sldNum" sz="quarter" idx="4"/>
          </p:nvPr>
        </p:nvSpPr>
        <p:spPr bwMode="auto">
          <a:xfrm>
            <a:off x="6553200" y="6245225"/>
            <a:ext cx="21336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8D062309-7BB6-41F4-B8FE-75957824C2B2}"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42860"/>
            <a:ext cx="8229600" cy="1143000"/>
          </a:xfrm>
        </p:spPr>
        <p:txBody>
          <a:bodyPr/>
          <a:lstStyle>
            <a:lvl1pPr>
              <a:defRPr sz="3200"/>
            </a:lvl1p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lstStyle>
            <a:lvl1pPr marL="0">
              <a:defRPr/>
            </a:lvl1pPr>
            <a:lvl2pPr marL="0">
              <a:defRPr/>
            </a:lvl2pPr>
            <a:lvl3pPr marL="0">
              <a:defRPr/>
            </a:lvl3pPr>
            <a:lvl4pPr marL="0">
              <a:defRPr/>
            </a:lvl4pPr>
            <a:lvl5pPr marL="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DD4CD6F-9A62-442A-A6D0-B90784D22A1E}"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DD4CD6F-9A62-442A-A6D0-B90784D22A1E}"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DD4CD6F-9A62-442A-A6D0-B90784D22A1E}"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DD4CD6F-9A62-442A-A6D0-B90784D22A1E}"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DD4CD6F-9A62-442A-A6D0-B90784D22A1E}"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DD4CD6F-9A62-442A-A6D0-B90784D22A1E}"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DD4CD6F-9A62-442A-A6D0-B90784D22A1E}"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A50021"/>
              </a:buClr>
              <a:buSzTx/>
              <a:buFont typeface="Wingdings" panose="05000000000000000000" pitchFamily="2" charset="2"/>
              <a:buNone/>
              <a:defRPr/>
            </a:pPr>
            <a:r>
              <a:rPr kumimoji="0" lang="zh-CN" altLang="en-US" sz="3200" b="0" i="0" u="none" strike="noStrike" kern="0" cap="none" spc="0" normalizeH="0" baseline="0" noProof="0">
                <a:ln>
                  <a:noFill/>
                </a:ln>
                <a:solidFill>
                  <a:schemeClr val="bg2"/>
                </a:solidFill>
                <a:effectLst/>
                <a:uLnTx/>
                <a:uFillTx/>
                <a:latin typeface="+mn-lt"/>
                <a:ea typeface="+mn-ea"/>
                <a:cs typeface="+mn-cs"/>
              </a:rPr>
              <a:t>单击图标添加图片</a:t>
            </a:r>
            <a:endParaRPr kumimoji="0" lang="zh-CN" altLang="en-US" sz="3200" b="0" i="0" u="none" strike="noStrike" kern="0" cap="none" spc="0" normalizeH="0" baseline="0" noProof="0">
              <a:ln>
                <a:noFill/>
              </a:ln>
              <a:solidFill>
                <a:schemeClr val="bg2"/>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DD4CD6F-9A62-442A-A6D0-B90784D22A1E}"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DD4CD6F-9A62-442A-A6D0-B90784D22A1E}"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EDD4CD6F-9A62-442A-A6D0-B90784D22A1E}"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p:pic>
        <p:nvPicPr>
          <p:cNvPr id="1026" name="图片 11" descr="ppt4-2.JPG"/>
          <p:cNvPicPr>
            <a:picLocks noChangeAspect="1"/>
          </p:cNvPicPr>
          <p:nvPr/>
        </p:nvPicPr>
        <p:blipFill>
          <a:blip r:embed="rId12"/>
          <a:stretch>
            <a:fillRect/>
          </a:stretch>
        </p:blipFill>
        <p:spPr>
          <a:xfrm>
            <a:off x="0" y="0"/>
            <a:ext cx="9144000" cy="6858000"/>
          </a:xfrm>
          <a:prstGeom prst="rect">
            <a:avLst/>
          </a:prstGeom>
          <a:noFill/>
          <a:ln w="9525">
            <a:noFill/>
          </a:ln>
        </p:spPr>
      </p:pic>
      <p:sp>
        <p:nvSpPr>
          <p:cNvPr id="2076" name="Rectangle 28"/>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77" name="Rectangle 29"/>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78" name="Rectangle 30"/>
          <p:cNvSpPr>
            <a:spLocks noGrp="1" noChangeArrowheads="1"/>
          </p:cNvSpPr>
          <p:nvPr>
            <p:ph type="sldNum" sz="quarter" idx="4"/>
          </p:nvPr>
        </p:nvSpPr>
        <p:spPr bwMode="auto">
          <a:xfrm>
            <a:off x="6553200" y="6245225"/>
            <a:ext cx="2133600"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a:lvl1pPr>
          </a:lstStyle>
          <a:p>
            <a:pPr marL="0" marR="0" lvl="0" indent="0" algn="r" defTabSz="914400" rtl="0" eaLnBrk="1" fontAlgn="base" latinLnBrk="0" hangingPunct="1">
              <a:lnSpc>
                <a:spcPct val="100000"/>
              </a:lnSpc>
              <a:spcBef>
                <a:spcPct val="0"/>
              </a:spcBef>
              <a:spcAft>
                <a:spcPct val="0"/>
              </a:spcAft>
              <a:buClrTx/>
              <a:buSzTx/>
              <a:buFontTx/>
              <a:buNone/>
              <a:defRPr/>
            </a:pPr>
            <a:fld id="{EDD4CD6F-9A62-442A-A6D0-B90784D22A1E}"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0" name="Rectangle 31"/>
          <p:cNvSpPr>
            <a:spLocks noGrp="1"/>
          </p:cNvSpPr>
          <p:nvPr>
            <p:ph type="title"/>
          </p:nvPr>
        </p:nvSpPr>
        <p:spPr>
          <a:xfrm>
            <a:off x="414338" y="488950"/>
            <a:ext cx="8229600" cy="654050"/>
          </a:xfrm>
          <a:prstGeom prst="rect">
            <a:avLst/>
          </a:prstGeom>
          <a:noFill/>
          <a:ln w="9525">
            <a:noFill/>
          </a:ln>
        </p:spPr>
        <p:txBody>
          <a:bodyPr anchor="ctr" anchorCtr="0"/>
          <a:p>
            <a:pPr lvl="0"/>
            <a:r>
              <a:rPr lang="zh-CN" altLang="en-US" dirty="0"/>
              <a:t>单击此处添加标题</a:t>
            </a:r>
            <a:endParaRPr lang="zh-CN" altLang="en-US" dirty="0"/>
          </a:p>
        </p:txBody>
      </p:sp>
      <p:sp>
        <p:nvSpPr>
          <p:cNvPr id="1031" name="Rectangle 32"/>
          <p:cNvSpPr>
            <a:spLocks noGrp="1"/>
          </p:cNvSpPr>
          <p:nvPr>
            <p:ph type="body" idx="1"/>
          </p:nvPr>
        </p:nvSpPr>
        <p:spPr>
          <a:xfrm>
            <a:off x="457200" y="1600200"/>
            <a:ext cx="8229600" cy="4525963"/>
          </a:xfrm>
          <a:prstGeom prst="rect">
            <a:avLst/>
          </a:prstGeom>
          <a:noFill/>
          <a:ln w="9525">
            <a:noFill/>
          </a:ln>
        </p:spPr>
        <p:txBody>
          <a:bodyPr/>
          <a:p>
            <a:pPr lvl="0"/>
            <a:endParaRPr lang="zh-CN" altLang="en-US" dirty="0"/>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spcBef>
          <a:spcPct val="0"/>
        </a:spcBef>
        <a:spcAft>
          <a:spcPct val="0"/>
        </a:spcAft>
        <a:defRPr sz="3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a:solidFill>
            <a:schemeClr val="tx1"/>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4400">
          <a:solidFill>
            <a:srgbClr val="A50021"/>
          </a:solidFill>
          <a:latin typeface="Times New Roman" panose="02020603050405020304" pitchFamily="18" charset="0"/>
        </a:defRPr>
      </a:lvl6pPr>
      <a:lvl7pPr marL="914400" algn="l" rtl="0" eaLnBrk="1" fontAlgn="base" hangingPunct="1">
        <a:spcBef>
          <a:spcPct val="0"/>
        </a:spcBef>
        <a:spcAft>
          <a:spcPct val="0"/>
        </a:spcAft>
        <a:defRPr sz="4400">
          <a:solidFill>
            <a:srgbClr val="A50021"/>
          </a:solidFill>
          <a:latin typeface="Times New Roman" panose="02020603050405020304" pitchFamily="18" charset="0"/>
        </a:defRPr>
      </a:lvl7pPr>
      <a:lvl8pPr marL="1371600" algn="l" rtl="0" eaLnBrk="1" fontAlgn="base" hangingPunct="1">
        <a:spcBef>
          <a:spcPct val="0"/>
        </a:spcBef>
        <a:spcAft>
          <a:spcPct val="0"/>
        </a:spcAft>
        <a:defRPr sz="4400">
          <a:solidFill>
            <a:srgbClr val="A50021"/>
          </a:solidFill>
          <a:latin typeface="Times New Roman" panose="02020603050405020304" pitchFamily="18" charset="0"/>
        </a:defRPr>
      </a:lvl8pPr>
      <a:lvl9pPr marL="1828800" algn="l" rtl="0" eaLnBrk="1" fontAlgn="base" hangingPunct="1">
        <a:spcBef>
          <a:spcPct val="0"/>
        </a:spcBef>
        <a:spcAft>
          <a:spcPct val="0"/>
        </a:spcAft>
        <a:defRPr sz="4400">
          <a:solidFill>
            <a:srgbClr val="A50021"/>
          </a:solidFill>
          <a:latin typeface="Times New Roman" panose="02020603050405020304" pitchFamily="18" charset="0"/>
        </a:defRPr>
      </a:lvl9pPr>
    </p:titleStyle>
    <p:body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vl6pPr marL="2514600" indent="-228600" algn="l" rtl="0" eaLnBrk="1" fontAlgn="base" hangingPunct="1">
        <a:spcBef>
          <a:spcPct val="20000"/>
        </a:spcBef>
        <a:spcAft>
          <a:spcPct val="0"/>
        </a:spcAft>
        <a:buClr>
          <a:srgbClr val="A50021"/>
        </a:buClr>
        <a:buFont typeface="Wingdings" panose="05000000000000000000" pitchFamily="2" charset="2"/>
        <a:buChar char="q"/>
        <a:defRPr sz="2000">
          <a:solidFill>
            <a:schemeClr val="bg2"/>
          </a:solidFill>
          <a:latin typeface="+mn-lt"/>
        </a:defRPr>
      </a:lvl6pPr>
      <a:lvl7pPr marL="2971800" indent="-228600" algn="l" rtl="0" eaLnBrk="1" fontAlgn="base" hangingPunct="1">
        <a:spcBef>
          <a:spcPct val="20000"/>
        </a:spcBef>
        <a:spcAft>
          <a:spcPct val="0"/>
        </a:spcAft>
        <a:buClr>
          <a:srgbClr val="A50021"/>
        </a:buClr>
        <a:buFont typeface="Wingdings" panose="05000000000000000000" pitchFamily="2" charset="2"/>
        <a:buChar char="q"/>
        <a:defRPr sz="2000">
          <a:solidFill>
            <a:schemeClr val="bg2"/>
          </a:solidFill>
          <a:latin typeface="+mn-lt"/>
        </a:defRPr>
      </a:lvl7pPr>
      <a:lvl8pPr marL="3429000" indent="-228600" algn="l" rtl="0" eaLnBrk="1" fontAlgn="base" hangingPunct="1">
        <a:spcBef>
          <a:spcPct val="20000"/>
        </a:spcBef>
        <a:spcAft>
          <a:spcPct val="0"/>
        </a:spcAft>
        <a:buClr>
          <a:srgbClr val="A50021"/>
        </a:buClr>
        <a:buFont typeface="Wingdings" panose="05000000000000000000" pitchFamily="2" charset="2"/>
        <a:buChar char="q"/>
        <a:defRPr sz="2000">
          <a:solidFill>
            <a:schemeClr val="bg2"/>
          </a:solidFill>
          <a:latin typeface="+mn-lt"/>
        </a:defRPr>
      </a:lvl8pPr>
      <a:lvl9pPr marL="3886200" indent="-228600" algn="l" rtl="0" eaLnBrk="1" fontAlgn="base" hangingPunct="1">
        <a:spcBef>
          <a:spcPct val="20000"/>
        </a:spcBef>
        <a:spcAft>
          <a:spcPct val="0"/>
        </a:spcAft>
        <a:buClr>
          <a:srgbClr val="A50021"/>
        </a:buClr>
        <a:buFont typeface="Wingdings" panose="05000000000000000000" pitchFamily="2" charset="2"/>
        <a:buChar char="q"/>
        <a:defRPr sz="2000">
          <a:solidFill>
            <a:schemeClr val="bg2"/>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oleObject" Target="../embeddings/oleObject2.bin"/><Relationship Id="rId2" Type="http://schemas.openxmlformats.org/officeDocument/2006/relationships/image" Target="../media/image3.png"/><Relationship Id="rId1"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7" Type="http://schemas.openxmlformats.org/officeDocument/2006/relationships/vmlDrawing" Target="../drawings/vmlDrawing2.vml"/><Relationship Id="rId6" Type="http://schemas.openxmlformats.org/officeDocument/2006/relationships/slideLayout" Target="../slideLayouts/slideLayout2.xml"/><Relationship Id="rId5" Type="http://schemas.openxmlformats.org/officeDocument/2006/relationships/oleObject" Target="../embeddings/oleObject6.bin"/><Relationship Id="rId4" Type="http://schemas.openxmlformats.org/officeDocument/2006/relationships/oleObject" Target="../embeddings/oleObject5.bin"/><Relationship Id="rId3" Type="http://schemas.openxmlformats.org/officeDocument/2006/relationships/oleObject" Target="../embeddings/oleObject4.bin"/><Relationship Id="rId2" Type="http://schemas.openxmlformats.org/officeDocument/2006/relationships/image" Target="../media/image3.png"/><Relationship Id="rId1" Type="http://schemas.openxmlformats.org/officeDocument/2006/relationships/oleObject" Target="../embeddings/oleObject3.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w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emf"/></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9" Type="http://schemas.openxmlformats.org/officeDocument/2006/relationships/vmlDrawing" Target="../drawings/vmlDrawing3.vml"/><Relationship Id="rId8" Type="http://schemas.openxmlformats.org/officeDocument/2006/relationships/slideLayout" Target="../slideLayouts/slideLayout7.xml"/><Relationship Id="rId7" Type="http://schemas.openxmlformats.org/officeDocument/2006/relationships/audio" Target="../media/audio1.wav"/><Relationship Id="rId6" Type="http://schemas.openxmlformats.org/officeDocument/2006/relationships/image" Target="../media/image15.wmf"/><Relationship Id="rId5" Type="http://schemas.openxmlformats.org/officeDocument/2006/relationships/oleObject" Target="../embeddings/oleObject9.bin"/><Relationship Id="rId4" Type="http://schemas.openxmlformats.org/officeDocument/2006/relationships/image" Target="../media/image14.wmf"/><Relationship Id="rId3" Type="http://schemas.openxmlformats.org/officeDocument/2006/relationships/oleObject" Target="../embeddings/oleObject8.bin"/><Relationship Id="rId2" Type="http://schemas.openxmlformats.org/officeDocument/2006/relationships/image" Target="../media/image13.wmf"/><Relationship Id="rId1" Type="http://schemas.openxmlformats.org/officeDocument/2006/relationships/oleObject" Target="../embeddings/oleObject7.bin"/></Relationships>
</file>

<file path=ppt/slides/_rels/slide70.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16.wmf"/><Relationship Id="rId1" Type="http://schemas.openxmlformats.org/officeDocument/2006/relationships/oleObject" Target="../embeddings/oleObject10.bin"/></Relationships>
</file>

<file path=ppt/slides/_rels/slide71.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2.xml"/><Relationship Id="rId4" Type="http://schemas.openxmlformats.org/officeDocument/2006/relationships/image" Target="../media/image18.wmf"/><Relationship Id="rId3" Type="http://schemas.openxmlformats.org/officeDocument/2006/relationships/oleObject" Target="../embeddings/oleObject12.bin"/><Relationship Id="rId2" Type="http://schemas.openxmlformats.org/officeDocument/2006/relationships/image" Target="../media/image17.wmf"/><Relationship Id="rId1" Type="http://schemas.openxmlformats.org/officeDocument/2006/relationships/oleObject" Target="../embeddings/oleObject11.bin"/></Relationships>
</file>

<file path=ppt/slides/_rels/slide72.xml.rels><?xml version="1.0" encoding="UTF-8" standalone="yes"?>
<Relationships xmlns="http://schemas.openxmlformats.org/package/2006/relationships"><Relationship Id="rId8" Type="http://schemas.openxmlformats.org/officeDocument/2006/relationships/vmlDrawing" Target="../drawings/vmlDrawing6.vml"/><Relationship Id="rId7" Type="http://schemas.openxmlformats.org/officeDocument/2006/relationships/slideLayout" Target="../slideLayouts/slideLayout2.xml"/><Relationship Id="rId6" Type="http://schemas.openxmlformats.org/officeDocument/2006/relationships/image" Target="../media/image21.wmf"/><Relationship Id="rId5" Type="http://schemas.openxmlformats.org/officeDocument/2006/relationships/oleObject" Target="../embeddings/oleObject15.bin"/><Relationship Id="rId4" Type="http://schemas.openxmlformats.org/officeDocument/2006/relationships/image" Target="../media/image20.wmf"/><Relationship Id="rId3" Type="http://schemas.openxmlformats.org/officeDocument/2006/relationships/oleObject" Target="../embeddings/oleObject14.bin"/><Relationship Id="rId2" Type="http://schemas.openxmlformats.org/officeDocument/2006/relationships/image" Target="../media/image19.wmf"/><Relationship Id="rId1" Type="http://schemas.openxmlformats.org/officeDocument/2006/relationships/oleObject" Target="../embeddings/oleObject13.bin"/></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2"/>
          <p:cNvSpPr>
            <a:spLocks noGrp="1" noChangeArrowheads="1"/>
          </p:cNvSpPr>
          <p:nvPr>
            <p:ph type="ctrTitle" sz="quarter"/>
          </p:nvPr>
        </p:nvSpPr>
        <p:spPr>
          <a:xfrm>
            <a:off x="2428875" y="2143125"/>
            <a:ext cx="4357688" cy="10715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200" b="1" i="0" u="none" strike="noStrike" kern="0" cap="none" spc="0" normalizeH="0" baseline="0" noProof="0" dirty="0">
                <a:ln>
                  <a:noFill/>
                </a:ln>
                <a:solidFill>
                  <a:schemeClr val="accent4">
                    <a:lumMod val="20000"/>
                    <a:lumOff val="80000"/>
                  </a:schemeClr>
                </a:solidFill>
                <a:effectLst/>
                <a:uLnTx/>
                <a:uFillTx/>
                <a:latin typeface="黑体" panose="02010609060101010101" pitchFamily="49" charset="-122"/>
                <a:ea typeface="黑体" panose="02010609060101010101" pitchFamily="49" charset="-122"/>
                <a:cs typeface="+mj-cs"/>
              </a:rPr>
              <a:t>软件工程</a:t>
            </a:r>
            <a:br>
              <a:rPr kumimoji="0" lang="en-US" altLang="zh-CN" sz="4200" b="1" i="0" u="none" strike="noStrike" kern="0" cap="none" spc="0" normalizeH="0" baseline="0" noProof="0" dirty="0">
                <a:ln>
                  <a:noFill/>
                </a:ln>
                <a:solidFill>
                  <a:schemeClr val="accent4">
                    <a:lumMod val="20000"/>
                    <a:lumOff val="80000"/>
                  </a:schemeClr>
                </a:solidFill>
                <a:effectLst/>
                <a:uLnTx/>
                <a:uFillTx/>
                <a:latin typeface="黑体" panose="02010609060101010101" pitchFamily="49" charset="-122"/>
                <a:ea typeface="黑体" panose="02010609060101010101" pitchFamily="49" charset="-122"/>
                <a:cs typeface="+mj-cs"/>
              </a:rPr>
            </a:br>
            <a:endParaRPr kumimoji="0" lang="zh-CN" altLang="en-US" sz="1200" b="0" i="0" u="none" strike="noStrike" kern="0" cap="none" spc="0" normalizeH="0" baseline="0" noProof="0" dirty="0">
              <a:ln>
                <a:noFill/>
              </a:ln>
              <a:solidFill>
                <a:schemeClr val="accent4">
                  <a:lumMod val="20000"/>
                  <a:lumOff val="80000"/>
                </a:schemeClr>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7" name="Rectangle 3"/>
          <p:cNvSpPr>
            <a:spLocks noGrp="1" noChangeArrowheads="1"/>
          </p:cNvSpPr>
          <p:nvPr>
            <p:ph idx="1"/>
          </p:nvPr>
        </p:nvSpPr>
        <p:spPr>
          <a:xfrm>
            <a:off x="571500" y="1500188"/>
            <a:ext cx="8143875" cy="5000625"/>
          </a:xfrm>
        </p:spPr>
        <p:txBody>
          <a:bodyPr vert="horz" wrap="square" lIns="91440" tIns="45720" rIns="91440" bIns="45720" numCol="1" anchor="t" anchorCtr="0" compatLnSpc="1"/>
          <a:lstStyle/>
          <a:p>
            <a:pPr marL="0" marR="0" lvl="0" indent="-342900" algn="l" defTabSz="914400" rtl="0" eaLnBrk="1" fontAlgn="base" latinLnBrk="0" hangingPunct="1">
              <a:lnSpc>
                <a:spcPct val="11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第一章 软件工程学概述</a:t>
            </a:r>
            <a:endParaRPr kumimoji="0"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342900" algn="l" defTabSz="914400" rtl="0" eaLnBrk="1" fontAlgn="base" latinLnBrk="0" hangingPunct="1">
              <a:lnSpc>
                <a:spcPct val="11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第二章 可行性研究</a:t>
            </a:r>
            <a:endParaRPr kumimoji="0"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342900" algn="l" defTabSz="914400" rtl="0" eaLnBrk="1" fontAlgn="base" latinLnBrk="0" hangingPunct="1">
              <a:lnSpc>
                <a:spcPct val="110000"/>
              </a:lnSpc>
              <a:spcBef>
                <a:spcPct val="20000"/>
              </a:spcBef>
              <a:spcAft>
                <a:spcPct val="0"/>
              </a:spcAft>
              <a:buClr>
                <a:srgbClr val="A50021"/>
              </a:buClr>
              <a:buSzTx/>
              <a:buFont typeface="Arial" panose="020B0604020202020204" pitchFamily="34" charset="0"/>
              <a:buNone/>
              <a:defRPr/>
            </a:pPr>
            <a:r>
              <a:rPr kumimoji="0"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第三章 需求分析</a:t>
            </a:r>
            <a:endParaRPr kumimoji="0"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342900" algn="l" defTabSz="914400" rtl="0" eaLnBrk="1" fontAlgn="base" latinLnBrk="0" hangingPunct="1">
              <a:lnSpc>
                <a:spcPct val="110000"/>
              </a:lnSpc>
              <a:spcBef>
                <a:spcPct val="20000"/>
              </a:spcBef>
              <a:spcAft>
                <a:spcPct val="0"/>
              </a:spcAft>
              <a:buClr>
                <a:srgbClr val="A50021"/>
              </a:buClr>
              <a:buSzTx/>
              <a:buFont typeface="Arial" panose="020B0604020202020204" pitchFamily="34" charset="0"/>
              <a:buNone/>
              <a:defRPr/>
            </a:pPr>
            <a:r>
              <a:rPr kumimoji="0"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第四章 总体设计</a:t>
            </a:r>
            <a:endParaRPr kumimoji="0"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342900" algn="l" defTabSz="914400" rtl="0" eaLnBrk="1" fontAlgn="base" latinLnBrk="0" hangingPunct="1">
              <a:lnSpc>
                <a:spcPct val="110000"/>
              </a:lnSpc>
              <a:spcBef>
                <a:spcPct val="20000"/>
              </a:spcBef>
              <a:spcAft>
                <a:spcPct val="0"/>
              </a:spcAft>
              <a:buClr>
                <a:srgbClr val="A50021"/>
              </a:buClr>
              <a:buSzTx/>
              <a:buFont typeface="Arial" panose="020B0604020202020204" pitchFamily="34" charset="0"/>
              <a:buNone/>
              <a:defRPr/>
            </a:pPr>
            <a:r>
              <a:rPr kumimoji="0"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第五章 详细设计</a:t>
            </a:r>
            <a:endParaRPr kumimoji="0" lang="en-US" altLang="zh-CN" sz="2400" b="1" i="0" u="none" strike="noStrike" kern="0" cap="none" spc="0" normalizeH="0" baseline="0" noProof="0" dirty="0">
              <a:ln>
                <a:noFill/>
              </a:ln>
              <a:solidFill>
                <a:srgbClr val="000000"/>
              </a:solidFill>
              <a:effectLst/>
              <a:uLnTx/>
              <a:uFillTx/>
              <a:latin typeface="+mj-lt"/>
              <a:ea typeface="宋体" panose="02010600030101010101" pitchFamily="2" charset="-122"/>
              <a:cs typeface="+mn-cs"/>
            </a:endParaRPr>
          </a:p>
          <a:p>
            <a:pPr marL="0" marR="0" lvl="0" indent="-342900" algn="l" defTabSz="914400" rtl="0" eaLnBrk="1" fontAlgn="base" latinLnBrk="0" hangingPunct="1">
              <a:lnSpc>
                <a:spcPct val="110000"/>
              </a:lnSpc>
              <a:spcBef>
                <a:spcPct val="20000"/>
              </a:spcBef>
              <a:spcAft>
                <a:spcPct val="0"/>
              </a:spcAft>
              <a:buClr>
                <a:srgbClr val="A50021"/>
              </a:buClr>
              <a:buSzTx/>
              <a:buFont typeface="Arial" panose="020B0604020202020204" pitchFamily="34" charset="0"/>
              <a:buNone/>
              <a:defRPr/>
            </a:pPr>
            <a:r>
              <a:rPr kumimoji="0"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第六章 编码与测试</a:t>
            </a:r>
            <a:endParaRPr kumimoji="0" lang="en-US" altLang="zh-CN" sz="2400" b="1" i="0" u="none" strike="noStrike" kern="0" cap="none" spc="0" normalizeH="0" baseline="0" noProof="0" dirty="0">
              <a:ln>
                <a:noFill/>
              </a:ln>
              <a:solidFill>
                <a:srgbClr val="000000"/>
              </a:solidFill>
              <a:effectLst/>
              <a:uLnTx/>
              <a:uFillTx/>
              <a:latin typeface="+mj-lt"/>
              <a:ea typeface="宋体" panose="02010600030101010101" pitchFamily="2" charset="-122"/>
              <a:cs typeface="+mn-cs"/>
            </a:endParaRPr>
          </a:p>
          <a:p>
            <a:pPr marL="0" marR="0" lvl="0" indent="-342900" algn="l" defTabSz="914400" rtl="0" eaLnBrk="1" fontAlgn="base" latinLnBrk="0" hangingPunct="1">
              <a:lnSpc>
                <a:spcPct val="110000"/>
              </a:lnSpc>
              <a:spcBef>
                <a:spcPct val="20000"/>
              </a:spcBef>
              <a:spcAft>
                <a:spcPct val="0"/>
              </a:spcAft>
              <a:buClr>
                <a:srgbClr val="A50021"/>
              </a:buClr>
              <a:buSzTx/>
              <a:buFont typeface="Arial" panose="020B0604020202020204" pitchFamily="34" charset="0"/>
              <a:buNone/>
              <a:defRPr/>
            </a:pPr>
            <a:r>
              <a:rPr kumimoji="0"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第七章 软件维护</a:t>
            </a:r>
            <a:endParaRPr kumimoji="0"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342900" algn="l" defTabSz="914400" rtl="0" eaLnBrk="1" fontAlgn="base" latinLnBrk="0" hangingPunct="1">
              <a:lnSpc>
                <a:spcPct val="11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第八章 面向对象方法学</a:t>
            </a:r>
            <a:endParaRPr kumimoji="0"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342900" algn="l" defTabSz="914400" rtl="0" eaLnBrk="1" fontAlgn="base" latinLnBrk="0" hangingPunct="1">
              <a:lnSpc>
                <a:spcPct val="11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第九章 面向对象分析设计与实现</a:t>
            </a:r>
            <a:endParaRPr kumimoji="0" lang="en-US" altLang="zh-CN"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342900" algn="l" defTabSz="914400" rtl="0" eaLnBrk="1" fontAlgn="base" latinLnBrk="0" hangingPunct="1">
              <a:lnSpc>
                <a:spcPct val="11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第十章 软件项目管理</a:t>
            </a:r>
            <a:endParaRPr kumimoji="0" lang="en-US" altLang="zh-CN" sz="28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7171" name="标题 4"/>
          <p:cNvSpPr>
            <a:spLocks noGrp="1"/>
          </p:cNvSpPr>
          <p:nvPr>
            <p:ph type="title"/>
          </p:nvPr>
        </p:nvSpPr>
        <p:spPr>
          <a:xfrm>
            <a:off x="571500" y="214313"/>
            <a:ext cx="7358063" cy="857250"/>
          </a:xfrm>
          <a:ln/>
        </p:spPr>
        <p:txBody>
          <a:bodyPr vert="horz" wrap="square" lIns="91440" tIns="45720" rIns="91440" bIns="45720" anchor="ctr" anchorCtr="0"/>
          <a:p>
            <a:pPr eaLnBrk="1" hangingPunct="1"/>
            <a:r>
              <a:rPr lang="zh-CN" altLang="en-US" b="1" dirty="0">
                <a:solidFill>
                  <a:srgbClr val="FFFFFF"/>
                </a:solidFill>
                <a:latin typeface="黑体" panose="02010609060101010101" pitchFamily="49" charset="-122"/>
                <a:ea typeface="黑体" panose="02010609060101010101" pitchFamily="49" charset="-122"/>
                <a:cs typeface="+mj-cs"/>
              </a:rPr>
              <a:t>主要内容</a:t>
            </a:r>
            <a:endParaRPr lang="zh-CN" altLang="en-US" sz="1200" dirty="0">
              <a:solidFill>
                <a:srgbClr val="FFFFFF"/>
              </a:solidFill>
              <a:latin typeface="黑体" panose="02010609060101010101" pitchFamily="49" charset="-122"/>
              <a:ea typeface="黑体" panose="02010609060101010101" pitchFamily="49" charset="-122"/>
              <a:cs typeface="+mj-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3"/>
          <p:cNvSpPr>
            <a:spLocks noGrp="1"/>
          </p:cNvSpPr>
          <p:nvPr>
            <p:ph idx="1"/>
          </p:nvPr>
        </p:nvSpPr>
        <p:spPr>
          <a:xfrm>
            <a:off x="571500" y="1500188"/>
            <a:ext cx="8143875" cy="5000625"/>
          </a:xfrm>
          <a:ln/>
        </p:spPr>
        <p:txBody>
          <a:bodyPr vert="horz" wrap="square" lIns="91440" tIns="45720" rIns="91440" bIns="45720" anchor="t" anchorCtr="0"/>
          <a:p>
            <a:pPr marL="6350" indent="-6350"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第一节 编码</a:t>
            </a:r>
            <a:endParaRPr lang="en-US" altLang="zh-CN" sz="2200" b="1" dirty="0">
              <a:latin typeface="宋体" panose="02010600030101010101" pitchFamily="2" charset="-122"/>
              <a:ea typeface="宋体" panose="02010600030101010101" pitchFamily="2" charset="-122"/>
              <a:cs typeface="+mn-cs"/>
            </a:endParaRPr>
          </a:p>
          <a:p>
            <a:pPr marL="6350" indent="-6350"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第二节 软件测试基础</a:t>
            </a:r>
            <a:endParaRPr lang="zh-CN" altLang="en-US" sz="2200" b="1" dirty="0">
              <a:latin typeface="宋体" panose="02010600030101010101" pitchFamily="2" charset="-122"/>
              <a:ea typeface="宋体" panose="02010600030101010101" pitchFamily="2" charset="-122"/>
              <a:cs typeface="+mn-cs"/>
            </a:endParaRPr>
          </a:p>
          <a:p>
            <a:pPr marL="6350" indent="-6350"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第三节 单元测试</a:t>
            </a:r>
            <a:endParaRPr lang="en-US" altLang="zh-CN" sz="2200" b="1" dirty="0">
              <a:latin typeface="宋体" panose="02010600030101010101" pitchFamily="2" charset="-122"/>
              <a:ea typeface="宋体" panose="02010600030101010101" pitchFamily="2" charset="-122"/>
              <a:cs typeface="+mn-cs"/>
            </a:endParaRPr>
          </a:p>
          <a:p>
            <a:pPr marL="6350" indent="-6350"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第四节 集成测试</a:t>
            </a:r>
            <a:endParaRPr lang="en-US" altLang="zh-CN" sz="2200" b="1" dirty="0">
              <a:latin typeface="宋体" panose="02010600030101010101" pitchFamily="2" charset="-122"/>
              <a:ea typeface="宋体" panose="02010600030101010101" pitchFamily="2" charset="-122"/>
              <a:cs typeface="+mn-cs"/>
            </a:endParaRPr>
          </a:p>
          <a:p>
            <a:pPr marL="6350" indent="-6350"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第五节 确认测试</a:t>
            </a:r>
            <a:endParaRPr lang="en-US" altLang="zh-CN" sz="2200" b="1" dirty="0">
              <a:latin typeface="宋体" panose="02010600030101010101" pitchFamily="2" charset="-122"/>
              <a:ea typeface="宋体" panose="02010600030101010101" pitchFamily="2" charset="-122"/>
              <a:cs typeface="+mn-cs"/>
            </a:endParaRPr>
          </a:p>
          <a:p>
            <a:pPr marL="6350" indent="-6350"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第六节 平行运行</a:t>
            </a:r>
            <a:endParaRPr lang="en-US" altLang="zh-CN" sz="2200" b="1" dirty="0">
              <a:latin typeface="宋体" panose="02010600030101010101" pitchFamily="2" charset="-122"/>
              <a:ea typeface="宋体" panose="02010600030101010101" pitchFamily="2" charset="-122"/>
              <a:cs typeface="+mn-cs"/>
            </a:endParaRPr>
          </a:p>
          <a:p>
            <a:pPr marL="6350" indent="-6350"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第七节 软件测试技术</a:t>
            </a:r>
            <a:endParaRPr lang="zh-CN" altLang="en-US" sz="2200" b="1" dirty="0">
              <a:latin typeface="宋体" panose="02010600030101010101" pitchFamily="2" charset="-122"/>
              <a:ea typeface="宋体" panose="02010600030101010101" pitchFamily="2" charset="-122"/>
              <a:cs typeface="+mn-cs"/>
            </a:endParaRPr>
          </a:p>
          <a:p>
            <a:pPr marL="6350" indent="-6350"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第八节 软件调试</a:t>
            </a:r>
            <a:endParaRPr lang="en-US" altLang="zh-CN" sz="2200" b="1" dirty="0">
              <a:latin typeface="宋体" panose="02010600030101010101" pitchFamily="2" charset="-122"/>
              <a:ea typeface="宋体" panose="02010600030101010101" pitchFamily="2" charset="-122"/>
              <a:cs typeface="+mn-cs"/>
            </a:endParaRPr>
          </a:p>
          <a:p>
            <a:pPr marL="6350" indent="-6350"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第九节 软件可靠性</a:t>
            </a:r>
            <a:endParaRPr lang="en-US" altLang="zh-CN" sz="2200" b="1" dirty="0">
              <a:latin typeface="宋体" panose="02010600030101010101" pitchFamily="2" charset="-122"/>
              <a:ea typeface="宋体" panose="02010600030101010101" pitchFamily="2" charset="-122"/>
              <a:cs typeface="+mn-cs"/>
            </a:endParaRPr>
          </a:p>
          <a:p>
            <a:pPr marL="6350" indent="-6350" eaLnBrk="1" hangingPunct="1">
              <a:lnSpc>
                <a:spcPct val="120000"/>
              </a:lnSpc>
              <a:buSzPct val="80000"/>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p:txBody>
      </p:sp>
      <p:sp>
        <p:nvSpPr>
          <p:cNvPr id="8195" name="标题 4"/>
          <p:cNvSpPr>
            <a:spLocks noGrp="1"/>
          </p:cNvSpPr>
          <p:nvPr>
            <p:ph type="title"/>
          </p:nvPr>
        </p:nvSpPr>
        <p:spPr>
          <a:xfrm>
            <a:off x="571500" y="214313"/>
            <a:ext cx="7358063" cy="857250"/>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br>
              <a:rPr lang="zh-CN" altLang="en-US" b="1" dirty="0">
                <a:solidFill>
                  <a:srgbClr val="FFFFFF"/>
                </a:solidFill>
                <a:latin typeface="黑体" panose="02010609060101010101" pitchFamily="49" charset="-122"/>
                <a:ea typeface="黑体" panose="02010609060101010101" pitchFamily="49" charset="-122"/>
                <a:cs typeface="+mj-cs"/>
              </a:rPr>
            </a:br>
            <a:endParaRPr lang="zh-CN" altLang="en-US" sz="1200" dirty="0">
              <a:solidFill>
                <a:srgbClr val="FFFFFF"/>
              </a:solidFill>
              <a:latin typeface="黑体" panose="02010609060101010101" pitchFamily="49" charset="-122"/>
              <a:ea typeface="黑体" panose="02010609060101010101" pitchFamily="49" charset="-122"/>
              <a:cs typeface="+mj-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229600" cy="5000625"/>
          </a:xfrm>
        </p:spPr>
        <p:txBody>
          <a:bodyPr vert="horz" wrap="square" lIns="91440" tIns="45720" rIns="91440" bIns="45720" numCol="1" anchor="t" anchorCtr="0" compatLnSpc="1"/>
          <a:lstStyle/>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通常把编码和测试统称为系统实现。</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编码就是把软件设计结果翻译成用某种程序设计语言书写的程序。</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测试是在软件投入生产性运行之前，尽可能多地发现软件中的错误，是保证软件质量的关键步骤。</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a:t>
            </a:r>
            <a:endParaRPr kumimoji="0" lang="zh-CN" altLang="en-US" sz="22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34290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42900" algn="l"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None/>
              <a:defRPr/>
            </a:pPr>
            <a:endParaRPr kumimoji="0" lang="zh-CN" altLang="en-US" sz="2800" b="0" i="0" u="none" strike="noStrike" kern="0" cap="none" spc="0" normalizeH="0" baseline="0" noProof="0" dirty="0">
              <a:ln>
                <a:noFill/>
              </a:ln>
              <a:solidFill>
                <a:schemeClr val="bg2"/>
              </a:solidFill>
              <a:effectLst/>
              <a:uLnTx/>
              <a:uFillTx/>
              <a:latin typeface="+mn-lt"/>
              <a:ea typeface="宋体" panose="02010600030101010101" pitchFamily="2" charset="-122"/>
              <a:cs typeface="+mn-cs"/>
            </a:endParaRPr>
          </a:p>
          <a:p>
            <a:pPr marL="0" marR="0" lvl="0" indent="-342900" algn="l"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None/>
              <a:defRPr/>
            </a:pPr>
            <a:endParaRPr kumimoji="0" lang="zh-CN" altLang="en-US" sz="2800" b="0" i="0" u="none" strike="noStrike" kern="0" cap="none" spc="0" normalizeH="0" baseline="0" noProof="0" dirty="0">
              <a:ln>
                <a:noFill/>
              </a:ln>
              <a:solidFill>
                <a:schemeClr val="bg2"/>
              </a:solidFill>
              <a:effectLst/>
              <a:uLnTx/>
              <a:uFillTx/>
              <a:latin typeface="+mn-lt"/>
              <a:ea typeface="宋体" panose="02010600030101010101" pitchFamily="2" charset="-122"/>
              <a:cs typeface="+mn-cs"/>
            </a:endParaRPr>
          </a:p>
        </p:txBody>
      </p:sp>
      <p:sp>
        <p:nvSpPr>
          <p:cNvPr id="9219"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内容占位符 2"/>
          <p:cNvSpPr>
            <a:spLocks noGrp="1"/>
          </p:cNvSpPr>
          <p:nvPr>
            <p:ph idx="1"/>
          </p:nvPr>
        </p:nvSpPr>
        <p:spPr>
          <a:xfrm>
            <a:off x="428625" y="1214438"/>
            <a:ext cx="4286250"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第一节  编码</a:t>
            </a:r>
            <a:endParaRPr kumimoji="0" lang="en-US" altLang="zh-CN" sz="1100" b="1" i="0" u="none" strike="noStrike" kern="0" cap="none" spc="0" normalizeH="0" baseline="0" noProof="0" dirty="0">
              <a:ln>
                <a:noFill/>
              </a:ln>
              <a:solidFill>
                <a:srgbClr val="FF0000"/>
              </a:solidFill>
              <a:effectLst/>
              <a:uLnTx/>
              <a:uFillTx/>
              <a:latin typeface="+mn-lt"/>
              <a:ea typeface="宋体" panose="02010600030101010101" pitchFamily="2" charset="-122"/>
              <a:cs typeface="+mn-cs"/>
            </a:endParaRPr>
          </a:p>
          <a:p>
            <a:pPr marL="0" marR="0" lvl="0" indent="-34290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rPr>
              <a:t>一、选择程序设计语言</a:t>
            </a:r>
            <a:endParaRPr kumimoji="0" lang="zh-CN" altLang="en-US"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程序设计语言是人和计算机通信的最基本的工具，它的特点必然会影响人的思维和解题方式，会影响人和计算机通信的方式和质量，也会影响其他人阅读和理解程序的难易程度。因此，编码之前的一项重要工作就是选择一种适当的程序设计语言。</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endParaRPr kumimoji="0" lang="en-US" altLang="zh-CN"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p:txBody>
      </p:sp>
      <p:sp>
        <p:nvSpPr>
          <p:cNvPr id="6" name="Rectangle 2"/>
          <p:cNvSpPr>
            <a:spLocks noChangeArrowheads="1"/>
          </p:cNvSpPr>
          <p:nvPr/>
        </p:nvSpPr>
        <p:spPr bwMode="auto">
          <a:xfrm>
            <a:off x="4779963" y="2216150"/>
            <a:ext cx="4006850" cy="3427413"/>
          </a:xfrm>
          <a:prstGeom prst="rect">
            <a:avLst/>
          </a:prstGeom>
          <a:noFill/>
          <a:ln w="9525">
            <a:noFill/>
            <a:miter lim="800000"/>
          </a:ln>
          <a:effectLst/>
        </p:spPr>
        <p:txBody>
          <a:bodyPr>
            <a:spAutoFit/>
          </a:bodyPr>
          <a:lstStyle/>
          <a:p>
            <a:pPr marL="0" marR="0" lvl="0" indent="0" algn="l" defTabSz="914400" rtl="0" eaLnBrk="1" fontAlgn="base" latinLnBrk="0" hangingPunct="1">
              <a:lnSpc>
                <a:spcPct val="120000"/>
              </a:lnSpc>
              <a:spcBef>
                <a:spcPct val="20000"/>
              </a:spcBef>
              <a:spcAft>
                <a:spcPct val="0"/>
              </a:spcAft>
              <a:buClr>
                <a:srgbClr val="A50021"/>
              </a:buClr>
              <a:buSzPct val="80000"/>
              <a:buFontTx/>
              <a:buNone/>
              <a:defRPr/>
            </a:pPr>
            <a:r>
              <a:rPr kumimoji="0" lang="zh-CN" altLang="en-US" sz="2200" b="1" i="0" u="none" strike="noStrike" kern="120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   </a:t>
            </a:r>
            <a:r>
              <a:rPr kumimoji="0" lang="en-US" altLang="zh-CN" sz="2200" b="1" i="0" u="none" strike="noStrike" kern="120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1.</a:t>
            </a:r>
            <a:r>
              <a:rPr kumimoji="0" lang="zh-CN" altLang="en-US" sz="2200" b="1" i="0" u="none" strike="noStrike" kern="120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选择的主要实用标准：</a:t>
            </a:r>
            <a:endParaRPr kumimoji="0" lang="en-US" altLang="zh-CN" sz="2200" b="1" i="0" u="none" strike="noStrike" kern="120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a:p>
            <a:pPr marL="711200" marR="0" lvl="0" indent="0" algn="l" defTabSz="914400" rtl="0" eaLnBrk="1" fontAlgn="base" latinLnBrk="0" hangingPunct="1">
              <a:lnSpc>
                <a:spcPct val="120000"/>
              </a:lnSpc>
              <a:spcBef>
                <a:spcPct val="0"/>
              </a:spcBef>
              <a:spcAft>
                <a:spcPct val="0"/>
              </a:spcAft>
              <a:buClr>
                <a:srgbClr val="C00000"/>
              </a:buClr>
              <a:buSzPct val="80000"/>
              <a:buFont typeface="Wingdings" panose="05000000000000000000" pitchFamily="2" charset="2"/>
              <a:buChar char="l"/>
              <a:defRPr/>
            </a:pPr>
            <a:r>
              <a:rPr kumimoji="0" lang="en-US" altLang="zh-CN"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a:t>
            </a:r>
            <a:r>
              <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系统用户的要求</a:t>
            </a:r>
            <a:endPar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711200" marR="0" lvl="0" indent="0" algn="l" defTabSz="914400" rtl="0" eaLnBrk="1" fontAlgn="base" latinLnBrk="0" hangingPunct="1">
              <a:lnSpc>
                <a:spcPct val="120000"/>
              </a:lnSpc>
              <a:spcBef>
                <a:spcPct val="0"/>
              </a:spcBef>
              <a:spcAft>
                <a:spcPct val="0"/>
              </a:spcAft>
              <a:buClr>
                <a:srgbClr val="C00000"/>
              </a:buClr>
              <a:buSzPct val="80000"/>
              <a:buFont typeface="Wingdings" panose="05000000000000000000" pitchFamily="2" charset="2"/>
              <a:buChar char="l"/>
              <a:defRPr/>
            </a:pPr>
            <a:r>
              <a:rPr kumimoji="0" lang="en-US" altLang="zh-CN"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a:t>
            </a:r>
            <a:r>
              <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可以使用的编译程序</a:t>
            </a:r>
            <a:endPar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711200" marR="0" lvl="0" indent="0" algn="l" defTabSz="914400" rtl="0" eaLnBrk="1" fontAlgn="base" latinLnBrk="0" hangingPunct="1">
              <a:lnSpc>
                <a:spcPct val="120000"/>
              </a:lnSpc>
              <a:spcBef>
                <a:spcPct val="0"/>
              </a:spcBef>
              <a:spcAft>
                <a:spcPct val="0"/>
              </a:spcAft>
              <a:buClr>
                <a:srgbClr val="C00000"/>
              </a:buClr>
              <a:buSzPct val="80000"/>
              <a:buFont typeface="Wingdings" panose="05000000000000000000" pitchFamily="2" charset="2"/>
              <a:buChar char="l"/>
              <a:defRPr/>
            </a:pPr>
            <a:r>
              <a:rPr kumimoji="0" lang="en-US" altLang="zh-CN"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a:t>
            </a:r>
            <a:r>
              <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可以得到的软件工具 </a:t>
            </a:r>
            <a:endPar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711200" marR="0" lvl="0" indent="0" algn="l" defTabSz="914400" rtl="0" eaLnBrk="1" fontAlgn="base" latinLnBrk="0" hangingPunct="1">
              <a:lnSpc>
                <a:spcPct val="120000"/>
              </a:lnSpc>
              <a:spcBef>
                <a:spcPct val="0"/>
              </a:spcBef>
              <a:spcAft>
                <a:spcPct val="0"/>
              </a:spcAft>
              <a:buClr>
                <a:srgbClr val="C00000"/>
              </a:buClr>
              <a:buSzPct val="80000"/>
              <a:buFont typeface="Wingdings" panose="05000000000000000000" pitchFamily="2" charset="2"/>
              <a:buChar char="l"/>
              <a:defRPr/>
            </a:pPr>
            <a:r>
              <a:rPr kumimoji="0" lang="en-US" altLang="zh-CN"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a:t>
            </a:r>
            <a:r>
              <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工程规模</a:t>
            </a:r>
            <a:endPar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711200" marR="0" lvl="0" indent="0" algn="l" defTabSz="914400" rtl="0" eaLnBrk="1" fontAlgn="base" latinLnBrk="0" hangingPunct="1">
              <a:lnSpc>
                <a:spcPct val="120000"/>
              </a:lnSpc>
              <a:spcBef>
                <a:spcPct val="0"/>
              </a:spcBef>
              <a:spcAft>
                <a:spcPct val="0"/>
              </a:spcAft>
              <a:buClr>
                <a:srgbClr val="C00000"/>
              </a:buClr>
              <a:buSzPct val="80000"/>
              <a:buFont typeface="Wingdings" panose="05000000000000000000" pitchFamily="2" charset="2"/>
              <a:buChar char="l"/>
              <a:defRPr/>
            </a:pPr>
            <a:r>
              <a:rPr kumimoji="0" lang="en-US" altLang="zh-CN"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a:t>
            </a:r>
            <a:r>
              <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程序员的知识</a:t>
            </a:r>
            <a:endPar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711200" marR="0" lvl="0" indent="0" algn="l" defTabSz="914400" rtl="0" eaLnBrk="1" fontAlgn="base" latinLnBrk="0" hangingPunct="1">
              <a:lnSpc>
                <a:spcPct val="120000"/>
              </a:lnSpc>
              <a:spcBef>
                <a:spcPct val="0"/>
              </a:spcBef>
              <a:spcAft>
                <a:spcPct val="0"/>
              </a:spcAft>
              <a:buClr>
                <a:srgbClr val="C00000"/>
              </a:buClr>
              <a:buSzPct val="80000"/>
              <a:buFont typeface="Wingdings" panose="05000000000000000000" pitchFamily="2" charset="2"/>
              <a:buChar char="l"/>
              <a:defRPr/>
            </a:pPr>
            <a:r>
              <a:rPr kumimoji="0" lang="en-US" altLang="zh-CN"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a:t>
            </a:r>
            <a:r>
              <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软件可移植性要求 </a:t>
            </a:r>
            <a:endPar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711200" marR="0" lvl="0" indent="0" algn="l" defTabSz="914400" rtl="0" eaLnBrk="1" fontAlgn="base" latinLnBrk="0" hangingPunct="1">
              <a:lnSpc>
                <a:spcPct val="120000"/>
              </a:lnSpc>
              <a:spcBef>
                <a:spcPct val="0"/>
              </a:spcBef>
              <a:spcAft>
                <a:spcPct val="0"/>
              </a:spcAft>
              <a:buClr>
                <a:srgbClr val="C00000"/>
              </a:buClr>
              <a:buSzPct val="80000"/>
              <a:buFont typeface="Wingdings" panose="05000000000000000000" pitchFamily="2" charset="2"/>
              <a:buChar char="l"/>
              <a:defRPr/>
            </a:pPr>
            <a:r>
              <a:rPr kumimoji="0" lang="en-US" altLang="zh-CN"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a:t>
            </a:r>
            <a:r>
              <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软件的应用领域</a:t>
            </a:r>
            <a:endPar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sp>
        <p:nvSpPr>
          <p:cNvPr id="10244"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229600"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2</a:t>
            </a:r>
            <a:r>
              <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．程序设计风格</a:t>
            </a:r>
            <a:endParaRPr kumimoji="0" lang="en-US" altLang="zh-CN"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程序实际上也是一种供人阅读的文章，有一个文章的风格问题。应该使程序具有良好的风格。</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536575"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程序内部的文档</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536575"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数据说明</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536575"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语句结构</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536575"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输入／输出方法</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sp>
        <p:nvSpPr>
          <p:cNvPr id="11267"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143875" cy="4286250"/>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3.</a:t>
            </a:r>
            <a:r>
              <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效率</a:t>
            </a:r>
            <a:endParaRPr kumimoji="0" lang="en-US" altLang="zh-CN"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效率主要是指处理机时间和存储器容量两个方面。效率属于性能要求，软件应该像对它要求的那样有效，而不应该如同人类可能做到的那样有效。</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536575"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程序运行时间</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536575"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存储器效率</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536575"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输入／输出效率</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536575"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r>
              <a:rPr kumimoji="0" lang="zh-CN" altLang="en-US" sz="2200" b="1" i="0" u="none" strike="noStrike" kern="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程序的效率和程序的简单程度是一致的，不要牺牲程序的清晰性和可读性来不必要地提高效率。</a:t>
            </a:r>
            <a:endParaRPr kumimoji="0" lang="en-US" altLang="zh-CN" sz="2200" b="1" i="0" u="none" strike="noStrike" kern="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sp>
        <p:nvSpPr>
          <p:cNvPr id="12291"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内容占位符 2"/>
          <p:cNvSpPr>
            <a:spLocks noGrp="1"/>
          </p:cNvSpPr>
          <p:nvPr>
            <p:ph idx="1"/>
          </p:nvPr>
        </p:nvSpPr>
        <p:spPr>
          <a:xfrm>
            <a:off x="428625" y="1214438"/>
            <a:ext cx="8286750"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第二节  软件测试基础</a:t>
            </a:r>
            <a:endParaRPr kumimoji="0" lang="en-US" altLang="zh-CN" sz="1100" b="1" i="0" u="none" strike="noStrike" kern="0" cap="none" spc="0" normalizeH="0" baseline="0" noProof="0" dirty="0">
              <a:ln>
                <a:noFill/>
              </a:ln>
              <a:solidFill>
                <a:srgbClr val="FF0000"/>
              </a:solidFill>
              <a:effectLst/>
              <a:uLnTx/>
              <a:uFillTx/>
              <a:latin typeface="+mn-lt"/>
              <a:ea typeface="宋体" panose="02010600030101010101" pitchFamily="2" charset="-122"/>
              <a:cs typeface="+mn-cs"/>
            </a:endParaRPr>
          </a:p>
          <a:p>
            <a:pPr marL="0" marR="0" lvl="0" indent="-34290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rPr>
              <a:t>一、软件测试的目的和重要性</a:t>
            </a:r>
            <a:endParaRPr kumimoji="0" lang="zh-CN" altLang="en-US"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因为开发工作的前期不可避免地会引入错误，测试的目的是为了发现和改正错误，这对于某些涉及人的生命安全或重要的军事、经济目标的项目显得尤其重要。</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1963</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年美国飞往火星的火箭爆炸，原因是</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FORTRAN</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程序：</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DO 5 I=1</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3 </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误写为：</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DO 5 I=1. 3  </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损失数千万美元。</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1967</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年苏联“联盟一号”宇宙飞船返回时因忽略一个小数点，在进入大气层时打不开降落伞而烧毁。</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endParaRPr kumimoji="0" lang="en-US" altLang="zh-CN"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p:txBody>
      </p:sp>
      <p:sp>
        <p:nvSpPr>
          <p:cNvPr id="13315"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页脚占位符 3"/>
          <p:cNvSpPr txBox="1">
            <a:spLocks noGrp="1"/>
          </p:cNvSpPr>
          <p:nvPr>
            <p:ph type="ftr" sz="quarter" idx="11"/>
          </p:nvPr>
        </p:nvSpPr>
        <p:spPr>
          <a:xfrm>
            <a:off x="457200" y="6245225"/>
            <a:ext cx="2133600" cy="476250"/>
          </a:xfrm>
          <a:ln/>
        </p:spPr>
        <p:txBody>
          <a:bodyPr/>
          <a:p>
            <a:pPr marL="0" indent="0" eaLnBrk="1" hangingPunct="1">
              <a:spcBef>
                <a:spcPct val="0"/>
              </a:spcBef>
              <a:buClrTx/>
              <a:buFontTx/>
              <a:buNone/>
            </a:pPr>
            <a:fld id="{9A0DB2DC-4C9A-4742-B13C-FB6460FD3503}" type="slidenum">
              <a:rPr lang="en-US" altLang="zh-CN" sz="1400" dirty="0">
                <a:solidFill>
                  <a:schemeClr val="tx1"/>
                </a:solidFill>
                <a:ea typeface="宋体" panose="02010600030101010101" pitchFamily="2" charset="-122"/>
              </a:rPr>
            </a:fld>
            <a:endParaRPr lang="en-US" altLang="zh-CN" sz="1400" dirty="0">
              <a:solidFill>
                <a:schemeClr val="tx1"/>
              </a:solidFill>
              <a:ea typeface="宋体" panose="02010600030101010101" pitchFamily="2" charset="-122"/>
            </a:endParaRPr>
          </a:p>
        </p:txBody>
      </p:sp>
      <p:sp>
        <p:nvSpPr>
          <p:cNvPr id="30723" name="Rectangle 1027"/>
          <p:cNvSpPr>
            <a:spLocks noGrp="1" noChangeArrowheads="1"/>
          </p:cNvSpPr>
          <p:nvPr>
            <p:ph idx="1"/>
          </p:nvPr>
        </p:nvSpPr>
        <p:spPr>
          <a:xfrm>
            <a:off x="409575" y="1781175"/>
            <a:ext cx="8161338" cy="194627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1</a:t>
            </a:r>
            <a:r>
              <a:rPr kumimoji="0" lang="en-US" altLang="zh-CN"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a:t>
            </a:r>
            <a:r>
              <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软件测试的开销大</a:t>
            </a:r>
            <a:endPar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按照</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Boehm</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的统计，软件测试的开销大约占总成本的30%-50%。例如：</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APPOLLO</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登月计划，80%的经费用于软件测试。</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sp>
        <p:nvSpPr>
          <p:cNvPr id="30724" name="Rectangle 1033"/>
          <p:cNvSpPr>
            <a:spLocks noChangeArrowheads="1"/>
          </p:cNvSpPr>
          <p:nvPr/>
        </p:nvSpPr>
        <p:spPr bwMode="auto">
          <a:xfrm>
            <a:off x="400050" y="3290888"/>
            <a:ext cx="8315325" cy="3179763"/>
          </a:xfrm>
          <a:prstGeom prst="rect">
            <a:avLst/>
          </a:prstGeom>
          <a:noFill/>
          <a:ln w="9525">
            <a:noFill/>
            <a:miter lim="800000"/>
          </a:ln>
        </p:spPr>
        <p:txBody>
          <a:bodyPr/>
          <a:lstStyle/>
          <a:p>
            <a:pPr marL="0" marR="0" lvl="0" indent="0" algn="l" defTabSz="914400" rtl="0" eaLnBrk="1" fontAlgn="base" latinLnBrk="0" hangingPunct="1">
              <a:lnSpc>
                <a:spcPct val="120000"/>
              </a:lnSpc>
              <a:spcBef>
                <a:spcPct val="20000"/>
              </a:spcBef>
              <a:spcAft>
                <a:spcPct val="0"/>
              </a:spcAft>
              <a:buClr>
                <a:srgbClr val="A50021"/>
              </a:buClr>
              <a:buSzPct val="80000"/>
              <a:buFontTx/>
              <a:buNone/>
              <a:defRPr/>
            </a:pPr>
            <a:r>
              <a:rPr kumimoji="0" lang="zh-CN" altLang="en-US" sz="2200" b="1" i="0" u="none" strike="noStrike" kern="120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2</a:t>
            </a:r>
            <a:r>
              <a:rPr kumimoji="0" lang="en-US" altLang="zh-CN" sz="2200" b="1" i="0" u="none" strike="noStrike" kern="120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a:t>
            </a:r>
            <a:r>
              <a:rPr kumimoji="0" lang="zh-CN" altLang="en-US" sz="2200" b="1" i="0" u="none" strike="noStrike" kern="120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不能进行“穷举”测试</a:t>
            </a:r>
            <a:endParaRPr kumimoji="0" lang="zh-CN" altLang="en-US" sz="2200" b="1" i="0" u="none" strike="noStrike" kern="120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None/>
              <a:defRPr/>
            </a:pPr>
            <a:r>
              <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只有将所有可能的情况都测试到，才有可能检查出所有的错误。但这是不可能的。</a:t>
            </a:r>
            <a:endPar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342900" marR="0" lvl="0" indent="-342900" algn="l" defTabSz="914400" rtl="0" eaLnBrk="1" fontAlgn="base" latinLnBrk="0" hangingPunct="1">
              <a:lnSpc>
                <a:spcPct val="100000"/>
              </a:lnSpc>
              <a:spcBef>
                <a:spcPct val="20000"/>
              </a:spcBef>
              <a:spcAft>
                <a:spcPct val="0"/>
              </a:spcAft>
              <a:buClr>
                <a:srgbClr val="C00000"/>
              </a:buClr>
              <a:buSzPct val="60000"/>
              <a:buFont typeface="Wingdings" panose="05000000000000000000" pitchFamily="2" charset="2"/>
              <a:buChar char="l"/>
              <a:defRPr/>
            </a:pPr>
            <a:r>
              <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例：程序</a:t>
            </a:r>
            <a:r>
              <a:rPr kumimoji="0" lang="en-US" altLang="zh-CN"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P</a:t>
            </a:r>
            <a:r>
              <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有两个整型输入量 </a:t>
            </a:r>
            <a:r>
              <a:rPr kumimoji="0" lang="en-US" altLang="zh-CN"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X、Y，</a:t>
            </a:r>
            <a:r>
              <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输出量为</a:t>
            </a:r>
            <a:r>
              <a:rPr kumimoji="0" lang="en-US" altLang="zh-CN"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Z，</a:t>
            </a:r>
            <a:r>
              <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在32位机上运行。所有的测试数据组（</a:t>
            </a:r>
            <a:r>
              <a:rPr kumimoji="0" lang="en-US" altLang="zh-CN" sz="2200" b="1" i="0" u="none" strike="noStrike" kern="1200" cap="none" spc="0" normalizeH="0" baseline="0" noProof="0" dirty="0" err="1">
                <a:ln>
                  <a:noFill/>
                </a:ln>
                <a:solidFill>
                  <a:schemeClr val="bg2"/>
                </a:solidFill>
                <a:effectLst/>
                <a:uLnTx/>
                <a:uFillTx/>
                <a:latin typeface="宋体" panose="02010600030101010101" pitchFamily="2" charset="-122"/>
                <a:ea typeface="宋体" panose="02010600030101010101" pitchFamily="2" charset="-122"/>
                <a:cs typeface="+mn-cs"/>
              </a:rPr>
              <a:t>X</a:t>
            </a:r>
            <a:r>
              <a:rPr kumimoji="0" lang="en-US" altLang="zh-CN" sz="2200" b="1" i="0" u="none" strike="noStrike" kern="1200" cap="none" spc="0" normalizeH="0" baseline="-25000" noProof="0" dirty="0" err="1">
                <a:ln>
                  <a:noFill/>
                </a:ln>
                <a:solidFill>
                  <a:schemeClr val="bg2"/>
                </a:solidFill>
                <a:effectLst/>
                <a:uLnTx/>
                <a:uFillTx/>
                <a:latin typeface="宋体" panose="02010600030101010101" pitchFamily="2" charset="-122"/>
                <a:ea typeface="宋体" panose="02010600030101010101" pitchFamily="2" charset="-122"/>
                <a:cs typeface="+mn-cs"/>
              </a:rPr>
              <a:t>i</a:t>
            </a:r>
            <a:r>
              <a:rPr kumimoji="0" lang="en-US" altLang="zh-CN" sz="2200" b="1" i="0" u="none" strike="noStrike" kern="1200" cap="none" spc="0" normalizeH="0" baseline="0" noProof="0" dirty="0" err="1">
                <a:ln>
                  <a:noFill/>
                </a:ln>
                <a:solidFill>
                  <a:schemeClr val="bg2"/>
                </a:solidFill>
                <a:effectLst/>
                <a:uLnTx/>
                <a:uFillTx/>
                <a:latin typeface="宋体" panose="02010600030101010101" pitchFamily="2" charset="-122"/>
                <a:ea typeface="宋体" panose="02010600030101010101" pitchFamily="2" charset="-122"/>
                <a:cs typeface="+mn-cs"/>
              </a:rPr>
              <a:t>，Y</a:t>
            </a:r>
            <a:r>
              <a:rPr kumimoji="0" lang="en-US" altLang="zh-CN" sz="2200" b="1" i="0" u="none" strike="noStrike" kern="1200" cap="none" spc="0" normalizeH="0" baseline="-25000" noProof="0" dirty="0" err="1">
                <a:ln>
                  <a:noFill/>
                </a:ln>
                <a:solidFill>
                  <a:schemeClr val="bg2"/>
                </a:solidFill>
                <a:effectLst/>
                <a:uLnTx/>
                <a:uFillTx/>
                <a:latin typeface="宋体" panose="02010600030101010101" pitchFamily="2" charset="-122"/>
                <a:ea typeface="宋体" panose="02010600030101010101" pitchFamily="2" charset="-122"/>
                <a:cs typeface="+mn-cs"/>
              </a:rPr>
              <a:t>i</a:t>
            </a:r>
            <a:r>
              <a:rPr kumimoji="0" lang="en-US" altLang="zh-CN"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的数目为：2</a:t>
            </a:r>
            <a:r>
              <a:rPr kumimoji="0" lang="en-US" altLang="zh-CN" sz="2200" b="1" i="0" u="none" strike="noStrike" kern="1200" cap="none" spc="0" normalizeH="0" baseline="30000" noProof="0" dirty="0">
                <a:ln>
                  <a:noFill/>
                </a:ln>
                <a:solidFill>
                  <a:schemeClr val="bg2"/>
                </a:solidFill>
                <a:effectLst/>
                <a:uLnTx/>
                <a:uFillTx/>
                <a:latin typeface="宋体" panose="02010600030101010101" pitchFamily="2" charset="-122"/>
                <a:ea typeface="宋体" panose="02010600030101010101" pitchFamily="2" charset="-122"/>
                <a:cs typeface="+mn-cs"/>
              </a:rPr>
              <a:t>32</a:t>
            </a:r>
            <a:r>
              <a:rPr kumimoji="0" lang="en-US" altLang="zh-CN"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 2</a:t>
            </a:r>
            <a:r>
              <a:rPr kumimoji="0" lang="en-US" altLang="zh-CN" sz="2200" b="1" i="0" u="none" strike="noStrike" kern="1200" cap="none" spc="0" normalizeH="0" baseline="30000" noProof="0" dirty="0">
                <a:ln>
                  <a:noFill/>
                </a:ln>
                <a:solidFill>
                  <a:schemeClr val="bg2"/>
                </a:solidFill>
                <a:effectLst/>
                <a:uLnTx/>
                <a:uFillTx/>
                <a:latin typeface="宋体" panose="02010600030101010101" pitchFamily="2" charset="-122"/>
                <a:ea typeface="宋体" panose="02010600030101010101" pitchFamily="2" charset="-122"/>
                <a:cs typeface="+mn-cs"/>
              </a:rPr>
              <a:t>32</a:t>
            </a:r>
            <a:r>
              <a:rPr kumimoji="0" lang="en-US" altLang="zh-CN"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 2</a:t>
            </a:r>
            <a:r>
              <a:rPr kumimoji="0" lang="en-US" altLang="zh-CN" sz="2200" b="1" i="0" u="none" strike="noStrike" kern="1200" cap="none" spc="0" normalizeH="0" baseline="30000" noProof="0" dirty="0">
                <a:ln>
                  <a:noFill/>
                </a:ln>
                <a:solidFill>
                  <a:schemeClr val="bg2"/>
                </a:solidFill>
                <a:effectLst/>
                <a:uLnTx/>
                <a:uFillTx/>
                <a:latin typeface="宋体" panose="02010600030101010101" pitchFamily="2" charset="-122"/>
                <a:ea typeface="宋体" panose="02010600030101010101" pitchFamily="2" charset="-122"/>
                <a:cs typeface="+mn-cs"/>
              </a:rPr>
              <a:t>64</a:t>
            </a:r>
            <a:r>
              <a:rPr kumimoji="0" lang="zh-CN" altLang="en-US" sz="2200" b="1" i="0" u="none" strike="noStrike" kern="1200" cap="none" spc="0" normalizeH="0" baseline="30000" noProof="0" dirty="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若执行需</a:t>
            </a:r>
            <a:r>
              <a:rPr kumimoji="0" lang="en-US" altLang="zh-CN"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10</a:t>
            </a:r>
            <a:r>
              <a:rPr kumimoji="0" lang="en-US" altLang="zh-CN" sz="2200" b="1" i="0" u="none" strike="noStrike" kern="1200" cap="none" spc="0" normalizeH="0" baseline="30000" noProof="0" dirty="0">
                <a:ln>
                  <a:noFill/>
                </a:ln>
                <a:solidFill>
                  <a:schemeClr val="bg2"/>
                </a:solidFill>
                <a:effectLst/>
                <a:uLnTx/>
                <a:uFillTx/>
                <a:latin typeface="宋体" panose="02010600030101010101" pitchFamily="2" charset="-122"/>
                <a:ea typeface="宋体" panose="02010600030101010101" pitchFamily="2" charset="-122"/>
                <a:cs typeface="+mn-cs"/>
              </a:rPr>
              <a:t>-3</a:t>
            </a:r>
            <a:r>
              <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秒，测试大约需用一万年。</a:t>
            </a:r>
            <a:endPar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grpSp>
        <p:nvGrpSpPr>
          <p:cNvPr id="14341" name="Group 1072"/>
          <p:cNvGrpSpPr/>
          <p:nvPr/>
        </p:nvGrpSpPr>
        <p:grpSpPr>
          <a:xfrm>
            <a:off x="6000750" y="5500688"/>
            <a:ext cx="2428875" cy="857250"/>
            <a:chOff x="1584" y="3456"/>
            <a:chExt cx="1674" cy="672"/>
          </a:xfrm>
        </p:grpSpPr>
        <p:sp>
          <p:nvSpPr>
            <p:cNvPr id="14347" name="Rectangle 1042"/>
            <p:cNvSpPr/>
            <p:nvPr/>
          </p:nvSpPr>
          <p:spPr>
            <a:xfrm>
              <a:off x="2112" y="3696"/>
              <a:ext cx="480" cy="240"/>
            </a:xfrm>
            <a:prstGeom prst="rect">
              <a:avLst/>
            </a:prstGeom>
            <a:solidFill>
              <a:srgbClr val="FFFFCC"/>
            </a:solidFill>
            <a:ln w="9525" cap="flat" cmpd="sng">
              <a:solidFill>
                <a:srgbClr val="FFC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400" dirty="0">
                  <a:solidFill>
                    <a:srgbClr val="000000"/>
                  </a:solidFill>
                  <a:ea typeface="宋体" panose="02010600030101010101" pitchFamily="2" charset="-122"/>
                </a:rPr>
                <a:t>P</a:t>
              </a:r>
              <a:endParaRPr lang="en-US" altLang="zh-CN" sz="2400" dirty="0">
                <a:solidFill>
                  <a:srgbClr val="000000"/>
                </a:solidFill>
                <a:ea typeface="宋体" panose="02010600030101010101" pitchFamily="2" charset="-122"/>
              </a:endParaRPr>
            </a:p>
          </p:txBody>
        </p:sp>
        <p:sp>
          <p:nvSpPr>
            <p:cNvPr id="14348" name="Line 1043"/>
            <p:cNvSpPr/>
            <p:nvPr/>
          </p:nvSpPr>
          <p:spPr>
            <a:xfrm>
              <a:off x="1776" y="3600"/>
              <a:ext cx="336" cy="144"/>
            </a:xfrm>
            <a:prstGeom prst="line">
              <a:avLst/>
            </a:prstGeom>
            <a:ln w="28575" cap="flat" cmpd="sng">
              <a:solidFill>
                <a:srgbClr val="FFC000"/>
              </a:solidFill>
              <a:prstDash val="solid"/>
              <a:headEnd type="none" w="med" len="med"/>
              <a:tailEnd type="triangle" w="med" len="med"/>
            </a:ln>
          </p:spPr>
        </p:sp>
        <p:sp>
          <p:nvSpPr>
            <p:cNvPr id="14349" name="Line 1044"/>
            <p:cNvSpPr/>
            <p:nvPr/>
          </p:nvSpPr>
          <p:spPr>
            <a:xfrm flipV="1">
              <a:off x="1776" y="3840"/>
              <a:ext cx="336" cy="144"/>
            </a:xfrm>
            <a:prstGeom prst="line">
              <a:avLst/>
            </a:prstGeom>
            <a:ln w="28575" cap="flat" cmpd="sng">
              <a:solidFill>
                <a:srgbClr val="FFC000"/>
              </a:solidFill>
              <a:prstDash val="solid"/>
              <a:headEnd type="none" w="med" len="med"/>
              <a:tailEnd type="triangle" w="med" len="med"/>
            </a:ln>
          </p:spPr>
        </p:sp>
        <p:sp>
          <p:nvSpPr>
            <p:cNvPr id="14350" name="Line 1045"/>
            <p:cNvSpPr/>
            <p:nvPr/>
          </p:nvSpPr>
          <p:spPr>
            <a:xfrm>
              <a:off x="2592" y="3840"/>
              <a:ext cx="384" cy="0"/>
            </a:xfrm>
            <a:prstGeom prst="line">
              <a:avLst/>
            </a:prstGeom>
            <a:ln w="28575" cap="flat" cmpd="sng">
              <a:solidFill>
                <a:srgbClr val="FFC000"/>
              </a:solidFill>
              <a:prstDash val="solid"/>
              <a:headEnd type="none" w="med" len="med"/>
              <a:tailEnd type="triangle" w="med" len="med"/>
            </a:ln>
          </p:spPr>
        </p:sp>
        <p:sp>
          <p:nvSpPr>
            <p:cNvPr id="14351" name="Text Box 1046"/>
            <p:cNvSpPr txBox="1"/>
            <p:nvPr/>
          </p:nvSpPr>
          <p:spPr>
            <a:xfrm>
              <a:off x="1584" y="3456"/>
              <a:ext cx="232" cy="250"/>
            </a:xfrm>
            <a:prstGeom prst="rect">
              <a:avLst/>
            </a:prstGeom>
            <a:noFill/>
            <a:ln w="9525" cap="flat" cmpd="sng">
              <a:solidFill>
                <a:srgbClr val="FFC000"/>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50000"/>
                </a:spcBef>
                <a:buClrTx/>
                <a:buFontTx/>
                <a:buNone/>
              </a:pPr>
              <a:r>
                <a:rPr lang="en-US" altLang="zh-CN" sz="2000" dirty="0">
                  <a:solidFill>
                    <a:srgbClr val="000000"/>
                  </a:solidFill>
                  <a:ea typeface="宋体" panose="02010600030101010101" pitchFamily="2" charset="-122"/>
                </a:rPr>
                <a:t>X</a:t>
              </a:r>
              <a:endParaRPr lang="en-US" altLang="zh-CN" sz="2400" dirty="0">
                <a:solidFill>
                  <a:srgbClr val="000000"/>
                </a:solidFill>
                <a:ea typeface="宋体" panose="02010600030101010101" pitchFamily="2" charset="-122"/>
              </a:endParaRPr>
            </a:p>
          </p:txBody>
        </p:sp>
        <p:sp>
          <p:nvSpPr>
            <p:cNvPr id="14352" name="Text Box 1047"/>
            <p:cNvSpPr txBox="1"/>
            <p:nvPr/>
          </p:nvSpPr>
          <p:spPr>
            <a:xfrm>
              <a:off x="1584" y="3840"/>
              <a:ext cx="255" cy="288"/>
            </a:xfrm>
            <a:prstGeom prst="rect">
              <a:avLst/>
            </a:prstGeom>
            <a:noFill/>
            <a:ln w="9525" cap="flat" cmpd="sng">
              <a:solidFill>
                <a:srgbClr val="FFC000"/>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50000"/>
                </a:spcBef>
                <a:buClrTx/>
                <a:buFontTx/>
                <a:buNone/>
              </a:pPr>
              <a:r>
                <a:rPr lang="en-US" altLang="zh-CN" sz="2400" dirty="0">
                  <a:solidFill>
                    <a:srgbClr val="000000"/>
                  </a:solidFill>
                  <a:ea typeface="宋体" panose="02010600030101010101" pitchFamily="2" charset="-122"/>
                </a:rPr>
                <a:t>Y</a:t>
              </a:r>
              <a:endParaRPr lang="en-US" altLang="zh-CN" sz="2400" dirty="0">
                <a:solidFill>
                  <a:srgbClr val="000000"/>
                </a:solidFill>
                <a:ea typeface="宋体" panose="02010600030101010101" pitchFamily="2" charset="-122"/>
              </a:endParaRPr>
            </a:p>
          </p:txBody>
        </p:sp>
        <p:sp>
          <p:nvSpPr>
            <p:cNvPr id="14353" name="Text Box 1048"/>
            <p:cNvSpPr txBox="1"/>
            <p:nvPr/>
          </p:nvSpPr>
          <p:spPr>
            <a:xfrm>
              <a:off x="3024" y="3696"/>
              <a:ext cx="234" cy="291"/>
            </a:xfrm>
            <a:prstGeom prst="rect">
              <a:avLst/>
            </a:prstGeom>
            <a:noFill/>
            <a:ln w="9525" cap="flat" cmpd="sng">
              <a:solidFill>
                <a:srgbClr val="FFC000"/>
              </a:solidFill>
              <a:prstDash val="solid"/>
              <a:miter/>
              <a:headEnd type="none" w="med" len="med"/>
              <a:tailEnd type="none" w="med" len="med"/>
            </a:ln>
          </p:spPr>
          <p:txBody>
            <a:bodyPr wrap="none">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50000"/>
                </a:spcBef>
                <a:buClrTx/>
                <a:buFontTx/>
                <a:buNone/>
              </a:pPr>
              <a:r>
                <a:rPr lang="en-US" altLang="zh-CN" sz="2400" dirty="0">
                  <a:solidFill>
                    <a:srgbClr val="000000"/>
                  </a:solidFill>
                  <a:ea typeface="宋体" panose="02010600030101010101" pitchFamily="2" charset="-122"/>
                </a:rPr>
                <a:t>Z</a:t>
              </a:r>
              <a:endParaRPr lang="en-US" altLang="zh-CN" sz="2400" dirty="0">
                <a:solidFill>
                  <a:srgbClr val="000000"/>
                </a:solidFill>
                <a:ea typeface="宋体" panose="02010600030101010101" pitchFamily="2" charset="-122"/>
              </a:endParaRPr>
            </a:p>
          </p:txBody>
        </p:sp>
      </p:grpSp>
      <p:sp>
        <p:nvSpPr>
          <p:cNvPr id="14342" name="Oval 1074">
            <a:hlinkClick r:id="" action="ppaction://hlinkshowjump?jump=previousslide"/>
          </p:cNvPr>
          <p:cNvSpPr/>
          <p:nvPr/>
        </p:nvSpPr>
        <p:spPr>
          <a:xfrm>
            <a:off x="6381750" y="6515100"/>
            <a:ext cx="742950" cy="57150"/>
          </a:xfrm>
          <a:prstGeom prst="ellipse">
            <a:avLst/>
          </a:prstGeom>
          <a:noFill/>
          <a:ln w="9525">
            <a:noFill/>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14343" name="Oval 1075">
            <a:hlinkClick r:id="" action="ppaction://hlinkshowjump?jump=nextslide"/>
          </p:cNvPr>
          <p:cNvSpPr/>
          <p:nvPr/>
        </p:nvSpPr>
        <p:spPr>
          <a:xfrm>
            <a:off x="7245350" y="6521450"/>
            <a:ext cx="742950" cy="57150"/>
          </a:xfrm>
          <a:prstGeom prst="ellipse">
            <a:avLst/>
          </a:prstGeom>
          <a:noFill/>
          <a:ln w="9525">
            <a:noFill/>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14344" name="Oval 1076">
            <a:hlinkClick r:id="" action="ppaction://hlinkshowjump?jump=firstslide"/>
          </p:cNvPr>
          <p:cNvSpPr/>
          <p:nvPr/>
        </p:nvSpPr>
        <p:spPr>
          <a:xfrm>
            <a:off x="8128000" y="6508750"/>
            <a:ext cx="742950" cy="57150"/>
          </a:xfrm>
          <a:prstGeom prst="ellipse">
            <a:avLst/>
          </a:prstGeom>
          <a:noFill/>
          <a:ln w="9525">
            <a:noFill/>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14345" name="Text Box 1077"/>
          <p:cNvSpPr txBox="1"/>
          <p:nvPr/>
        </p:nvSpPr>
        <p:spPr>
          <a:xfrm>
            <a:off x="520700" y="1174750"/>
            <a:ext cx="3992563" cy="4762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342900" eaLnBrk="1" hangingPunct="1">
              <a:lnSpc>
                <a:spcPct val="120000"/>
              </a:lnSpc>
              <a:buSzPct val="60000"/>
              <a:buFontTx/>
              <a:buNone/>
            </a:pPr>
            <a:r>
              <a:rPr lang="zh-CN" altLang="en-US" sz="2400" b="1" dirty="0">
                <a:solidFill>
                  <a:srgbClr val="1E587C"/>
                </a:solidFill>
                <a:latin typeface="黑体" panose="02010609060101010101" pitchFamily="49" charset="-122"/>
                <a:ea typeface="黑体" panose="02010609060101010101" pitchFamily="49" charset="-122"/>
              </a:rPr>
              <a:t>二、软件测试的特点</a:t>
            </a:r>
            <a:endParaRPr lang="zh-CN" altLang="en-US" sz="2400" b="1" dirty="0">
              <a:solidFill>
                <a:srgbClr val="1E587C"/>
              </a:solidFill>
              <a:latin typeface="黑体" panose="02010609060101010101" pitchFamily="49" charset="-122"/>
              <a:ea typeface="黑体" panose="02010609060101010101" pitchFamily="49" charset="-122"/>
            </a:endParaRPr>
          </a:p>
        </p:txBody>
      </p:sp>
      <p:sp>
        <p:nvSpPr>
          <p:cNvPr id="14346"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页脚占位符 3"/>
          <p:cNvSpPr txBox="1">
            <a:spLocks noGrp="1"/>
          </p:cNvSpPr>
          <p:nvPr>
            <p:ph type="ftr" sz="quarter" idx="11"/>
          </p:nvPr>
        </p:nvSpPr>
        <p:spPr>
          <a:xfrm>
            <a:off x="457200" y="6245225"/>
            <a:ext cx="2133600" cy="476250"/>
          </a:xfrm>
          <a:ln/>
        </p:spPr>
        <p:txBody>
          <a:bodyPr/>
          <a:p>
            <a:pPr marL="0" indent="0" eaLnBrk="1" hangingPunct="1">
              <a:spcBef>
                <a:spcPct val="0"/>
              </a:spcBef>
              <a:buClrTx/>
              <a:buFontTx/>
              <a:buNone/>
            </a:pPr>
            <a:fld id="{9A0DB2DC-4C9A-4742-B13C-FB6460FD3503}" type="slidenum">
              <a:rPr lang="en-US" altLang="zh-CN" sz="1400" dirty="0">
                <a:solidFill>
                  <a:schemeClr val="tx1"/>
                </a:solidFill>
                <a:ea typeface="宋体" panose="02010600030101010101" pitchFamily="2" charset="-122"/>
              </a:rPr>
            </a:fld>
            <a:endParaRPr lang="en-US" altLang="zh-CN" sz="1400" dirty="0">
              <a:solidFill>
                <a:schemeClr val="tx1"/>
              </a:solidFill>
              <a:ea typeface="宋体" panose="02010600030101010101" pitchFamily="2" charset="-122"/>
            </a:endParaRPr>
          </a:p>
        </p:txBody>
      </p:sp>
      <p:sp>
        <p:nvSpPr>
          <p:cNvPr id="37891" name="Rectangle 3"/>
          <p:cNvSpPr>
            <a:spLocks noGrp="1" noChangeArrowheads="1"/>
          </p:cNvSpPr>
          <p:nvPr>
            <p:ph idx="1"/>
          </p:nvPr>
        </p:nvSpPr>
        <p:spPr>
          <a:xfrm>
            <a:off x="682625" y="1500188"/>
            <a:ext cx="7942263" cy="1963738"/>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3</a:t>
            </a:r>
            <a:r>
              <a:rPr kumimoji="0" lang="en-US" altLang="zh-CN"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a:t>
            </a:r>
            <a:r>
              <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软件测试难度大</a:t>
            </a:r>
            <a:endPar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根据上述分析，既然不能进行 “穷举”测试，又要查出尽可能多的错误，软件测试工作的难度大。只有选择 —	</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sp>
        <p:nvSpPr>
          <p:cNvPr id="37898" name="Text Box 10"/>
          <p:cNvSpPr txBox="1"/>
          <p:nvPr/>
        </p:nvSpPr>
        <p:spPr>
          <a:xfrm>
            <a:off x="1173163" y="3071813"/>
            <a:ext cx="3398837" cy="5191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50000"/>
              </a:spcBef>
              <a:buClrTx/>
              <a:buFontTx/>
              <a:buNone/>
            </a:pPr>
            <a:r>
              <a:rPr lang="zh-CN" altLang="en-US" dirty="0">
                <a:solidFill>
                  <a:schemeClr val="folHlink"/>
                </a:solidFill>
                <a:ea typeface="幼圆" panose="02010509060101010101" pitchFamily="49" charset="-122"/>
              </a:rPr>
              <a:t>“高效的测试用例”</a:t>
            </a:r>
            <a:endParaRPr lang="zh-CN" altLang="en-US" sz="2400" dirty="0">
              <a:solidFill>
                <a:schemeClr val="folHlink"/>
              </a:solidFill>
              <a:ea typeface="幼圆" panose="02010509060101010101" pitchFamily="49" charset="-122"/>
            </a:endParaRPr>
          </a:p>
        </p:txBody>
      </p:sp>
      <p:sp>
        <p:nvSpPr>
          <p:cNvPr id="37899" name="Rectangle 11"/>
          <p:cNvSpPr/>
          <p:nvPr/>
        </p:nvSpPr>
        <p:spPr>
          <a:xfrm>
            <a:off x="731838" y="3733800"/>
            <a:ext cx="7602537" cy="1981200"/>
          </a:xfrm>
          <a:prstGeom prst="rect">
            <a:avLst/>
          </a:prstGeom>
          <a:noFill/>
          <a:ln w="9525">
            <a:noFill/>
          </a:ln>
        </p:spPr>
        <p:txBody>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342900" lvl="0" indent="-342900" eaLnBrk="1" hangingPunct="1">
              <a:lnSpc>
                <a:spcPct val="160000"/>
              </a:lnSpc>
              <a:spcBef>
                <a:spcPct val="60000"/>
              </a:spcBef>
              <a:buClr>
                <a:schemeClr val="accent2"/>
              </a:buClr>
              <a:buSzPct val="60000"/>
              <a:buNone/>
            </a:pPr>
            <a:r>
              <a:rPr lang="zh-CN" altLang="en-US" dirty="0">
                <a:solidFill>
                  <a:schemeClr val="tx1"/>
                </a:solidFill>
                <a:latin typeface="Arial" panose="020B0604020202020204" pitchFamily="34" charset="0"/>
                <a:ea typeface="宋体" panose="02010600030101010101" pitchFamily="2" charset="-122"/>
              </a:rPr>
              <a:t>		</a:t>
            </a:r>
            <a:r>
              <a:rPr lang="zh-CN" altLang="en-US" dirty="0">
                <a:solidFill>
                  <a:srgbClr val="000000"/>
                </a:solidFill>
                <a:latin typeface="Arial" panose="020B0604020202020204" pitchFamily="34" charset="0"/>
                <a:ea typeface="宋体" panose="02010600030101010101" pitchFamily="2" charset="-122"/>
              </a:rPr>
              <a:t>什么是</a:t>
            </a:r>
            <a:r>
              <a:rPr lang="zh-CN" altLang="en-US" dirty="0">
                <a:solidFill>
                  <a:schemeClr val="folHlink"/>
                </a:solidFill>
                <a:latin typeface="Arial" panose="020B0604020202020204" pitchFamily="34" charset="0"/>
                <a:ea typeface="幼圆" panose="02010509060101010101" pitchFamily="49" charset="-122"/>
              </a:rPr>
              <a:t>“高效的测试用例”</a:t>
            </a:r>
            <a:r>
              <a:rPr lang="zh-CN" altLang="en-US" dirty="0">
                <a:solidFill>
                  <a:schemeClr val="tx1"/>
                </a:solidFill>
                <a:latin typeface="Arial" panose="020B0604020202020204" pitchFamily="34" charset="0"/>
                <a:ea typeface="宋体" panose="02010600030101010101" pitchFamily="2" charset="-122"/>
              </a:rPr>
              <a:t>？</a:t>
            </a:r>
            <a:endParaRPr lang="zh-CN" altLang="en-US" dirty="0">
              <a:solidFill>
                <a:schemeClr val="tx1"/>
              </a:solidFill>
              <a:latin typeface="Arial" panose="020B0604020202020204" pitchFamily="34" charset="0"/>
              <a:ea typeface="宋体" panose="02010600030101010101" pitchFamily="2" charset="-122"/>
            </a:endParaRPr>
          </a:p>
          <a:p>
            <a:pPr marL="342900" lvl="0" indent="-342900" eaLnBrk="1" hangingPunct="1">
              <a:buClr>
                <a:schemeClr val="accent2"/>
              </a:buClr>
              <a:buSzPct val="60000"/>
              <a:buNone/>
            </a:pPr>
            <a:r>
              <a:rPr lang="zh-CN" altLang="en-US" dirty="0">
                <a:solidFill>
                  <a:schemeClr val="tx1"/>
                </a:solidFill>
                <a:latin typeface="Arial" panose="020B0604020202020204" pitchFamily="34" charset="0"/>
                <a:ea typeface="宋体" panose="02010600030101010101" pitchFamily="2" charset="-122"/>
              </a:rPr>
              <a:t>		</a:t>
            </a:r>
            <a:r>
              <a:rPr lang="zh-CN" altLang="en-US" dirty="0">
                <a:solidFill>
                  <a:srgbClr val="000000"/>
                </a:solidFill>
                <a:latin typeface="Arial" panose="020B0604020202020204" pitchFamily="34" charset="0"/>
                <a:ea typeface="宋体" panose="02010600030101010101" pitchFamily="2" charset="-122"/>
              </a:rPr>
              <a:t>如何选择</a:t>
            </a:r>
            <a:r>
              <a:rPr lang="zh-CN" altLang="en-US" dirty="0">
                <a:solidFill>
                  <a:schemeClr val="folHlink"/>
                </a:solidFill>
                <a:latin typeface="Arial" panose="020B0604020202020204" pitchFamily="34" charset="0"/>
                <a:ea typeface="幼圆" panose="02010509060101010101" pitchFamily="49" charset="-122"/>
              </a:rPr>
              <a:t>“高效的测试用例”</a:t>
            </a:r>
            <a:r>
              <a:rPr lang="zh-CN" altLang="en-US" dirty="0">
                <a:solidFill>
                  <a:schemeClr val="tx1"/>
                </a:solidFill>
                <a:latin typeface="Arial" panose="020B0604020202020204" pitchFamily="34" charset="0"/>
                <a:ea typeface="宋体" panose="02010600030101010101" pitchFamily="2" charset="-122"/>
              </a:rPr>
              <a:t>？</a:t>
            </a:r>
            <a:endParaRPr lang="zh-CN" altLang="en-US" dirty="0">
              <a:solidFill>
                <a:schemeClr val="folHlink"/>
              </a:solidFill>
              <a:latin typeface="Arial" panose="020B0604020202020204" pitchFamily="34" charset="0"/>
              <a:ea typeface="幼圆" panose="02010509060101010101" pitchFamily="49" charset="-122"/>
            </a:endParaRPr>
          </a:p>
          <a:p>
            <a:pPr marL="342900" lvl="0" indent="-342900" eaLnBrk="1" hangingPunct="1">
              <a:spcBef>
                <a:spcPct val="60000"/>
              </a:spcBef>
              <a:buClr>
                <a:schemeClr val="accent2"/>
              </a:buClr>
              <a:buSzPct val="60000"/>
              <a:buNone/>
            </a:pPr>
            <a:r>
              <a:rPr lang="zh-CN" altLang="en-US" dirty="0">
                <a:solidFill>
                  <a:schemeClr val="tx1"/>
                </a:solidFill>
                <a:latin typeface="Arial" panose="020B0604020202020204" pitchFamily="34" charset="0"/>
                <a:ea typeface="宋体" panose="02010600030101010101" pitchFamily="2" charset="-122"/>
              </a:rPr>
              <a:t>	   </a:t>
            </a:r>
            <a:r>
              <a:rPr lang="zh-CN" altLang="en-US" dirty="0">
                <a:solidFill>
                  <a:srgbClr val="000000"/>
                </a:solidFill>
                <a:latin typeface="Arial" panose="020B0604020202020204" pitchFamily="34" charset="0"/>
                <a:ea typeface="宋体" panose="02010600030101010101" pitchFamily="2" charset="-122"/>
              </a:rPr>
              <a:t>这就是本章讨论的主要问题！！！</a:t>
            </a:r>
            <a:endParaRPr lang="zh-CN" altLang="en-US" dirty="0">
              <a:solidFill>
                <a:srgbClr val="000000"/>
              </a:solidFill>
              <a:latin typeface="Arial" panose="020B0604020202020204" pitchFamily="34" charset="0"/>
              <a:ea typeface="宋体" panose="02010600030101010101" pitchFamily="2" charset="-122"/>
            </a:endParaRPr>
          </a:p>
        </p:txBody>
      </p:sp>
      <p:graphicFrame>
        <p:nvGraphicFramePr>
          <p:cNvPr id="37900" name="Object 12"/>
          <p:cNvGraphicFramePr>
            <a:graphicFrameLocks noChangeAspect="1"/>
          </p:cNvGraphicFramePr>
          <p:nvPr/>
        </p:nvGraphicFramePr>
        <p:xfrm>
          <a:off x="1371600" y="4132263"/>
          <a:ext cx="141288" cy="141287"/>
        </p:xfrm>
        <a:graphic>
          <a:graphicData uri="http://schemas.openxmlformats.org/presentationml/2006/ole">
            <mc:AlternateContent xmlns:mc="http://schemas.openxmlformats.org/markup-compatibility/2006">
              <mc:Choice xmlns:v="urn:schemas-microsoft-com:vml" Requires="v">
                <p:oleObj spid="_x0000_s3077" name="" r:id="rId1" imgW="142875" imgH="142875" progId="MS_ClipArt_Gallery.2">
                  <p:embed/>
                </p:oleObj>
              </mc:Choice>
              <mc:Fallback>
                <p:oleObj name="" r:id="rId1" imgW="142875" imgH="142875" progId="MS_ClipArt_Gallery.2">
                  <p:embed/>
                  <p:pic>
                    <p:nvPicPr>
                      <p:cNvPr id="0" name="图片 3076"/>
                      <p:cNvPicPr/>
                      <p:nvPr/>
                    </p:nvPicPr>
                    <p:blipFill>
                      <a:blip r:embed="rId2"/>
                      <a:stretch>
                        <a:fillRect/>
                      </a:stretch>
                    </p:blipFill>
                    <p:spPr>
                      <a:xfrm>
                        <a:off x="1371600" y="4132263"/>
                        <a:ext cx="141288" cy="141287"/>
                      </a:xfrm>
                      <a:prstGeom prst="rect">
                        <a:avLst/>
                      </a:prstGeom>
                      <a:noFill/>
                      <a:ln w="38100">
                        <a:noFill/>
                        <a:miter/>
                      </a:ln>
                    </p:spPr>
                  </p:pic>
                </p:oleObj>
              </mc:Fallback>
            </mc:AlternateContent>
          </a:graphicData>
        </a:graphic>
      </p:graphicFrame>
      <p:graphicFrame>
        <p:nvGraphicFramePr>
          <p:cNvPr id="37901" name="Object 13"/>
          <p:cNvGraphicFramePr>
            <a:graphicFrameLocks noChangeAspect="1"/>
          </p:cNvGraphicFramePr>
          <p:nvPr/>
        </p:nvGraphicFramePr>
        <p:xfrm>
          <a:off x="1371600" y="4706938"/>
          <a:ext cx="141288" cy="141287"/>
        </p:xfrm>
        <a:graphic>
          <a:graphicData uri="http://schemas.openxmlformats.org/presentationml/2006/ole">
            <mc:AlternateContent xmlns:mc="http://schemas.openxmlformats.org/markup-compatibility/2006">
              <mc:Choice xmlns:v="urn:schemas-microsoft-com:vml" Requires="v">
                <p:oleObj spid="_x0000_s3076" name="" r:id="rId3" imgW="142875" imgH="142875" progId="MS_ClipArt_Gallery.2">
                  <p:embed/>
                </p:oleObj>
              </mc:Choice>
              <mc:Fallback>
                <p:oleObj name="" r:id="rId3" imgW="142875" imgH="142875" progId="MS_ClipArt_Gallery.2">
                  <p:embed/>
                  <p:pic>
                    <p:nvPicPr>
                      <p:cNvPr id="0" name="图片 3075"/>
                      <p:cNvPicPr/>
                      <p:nvPr/>
                    </p:nvPicPr>
                    <p:blipFill>
                      <a:blip r:embed="rId2"/>
                      <a:stretch>
                        <a:fillRect/>
                      </a:stretch>
                    </p:blipFill>
                    <p:spPr>
                      <a:xfrm>
                        <a:off x="1371600" y="4706938"/>
                        <a:ext cx="141288" cy="141287"/>
                      </a:xfrm>
                      <a:prstGeom prst="rect">
                        <a:avLst/>
                      </a:prstGeom>
                      <a:noFill/>
                      <a:ln w="38100">
                        <a:noFill/>
                        <a:miter/>
                      </a:ln>
                    </p:spPr>
                  </p:pic>
                </p:oleObj>
              </mc:Fallback>
            </mc:AlternateContent>
          </a:graphicData>
        </a:graphic>
      </p:graphicFrame>
      <p:sp>
        <p:nvSpPr>
          <p:cNvPr id="15368" name="Oval 32">
            <a:hlinkClick r:id="" action="ppaction://hlinkshowjump?jump=previousslide"/>
          </p:cNvPr>
          <p:cNvSpPr/>
          <p:nvPr/>
        </p:nvSpPr>
        <p:spPr>
          <a:xfrm>
            <a:off x="6381750" y="6515100"/>
            <a:ext cx="742950" cy="57150"/>
          </a:xfrm>
          <a:prstGeom prst="ellipse">
            <a:avLst/>
          </a:prstGeom>
          <a:noFill/>
          <a:ln w="9525">
            <a:noFill/>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15369" name="Oval 33">
            <a:hlinkClick r:id="" action="ppaction://hlinkshowjump?jump=nextslide"/>
          </p:cNvPr>
          <p:cNvSpPr/>
          <p:nvPr/>
        </p:nvSpPr>
        <p:spPr>
          <a:xfrm>
            <a:off x="7245350" y="6521450"/>
            <a:ext cx="742950" cy="57150"/>
          </a:xfrm>
          <a:prstGeom prst="ellipse">
            <a:avLst/>
          </a:prstGeom>
          <a:noFill/>
          <a:ln w="9525">
            <a:noFill/>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15370" name="Oval 34">
            <a:hlinkClick r:id="" action="ppaction://hlinkshowjump?jump=firstslide"/>
          </p:cNvPr>
          <p:cNvSpPr/>
          <p:nvPr/>
        </p:nvSpPr>
        <p:spPr>
          <a:xfrm>
            <a:off x="8128000" y="6508750"/>
            <a:ext cx="742950" cy="57150"/>
          </a:xfrm>
          <a:prstGeom prst="ellipse">
            <a:avLst/>
          </a:prstGeom>
          <a:noFill/>
          <a:ln w="9525">
            <a:noFill/>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15371"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898"/>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4" name="GLASS.WAV"/>
                                        </p:tgtEl>
                                      </p:cMediaNode>
                                    </p:audio>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900"/>
                                        </p:tgtEl>
                                        <p:attrNameLst>
                                          <p:attrName>style.visibility</p:attrName>
                                        </p:attrNameLst>
                                      </p:cBhvr>
                                      <p:to>
                                        <p:strVal val="visible"/>
                                      </p:to>
                                    </p:set>
                                  </p:childTnLst>
                                </p:cTn>
                              </p:par>
                            </p:childTnLst>
                          </p:cTn>
                        </p:par>
                        <p:par>
                          <p:cTn id="11" fill="hold">
                            <p:stCondLst>
                              <p:cond delay="0"/>
                            </p:stCondLst>
                            <p:childTnLst>
                              <p:par>
                                <p:cTn id="12" presetID="22" presetClass="entr" presetSubtype="8" fill="hold" grpId="0" nodeType="afterEffect">
                                  <p:stCondLst>
                                    <p:cond delay="0"/>
                                  </p:stCondLst>
                                  <p:childTnLst>
                                    <p:set>
                                      <p:cBhvr>
                                        <p:cTn id="13" dur="1" fill="hold">
                                          <p:stCondLst>
                                            <p:cond delay="0"/>
                                          </p:stCondLst>
                                        </p:cTn>
                                        <p:tgtEl>
                                          <p:spTgt spid="37899"/>
                                        </p:tgtEl>
                                        <p:attrNameLst>
                                          <p:attrName>style.visibility</p:attrName>
                                        </p:attrNameLst>
                                      </p:cBhvr>
                                      <p:to>
                                        <p:strVal val="visible"/>
                                      </p:to>
                                    </p:set>
                                    <p:animEffect transition="in" filter="wipe(left)">
                                      <p:cBhvr>
                                        <p:cTn id="14" dur="500"/>
                                        <p:tgtEl>
                                          <p:spTgt spid="37899"/>
                                        </p:tgtEl>
                                      </p:cBhvr>
                                    </p:animEffect>
                                  </p:childTnLst>
                                </p:cTn>
                              </p:par>
                            </p:childTnLst>
                          </p:cTn>
                        </p:par>
                        <p:par>
                          <p:cTn id="15" fill="hold">
                            <p:stCondLst>
                              <p:cond delay="500"/>
                            </p:stCondLst>
                            <p:childTnLst>
                              <p:par>
                                <p:cTn id="16" presetID="1" presetClass="entr" presetSubtype="0" fill="hold" nodeType="afterEffect">
                                  <p:stCondLst>
                                    <p:cond delay="0"/>
                                  </p:stCondLst>
                                  <p:childTnLst>
                                    <p:set>
                                      <p:cBhvr>
                                        <p:cTn id="17" dur="1" fill="hold">
                                          <p:stCondLst>
                                            <p:cond delay="499"/>
                                          </p:stCondLst>
                                        </p:cTn>
                                        <p:tgtEl>
                                          <p:spTgt spid="379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8" grpId="0"/>
      <p:bldP spid="3789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页脚占位符 3"/>
          <p:cNvSpPr txBox="1">
            <a:spLocks noGrp="1"/>
          </p:cNvSpPr>
          <p:nvPr>
            <p:ph type="ftr" sz="quarter" idx="11"/>
          </p:nvPr>
        </p:nvSpPr>
        <p:spPr>
          <a:xfrm>
            <a:off x="457200" y="6245225"/>
            <a:ext cx="2133600" cy="476250"/>
          </a:xfrm>
          <a:ln/>
        </p:spPr>
        <p:txBody>
          <a:bodyPr/>
          <a:p>
            <a:pPr marL="0" indent="0" eaLnBrk="1" hangingPunct="1">
              <a:spcBef>
                <a:spcPct val="0"/>
              </a:spcBef>
              <a:buClrTx/>
              <a:buFontTx/>
              <a:buNone/>
            </a:pPr>
            <a:fld id="{9A0DB2DC-4C9A-4742-B13C-FB6460FD3503}" type="slidenum">
              <a:rPr lang="en-US" altLang="zh-CN" sz="1400" dirty="0">
                <a:solidFill>
                  <a:schemeClr val="tx1"/>
                </a:solidFill>
                <a:ea typeface="宋体" panose="02010600030101010101" pitchFamily="2" charset="-122"/>
              </a:rPr>
            </a:fld>
            <a:endParaRPr lang="en-US" altLang="zh-CN" sz="1400" dirty="0">
              <a:solidFill>
                <a:schemeClr val="tx1"/>
              </a:solidFill>
              <a:ea typeface="宋体" panose="02010600030101010101" pitchFamily="2" charset="-122"/>
            </a:endParaRPr>
          </a:p>
        </p:txBody>
      </p:sp>
      <p:sp>
        <p:nvSpPr>
          <p:cNvPr id="2055" name="Rectangle 2"/>
          <p:cNvSpPr>
            <a:spLocks noGrp="1" noChangeArrowheads="1"/>
          </p:cNvSpPr>
          <p:nvPr>
            <p:ph type="title"/>
          </p:nvPr>
        </p:nvSpPr>
        <p:spPr>
          <a:xfrm>
            <a:off x="663575" y="1454150"/>
            <a:ext cx="7772400" cy="574675"/>
          </a:xfrm>
        </p:spPr>
        <p:txBody>
          <a:bodyPr vert="horz" wrap="square" lIns="91440" tIns="45720" rIns="91440" bIns="45720" numCol="1" anchor="ctr" anchorCtr="0" compatLnSpc="1"/>
          <a:lstStyle/>
          <a:p>
            <a:pPr marL="0" marR="0" lvl="0" indent="-342900" algn="l" defTabSz="914400" rtl="0" eaLnBrk="1" fontAlgn="base" latinLnBrk="0" hangingPunct="1">
              <a:lnSpc>
                <a:spcPct val="120000"/>
              </a:lnSpc>
              <a:spcBef>
                <a:spcPct val="20000"/>
              </a:spcBef>
              <a:spcAft>
                <a:spcPct val="0"/>
              </a:spcAft>
              <a:buClr>
                <a:srgbClr val="A50021"/>
              </a:buClr>
              <a:buSzPct val="60000"/>
              <a:buFontTx/>
              <a:buNone/>
              <a:defRPr/>
            </a:pPr>
            <a:r>
              <a:rPr kumimoji="0" lang="zh-CN" altLang="en-US" sz="2400" b="1" i="0" u="none" strike="noStrike" kern="120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rPr>
              <a:t>三、软件测试的基本原则</a:t>
            </a:r>
            <a:endParaRPr kumimoji="0" lang="zh-CN" altLang="en-US" sz="2400" b="1" i="0" u="none" strike="noStrike" kern="120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endParaRPr>
          </a:p>
        </p:txBody>
      </p:sp>
      <p:sp>
        <p:nvSpPr>
          <p:cNvPr id="2056" name="Rectangle 9"/>
          <p:cNvSpPr>
            <a:spLocks noChangeArrowheads="1"/>
          </p:cNvSpPr>
          <p:nvPr/>
        </p:nvSpPr>
        <p:spPr bwMode="auto">
          <a:xfrm>
            <a:off x="636588" y="2079625"/>
            <a:ext cx="8001000" cy="3640138"/>
          </a:xfrm>
          <a:prstGeom prst="rect">
            <a:avLst/>
          </a:prstGeom>
          <a:noFill/>
          <a:ln w="9525">
            <a:noFill/>
            <a:miter lim="800000"/>
          </a:ln>
        </p:spPr>
        <p:txBody>
          <a:bodyPr/>
          <a:lstStyle/>
          <a:p>
            <a:pPr marL="0" marR="0" lvl="0" indent="0" algn="l" defTabSz="914400" rtl="0" eaLnBrk="1" fontAlgn="base" latinLnBrk="0" hangingPunct="1">
              <a:lnSpc>
                <a:spcPct val="120000"/>
              </a:lnSpc>
              <a:spcBef>
                <a:spcPct val="20000"/>
              </a:spcBef>
              <a:spcAft>
                <a:spcPct val="0"/>
              </a:spcAft>
              <a:buClr>
                <a:srgbClr val="A50021"/>
              </a:buClr>
              <a:buSzPct val="80000"/>
              <a:buFontTx/>
              <a:buNone/>
              <a:defRPr/>
            </a:pPr>
            <a:r>
              <a:rPr kumimoji="0" lang="zh-CN" altLang="en-US" sz="2200" b="1" i="0" u="none" strike="noStrike" kern="120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1</a:t>
            </a:r>
            <a:r>
              <a:rPr kumimoji="0" lang="en-US" altLang="zh-CN" sz="2200" b="1" i="0" u="none" strike="noStrike" kern="120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a:t>
            </a:r>
            <a:r>
              <a:rPr kumimoji="0" lang="zh-CN" altLang="en-US" sz="2200" b="1" i="0" u="none" strike="noStrike" kern="120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尽量不由程序设计者进行测试</a:t>
            </a:r>
            <a:endParaRPr kumimoji="0" lang="zh-CN" altLang="en-US" sz="2200" b="1" i="0" u="none" strike="noStrike" kern="120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Pct val="80000"/>
              <a:buFontTx/>
              <a:buNone/>
              <a:defRPr/>
            </a:pPr>
            <a:r>
              <a:rPr kumimoji="0" lang="en-US" altLang="zh-CN" sz="2200" b="1" i="0" u="none" strike="noStrike" kern="120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2.</a:t>
            </a:r>
            <a:r>
              <a:rPr kumimoji="0" lang="zh-CN" altLang="en-US" sz="2200" b="1" i="0" u="none" strike="noStrike" kern="120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关键是注重测试用例的选择</a:t>
            </a:r>
            <a:endParaRPr kumimoji="0" lang="zh-CN" altLang="en-US" sz="2200" b="1" i="0" u="none" strike="noStrike" kern="120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a:p>
            <a:pPr marL="536575" marR="0" lvl="0" indent="-536575" algn="l" defTabSz="914400" rtl="0" eaLnBrk="1" fontAlgn="base" latinLnBrk="0" hangingPunct="1">
              <a:lnSpc>
                <a:spcPct val="120000"/>
              </a:lnSpc>
              <a:spcBef>
                <a:spcPct val="20000"/>
              </a:spcBef>
              <a:spcAft>
                <a:spcPct val="0"/>
              </a:spcAft>
              <a:buClr>
                <a:srgbClr val="A50021"/>
              </a:buClr>
              <a:buSzPct val="80000"/>
              <a:buFontTx/>
              <a:buNone/>
              <a:defRPr/>
            </a:pPr>
            <a:r>
              <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输入数据的组成（输入数据、预期的输出结果）</a:t>
            </a:r>
            <a:endPar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536575" marR="0" lvl="0" indent="-536575" algn="l" defTabSz="914400" rtl="0" eaLnBrk="1" fontAlgn="base" latinLnBrk="0" hangingPunct="1">
              <a:lnSpc>
                <a:spcPct val="120000"/>
              </a:lnSpc>
              <a:spcBef>
                <a:spcPct val="20000"/>
              </a:spcBef>
              <a:spcAft>
                <a:spcPct val="0"/>
              </a:spcAft>
              <a:buClr>
                <a:srgbClr val="A50021"/>
              </a:buClr>
              <a:buSzPct val="80000"/>
              <a:buFontTx/>
              <a:buNone/>
              <a:defRPr/>
            </a:pPr>
            <a:r>
              <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既有合理输入数据，也有不合理的输入数据。</a:t>
            </a:r>
            <a:endPar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536575" marR="0" lvl="0" indent="-536575" algn="l" defTabSz="914400" rtl="0" eaLnBrk="1" fontAlgn="base" latinLnBrk="0" hangingPunct="1">
              <a:lnSpc>
                <a:spcPct val="120000"/>
              </a:lnSpc>
              <a:spcBef>
                <a:spcPct val="20000"/>
              </a:spcBef>
              <a:spcAft>
                <a:spcPct val="0"/>
              </a:spcAft>
              <a:buClr>
                <a:srgbClr val="A50021"/>
              </a:buClr>
              <a:buSzPct val="80000"/>
              <a:buFontTx/>
              <a:buNone/>
              <a:defRPr/>
            </a:pPr>
            <a:r>
              <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用例既能检查应完成的任务，也能够检查不应该完成的任务。</a:t>
            </a:r>
            <a:endPar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536575" marR="0" lvl="0" indent="-536575" algn="l" defTabSz="914400" rtl="0" eaLnBrk="1" fontAlgn="base" latinLnBrk="0" hangingPunct="1">
              <a:lnSpc>
                <a:spcPct val="120000"/>
              </a:lnSpc>
              <a:spcBef>
                <a:spcPct val="20000"/>
              </a:spcBef>
              <a:spcAft>
                <a:spcPct val="0"/>
              </a:spcAft>
              <a:buClr>
                <a:srgbClr val="A50021"/>
              </a:buClr>
              <a:buSzPct val="80000"/>
              <a:buFontTx/>
              <a:buNone/>
              <a:defRPr/>
            </a:pPr>
            <a:r>
              <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长期保存测试用例。</a:t>
            </a:r>
            <a:endPar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graphicFrame>
        <p:nvGraphicFramePr>
          <p:cNvPr id="16389" name="Object 10"/>
          <p:cNvGraphicFramePr>
            <a:graphicFrameLocks noChangeAspect="1"/>
          </p:cNvGraphicFramePr>
          <p:nvPr/>
        </p:nvGraphicFramePr>
        <p:xfrm>
          <a:off x="904875" y="3236913"/>
          <a:ext cx="141288" cy="141287"/>
        </p:xfrm>
        <a:graphic>
          <a:graphicData uri="http://schemas.openxmlformats.org/presentationml/2006/ole">
            <mc:AlternateContent xmlns:mc="http://schemas.openxmlformats.org/markup-compatibility/2006">
              <mc:Choice xmlns:v="urn:schemas-microsoft-com:vml" Requires="v">
                <p:oleObj spid="_x0000_s3078" name="" r:id="rId1" imgW="142875" imgH="142875" progId="MS_ClipArt_Gallery.2">
                  <p:embed/>
                </p:oleObj>
              </mc:Choice>
              <mc:Fallback>
                <p:oleObj name="" r:id="rId1" imgW="142875" imgH="142875" progId="MS_ClipArt_Gallery.2">
                  <p:embed/>
                  <p:pic>
                    <p:nvPicPr>
                      <p:cNvPr id="0" name="图片 3077"/>
                      <p:cNvPicPr/>
                      <p:nvPr/>
                    </p:nvPicPr>
                    <p:blipFill>
                      <a:blip r:embed="rId2"/>
                      <a:stretch>
                        <a:fillRect/>
                      </a:stretch>
                    </p:blipFill>
                    <p:spPr>
                      <a:xfrm>
                        <a:off x="904875" y="3236913"/>
                        <a:ext cx="141288" cy="141287"/>
                      </a:xfrm>
                      <a:prstGeom prst="rect">
                        <a:avLst/>
                      </a:prstGeom>
                      <a:noFill/>
                      <a:ln w="38100">
                        <a:noFill/>
                        <a:miter/>
                      </a:ln>
                    </p:spPr>
                  </p:pic>
                </p:oleObj>
              </mc:Fallback>
            </mc:AlternateContent>
          </a:graphicData>
        </a:graphic>
      </p:graphicFrame>
      <p:graphicFrame>
        <p:nvGraphicFramePr>
          <p:cNvPr id="16390" name="Object 11"/>
          <p:cNvGraphicFramePr>
            <a:graphicFrameLocks noChangeAspect="1"/>
          </p:cNvGraphicFramePr>
          <p:nvPr/>
        </p:nvGraphicFramePr>
        <p:xfrm>
          <a:off x="903288" y="3668713"/>
          <a:ext cx="141287" cy="141287"/>
        </p:xfrm>
        <a:graphic>
          <a:graphicData uri="http://schemas.openxmlformats.org/presentationml/2006/ole">
            <mc:AlternateContent xmlns:mc="http://schemas.openxmlformats.org/markup-compatibility/2006">
              <mc:Choice xmlns:v="urn:schemas-microsoft-com:vml" Requires="v">
                <p:oleObj spid="_x0000_s3079" name="" r:id="rId3" imgW="142875" imgH="142875" progId="MS_ClipArt_Gallery.2">
                  <p:embed/>
                </p:oleObj>
              </mc:Choice>
              <mc:Fallback>
                <p:oleObj name="" r:id="rId3" imgW="142875" imgH="142875" progId="MS_ClipArt_Gallery.2">
                  <p:embed/>
                  <p:pic>
                    <p:nvPicPr>
                      <p:cNvPr id="0" name="图片 3078"/>
                      <p:cNvPicPr/>
                      <p:nvPr/>
                    </p:nvPicPr>
                    <p:blipFill>
                      <a:blip r:embed="rId2"/>
                      <a:stretch>
                        <a:fillRect/>
                      </a:stretch>
                    </p:blipFill>
                    <p:spPr>
                      <a:xfrm>
                        <a:off x="903288" y="3668713"/>
                        <a:ext cx="141287" cy="141287"/>
                      </a:xfrm>
                      <a:prstGeom prst="rect">
                        <a:avLst/>
                      </a:prstGeom>
                      <a:noFill/>
                      <a:ln w="38100">
                        <a:noFill/>
                        <a:miter/>
                      </a:ln>
                    </p:spPr>
                  </p:pic>
                </p:oleObj>
              </mc:Fallback>
            </mc:AlternateContent>
          </a:graphicData>
        </a:graphic>
      </p:graphicFrame>
      <p:graphicFrame>
        <p:nvGraphicFramePr>
          <p:cNvPr id="16391" name="Object 12"/>
          <p:cNvGraphicFramePr>
            <a:graphicFrameLocks noChangeAspect="1"/>
          </p:cNvGraphicFramePr>
          <p:nvPr/>
        </p:nvGraphicFramePr>
        <p:xfrm>
          <a:off x="903288" y="4081463"/>
          <a:ext cx="141287" cy="141287"/>
        </p:xfrm>
        <a:graphic>
          <a:graphicData uri="http://schemas.openxmlformats.org/presentationml/2006/ole">
            <mc:AlternateContent xmlns:mc="http://schemas.openxmlformats.org/markup-compatibility/2006">
              <mc:Choice xmlns:v="urn:schemas-microsoft-com:vml" Requires="v">
                <p:oleObj spid="_x0000_s3076" name="" r:id="rId4" imgW="142875" imgH="142875" progId="MS_ClipArt_Gallery.2">
                  <p:embed/>
                </p:oleObj>
              </mc:Choice>
              <mc:Fallback>
                <p:oleObj name="" r:id="rId4" imgW="142875" imgH="142875" progId="MS_ClipArt_Gallery.2">
                  <p:embed/>
                  <p:pic>
                    <p:nvPicPr>
                      <p:cNvPr id="0" name="图片 3075"/>
                      <p:cNvPicPr/>
                      <p:nvPr/>
                    </p:nvPicPr>
                    <p:blipFill>
                      <a:blip r:embed="rId2"/>
                      <a:stretch>
                        <a:fillRect/>
                      </a:stretch>
                    </p:blipFill>
                    <p:spPr>
                      <a:xfrm>
                        <a:off x="903288" y="4081463"/>
                        <a:ext cx="141287" cy="141287"/>
                      </a:xfrm>
                      <a:prstGeom prst="rect">
                        <a:avLst/>
                      </a:prstGeom>
                      <a:noFill/>
                      <a:ln w="38100">
                        <a:noFill/>
                        <a:miter/>
                      </a:ln>
                    </p:spPr>
                  </p:pic>
                </p:oleObj>
              </mc:Fallback>
            </mc:AlternateContent>
          </a:graphicData>
        </a:graphic>
      </p:graphicFrame>
      <p:graphicFrame>
        <p:nvGraphicFramePr>
          <p:cNvPr id="16392" name="Object 13"/>
          <p:cNvGraphicFramePr>
            <a:graphicFrameLocks noChangeAspect="1"/>
          </p:cNvGraphicFramePr>
          <p:nvPr/>
        </p:nvGraphicFramePr>
        <p:xfrm>
          <a:off x="889000" y="4897438"/>
          <a:ext cx="141288" cy="141287"/>
        </p:xfrm>
        <a:graphic>
          <a:graphicData uri="http://schemas.openxmlformats.org/presentationml/2006/ole">
            <mc:AlternateContent xmlns:mc="http://schemas.openxmlformats.org/markup-compatibility/2006">
              <mc:Choice xmlns:v="urn:schemas-microsoft-com:vml" Requires="v">
                <p:oleObj spid="_x0000_s3077" name="" r:id="rId5" imgW="142875" imgH="142875" progId="MS_ClipArt_Gallery.2">
                  <p:embed/>
                </p:oleObj>
              </mc:Choice>
              <mc:Fallback>
                <p:oleObj name="" r:id="rId5" imgW="142875" imgH="142875" progId="MS_ClipArt_Gallery.2">
                  <p:embed/>
                  <p:pic>
                    <p:nvPicPr>
                      <p:cNvPr id="0" name="图片 3076"/>
                      <p:cNvPicPr/>
                      <p:nvPr/>
                    </p:nvPicPr>
                    <p:blipFill>
                      <a:blip r:embed="rId2"/>
                      <a:stretch>
                        <a:fillRect/>
                      </a:stretch>
                    </p:blipFill>
                    <p:spPr>
                      <a:xfrm>
                        <a:off x="889000" y="4897438"/>
                        <a:ext cx="141288" cy="141287"/>
                      </a:xfrm>
                      <a:prstGeom prst="rect">
                        <a:avLst/>
                      </a:prstGeom>
                      <a:noFill/>
                      <a:ln w="38100">
                        <a:noFill/>
                        <a:miter/>
                      </a:ln>
                    </p:spPr>
                  </p:pic>
                </p:oleObj>
              </mc:Fallback>
            </mc:AlternateContent>
          </a:graphicData>
        </a:graphic>
      </p:graphicFrame>
      <p:sp>
        <p:nvSpPr>
          <p:cNvPr id="16393" name="Oval 32">
            <a:hlinkClick r:id="" action="ppaction://hlinkshowjump?jump=previousslide"/>
          </p:cNvPr>
          <p:cNvSpPr/>
          <p:nvPr/>
        </p:nvSpPr>
        <p:spPr>
          <a:xfrm>
            <a:off x="6381750" y="6515100"/>
            <a:ext cx="742950" cy="57150"/>
          </a:xfrm>
          <a:prstGeom prst="ellipse">
            <a:avLst/>
          </a:prstGeom>
          <a:noFill/>
          <a:ln w="9525">
            <a:noFill/>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16394" name="Oval 33">
            <a:hlinkClick r:id="" action="ppaction://hlinkshowjump?jump=nextslide"/>
          </p:cNvPr>
          <p:cNvSpPr/>
          <p:nvPr/>
        </p:nvSpPr>
        <p:spPr>
          <a:xfrm>
            <a:off x="7245350" y="6521450"/>
            <a:ext cx="742950" cy="57150"/>
          </a:xfrm>
          <a:prstGeom prst="ellipse">
            <a:avLst/>
          </a:prstGeom>
          <a:noFill/>
          <a:ln w="9525">
            <a:noFill/>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16395" name="Oval 34">
            <a:hlinkClick r:id="" action="ppaction://hlinkshowjump?jump=firstslide"/>
          </p:cNvPr>
          <p:cNvSpPr/>
          <p:nvPr/>
        </p:nvSpPr>
        <p:spPr>
          <a:xfrm>
            <a:off x="8128000" y="6508750"/>
            <a:ext cx="742950" cy="57150"/>
          </a:xfrm>
          <a:prstGeom prst="ellipse">
            <a:avLst/>
          </a:prstGeom>
          <a:noFill/>
          <a:ln w="9525">
            <a:noFill/>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16396" name="Rectangle 2"/>
          <p:cNvSpPr txBox="1"/>
          <p:nvPr/>
        </p:nvSpPr>
        <p:spPr>
          <a:xfrm>
            <a:off x="428625" y="0"/>
            <a:ext cx="8686800" cy="1125538"/>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en-US" sz="3000" b="1" dirty="0">
                <a:solidFill>
                  <a:schemeClr val="tx1"/>
                </a:solidFill>
                <a:latin typeface="黑体" panose="02010609060101010101" pitchFamily="49" charset="-122"/>
                <a:ea typeface="黑体" panose="02010609060101010101" pitchFamily="49" charset="-122"/>
              </a:rPr>
              <a:t>第六章  系统实现</a:t>
            </a:r>
            <a:endParaRPr lang="zh-CN" altLang="en-US" sz="3000" b="1" dirty="0">
              <a:solidFill>
                <a:schemeClr val="tx1"/>
              </a:solidFill>
              <a:latin typeface="黑体" panose="02010609060101010101" pitchFamily="49" charset="-122"/>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页脚占位符 3"/>
          <p:cNvSpPr txBox="1">
            <a:spLocks noGrp="1"/>
          </p:cNvSpPr>
          <p:nvPr>
            <p:ph type="ftr" sz="quarter" idx="11"/>
          </p:nvPr>
        </p:nvSpPr>
        <p:spPr>
          <a:xfrm>
            <a:off x="457200" y="6245225"/>
            <a:ext cx="2133600" cy="476250"/>
          </a:xfrm>
          <a:ln/>
        </p:spPr>
        <p:txBody>
          <a:bodyPr/>
          <a:p>
            <a:pPr marL="0" indent="0" eaLnBrk="1" hangingPunct="1">
              <a:spcBef>
                <a:spcPct val="0"/>
              </a:spcBef>
              <a:buClrTx/>
              <a:buFontTx/>
              <a:buNone/>
            </a:pPr>
            <a:fld id="{9A0DB2DC-4C9A-4742-B13C-FB6460FD3503}" type="slidenum">
              <a:rPr lang="en-US" altLang="zh-CN" sz="1400" dirty="0">
                <a:solidFill>
                  <a:schemeClr val="tx1"/>
                </a:solidFill>
                <a:ea typeface="宋体" panose="02010600030101010101" pitchFamily="2" charset="-122"/>
              </a:rPr>
            </a:fld>
            <a:endParaRPr lang="en-US" altLang="zh-CN" sz="1400" dirty="0">
              <a:solidFill>
                <a:schemeClr val="tx1"/>
              </a:solidFill>
              <a:ea typeface="宋体" panose="02010600030101010101" pitchFamily="2" charset="-122"/>
            </a:endParaRPr>
          </a:p>
        </p:txBody>
      </p:sp>
      <p:sp>
        <p:nvSpPr>
          <p:cNvPr id="2055" name="Rectangle 2"/>
          <p:cNvSpPr>
            <a:spLocks noGrp="1" noChangeArrowheads="1"/>
          </p:cNvSpPr>
          <p:nvPr>
            <p:ph type="title"/>
          </p:nvPr>
        </p:nvSpPr>
        <p:spPr>
          <a:xfrm>
            <a:off x="663575" y="1454150"/>
            <a:ext cx="7772400" cy="574675"/>
          </a:xfrm>
        </p:spPr>
        <p:txBody>
          <a:bodyPr vert="horz" wrap="square" lIns="91440" tIns="45720" rIns="91440" bIns="45720" numCol="1" anchor="ctr" anchorCtr="0" compatLnSpc="1"/>
          <a:lstStyle/>
          <a:p>
            <a:pPr marL="0" marR="0" lvl="0" indent="-342900" algn="l" defTabSz="914400" rtl="0" eaLnBrk="1" fontAlgn="base" latinLnBrk="0" hangingPunct="1">
              <a:lnSpc>
                <a:spcPct val="120000"/>
              </a:lnSpc>
              <a:spcBef>
                <a:spcPct val="20000"/>
              </a:spcBef>
              <a:spcAft>
                <a:spcPct val="0"/>
              </a:spcAft>
              <a:buClr>
                <a:srgbClr val="A50021"/>
              </a:buClr>
              <a:buSzPct val="60000"/>
              <a:buFontTx/>
              <a:buNone/>
              <a:defRPr/>
            </a:pPr>
            <a:r>
              <a:rPr kumimoji="0" lang="zh-CN" altLang="en-US" sz="2400" b="1" i="0" u="none" strike="noStrike" kern="120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rPr>
              <a:t>三、软件测试的基本原则</a:t>
            </a:r>
            <a:endParaRPr kumimoji="0" lang="zh-CN" altLang="en-US" sz="2400" b="1" i="0" u="none" strike="noStrike" kern="120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endParaRPr>
          </a:p>
        </p:txBody>
      </p:sp>
      <p:sp>
        <p:nvSpPr>
          <p:cNvPr id="2056" name="Rectangle 9"/>
          <p:cNvSpPr>
            <a:spLocks noChangeArrowheads="1"/>
          </p:cNvSpPr>
          <p:nvPr/>
        </p:nvSpPr>
        <p:spPr bwMode="auto">
          <a:xfrm>
            <a:off x="636588" y="2079625"/>
            <a:ext cx="8001000" cy="3640138"/>
          </a:xfrm>
          <a:prstGeom prst="rect">
            <a:avLst/>
          </a:prstGeom>
          <a:noFill/>
          <a:ln w="9525">
            <a:noFill/>
            <a:miter lim="800000"/>
          </a:ln>
        </p:spPr>
        <p:txBody>
          <a:bodyPr/>
          <a:lstStyle/>
          <a:p>
            <a:pPr marL="262255" marR="0" lvl="0" indent="-262255" algn="l" defTabSz="914400" rtl="0" eaLnBrk="1" fontAlgn="base" latinLnBrk="0" hangingPunct="1">
              <a:lnSpc>
                <a:spcPct val="120000"/>
              </a:lnSpc>
              <a:spcBef>
                <a:spcPct val="20000"/>
              </a:spcBef>
              <a:spcAft>
                <a:spcPct val="0"/>
              </a:spcAft>
              <a:buClr>
                <a:srgbClr val="A50021"/>
              </a:buClr>
              <a:buSzPct val="80000"/>
              <a:buFontTx/>
              <a:buNone/>
              <a:defRPr/>
            </a:pPr>
            <a:r>
              <a:rPr kumimoji="0" lang="en-US" altLang="zh-CN" sz="2200" b="1" i="0" u="none" strike="noStrike" kern="120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3.</a:t>
            </a:r>
            <a:r>
              <a:rPr kumimoji="0" lang="zh-CN" altLang="en-US" sz="2200" b="1" i="0" u="none" strike="noStrike" kern="120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所有的测试都应当追溯到用户要求，导致程序不能满足用户要求的错误是严重错误</a:t>
            </a:r>
            <a:endParaRPr kumimoji="0" lang="zh-CN" altLang="en-US" sz="2200" b="1" i="0" u="none" strike="noStrike" kern="120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Pct val="80000"/>
              <a:buFontTx/>
              <a:buNone/>
              <a:defRPr/>
            </a:pPr>
            <a:r>
              <a:rPr kumimoji="0" lang="en-US" altLang="zh-CN" sz="2200" b="1" i="0" u="none" strike="noStrike" kern="120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4.</a:t>
            </a:r>
            <a:r>
              <a:rPr kumimoji="0" lang="zh-CN" altLang="en-US" sz="2200" b="1" i="0" u="none" strike="noStrike" kern="120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充分注意测试中的群集现象</a:t>
            </a:r>
            <a:endParaRPr kumimoji="0" lang="zh-CN" altLang="en-US" sz="2200" b="1" i="0" u="none" strike="noStrike" kern="120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Tx/>
              <a:buNone/>
              <a:defRPr/>
            </a:pPr>
            <a:r>
              <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经验表明，测试发现的错误中的</a:t>
            </a:r>
            <a:r>
              <a:rPr kumimoji="0" lang="en-US" altLang="zh-CN"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80%</a:t>
            </a:r>
            <a:r>
              <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很可能出自</a:t>
            </a:r>
            <a:r>
              <a:rPr kumimoji="0" lang="en-US" altLang="zh-CN"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20%</a:t>
            </a:r>
            <a:r>
              <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的模块，换句话说，测试后程序中残存的错误数目与该程序中已发现的错误数目成正比。</a:t>
            </a:r>
            <a:endParaRPr kumimoji="0" lang="en-US" altLang="zh-CN"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262255" marR="0" lvl="0" indent="-262255" algn="l" defTabSz="914400" rtl="0" eaLnBrk="1" fontAlgn="base" latinLnBrk="0" hangingPunct="1">
              <a:lnSpc>
                <a:spcPct val="120000"/>
              </a:lnSpc>
              <a:spcBef>
                <a:spcPct val="20000"/>
              </a:spcBef>
              <a:spcAft>
                <a:spcPct val="0"/>
              </a:spcAft>
              <a:buClr>
                <a:srgbClr val="A50021"/>
              </a:buClr>
              <a:buSzPct val="80000"/>
              <a:buFontTx/>
              <a:buNone/>
              <a:defRPr/>
            </a:pPr>
            <a:r>
              <a:rPr kumimoji="0" lang="en-US" altLang="zh-CN" sz="2200" b="1" i="0" u="none" strike="noStrike" kern="120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5.</a:t>
            </a:r>
            <a:r>
              <a:rPr kumimoji="0" lang="zh-CN" altLang="en-US" sz="2200" b="1" i="0" u="none" strike="noStrike" kern="120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妥善保存测试计划、测试用例、出错统计和最终分析报告，为维护提供方便</a:t>
            </a:r>
            <a:endParaRPr kumimoji="0" lang="zh-CN" altLang="en-US" sz="2200" b="1" i="0" u="none" strike="noStrike" kern="120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p:txBody>
      </p:sp>
      <p:sp>
        <p:nvSpPr>
          <p:cNvPr id="17413" name="Oval 32">
            <a:hlinkClick r:id="" action="ppaction://hlinkshowjump?jump=previousslide"/>
          </p:cNvPr>
          <p:cNvSpPr/>
          <p:nvPr/>
        </p:nvSpPr>
        <p:spPr>
          <a:xfrm>
            <a:off x="6381750" y="6515100"/>
            <a:ext cx="742950" cy="57150"/>
          </a:xfrm>
          <a:prstGeom prst="ellipse">
            <a:avLst/>
          </a:prstGeom>
          <a:noFill/>
          <a:ln w="9525">
            <a:noFill/>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17414" name="Oval 33">
            <a:hlinkClick r:id="" action="ppaction://hlinkshowjump?jump=nextslide"/>
          </p:cNvPr>
          <p:cNvSpPr/>
          <p:nvPr/>
        </p:nvSpPr>
        <p:spPr>
          <a:xfrm>
            <a:off x="7245350" y="6521450"/>
            <a:ext cx="742950" cy="57150"/>
          </a:xfrm>
          <a:prstGeom prst="ellipse">
            <a:avLst/>
          </a:prstGeom>
          <a:noFill/>
          <a:ln w="9525">
            <a:noFill/>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17415" name="Oval 34">
            <a:hlinkClick r:id="" action="ppaction://hlinkshowjump?jump=firstslide"/>
          </p:cNvPr>
          <p:cNvSpPr/>
          <p:nvPr/>
        </p:nvSpPr>
        <p:spPr>
          <a:xfrm>
            <a:off x="8128000" y="6508750"/>
            <a:ext cx="742950" cy="57150"/>
          </a:xfrm>
          <a:prstGeom prst="ellipse">
            <a:avLst/>
          </a:prstGeom>
          <a:noFill/>
          <a:ln w="9525">
            <a:noFill/>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17416" name="Rectangle 2"/>
          <p:cNvSpPr txBox="1"/>
          <p:nvPr/>
        </p:nvSpPr>
        <p:spPr>
          <a:xfrm>
            <a:off x="428625" y="0"/>
            <a:ext cx="8686800" cy="1125538"/>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en-US" sz="3000" b="1" dirty="0">
                <a:solidFill>
                  <a:schemeClr val="tx1"/>
                </a:solidFill>
                <a:latin typeface="黑体" panose="02010609060101010101" pitchFamily="49" charset="-122"/>
                <a:ea typeface="黑体" panose="02010609060101010101" pitchFamily="49" charset="-122"/>
              </a:rPr>
              <a:t>第六章  系统实现</a:t>
            </a:r>
            <a:endParaRPr lang="zh-CN" altLang="en-US" sz="3000" b="1" dirty="0">
              <a:solidFill>
                <a:schemeClr val="tx1"/>
              </a:solidFill>
              <a:latin typeface="黑体" panose="02010609060101010101" pitchFamily="49" charset="-122"/>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页脚占位符 3"/>
          <p:cNvSpPr txBox="1">
            <a:spLocks noGrp="1"/>
          </p:cNvSpPr>
          <p:nvPr>
            <p:ph type="ftr" sz="quarter" idx="11"/>
          </p:nvPr>
        </p:nvSpPr>
        <p:spPr>
          <a:xfrm>
            <a:off x="457200" y="6245225"/>
            <a:ext cx="2133600" cy="476250"/>
          </a:xfrm>
          <a:ln/>
        </p:spPr>
        <p:txBody>
          <a:bodyPr/>
          <a:p>
            <a:pPr marL="0" indent="0" eaLnBrk="1" hangingPunct="1">
              <a:spcBef>
                <a:spcPct val="0"/>
              </a:spcBef>
              <a:buClrTx/>
              <a:buFontTx/>
              <a:buNone/>
            </a:pPr>
            <a:fld id="{9A0DB2DC-4C9A-4742-B13C-FB6460FD3503}" type="slidenum">
              <a:rPr lang="en-US" altLang="zh-CN" sz="1400" dirty="0">
                <a:solidFill>
                  <a:schemeClr val="tx1"/>
                </a:solidFill>
                <a:ea typeface="宋体" panose="02010600030101010101" pitchFamily="2" charset="-122"/>
              </a:rPr>
            </a:fld>
            <a:endParaRPr lang="en-US" altLang="zh-CN" sz="1400" dirty="0">
              <a:solidFill>
                <a:schemeClr val="tx1"/>
              </a:solidFill>
              <a:ea typeface="宋体" panose="02010600030101010101" pitchFamily="2" charset="-122"/>
            </a:endParaRPr>
          </a:p>
        </p:txBody>
      </p:sp>
      <p:sp>
        <p:nvSpPr>
          <p:cNvPr id="2055" name="Rectangle 2"/>
          <p:cNvSpPr>
            <a:spLocks noGrp="1" noChangeArrowheads="1"/>
          </p:cNvSpPr>
          <p:nvPr>
            <p:ph type="title"/>
          </p:nvPr>
        </p:nvSpPr>
        <p:spPr>
          <a:xfrm>
            <a:off x="663575" y="1454150"/>
            <a:ext cx="7772400" cy="574675"/>
          </a:xfrm>
        </p:spPr>
        <p:txBody>
          <a:bodyPr vert="horz" wrap="square" lIns="91440" tIns="45720" rIns="91440" bIns="45720" numCol="1" anchor="ctr" anchorCtr="0" compatLnSpc="1"/>
          <a:lstStyle/>
          <a:p>
            <a:pPr marL="0" marR="0" lvl="0" indent="-342900" algn="l" defTabSz="914400" rtl="0" eaLnBrk="1" fontAlgn="base" latinLnBrk="0" hangingPunct="1">
              <a:lnSpc>
                <a:spcPct val="120000"/>
              </a:lnSpc>
              <a:spcBef>
                <a:spcPct val="20000"/>
              </a:spcBef>
              <a:spcAft>
                <a:spcPct val="0"/>
              </a:spcAft>
              <a:buClr>
                <a:srgbClr val="A50021"/>
              </a:buClr>
              <a:buSzPct val="60000"/>
              <a:buFontTx/>
              <a:buNone/>
              <a:defRPr/>
            </a:pPr>
            <a:r>
              <a:rPr kumimoji="0" lang="zh-CN" altLang="en-US" sz="2400" b="1" i="0" u="none" strike="noStrike" kern="120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rPr>
              <a:t>四、软件测试方法</a:t>
            </a:r>
            <a:endParaRPr kumimoji="0" lang="zh-CN" altLang="en-US" sz="2400" b="1" i="0" u="none" strike="noStrike" kern="120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endParaRPr>
          </a:p>
        </p:txBody>
      </p:sp>
      <p:sp>
        <p:nvSpPr>
          <p:cNvPr id="2056" name="Rectangle 9"/>
          <p:cNvSpPr>
            <a:spLocks noChangeArrowheads="1"/>
          </p:cNvSpPr>
          <p:nvPr/>
        </p:nvSpPr>
        <p:spPr bwMode="auto">
          <a:xfrm>
            <a:off x="636588" y="2079625"/>
            <a:ext cx="8001000" cy="3640138"/>
          </a:xfrm>
          <a:prstGeom prst="rect">
            <a:avLst/>
          </a:prstGeom>
          <a:noFill/>
          <a:ln w="9525">
            <a:noFill/>
            <a:miter lim="800000"/>
          </a:ln>
        </p:spPr>
        <p:txBody>
          <a:bodyPr/>
          <a:lstStyle/>
          <a:p>
            <a:pPr marL="262255" marR="0" lvl="0" indent="-262255" algn="l" defTabSz="914400" rtl="0" eaLnBrk="1" fontAlgn="base" latinLnBrk="0" hangingPunct="1">
              <a:lnSpc>
                <a:spcPct val="120000"/>
              </a:lnSpc>
              <a:spcBef>
                <a:spcPct val="20000"/>
              </a:spcBef>
              <a:spcAft>
                <a:spcPct val="0"/>
              </a:spcAft>
              <a:buClr>
                <a:srgbClr val="A50021"/>
              </a:buClr>
              <a:buSzPct val="80000"/>
              <a:buFontTx/>
              <a:buNone/>
              <a:defRPr/>
            </a:pPr>
            <a:r>
              <a:rPr kumimoji="0" lang="en-US" altLang="zh-CN" sz="2200" b="1" i="0" u="none" strike="noStrike" kern="120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1.</a:t>
            </a:r>
            <a:r>
              <a:rPr kumimoji="0" lang="zh-CN" altLang="en-US" sz="2200" b="1" i="0" u="none" strike="noStrike" kern="120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黑盒测试</a:t>
            </a:r>
            <a:endParaRPr kumimoji="0" lang="en-US" altLang="zh-CN" sz="2200" b="1" i="0" u="none" strike="noStrike" kern="120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Tx/>
              <a:buNone/>
              <a:defRPr/>
            </a:pPr>
            <a:r>
              <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确信对每个输入，观察到输出与期望的输出是否匹配。</a:t>
            </a:r>
            <a:endParaRPr kumimoji="0" lang="en-US" altLang="zh-CN"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Tx/>
              <a:buNone/>
              <a:defRPr/>
            </a:pPr>
            <a:r>
              <a:rPr kumimoji="0" lang="en-US" altLang="zh-CN"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a:t>
            </a:r>
            <a:r>
              <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对功能测试</a:t>
            </a:r>
            <a:endPar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Pct val="80000"/>
              <a:buFontTx/>
              <a:buNone/>
              <a:defRPr/>
            </a:pPr>
            <a:r>
              <a:rPr kumimoji="0" lang="en-US" altLang="zh-CN" sz="2200" b="1" i="0" u="none" strike="noStrike" kern="120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2.</a:t>
            </a:r>
            <a:r>
              <a:rPr kumimoji="0" lang="zh-CN" altLang="en-US" sz="2200" b="1" i="0" u="none" strike="noStrike" kern="120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白盒测试</a:t>
            </a:r>
            <a:endParaRPr kumimoji="0" lang="en-US" altLang="zh-CN" sz="2200" b="1" i="0" u="none" strike="noStrike" kern="120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Tx/>
              <a:buNone/>
              <a:defRPr/>
            </a:pPr>
            <a:r>
              <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利用程序的结构进行测试。</a:t>
            </a:r>
            <a:r>
              <a:rPr kumimoji="0" lang="en-US" altLang="zh-CN"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a:t>
            </a:r>
            <a:endParaRPr kumimoji="0" lang="en-US" altLang="zh-CN"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Tx/>
              <a:buNone/>
              <a:defRPr/>
            </a:pPr>
            <a:r>
              <a:rPr kumimoji="0" lang="en-US" altLang="zh-CN"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a:t>
            </a:r>
            <a:r>
              <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对结构测试</a:t>
            </a:r>
            <a:endPar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sp>
        <p:nvSpPr>
          <p:cNvPr id="18437" name="Oval 32">
            <a:hlinkClick r:id="" action="ppaction://hlinkshowjump?jump=previousslide"/>
          </p:cNvPr>
          <p:cNvSpPr/>
          <p:nvPr/>
        </p:nvSpPr>
        <p:spPr>
          <a:xfrm>
            <a:off x="6381750" y="6515100"/>
            <a:ext cx="742950" cy="57150"/>
          </a:xfrm>
          <a:prstGeom prst="ellipse">
            <a:avLst/>
          </a:prstGeom>
          <a:noFill/>
          <a:ln w="9525">
            <a:noFill/>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18438" name="Oval 33">
            <a:hlinkClick r:id="" action="ppaction://hlinkshowjump?jump=nextslide"/>
          </p:cNvPr>
          <p:cNvSpPr/>
          <p:nvPr/>
        </p:nvSpPr>
        <p:spPr>
          <a:xfrm>
            <a:off x="7245350" y="6521450"/>
            <a:ext cx="742950" cy="57150"/>
          </a:xfrm>
          <a:prstGeom prst="ellipse">
            <a:avLst/>
          </a:prstGeom>
          <a:noFill/>
          <a:ln w="9525">
            <a:noFill/>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18439" name="Oval 34">
            <a:hlinkClick r:id="" action="ppaction://hlinkshowjump?jump=firstslide"/>
          </p:cNvPr>
          <p:cNvSpPr/>
          <p:nvPr/>
        </p:nvSpPr>
        <p:spPr>
          <a:xfrm>
            <a:off x="8128000" y="6508750"/>
            <a:ext cx="742950" cy="57150"/>
          </a:xfrm>
          <a:prstGeom prst="ellipse">
            <a:avLst/>
          </a:prstGeom>
          <a:noFill/>
          <a:ln w="9525">
            <a:noFill/>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18440" name="Rectangle 2"/>
          <p:cNvSpPr txBox="1"/>
          <p:nvPr/>
        </p:nvSpPr>
        <p:spPr>
          <a:xfrm>
            <a:off x="428625" y="0"/>
            <a:ext cx="8686800" cy="1125538"/>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en-US" sz="3000" b="1" dirty="0">
                <a:solidFill>
                  <a:schemeClr val="tx1"/>
                </a:solidFill>
                <a:latin typeface="黑体" panose="02010609060101010101" pitchFamily="49" charset="-122"/>
                <a:ea typeface="黑体" panose="02010609060101010101" pitchFamily="49" charset="-122"/>
              </a:rPr>
              <a:t>第六章  系统实现</a:t>
            </a:r>
            <a:endParaRPr lang="zh-CN" altLang="en-US" sz="3000" b="1" dirty="0">
              <a:solidFill>
                <a:schemeClr val="tx1"/>
              </a:solidFill>
              <a:latin typeface="黑体" panose="02010609060101010101" pitchFamily="49" charset="-122"/>
              <a:ea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页脚占位符 3"/>
          <p:cNvSpPr txBox="1">
            <a:spLocks noGrp="1"/>
          </p:cNvSpPr>
          <p:nvPr>
            <p:ph type="ftr" sz="quarter" idx="11"/>
          </p:nvPr>
        </p:nvSpPr>
        <p:spPr>
          <a:xfrm>
            <a:off x="457200" y="6245225"/>
            <a:ext cx="2133600" cy="476250"/>
          </a:xfrm>
          <a:ln/>
        </p:spPr>
        <p:txBody>
          <a:bodyPr/>
          <a:p>
            <a:pPr marL="0" indent="0" eaLnBrk="1" hangingPunct="1">
              <a:spcBef>
                <a:spcPct val="0"/>
              </a:spcBef>
              <a:buClrTx/>
              <a:buFontTx/>
              <a:buNone/>
            </a:pPr>
            <a:fld id="{9A0DB2DC-4C9A-4742-B13C-FB6460FD3503}" type="slidenum">
              <a:rPr lang="en-US" altLang="zh-CN" sz="1600" dirty="0">
                <a:solidFill>
                  <a:srgbClr val="000000"/>
                </a:solidFill>
                <a:ea typeface="宋体" panose="02010600030101010101" pitchFamily="2" charset="-122"/>
              </a:rPr>
            </a:fld>
            <a:endParaRPr lang="en-US" altLang="zh-CN" sz="1600" dirty="0">
              <a:solidFill>
                <a:srgbClr val="000000"/>
              </a:solidFill>
              <a:ea typeface="宋体" panose="02010600030101010101" pitchFamily="2" charset="-122"/>
            </a:endParaRPr>
          </a:p>
        </p:txBody>
      </p:sp>
      <p:sp>
        <p:nvSpPr>
          <p:cNvPr id="131075" name="Rectangle 3"/>
          <p:cNvSpPr>
            <a:spLocks noGrp="1" noChangeArrowheads="1"/>
          </p:cNvSpPr>
          <p:nvPr>
            <p:ph idx="1"/>
          </p:nvPr>
        </p:nvSpPr>
        <p:spPr>
          <a:xfrm>
            <a:off x="277813" y="1289050"/>
            <a:ext cx="8509000" cy="1425575"/>
          </a:xfrm>
        </p:spPr>
        <p:txBody>
          <a:bodyPr vert="horz" wrap="square" lIns="91440" tIns="45720" rIns="91440" bIns="45720" numCol="1" anchor="t" anchorCtr="0" compatLnSpc="1"/>
          <a:lstStyle/>
          <a:p>
            <a:pPr marL="0" marR="0" lvl="1" indent="-34290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r>
              <a:rPr kumimoji="0" lang="zh-CN" altLang="en-US" sz="2400" b="1" i="0" u="none" strike="noStrike" kern="120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rPr>
              <a:t>五、测试步骤及策略</a:t>
            </a:r>
            <a:endParaRPr kumimoji="0" lang="en-US" altLang="zh-CN" sz="2400" b="1" i="0" u="none" strike="noStrike" kern="120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endParaRPr>
          </a:p>
          <a:p>
            <a:pPr marL="0" marR="0" lvl="1"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所有测试过程都应采用综合测试策略；即先作静态分析，再作动态测试。并事先制订测试计划。测试过程通常可分</a:t>
            </a:r>
            <a:r>
              <a:rPr kumimoji="0" lang="en-US" altLang="zh-CN"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4</a:t>
            </a:r>
            <a:r>
              <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步进行：</a:t>
            </a:r>
            <a:endParaRPr kumimoji="0" lang="zh-CN" altLang="en-US" sz="2200" b="1" i="0" u="none" strike="noStrike" kern="120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grpSp>
        <p:nvGrpSpPr>
          <p:cNvPr id="19460" name="Group 4"/>
          <p:cNvGrpSpPr/>
          <p:nvPr/>
        </p:nvGrpSpPr>
        <p:grpSpPr>
          <a:xfrm>
            <a:off x="519113" y="2925763"/>
            <a:ext cx="1462087" cy="3429000"/>
            <a:chOff x="327" y="1843"/>
            <a:chExt cx="921" cy="2160"/>
          </a:xfrm>
        </p:grpSpPr>
        <p:sp>
          <p:nvSpPr>
            <p:cNvPr id="19488" name="Oval 5"/>
            <p:cNvSpPr/>
            <p:nvPr/>
          </p:nvSpPr>
          <p:spPr>
            <a:xfrm>
              <a:off x="768" y="1843"/>
              <a:ext cx="480" cy="528"/>
            </a:xfrm>
            <a:prstGeom prst="ellipse">
              <a:avLst/>
            </a:prstGeom>
            <a:solidFill>
              <a:srgbClr val="FFFFCC"/>
            </a:solidFill>
            <a:ln w="9525" cap="flat" cmpd="sng">
              <a:solidFill>
                <a:schemeClr va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en-US" sz="1600" b="1" dirty="0">
                  <a:solidFill>
                    <a:srgbClr val="000000"/>
                  </a:solidFill>
                  <a:ea typeface="宋体" panose="02010600030101010101" pitchFamily="2" charset="-122"/>
                </a:rPr>
                <a:t>单元</a:t>
              </a:r>
              <a:endParaRPr lang="zh-CN" altLang="en-US" sz="1600" b="1" dirty="0">
                <a:solidFill>
                  <a:srgbClr val="000000"/>
                </a:solidFill>
                <a:ea typeface="宋体" panose="02010600030101010101" pitchFamily="2" charset="-122"/>
              </a:endParaRPr>
            </a:p>
            <a:p>
              <a:pPr marL="0" lvl="0" indent="0" eaLnBrk="1" hangingPunct="1">
                <a:spcBef>
                  <a:spcPct val="0"/>
                </a:spcBef>
                <a:buClrTx/>
                <a:buFontTx/>
                <a:buNone/>
              </a:pPr>
              <a:r>
                <a:rPr lang="zh-CN" altLang="en-US" sz="1600" b="1" dirty="0">
                  <a:solidFill>
                    <a:srgbClr val="000000"/>
                  </a:solidFill>
                  <a:ea typeface="宋体" panose="02010600030101010101" pitchFamily="2" charset="-122"/>
                </a:rPr>
                <a:t>测试</a:t>
              </a:r>
              <a:endParaRPr lang="zh-CN" altLang="en-US" sz="1600" b="1" dirty="0">
                <a:solidFill>
                  <a:srgbClr val="000000"/>
                </a:solidFill>
                <a:ea typeface="宋体" panose="02010600030101010101" pitchFamily="2" charset="-122"/>
              </a:endParaRPr>
            </a:p>
          </p:txBody>
        </p:sp>
        <p:sp>
          <p:nvSpPr>
            <p:cNvPr id="20512" name="Line 6"/>
            <p:cNvSpPr>
              <a:spLocks noChangeShapeType="1"/>
            </p:cNvSpPr>
            <p:nvPr/>
          </p:nvSpPr>
          <p:spPr bwMode="auto">
            <a:xfrm>
              <a:off x="336" y="2131"/>
              <a:ext cx="432" cy="0"/>
            </a:xfrm>
            <a:prstGeom prst="line">
              <a:avLst/>
            </a:prstGeom>
            <a:noFill/>
            <a:ln w="28575">
              <a:solidFill>
                <a:schemeClr val="tx1">
                  <a:lumMod val="25000"/>
                </a:schemeClr>
              </a:solidFill>
              <a:round/>
              <a:tailEnd type="triangl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490" name="Oval 7"/>
            <p:cNvSpPr/>
            <p:nvPr/>
          </p:nvSpPr>
          <p:spPr>
            <a:xfrm>
              <a:off x="768" y="2515"/>
              <a:ext cx="480" cy="528"/>
            </a:xfrm>
            <a:prstGeom prst="ellipse">
              <a:avLst/>
            </a:prstGeom>
            <a:solidFill>
              <a:srgbClr val="FFFFCC"/>
            </a:solidFill>
            <a:ln w="9525" cap="flat" cmpd="sng">
              <a:solidFill>
                <a:schemeClr va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en-US" sz="1600" b="1" dirty="0">
                  <a:solidFill>
                    <a:srgbClr val="000000"/>
                  </a:solidFill>
                  <a:ea typeface="宋体" panose="02010600030101010101" pitchFamily="2" charset="-122"/>
                </a:rPr>
                <a:t>单元</a:t>
              </a:r>
              <a:endParaRPr lang="zh-CN" altLang="en-US" sz="1600" b="1" dirty="0">
                <a:solidFill>
                  <a:srgbClr val="000000"/>
                </a:solidFill>
                <a:ea typeface="宋体" panose="02010600030101010101" pitchFamily="2" charset="-122"/>
              </a:endParaRPr>
            </a:p>
            <a:p>
              <a:pPr marL="0" lvl="0" indent="0" eaLnBrk="1" hangingPunct="1">
                <a:spcBef>
                  <a:spcPct val="0"/>
                </a:spcBef>
                <a:buClrTx/>
                <a:buFontTx/>
                <a:buNone/>
              </a:pPr>
              <a:r>
                <a:rPr lang="zh-CN" altLang="en-US" sz="1600" b="1" dirty="0">
                  <a:solidFill>
                    <a:srgbClr val="000000"/>
                  </a:solidFill>
                  <a:ea typeface="宋体" panose="02010600030101010101" pitchFamily="2" charset="-122"/>
                </a:rPr>
                <a:t>测试</a:t>
              </a:r>
              <a:endParaRPr lang="zh-CN" altLang="en-US" sz="1600" b="1" dirty="0">
                <a:solidFill>
                  <a:srgbClr val="000000"/>
                </a:solidFill>
                <a:ea typeface="宋体" panose="02010600030101010101" pitchFamily="2" charset="-122"/>
              </a:endParaRPr>
            </a:p>
          </p:txBody>
        </p:sp>
        <p:sp>
          <p:nvSpPr>
            <p:cNvPr id="20514" name="Line 8"/>
            <p:cNvSpPr>
              <a:spLocks noChangeShapeType="1"/>
            </p:cNvSpPr>
            <p:nvPr/>
          </p:nvSpPr>
          <p:spPr bwMode="auto">
            <a:xfrm>
              <a:off x="384" y="2803"/>
              <a:ext cx="384" cy="0"/>
            </a:xfrm>
            <a:prstGeom prst="line">
              <a:avLst/>
            </a:prstGeom>
            <a:noFill/>
            <a:ln w="28575">
              <a:solidFill>
                <a:schemeClr val="tx1">
                  <a:lumMod val="25000"/>
                </a:schemeClr>
              </a:solidFill>
              <a:round/>
              <a:tailEnd type="triangl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492" name="Line 9"/>
            <p:cNvSpPr/>
            <p:nvPr/>
          </p:nvSpPr>
          <p:spPr>
            <a:xfrm>
              <a:off x="1008" y="3091"/>
              <a:ext cx="0" cy="384"/>
            </a:xfrm>
            <a:prstGeom prst="line">
              <a:avLst/>
            </a:prstGeom>
            <a:ln w="9525" cap="flat" cmpd="sng">
              <a:solidFill>
                <a:schemeClr val="tx1"/>
              </a:solidFill>
              <a:prstDash val="sysDot"/>
              <a:headEnd type="none" w="med" len="med"/>
              <a:tailEnd type="none" w="med" len="med"/>
            </a:ln>
          </p:spPr>
        </p:sp>
        <p:sp>
          <p:nvSpPr>
            <p:cNvPr id="19493" name="Oval 10"/>
            <p:cNvSpPr/>
            <p:nvPr/>
          </p:nvSpPr>
          <p:spPr>
            <a:xfrm>
              <a:off x="768" y="3475"/>
              <a:ext cx="480" cy="528"/>
            </a:xfrm>
            <a:prstGeom prst="ellipse">
              <a:avLst/>
            </a:prstGeom>
            <a:solidFill>
              <a:srgbClr val="FFFFCC"/>
            </a:solidFill>
            <a:ln w="9525" cap="flat" cmpd="sng">
              <a:solidFill>
                <a:schemeClr va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en-US" sz="1600" b="1" dirty="0">
                  <a:solidFill>
                    <a:srgbClr val="000000"/>
                  </a:solidFill>
                  <a:ea typeface="宋体" panose="02010600030101010101" pitchFamily="2" charset="-122"/>
                </a:rPr>
                <a:t>单元</a:t>
              </a:r>
              <a:endParaRPr lang="zh-CN" altLang="en-US" sz="1600" b="1" dirty="0">
                <a:solidFill>
                  <a:srgbClr val="000000"/>
                </a:solidFill>
                <a:ea typeface="宋体" panose="02010600030101010101" pitchFamily="2" charset="-122"/>
              </a:endParaRPr>
            </a:p>
            <a:p>
              <a:pPr marL="0" lvl="0" indent="0" eaLnBrk="1" hangingPunct="1">
                <a:spcBef>
                  <a:spcPct val="0"/>
                </a:spcBef>
                <a:buClrTx/>
                <a:buFontTx/>
                <a:buNone/>
              </a:pPr>
              <a:r>
                <a:rPr lang="zh-CN" altLang="en-US" sz="1600" b="1" dirty="0">
                  <a:solidFill>
                    <a:srgbClr val="000000"/>
                  </a:solidFill>
                  <a:ea typeface="宋体" panose="02010600030101010101" pitchFamily="2" charset="-122"/>
                </a:rPr>
                <a:t>测试</a:t>
              </a:r>
              <a:endParaRPr lang="zh-CN" altLang="en-US" sz="1600" b="1" dirty="0">
                <a:solidFill>
                  <a:srgbClr val="000000"/>
                </a:solidFill>
                <a:ea typeface="宋体" panose="02010600030101010101" pitchFamily="2" charset="-122"/>
              </a:endParaRPr>
            </a:p>
          </p:txBody>
        </p:sp>
        <p:sp>
          <p:nvSpPr>
            <p:cNvPr id="20517" name="Line 11"/>
            <p:cNvSpPr>
              <a:spLocks noChangeShapeType="1"/>
            </p:cNvSpPr>
            <p:nvPr/>
          </p:nvSpPr>
          <p:spPr bwMode="auto">
            <a:xfrm>
              <a:off x="384" y="3763"/>
              <a:ext cx="384" cy="0"/>
            </a:xfrm>
            <a:prstGeom prst="line">
              <a:avLst/>
            </a:prstGeom>
            <a:noFill/>
            <a:ln w="28575">
              <a:solidFill>
                <a:schemeClr val="tx1">
                  <a:lumMod val="25000"/>
                </a:schemeClr>
              </a:solidFill>
              <a:round/>
              <a:tailEnd type="triangl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495" name="Text Box 12"/>
            <p:cNvSpPr txBox="1"/>
            <p:nvPr/>
          </p:nvSpPr>
          <p:spPr>
            <a:xfrm>
              <a:off x="336" y="2371"/>
              <a:ext cx="528" cy="174"/>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50000"/>
                </a:spcBef>
                <a:buClrTx/>
                <a:buFontTx/>
                <a:buNone/>
              </a:pPr>
              <a:r>
                <a:rPr lang="zh-CN" altLang="en-US" sz="1200" b="1" dirty="0">
                  <a:solidFill>
                    <a:srgbClr val="000000"/>
                  </a:solidFill>
                  <a:ea typeface="楷体_GB2312" pitchFamily="49" charset="-122"/>
                </a:rPr>
                <a:t>被测模块</a:t>
              </a:r>
              <a:endParaRPr lang="zh-CN" altLang="en-US" sz="1200" b="1" dirty="0">
                <a:solidFill>
                  <a:srgbClr val="000000"/>
                </a:solidFill>
                <a:ea typeface="楷体_GB2312" pitchFamily="49" charset="-122"/>
              </a:endParaRPr>
            </a:p>
          </p:txBody>
        </p:sp>
        <p:sp>
          <p:nvSpPr>
            <p:cNvPr id="19496" name="Text Box 13"/>
            <p:cNvSpPr txBox="1"/>
            <p:nvPr/>
          </p:nvSpPr>
          <p:spPr>
            <a:xfrm>
              <a:off x="327" y="3235"/>
              <a:ext cx="528" cy="174"/>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50000"/>
                </a:spcBef>
                <a:buClrTx/>
                <a:buFontTx/>
                <a:buNone/>
              </a:pPr>
              <a:r>
                <a:rPr lang="zh-CN" altLang="en-US" sz="1200" b="1" dirty="0">
                  <a:solidFill>
                    <a:srgbClr val="000000"/>
                  </a:solidFill>
                  <a:ea typeface="楷体_GB2312" pitchFamily="49" charset="-122"/>
                </a:rPr>
                <a:t>被测模块</a:t>
              </a:r>
              <a:endParaRPr lang="zh-CN" altLang="en-US" sz="1200" b="1" dirty="0">
                <a:solidFill>
                  <a:srgbClr val="000000"/>
                </a:solidFill>
                <a:ea typeface="楷体_GB2312" pitchFamily="49" charset="-122"/>
              </a:endParaRPr>
            </a:p>
          </p:txBody>
        </p:sp>
      </p:grpSp>
      <p:grpSp>
        <p:nvGrpSpPr>
          <p:cNvPr id="19461" name="Group 14"/>
          <p:cNvGrpSpPr/>
          <p:nvPr/>
        </p:nvGrpSpPr>
        <p:grpSpPr>
          <a:xfrm>
            <a:off x="1928813" y="3189288"/>
            <a:ext cx="1987550" cy="2632075"/>
            <a:chOff x="1215" y="2009"/>
            <a:chExt cx="1252" cy="1658"/>
          </a:xfrm>
        </p:grpSpPr>
        <p:sp>
          <p:nvSpPr>
            <p:cNvPr id="19481" name="Oval 15"/>
            <p:cNvSpPr/>
            <p:nvPr/>
          </p:nvSpPr>
          <p:spPr>
            <a:xfrm>
              <a:off x="1968" y="2515"/>
              <a:ext cx="480" cy="528"/>
            </a:xfrm>
            <a:prstGeom prst="ellipse">
              <a:avLst/>
            </a:prstGeom>
            <a:solidFill>
              <a:srgbClr val="FFFFCC"/>
            </a:solidFill>
            <a:ln w="9525" cap="flat" cmpd="sng">
              <a:solidFill>
                <a:schemeClr va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en-US" sz="1600" b="1" dirty="0">
                  <a:solidFill>
                    <a:srgbClr val="000000"/>
                  </a:solidFill>
                  <a:ea typeface="宋体" panose="02010600030101010101" pitchFamily="2" charset="-122"/>
                </a:rPr>
                <a:t>集成</a:t>
              </a:r>
              <a:endParaRPr lang="zh-CN" altLang="en-US" sz="1600" b="1" dirty="0">
                <a:solidFill>
                  <a:srgbClr val="000000"/>
                </a:solidFill>
                <a:ea typeface="宋体" panose="02010600030101010101" pitchFamily="2" charset="-122"/>
              </a:endParaRPr>
            </a:p>
            <a:p>
              <a:pPr marL="0" lvl="0" indent="0" eaLnBrk="1" hangingPunct="1">
                <a:spcBef>
                  <a:spcPct val="0"/>
                </a:spcBef>
                <a:buClrTx/>
                <a:buFontTx/>
                <a:buNone/>
              </a:pPr>
              <a:r>
                <a:rPr lang="zh-CN" altLang="en-US" sz="1600" b="1" dirty="0">
                  <a:solidFill>
                    <a:srgbClr val="000000"/>
                  </a:solidFill>
                  <a:ea typeface="宋体" panose="02010600030101010101" pitchFamily="2" charset="-122"/>
                </a:rPr>
                <a:t>测试</a:t>
              </a:r>
              <a:endParaRPr lang="zh-CN" altLang="en-US" sz="1600" b="1" dirty="0">
                <a:solidFill>
                  <a:srgbClr val="000000"/>
                </a:solidFill>
                <a:ea typeface="宋体" panose="02010600030101010101" pitchFamily="2" charset="-122"/>
              </a:endParaRPr>
            </a:p>
          </p:txBody>
        </p:sp>
        <p:sp>
          <p:nvSpPr>
            <p:cNvPr id="20505" name="Line 16"/>
            <p:cNvSpPr>
              <a:spLocks noChangeShapeType="1"/>
            </p:cNvSpPr>
            <p:nvPr/>
          </p:nvSpPr>
          <p:spPr bwMode="auto">
            <a:xfrm>
              <a:off x="1248" y="2083"/>
              <a:ext cx="720" cy="624"/>
            </a:xfrm>
            <a:prstGeom prst="line">
              <a:avLst/>
            </a:prstGeom>
            <a:noFill/>
            <a:ln w="28575">
              <a:solidFill>
                <a:schemeClr val="tx1">
                  <a:lumMod val="25000"/>
                </a:schemeClr>
              </a:solidFill>
              <a:round/>
              <a:tailEnd type="triangl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06" name="Line 17"/>
            <p:cNvSpPr>
              <a:spLocks noChangeShapeType="1"/>
            </p:cNvSpPr>
            <p:nvPr/>
          </p:nvSpPr>
          <p:spPr bwMode="auto">
            <a:xfrm>
              <a:off x="1248" y="2803"/>
              <a:ext cx="720" cy="0"/>
            </a:xfrm>
            <a:prstGeom prst="line">
              <a:avLst/>
            </a:prstGeom>
            <a:noFill/>
            <a:ln w="28575">
              <a:solidFill>
                <a:schemeClr val="tx1">
                  <a:lumMod val="25000"/>
                </a:schemeClr>
              </a:solidFill>
              <a:round/>
              <a:tailEnd type="triangl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07" name="Line 18"/>
            <p:cNvSpPr>
              <a:spLocks noChangeShapeType="1"/>
            </p:cNvSpPr>
            <p:nvPr/>
          </p:nvSpPr>
          <p:spPr bwMode="auto">
            <a:xfrm flipV="1">
              <a:off x="1248" y="2899"/>
              <a:ext cx="768" cy="768"/>
            </a:xfrm>
            <a:prstGeom prst="line">
              <a:avLst/>
            </a:prstGeom>
            <a:noFill/>
            <a:ln w="28575">
              <a:solidFill>
                <a:schemeClr val="tx1">
                  <a:lumMod val="25000"/>
                </a:schemeClr>
              </a:solidFill>
              <a:round/>
              <a:tailEnd type="triangl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08" name="Line 19"/>
            <p:cNvSpPr>
              <a:spLocks noChangeShapeType="1"/>
            </p:cNvSpPr>
            <p:nvPr/>
          </p:nvSpPr>
          <p:spPr bwMode="auto">
            <a:xfrm>
              <a:off x="1889" y="2160"/>
              <a:ext cx="220" cy="380"/>
            </a:xfrm>
            <a:prstGeom prst="line">
              <a:avLst/>
            </a:prstGeom>
            <a:noFill/>
            <a:ln w="28575">
              <a:solidFill>
                <a:schemeClr val="tx1">
                  <a:lumMod val="25000"/>
                </a:schemeClr>
              </a:solidFill>
              <a:round/>
              <a:tailEnd type="triangl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486" name="Text Box 20"/>
            <p:cNvSpPr txBox="1"/>
            <p:nvPr/>
          </p:nvSpPr>
          <p:spPr>
            <a:xfrm>
              <a:off x="1941" y="2009"/>
              <a:ext cx="526" cy="174"/>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50000"/>
                </a:spcBef>
                <a:buClrTx/>
                <a:buFontTx/>
                <a:buNone/>
              </a:pPr>
              <a:r>
                <a:rPr lang="zh-CN" altLang="en-US" sz="1200" b="1" dirty="0">
                  <a:solidFill>
                    <a:srgbClr val="000000"/>
                  </a:solidFill>
                  <a:ea typeface="楷体_GB2312" pitchFamily="49" charset="-122"/>
                </a:rPr>
                <a:t>设计信息</a:t>
              </a:r>
              <a:endParaRPr lang="zh-CN" altLang="en-US" sz="1200" b="1" dirty="0">
                <a:solidFill>
                  <a:srgbClr val="000000"/>
                </a:solidFill>
                <a:ea typeface="宋体" panose="02010600030101010101" pitchFamily="2" charset="-122"/>
              </a:endParaRPr>
            </a:p>
          </p:txBody>
        </p:sp>
        <p:sp>
          <p:nvSpPr>
            <p:cNvPr id="19487" name="Text Box 21"/>
            <p:cNvSpPr txBox="1"/>
            <p:nvPr/>
          </p:nvSpPr>
          <p:spPr>
            <a:xfrm>
              <a:off x="1215" y="2841"/>
              <a:ext cx="720" cy="174"/>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50000"/>
                </a:spcBef>
                <a:buClrTx/>
                <a:buFontTx/>
                <a:buNone/>
              </a:pPr>
              <a:r>
                <a:rPr lang="zh-CN" altLang="en-US" sz="1200" b="1" dirty="0">
                  <a:solidFill>
                    <a:srgbClr val="000000"/>
                  </a:solidFill>
                  <a:ea typeface="楷体_GB2312" pitchFamily="49" charset="-122"/>
                </a:rPr>
                <a:t>已测试的模块</a:t>
              </a:r>
              <a:endParaRPr lang="zh-CN" altLang="en-US" sz="1200" b="1" dirty="0">
                <a:solidFill>
                  <a:srgbClr val="000000"/>
                </a:solidFill>
                <a:ea typeface="宋体" panose="02010600030101010101" pitchFamily="2" charset="-122"/>
              </a:endParaRPr>
            </a:p>
          </p:txBody>
        </p:sp>
      </p:grpSp>
      <p:grpSp>
        <p:nvGrpSpPr>
          <p:cNvPr id="19462" name="Group 22"/>
          <p:cNvGrpSpPr/>
          <p:nvPr/>
        </p:nvGrpSpPr>
        <p:grpSpPr>
          <a:xfrm>
            <a:off x="3886200" y="3214688"/>
            <a:ext cx="2362200" cy="1692275"/>
            <a:chOff x="2448" y="2025"/>
            <a:chExt cx="1488" cy="1066"/>
          </a:xfrm>
        </p:grpSpPr>
        <p:grpSp>
          <p:nvGrpSpPr>
            <p:cNvPr id="19475" name="Group 23"/>
            <p:cNvGrpSpPr/>
            <p:nvPr/>
          </p:nvGrpSpPr>
          <p:grpSpPr>
            <a:xfrm>
              <a:off x="2448" y="2035"/>
              <a:ext cx="1248" cy="1056"/>
              <a:chOff x="2448" y="2035"/>
              <a:chExt cx="1248" cy="1056"/>
            </a:xfrm>
          </p:grpSpPr>
          <p:sp>
            <p:nvSpPr>
              <p:cNvPr id="20500" name="Line 24"/>
              <p:cNvSpPr>
                <a:spLocks noChangeShapeType="1"/>
              </p:cNvSpPr>
              <p:nvPr/>
            </p:nvSpPr>
            <p:spPr bwMode="auto">
              <a:xfrm>
                <a:off x="2448" y="2803"/>
                <a:ext cx="768" cy="0"/>
              </a:xfrm>
              <a:prstGeom prst="line">
                <a:avLst/>
              </a:prstGeom>
              <a:noFill/>
              <a:ln w="28575">
                <a:solidFill>
                  <a:schemeClr val="tx1">
                    <a:lumMod val="25000"/>
                  </a:schemeClr>
                </a:solidFill>
                <a:round/>
                <a:tailEnd type="triangl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478" name="Oval 25"/>
              <p:cNvSpPr/>
              <p:nvPr/>
            </p:nvSpPr>
            <p:spPr>
              <a:xfrm>
                <a:off x="3216" y="2563"/>
                <a:ext cx="480" cy="528"/>
              </a:xfrm>
              <a:prstGeom prst="ellipse">
                <a:avLst/>
              </a:prstGeom>
              <a:solidFill>
                <a:srgbClr val="FFFFCC"/>
              </a:solidFill>
              <a:ln w="9525" cap="flat" cmpd="sng">
                <a:solidFill>
                  <a:schemeClr va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en-US" sz="1600" b="1" dirty="0">
                    <a:solidFill>
                      <a:srgbClr val="000000"/>
                    </a:solidFill>
                    <a:ea typeface="宋体" panose="02010600030101010101" pitchFamily="2" charset="-122"/>
                  </a:rPr>
                  <a:t>确认</a:t>
                </a:r>
                <a:endParaRPr lang="zh-CN" altLang="en-US" sz="1600" b="1" dirty="0">
                  <a:solidFill>
                    <a:srgbClr val="000000"/>
                  </a:solidFill>
                  <a:ea typeface="宋体" panose="02010600030101010101" pitchFamily="2" charset="-122"/>
                </a:endParaRPr>
              </a:p>
              <a:p>
                <a:pPr marL="0" lvl="0" indent="0" eaLnBrk="1" hangingPunct="1">
                  <a:spcBef>
                    <a:spcPct val="0"/>
                  </a:spcBef>
                  <a:buClrTx/>
                  <a:buFontTx/>
                  <a:buNone/>
                </a:pPr>
                <a:r>
                  <a:rPr lang="zh-CN" altLang="en-US" sz="1600" b="1" dirty="0">
                    <a:solidFill>
                      <a:srgbClr val="000000"/>
                    </a:solidFill>
                    <a:ea typeface="宋体" panose="02010600030101010101" pitchFamily="2" charset="-122"/>
                  </a:rPr>
                  <a:t>测试</a:t>
                </a:r>
                <a:endParaRPr lang="zh-CN" altLang="en-US" sz="1600" b="1" dirty="0">
                  <a:solidFill>
                    <a:srgbClr val="000000"/>
                  </a:solidFill>
                  <a:ea typeface="宋体" panose="02010600030101010101" pitchFamily="2" charset="-122"/>
                </a:endParaRPr>
              </a:p>
            </p:txBody>
          </p:sp>
          <p:sp>
            <p:nvSpPr>
              <p:cNvPr id="19479" name="Text Box 26"/>
              <p:cNvSpPr txBox="1"/>
              <p:nvPr/>
            </p:nvSpPr>
            <p:spPr>
              <a:xfrm>
                <a:off x="2496" y="2841"/>
                <a:ext cx="699" cy="174"/>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50000"/>
                  </a:spcBef>
                  <a:buClrTx/>
                  <a:buFontTx/>
                  <a:buNone/>
                </a:pPr>
                <a:r>
                  <a:rPr lang="zh-CN" altLang="en-US" sz="1200" b="1" dirty="0">
                    <a:solidFill>
                      <a:srgbClr val="000000"/>
                    </a:solidFill>
                    <a:ea typeface="楷体_GB2312" pitchFamily="49" charset="-122"/>
                  </a:rPr>
                  <a:t>已集成的模块</a:t>
                </a:r>
                <a:endParaRPr lang="zh-CN" altLang="en-US" sz="1200" b="1" dirty="0">
                  <a:solidFill>
                    <a:srgbClr val="000000"/>
                  </a:solidFill>
                  <a:ea typeface="宋体" panose="02010600030101010101" pitchFamily="2" charset="-122"/>
                </a:endParaRPr>
              </a:p>
            </p:txBody>
          </p:sp>
          <p:sp>
            <p:nvSpPr>
              <p:cNvPr id="20503" name="Line 27"/>
              <p:cNvSpPr>
                <a:spLocks noChangeShapeType="1"/>
              </p:cNvSpPr>
              <p:nvPr/>
            </p:nvSpPr>
            <p:spPr bwMode="auto">
              <a:xfrm>
                <a:off x="3312" y="2035"/>
                <a:ext cx="96" cy="528"/>
              </a:xfrm>
              <a:prstGeom prst="line">
                <a:avLst/>
              </a:prstGeom>
              <a:noFill/>
              <a:ln w="28575">
                <a:solidFill>
                  <a:schemeClr val="tx1">
                    <a:lumMod val="25000"/>
                  </a:schemeClr>
                </a:solidFill>
                <a:round/>
                <a:tailEnd type="triangl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9476" name="Text Box 28"/>
            <p:cNvSpPr txBox="1"/>
            <p:nvPr/>
          </p:nvSpPr>
          <p:spPr>
            <a:xfrm>
              <a:off x="3360" y="2025"/>
              <a:ext cx="576" cy="174"/>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50000"/>
                </a:spcBef>
                <a:buClrTx/>
                <a:buFontTx/>
                <a:buNone/>
              </a:pPr>
              <a:r>
                <a:rPr lang="zh-CN" altLang="en-US" sz="1200" b="1" dirty="0">
                  <a:solidFill>
                    <a:srgbClr val="000000"/>
                  </a:solidFill>
                  <a:ea typeface="楷体_GB2312" pitchFamily="49" charset="-122"/>
                </a:rPr>
                <a:t>软件需求</a:t>
              </a:r>
              <a:endParaRPr lang="zh-CN" altLang="en-US" sz="1200" b="1" dirty="0">
                <a:solidFill>
                  <a:srgbClr val="000000"/>
                </a:solidFill>
                <a:ea typeface="宋体" panose="02010600030101010101" pitchFamily="2" charset="-122"/>
              </a:endParaRPr>
            </a:p>
          </p:txBody>
        </p:sp>
      </p:grpSp>
      <p:grpSp>
        <p:nvGrpSpPr>
          <p:cNvPr id="19463" name="Group 29"/>
          <p:cNvGrpSpPr/>
          <p:nvPr/>
        </p:nvGrpSpPr>
        <p:grpSpPr>
          <a:xfrm>
            <a:off x="5867400" y="3230563"/>
            <a:ext cx="3062288" cy="1676400"/>
            <a:chOff x="3696" y="2035"/>
            <a:chExt cx="1929" cy="1056"/>
          </a:xfrm>
        </p:grpSpPr>
        <p:sp>
          <p:nvSpPr>
            <p:cNvPr id="20491" name="Line 30"/>
            <p:cNvSpPr>
              <a:spLocks noChangeShapeType="1"/>
            </p:cNvSpPr>
            <p:nvPr/>
          </p:nvSpPr>
          <p:spPr bwMode="auto">
            <a:xfrm>
              <a:off x="3696" y="2803"/>
              <a:ext cx="720" cy="0"/>
            </a:xfrm>
            <a:prstGeom prst="line">
              <a:avLst/>
            </a:prstGeom>
            <a:noFill/>
            <a:ln w="28575">
              <a:solidFill>
                <a:schemeClr val="tx1">
                  <a:lumMod val="25000"/>
                </a:schemeClr>
              </a:solidFill>
              <a:round/>
              <a:tailEnd type="triangl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469" name="Oval 31"/>
            <p:cNvSpPr/>
            <p:nvPr/>
          </p:nvSpPr>
          <p:spPr>
            <a:xfrm>
              <a:off x="4416" y="2563"/>
              <a:ext cx="480" cy="528"/>
            </a:xfrm>
            <a:prstGeom prst="ellipse">
              <a:avLst/>
            </a:prstGeom>
            <a:solidFill>
              <a:srgbClr val="FFFFCC"/>
            </a:solidFill>
            <a:ln w="9525" cap="flat" cmpd="sng">
              <a:solidFill>
                <a:schemeClr val="hlink"/>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en-US" sz="1600" b="1" dirty="0">
                  <a:solidFill>
                    <a:srgbClr val="000000"/>
                  </a:solidFill>
                  <a:ea typeface="宋体" panose="02010600030101010101" pitchFamily="2" charset="-122"/>
                </a:rPr>
                <a:t>平行</a:t>
              </a:r>
              <a:endParaRPr lang="zh-CN" altLang="en-US" sz="1600" b="1" dirty="0">
                <a:solidFill>
                  <a:srgbClr val="000000"/>
                </a:solidFill>
                <a:ea typeface="宋体" panose="02010600030101010101" pitchFamily="2" charset="-122"/>
              </a:endParaRPr>
            </a:p>
            <a:p>
              <a:pPr marL="0" lvl="0" indent="0" eaLnBrk="1" hangingPunct="1">
                <a:spcBef>
                  <a:spcPct val="0"/>
                </a:spcBef>
                <a:buClrTx/>
                <a:buFontTx/>
                <a:buNone/>
              </a:pPr>
              <a:r>
                <a:rPr lang="zh-CN" altLang="en-US" sz="1600" b="1" dirty="0">
                  <a:solidFill>
                    <a:srgbClr val="000000"/>
                  </a:solidFill>
                  <a:ea typeface="宋体" panose="02010600030101010101" pitchFamily="2" charset="-122"/>
                </a:rPr>
                <a:t>运行</a:t>
              </a:r>
              <a:endParaRPr lang="zh-CN" altLang="en-US" sz="1600" b="1" dirty="0">
                <a:solidFill>
                  <a:srgbClr val="000000"/>
                </a:solidFill>
                <a:ea typeface="宋体" panose="02010600030101010101" pitchFamily="2" charset="-122"/>
              </a:endParaRPr>
            </a:p>
          </p:txBody>
        </p:sp>
        <p:sp>
          <p:nvSpPr>
            <p:cNvPr id="20493" name="Line 32"/>
            <p:cNvSpPr>
              <a:spLocks noChangeShapeType="1"/>
            </p:cNvSpPr>
            <p:nvPr/>
          </p:nvSpPr>
          <p:spPr bwMode="auto">
            <a:xfrm>
              <a:off x="4896" y="2803"/>
              <a:ext cx="480" cy="0"/>
            </a:xfrm>
            <a:prstGeom prst="line">
              <a:avLst/>
            </a:prstGeom>
            <a:noFill/>
            <a:ln w="28575">
              <a:solidFill>
                <a:schemeClr val="tx1">
                  <a:lumMod val="25000"/>
                </a:schemeClr>
              </a:solidFill>
              <a:round/>
              <a:tailEnd type="triangl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471" name="Text Box 33"/>
            <p:cNvSpPr txBox="1"/>
            <p:nvPr/>
          </p:nvSpPr>
          <p:spPr>
            <a:xfrm>
              <a:off x="3744" y="2841"/>
              <a:ext cx="720" cy="174"/>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50000"/>
                </a:spcBef>
                <a:buClrTx/>
                <a:buFontTx/>
                <a:buNone/>
              </a:pPr>
              <a:r>
                <a:rPr lang="zh-CN" altLang="en-US" sz="1200" b="1" dirty="0">
                  <a:solidFill>
                    <a:srgbClr val="000000"/>
                  </a:solidFill>
                  <a:ea typeface="楷体_GB2312" pitchFamily="49" charset="-122"/>
                </a:rPr>
                <a:t>已确认的软件</a:t>
              </a:r>
              <a:endParaRPr lang="zh-CN" altLang="en-US" sz="1200" b="1" dirty="0">
                <a:solidFill>
                  <a:srgbClr val="000000"/>
                </a:solidFill>
                <a:ea typeface="宋体" panose="02010600030101010101" pitchFamily="2" charset="-122"/>
              </a:endParaRPr>
            </a:p>
          </p:txBody>
        </p:sp>
        <p:sp>
          <p:nvSpPr>
            <p:cNvPr id="19472" name="Text Box 34"/>
            <p:cNvSpPr txBox="1"/>
            <p:nvPr/>
          </p:nvSpPr>
          <p:spPr>
            <a:xfrm>
              <a:off x="4848" y="2841"/>
              <a:ext cx="777" cy="174"/>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50000"/>
                </a:spcBef>
                <a:buClrTx/>
                <a:buFontTx/>
                <a:buNone/>
              </a:pPr>
              <a:r>
                <a:rPr lang="zh-CN" altLang="en-US" sz="1200" b="1" dirty="0">
                  <a:solidFill>
                    <a:srgbClr val="000000"/>
                  </a:solidFill>
                  <a:ea typeface="楷体_GB2312" pitchFamily="49" charset="-122"/>
                </a:rPr>
                <a:t>可交付的软件</a:t>
              </a:r>
              <a:endParaRPr lang="zh-CN" altLang="en-US" sz="1200" b="1" dirty="0">
                <a:solidFill>
                  <a:srgbClr val="000000"/>
                </a:solidFill>
                <a:ea typeface="楷体_GB2312" pitchFamily="49" charset="-122"/>
              </a:endParaRPr>
            </a:p>
          </p:txBody>
        </p:sp>
        <p:sp>
          <p:nvSpPr>
            <p:cNvPr id="20496" name="Line 35"/>
            <p:cNvSpPr>
              <a:spLocks noChangeShapeType="1"/>
            </p:cNvSpPr>
            <p:nvPr/>
          </p:nvSpPr>
          <p:spPr bwMode="auto">
            <a:xfrm>
              <a:off x="4512" y="2035"/>
              <a:ext cx="96" cy="528"/>
            </a:xfrm>
            <a:prstGeom prst="line">
              <a:avLst/>
            </a:prstGeom>
            <a:noFill/>
            <a:ln w="28575">
              <a:solidFill>
                <a:schemeClr val="tx1">
                  <a:lumMod val="25000"/>
                </a:schemeClr>
              </a:solidFill>
              <a:round/>
              <a:tailEnd type="triangl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474" name="Text Box 36"/>
            <p:cNvSpPr txBox="1"/>
            <p:nvPr/>
          </p:nvSpPr>
          <p:spPr>
            <a:xfrm>
              <a:off x="4560" y="2035"/>
              <a:ext cx="720" cy="174"/>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50000"/>
                </a:spcBef>
                <a:buClrTx/>
                <a:buFontTx/>
                <a:buNone/>
              </a:pPr>
              <a:r>
                <a:rPr lang="zh-CN" altLang="en-US" sz="1200" b="1" dirty="0">
                  <a:solidFill>
                    <a:srgbClr val="000000"/>
                  </a:solidFill>
                  <a:ea typeface="楷体_GB2312" pitchFamily="49" charset="-122"/>
                </a:rPr>
                <a:t>系统其他元素</a:t>
              </a:r>
              <a:endParaRPr lang="zh-CN" altLang="en-US" sz="1200" b="1" dirty="0">
                <a:solidFill>
                  <a:srgbClr val="000000"/>
                </a:solidFill>
                <a:ea typeface="宋体" panose="02010600030101010101" pitchFamily="2" charset="-122"/>
              </a:endParaRPr>
            </a:p>
          </p:txBody>
        </p:sp>
      </p:grpSp>
      <p:sp>
        <p:nvSpPr>
          <p:cNvPr id="19464" name="Line 37"/>
          <p:cNvSpPr/>
          <p:nvPr/>
        </p:nvSpPr>
        <p:spPr>
          <a:xfrm flipH="1">
            <a:off x="2779713" y="2792413"/>
            <a:ext cx="0" cy="3216275"/>
          </a:xfrm>
          <a:prstGeom prst="line">
            <a:avLst/>
          </a:prstGeom>
          <a:ln w="28575" cap="flat" cmpd="sng">
            <a:solidFill>
              <a:schemeClr val="tx1"/>
            </a:solidFill>
            <a:prstDash val="sysDot"/>
            <a:headEnd type="none" w="med" len="med"/>
            <a:tailEnd type="none" w="med" len="med"/>
          </a:ln>
        </p:spPr>
      </p:sp>
      <p:sp>
        <p:nvSpPr>
          <p:cNvPr id="19465" name="Line 38"/>
          <p:cNvSpPr/>
          <p:nvPr/>
        </p:nvSpPr>
        <p:spPr>
          <a:xfrm>
            <a:off x="6816725" y="2794000"/>
            <a:ext cx="3175" cy="3376613"/>
          </a:xfrm>
          <a:prstGeom prst="line">
            <a:avLst/>
          </a:prstGeom>
          <a:ln w="28575" cap="flat" cmpd="sng">
            <a:solidFill>
              <a:schemeClr val="tx1"/>
            </a:solidFill>
            <a:prstDash val="sysDot"/>
            <a:headEnd type="none" w="med" len="med"/>
            <a:tailEnd type="none" w="med" len="med"/>
          </a:ln>
        </p:spPr>
      </p:sp>
      <p:sp>
        <p:nvSpPr>
          <p:cNvPr id="19466" name="Line 39"/>
          <p:cNvSpPr/>
          <p:nvPr/>
        </p:nvSpPr>
        <p:spPr>
          <a:xfrm>
            <a:off x="4895850" y="2801938"/>
            <a:ext cx="0" cy="3298825"/>
          </a:xfrm>
          <a:prstGeom prst="line">
            <a:avLst/>
          </a:prstGeom>
          <a:ln w="28575" cap="flat" cmpd="sng">
            <a:solidFill>
              <a:schemeClr val="tx1"/>
            </a:solidFill>
            <a:prstDash val="sysDot"/>
            <a:headEnd type="none" w="med" len="med"/>
            <a:tailEnd type="none" w="med" len="med"/>
          </a:ln>
        </p:spPr>
      </p:sp>
      <p:sp>
        <p:nvSpPr>
          <p:cNvPr id="19467"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内容占位符 2"/>
          <p:cNvSpPr>
            <a:spLocks noGrp="1"/>
          </p:cNvSpPr>
          <p:nvPr>
            <p:ph idx="1"/>
          </p:nvPr>
        </p:nvSpPr>
        <p:spPr>
          <a:xfrm>
            <a:off x="357188" y="1214438"/>
            <a:ext cx="8286750"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第三节  单元测试</a:t>
            </a:r>
            <a:endParaRPr kumimoji="0" lang="en-US" altLang="zh-CN" sz="1100" b="1" i="0" u="none" strike="noStrike" kern="0" cap="none" spc="0" normalizeH="0" baseline="0" noProof="0" dirty="0">
              <a:ln>
                <a:noFill/>
              </a:ln>
              <a:solidFill>
                <a:srgbClr val="FF0000"/>
              </a:solidFill>
              <a:effectLst/>
              <a:uLnTx/>
              <a:uFillTx/>
              <a:latin typeface="+mn-lt"/>
              <a:ea typeface="宋体" panose="02010600030101010101" pitchFamily="2" charset="-122"/>
              <a:cs typeface="+mn-cs"/>
            </a:endParaRPr>
          </a:p>
          <a:p>
            <a:pPr marL="0" marR="0" lvl="0" indent="-34290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rPr>
              <a:t>一、测试内容</a:t>
            </a:r>
            <a:endParaRPr kumimoji="0" lang="zh-CN" altLang="en-US"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endParaRPr>
          </a:p>
        </p:txBody>
      </p:sp>
      <p:sp>
        <p:nvSpPr>
          <p:cNvPr id="20483" name="页脚占位符 3"/>
          <p:cNvSpPr txBox="1">
            <a:spLocks noGrp="1"/>
          </p:cNvSpPr>
          <p:nvPr>
            <p:ph type="ftr" sz="quarter" idx="11"/>
          </p:nvPr>
        </p:nvSpPr>
        <p:spPr>
          <a:xfrm>
            <a:off x="1511300" y="5949950"/>
            <a:ext cx="1905000" cy="381000"/>
          </a:xfrm>
          <a:ln/>
        </p:spPr>
        <p:txBody>
          <a:bodyPr/>
          <a:p>
            <a:pPr marL="0" indent="0" eaLnBrk="1" hangingPunct="1">
              <a:spcBef>
                <a:spcPct val="0"/>
              </a:spcBef>
              <a:buClrTx/>
              <a:buFontTx/>
              <a:buNone/>
            </a:pPr>
            <a:fld id="{9A0DB2DC-4C9A-4742-B13C-FB6460FD3503}" type="slidenum">
              <a:rPr lang="en-US" altLang="zh-CN" sz="1400" dirty="0">
                <a:solidFill>
                  <a:schemeClr val="tx1"/>
                </a:solidFill>
                <a:ea typeface="宋体" panose="02010600030101010101" pitchFamily="2" charset="-122"/>
              </a:rPr>
            </a:fld>
            <a:endParaRPr lang="en-US" altLang="zh-CN" sz="1400" dirty="0">
              <a:solidFill>
                <a:schemeClr val="tx1"/>
              </a:solidFill>
              <a:ea typeface="宋体" panose="02010600030101010101" pitchFamily="2" charset="-122"/>
            </a:endParaRPr>
          </a:p>
        </p:txBody>
      </p:sp>
      <p:sp>
        <p:nvSpPr>
          <p:cNvPr id="5" name="AutoShape 4"/>
          <p:cNvSpPr>
            <a:spLocks noChangeArrowheads="1"/>
          </p:cNvSpPr>
          <p:nvPr/>
        </p:nvSpPr>
        <p:spPr bwMode="auto">
          <a:xfrm>
            <a:off x="4281488" y="3498850"/>
            <a:ext cx="914400" cy="739775"/>
          </a:xfrm>
          <a:prstGeom prst="bevel">
            <a:avLst>
              <a:gd name="adj" fmla="val 12500"/>
            </a:avLst>
          </a:prstGeom>
          <a:solidFill>
            <a:srgbClr val="FFFFCC"/>
          </a:solidFill>
          <a:ln w="9525" cap="sq">
            <a:solidFill>
              <a:schemeClr val="hlink"/>
            </a:solidFill>
            <a:miter lim="800000"/>
          </a:ln>
          <a:effectLst>
            <a:prstShdw prst="shdw17" dist="17961" dir="2700000">
              <a:schemeClr val="hlink">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模块</a:t>
            </a:r>
            <a:endParaRPr kumimoji="0" lang="zh-CN" altLang="en-US" sz="1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0485" name="Text Box 5"/>
          <p:cNvSpPr txBox="1"/>
          <p:nvPr/>
        </p:nvSpPr>
        <p:spPr>
          <a:xfrm>
            <a:off x="2625725" y="2201863"/>
            <a:ext cx="1589088" cy="369887"/>
          </a:xfrm>
          <a:prstGeom prst="rect">
            <a:avLst/>
          </a:prstGeom>
          <a:solidFill>
            <a:srgbClr val="DDDDDD">
              <a:alpha val="83136"/>
            </a:srgbClr>
          </a:solidFill>
          <a:ln w="9525">
            <a:noFill/>
          </a:ln>
          <a:effectLst>
            <a:prstShdw prst="shdw17" dist="17961" dir="2699999">
              <a:srgbClr val="858585"/>
            </a:prstShdw>
          </a:effectLst>
        </p:spPr>
        <p:txBody>
          <a:bodyPr anchor="ctr" anchorCtr="0">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en-US" sz="1800" b="1" dirty="0">
                <a:solidFill>
                  <a:srgbClr val="000000"/>
                </a:solidFill>
                <a:latin typeface="楷体_GB2312" pitchFamily="49" charset="-122"/>
                <a:ea typeface="楷体_GB2312" pitchFamily="49" charset="-122"/>
              </a:rPr>
              <a:t>模块接口测试</a:t>
            </a:r>
            <a:endParaRPr lang="zh-CN" altLang="en-US" sz="1800" b="1" dirty="0">
              <a:solidFill>
                <a:srgbClr val="000000"/>
              </a:solidFill>
              <a:latin typeface="楷体_GB2312" pitchFamily="49" charset="-122"/>
              <a:ea typeface="楷体_GB2312" pitchFamily="49" charset="-122"/>
            </a:endParaRPr>
          </a:p>
        </p:txBody>
      </p:sp>
      <p:sp>
        <p:nvSpPr>
          <p:cNvPr id="20486" name="Text Box 6"/>
          <p:cNvSpPr txBox="1"/>
          <p:nvPr/>
        </p:nvSpPr>
        <p:spPr>
          <a:xfrm>
            <a:off x="6103938" y="4384675"/>
            <a:ext cx="2039937" cy="369888"/>
          </a:xfrm>
          <a:prstGeom prst="rect">
            <a:avLst/>
          </a:prstGeom>
          <a:solidFill>
            <a:srgbClr val="DDDDDD">
              <a:alpha val="79999"/>
            </a:srgbClr>
          </a:solidFill>
          <a:ln w="9525">
            <a:noFill/>
          </a:ln>
          <a:effectLst>
            <a:prstShdw prst="shdw17" dist="17961" dir="2699999">
              <a:srgbClr val="858585"/>
            </a:prstShdw>
          </a:effectLst>
        </p:spPr>
        <p:txBody>
          <a:bodyPr anchor="ctr" anchorCtr="0">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en-US" sz="1800" b="1" dirty="0">
                <a:solidFill>
                  <a:srgbClr val="000000"/>
                </a:solidFill>
                <a:latin typeface="楷体_GB2312" pitchFamily="49" charset="-122"/>
                <a:ea typeface="楷体_GB2312" pitchFamily="49" charset="-122"/>
              </a:rPr>
              <a:t>局部数据结构测试</a:t>
            </a:r>
            <a:endParaRPr lang="zh-CN" altLang="en-US" sz="1800" b="1" dirty="0">
              <a:solidFill>
                <a:srgbClr val="000000"/>
              </a:solidFill>
              <a:latin typeface="楷体_GB2312" pitchFamily="49" charset="-122"/>
              <a:ea typeface="楷体_GB2312" pitchFamily="49" charset="-122"/>
            </a:endParaRPr>
          </a:p>
        </p:txBody>
      </p:sp>
      <p:sp>
        <p:nvSpPr>
          <p:cNvPr id="20487" name="Text Box 7"/>
          <p:cNvSpPr txBox="1"/>
          <p:nvPr/>
        </p:nvSpPr>
        <p:spPr>
          <a:xfrm>
            <a:off x="5751513" y="2211388"/>
            <a:ext cx="1677987" cy="369887"/>
          </a:xfrm>
          <a:prstGeom prst="rect">
            <a:avLst/>
          </a:prstGeom>
          <a:solidFill>
            <a:srgbClr val="DDDDDD">
              <a:alpha val="79999"/>
            </a:srgbClr>
          </a:solidFill>
          <a:ln w="9525">
            <a:noFill/>
          </a:ln>
          <a:effectLst>
            <a:prstShdw prst="shdw17" dist="17961" dir="2699999">
              <a:srgbClr val="858585"/>
            </a:prstShdw>
          </a:effectLst>
        </p:spPr>
        <p:txBody>
          <a:bodyPr anchor="ctr" anchorCtr="0">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en-US" sz="1800" b="1" dirty="0">
                <a:solidFill>
                  <a:srgbClr val="000000"/>
                </a:solidFill>
                <a:latin typeface="楷体_GB2312" pitchFamily="49" charset="-122"/>
                <a:ea typeface="楷体_GB2312" pitchFamily="49" charset="-122"/>
              </a:rPr>
              <a:t>重要路径测试</a:t>
            </a:r>
            <a:endParaRPr lang="zh-CN" altLang="en-US" sz="1800" b="1" dirty="0">
              <a:solidFill>
                <a:srgbClr val="000000"/>
              </a:solidFill>
              <a:latin typeface="楷体_GB2312" pitchFamily="49" charset="-122"/>
              <a:ea typeface="楷体_GB2312" pitchFamily="49" charset="-122"/>
            </a:endParaRPr>
          </a:p>
        </p:txBody>
      </p:sp>
      <p:sp>
        <p:nvSpPr>
          <p:cNvPr id="20488" name="Text Box 8"/>
          <p:cNvSpPr txBox="1"/>
          <p:nvPr/>
        </p:nvSpPr>
        <p:spPr>
          <a:xfrm>
            <a:off x="3929063" y="4897438"/>
            <a:ext cx="1643062" cy="369887"/>
          </a:xfrm>
          <a:prstGeom prst="rect">
            <a:avLst/>
          </a:prstGeom>
          <a:solidFill>
            <a:srgbClr val="DDDDDD">
              <a:alpha val="79999"/>
            </a:srgbClr>
          </a:solidFill>
          <a:ln w="9525">
            <a:noFill/>
          </a:ln>
          <a:effectLst>
            <a:prstShdw prst="shdw17" dist="17961" dir="2699999">
              <a:srgbClr val="858585"/>
            </a:prstShdw>
          </a:effectLst>
        </p:spPr>
        <p:txBody>
          <a:bodyPr anchor="ctr" anchorCtr="0">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en-US" sz="1800" b="1" dirty="0">
                <a:solidFill>
                  <a:srgbClr val="000000"/>
                </a:solidFill>
                <a:latin typeface="楷体_GB2312" pitchFamily="49" charset="-122"/>
                <a:ea typeface="楷体_GB2312" pitchFamily="49" charset="-122"/>
              </a:rPr>
              <a:t>错误处理测试</a:t>
            </a:r>
            <a:endParaRPr lang="zh-CN" altLang="en-US" sz="1800" b="1" dirty="0">
              <a:solidFill>
                <a:srgbClr val="000000"/>
              </a:solidFill>
              <a:latin typeface="楷体_GB2312" pitchFamily="49" charset="-122"/>
              <a:ea typeface="楷体_GB2312" pitchFamily="49" charset="-122"/>
            </a:endParaRPr>
          </a:p>
        </p:txBody>
      </p:sp>
      <p:sp>
        <p:nvSpPr>
          <p:cNvPr id="20489" name="Text Box 9"/>
          <p:cNvSpPr txBox="1"/>
          <p:nvPr/>
        </p:nvSpPr>
        <p:spPr>
          <a:xfrm>
            <a:off x="1643063" y="4389438"/>
            <a:ext cx="1625600" cy="369887"/>
          </a:xfrm>
          <a:prstGeom prst="rect">
            <a:avLst/>
          </a:prstGeom>
          <a:solidFill>
            <a:srgbClr val="DDDDDD">
              <a:alpha val="79999"/>
            </a:srgbClr>
          </a:solidFill>
          <a:ln w="9525">
            <a:noFill/>
          </a:ln>
          <a:effectLst>
            <a:prstShdw prst="shdw17" dist="17961" dir="2699999">
              <a:srgbClr val="858585"/>
            </a:prstShdw>
          </a:effectLst>
        </p:spPr>
        <p:txBody>
          <a:bodyPr anchor="ctr" anchorCtr="0">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en-US" sz="1800" b="1" dirty="0">
                <a:solidFill>
                  <a:srgbClr val="000000"/>
                </a:solidFill>
                <a:latin typeface="楷体_GB2312" pitchFamily="49" charset="-122"/>
                <a:ea typeface="楷体_GB2312" pitchFamily="49" charset="-122"/>
              </a:rPr>
              <a:t>边界条件测试</a:t>
            </a:r>
            <a:endParaRPr lang="zh-CN" altLang="en-US" sz="1800" b="1" dirty="0">
              <a:solidFill>
                <a:srgbClr val="000000"/>
              </a:solidFill>
              <a:latin typeface="楷体_GB2312" pitchFamily="49" charset="-122"/>
              <a:ea typeface="楷体_GB2312" pitchFamily="49" charset="-122"/>
            </a:endParaRPr>
          </a:p>
        </p:txBody>
      </p:sp>
      <p:sp>
        <p:nvSpPr>
          <p:cNvPr id="11" name="AutoShape 10"/>
          <p:cNvSpPr>
            <a:spLocks noChangeArrowheads="1"/>
          </p:cNvSpPr>
          <p:nvPr/>
        </p:nvSpPr>
        <p:spPr bwMode="auto">
          <a:xfrm rot="2954006">
            <a:off x="3584575" y="2847975"/>
            <a:ext cx="914400" cy="304800"/>
          </a:xfrm>
          <a:prstGeom prst="rightArrow">
            <a:avLst>
              <a:gd name="adj1" fmla="val 50000"/>
              <a:gd name="adj2" fmla="val 75000"/>
            </a:avLst>
          </a:prstGeom>
          <a:gradFill rotWithShape="0">
            <a:gsLst>
              <a:gs pos="0">
                <a:schemeClr val="tx1"/>
              </a:gs>
              <a:gs pos="100000">
                <a:schemeClr val="tx1">
                  <a:gamma/>
                  <a:shade val="72941"/>
                  <a:invGamma/>
                </a:schemeClr>
              </a:gs>
            </a:gsLst>
            <a:lin ang="5400000" scaled="1"/>
          </a:gradFill>
          <a:ln w="9525" cap="sq">
            <a:noFill/>
            <a:miter lim="800000"/>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 name="AutoShape 11"/>
          <p:cNvSpPr>
            <a:spLocks noChangeArrowheads="1"/>
          </p:cNvSpPr>
          <p:nvPr/>
        </p:nvSpPr>
        <p:spPr bwMode="auto">
          <a:xfrm rot="20185743">
            <a:off x="3273425" y="4276725"/>
            <a:ext cx="914400" cy="304800"/>
          </a:xfrm>
          <a:prstGeom prst="rightArrow">
            <a:avLst>
              <a:gd name="adj1" fmla="val 50000"/>
              <a:gd name="adj2" fmla="val 75000"/>
            </a:avLst>
          </a:prstGeom>
          <a:gradFill rotWithShape="0">
            <a:gsLst>
              <a:gs pos="0">
                <a:schemeClr val="tx1"/>
              </a:gs>
              <a:gs pos="100000">
                <a:schemeClr val="tx1">
                  <a:gamma/>
                  <a:shade val="72941"/>
                  <a:invGamma/>
                </a:schemeClr>
              </a:gs>
            </a:gsLst>
            <a:lin ang="5400000" scaled="1"/>
          </a:gradFill>
          <a:ln w="9525" cap="sq">
            <a:noFill/>
            <a:miter lim="800000"/>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 name="AutoShape 12"/>
          <p:cNvSpPr>
            <a:spLocks noChangeArrowheads="1"/>
          </p:cNvSpPr>
          <p:nvPr/>
        </p:nvSpPr>
        <p:spPr bwMode="auto">
          <a:xfrm rot="12458654">
            <a:off x="5178425" y="4146550"/>
            <a:ext cx="914400" cy="304800"/>
          </a:xfrm>
          <a:prstGeom prst="rightArrow">
            <a:avLst>
              <a:gd name="adj1" fmla="val 50000"/>
              <a:gd name="adj2" fmla="val 75000"/>
            </a:avLst>
          </a:prstGeom>
          <a:gradFill rotWithShape="0">
            <a:gsLst>
              <a:gs pos="0">
                <a:schemeClr val="tx1"/>
              </a:gs>
              <a:gs pos="100000">
                <a:schemeClr val="tx1">
                  <a:gamma/>
                  <a:shade val="72941"/>
                  <a:invGamma/>
                </a:schemeClr>
              </a:gs>
            </a:gsLst>
            <a:lin ang="5400000" scaled="1"/>
          </a:gradFill>
          <a:ln w="9525" cap="sq">
            <a:noFill/>
            <a:miter lim="800000"/>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 name="AutoShape 13"/>
          <p:cNvSpPr>
            <a:spLocks noChangeArrowheads="1"/>
          </p:cNvSpPr>
          <p:nvPr/>
        </p:nvSpPr>
        <p:spPr bwMode="auto">
          <a:xfrm rot="16259669">
            <a:off x="4452144" y="4352131"/>
            <a:ext cx="522288" cy="466725"/>
          </a:xfrm>
          <a:prstGeom prst="rightArrow">
            <a:avLst>
              <a:gd name="adj1" fmla="val 50000"/>
              <a:gd name="adj2" fmla="val 27976"/>
            </a:avLst>
          </a:prstGeom>
          <a:gradFill rotWithShape="0">
            <a:gsLst>
              <a:gs pos="0">
                <a:schemeClr val="tx1"/>
              </a:gs>
              <a:gs pos="100000">
                <a:schemeClr val="tx1">
                  <a:gamma/>
                  <a:shade val="72941"/>
                  <a:invGamma/>
                </a:schemeClr>
              </a:gs>
            </a:gsLst>
            <a:lin ang="5400000" scaled="1"/>
          </a:gradFill>
          <a:ln w="9525" cap="sq">
            <a:noFill/>
            <a:miter lim="800000"/>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 name="AutoShape 14"/>
          <p:cNvSpPr>
            <a:spLocks noChangeArrowheads="1"/>
          </p:cNvSpPr>
          <p:nvPr/>
        </p:nvSpPr>
        <p:spPr bwMode="auto">
          <a:xfrm rot="7413834">
            <a:off x="4891088" y="2830513"/>
            <a:ext cx="914400" cy="304800"/>
          </a:xfrm>
          <a:prstGeom prst="rightArrow">
            <a:avLst>
              <a:gd name="adj1" fmla="val 50000"/>
              <a:gd name="adj2" fmla="val 75000"/>
            </a:avLst>
          </a:prstGeom>
          <a:gradFill rotWithShape="0">
            <a:gsLst>
              <a:gs pos="0">
                <a:schemeClr val="tx1"/>
              </a:gs>
              <a:gs pos="100000">
                <a:schemeClr val="tx1">
                  <a:gamma/>
                  <a:shade val="72941"/>
                  <a:invGamma/>
                </a:schemeClr>
              </a:gs>
            </a:gsLst>
            <a:lin ang="5400000" scaled="1"/>
          </a:gradFill>
          <a:ln w="9525" cap="sq">
            <a:noFill/>
            <a:miter lim="800000"/>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 name="Text Box 15"/>
          <p:cNvSpPr txBox="1">
            <a:spLocks noChangeArrowheads="1"/>
          </p:cNvSpPr>
          <p:nvPr/>
        </p:nvSpPr>
        <p:spPr bwMode="auto">
          <a:xfrm>
            <a:off x="1071563" y="2717800"/>
            <a:ext cx="2687638" cy="1201738"/>
          </a:xfrm>
          <a:prstGeom prst="rect">
            <a:avLst/>
          </a:prstGeom>
          <a:solidFill>
            <a:schemeClr val="tx2">
              <a:lumMod val="20000"/>
              <a:lumOff val="80000"/>
            </a:schemeClr>
          </a:solidFill>
          <a:ln w="38100" cap="sq">
            <a:solidFill>
              <a:schemeClr val="tx2"/>
            </a:solidFill>
            <a:miter lim="800000"/>
          </a:ln>
          <a:effectLst>
            <a:prstShdw prst="shdw17" dist="17961" dir="2700000">
              <a:schemeClr val="tx2">
                <a:gamma/>
                <a:shade val="60000"/>
                <a:invGamma/>
              </a:schemeClr>
            </a:prstShdw>
          </a:effectLst>
        </p:spPr>
        <p:txBody>
          <a:bodyPr anchor="ctr">
            <a:spAutoFit/>
          </a:bodyPr>
          <a:lstStyle/>
          <a:p>
            <a:pPr marR="0" defTabSz="914400" eaLnBrk="1" hangingPunct="1">
              <a:spcBef>
                <a:spcPct val="20000"/>
              </a:spcBef>
              <a:buClrTx/>
              <a:buSzTx/>
              <a:buFontTx/>
              <a:buNone/>
              <a:defRPr/>
            </a:pPr>
            <a:r>
              <a:rPr kumimoji="0" lang="en-US" altLang="zh-CN" kern="1200" cap="none" spc="0" normalizeH="0" baseline="0" noProof="0" dirty="0">
                <a:solidFill>
                  <a:srgbClr val="000000"/>
                </a:solidFill>
                <a:latin typeface="宋体" panose="02010600030101010101" pitchFamily="2" charset="-122"/>
                <a:ea typeface="宋体" panose="02010600030101010101" pitchFamily="2" charset="-122"/>
                <a:cs typeface="+mn-cs"/>
              </a:rPr>
              <a:t>I/O </a:t>
            </a:r>
            <a:r>
              <a:rPr kumimoji="0" lang="zh-CN" altLang="en-US" kern="1200" cap="none" spc="0" normalizeH="0" baseline="0" noProof="0" dirty="0">
                <a:solidFill>
                  <a:srgbClr val="000000"/>
                </a:solidFill>
                <a:latin typeface="楷体_GB2312" pitchFamily="49" charset="-122"/>
                <a:ea typeface="楷体_GB2312" pitchFamily="49" charset="-122"/>
                <a:cs typeface="+mn-cs"/>
              </a:rPr>
              <a:t>参数值的个数、类型、次序、格式是否正确，</a:t>
            </a:r>
            <a:r>
              <a:rPr kumimoji="0" lang="en-US" altLang="zh-CN" kern="1200" cap="none" spc="0" normalizeH="0" baseline="0" noProof="0" dirty="0">
                <a:solidFill>
                  <a:srgbClr val="000000"/>
                </a:solidFill>
                <a:latin typeface="楷体_GB2312" pitchFamily="49" charset="-122"/>
                <a:ea typeface="楷体_GB2312" pitchFamily="49" charset="-122"/>
                <a:cs typeface="+mn-cs"/>
              </a:rPr>
              <a:t>I/O</a:t>
            </a:r>
            <a:r>
              <a:rPr kumimoji="0" lang="zh-CN" altLang="en-US" kern="1200" cap="none" spc="0" normalizeH="0" baseline="0" noProof="0" dirty="0">
                <a:solidFill>
                  <a:srgbClr val="000000"/>
                </a:solidFill>
                <a:latin typeface="楷体_GB2312" pitchFamily="49" charset="-122"/>
                <a:ea typeface="楷体_GB2312" pitchFamily="49" charset="-122"/>
                <a:cs typeface="+mn-cs"/>
              </a:rPr>
              <a:t>文件属性、操作是否正确等。</a:t>
            </a:r>
            <a:endParaRPr kumimoji="0" lang="zh-CN" altLang="en-US" kern="1200" cap="none" spc="0" normalizeH="0" baseline="0" noProof="0" dirty="0">
              <a:solidFill>
                <a:srgbClr val="000000"/>
              </a:solidFill>
              <a:latin typeface="楷体_GB2312" pitchFamily="49" charset="-122"/>
              <a:ea typeface="楷体_GB2312" pitchFamily="49" charset="-122"/>
              <a:cs typeface="+mn-cs"/>
            </a:endParaRPr>
          </a:p>
        </p:txBody>
      </p:sp>
      <p:sp>
        <p:nvSpPr>
          <p:cNvPr id="17" name="Text Box 16"/>
          <p:cNvSpPr txBox="1">
            <a:spLocks noChangeArrowheads="1"/>
          </p:cNvSpPr>
          <p:nvPr/>
        </p:nvSpPr>
        <p:spPr bwMode="auto">
          <a:xfrm>
            <a:off x="6072188" y="4954588"/>
            <a:ext cx="2317750" cy="923925"/>
          </a:xfrm>
          <a:prstGeom prst="rect">
            <a:avLst/>
          </a:prstGeom>
          <a:solidFill>
            <a:schemeClr val="tx2">
              <a:lumMod val="20000"/>
              <a:lumOff val="80000"/>
            </a:schemeClr>
          </a:solidFill>
          <a:ln w="38100" cap="sq">
            <a:solidFill>
              <a:schemeClr val="tx2"/>
            </a:solidFill>
            <a:miter lim="800000"/>
          </a:ln>
          <a:effectLst>
            <a:prstShdw prst="shdw17" dist="17961" dir="2700000">
              <a:schemeClr val="tx2">
                <a:gamma/>
                <a:shade val="60000"/>
                <a:invGamma/>
              </a:schemeClr>
            </a:prstShdw>
          </a:effectLst>
        </p:spPr>
        <p:txBody>
          <a:bodyPr anchor="ctr">
            <a:spAutoFit/>
          </a:bodyPr>
          <a:lstStyle/>
          <a:p>
            <a:pPr marR="0" defTabSz="914400" eaLnBrk="1" hangingPunct="1">
              <a:spcBef>
                <a:spcPct val="50000"/>
              </a:spcBef>
              <a:buClrTx/>
              <a:buSzTx/>
              <a:buFontTx/>
              <a:buNone/>
              <a:defRPr/>
            </a:pPr>
            <a:r>
              <a:rPr kumimoji="0" lang="zh-CN" altLang="en-US" kern="1200" cap="none" spc="0" normalizeH="0" baseline="0" noProof="0" dirty="0">
                <a:solidFill>
                  <a:srgbClr val="000000"/>
                </a:solidFill>
                <a:latin typeface="楷体_GB2312" pitchFamily="49" charset="-122"/>
                <a:ea typeface="楷体_GB2312" pitchFamily="49" charset="-122"/>
                <a:cs typeface="+mn-cs"/>
              </a:rPr>
              <a:t>数据说明是否正确、一致，变量及其初值定义是否正确等。</a:t>
            </a:r>
            <a:endParaRPr kumimoji="0" lang="zh-CN" altLang="en-US" kern="1200" cap="none" spc="0" normalizeH="0" baseline="0" noProof="0" dirty="0">
              <a:solidFill>
                <a:srgbClr val="000000"/>
              </a:solidFill>
              <a:latin typeface="楷体_GB2312" pitchFamily="49" charset="-122"/>
              <a:ea typeface="楷体_GB2312" pitchFamily="49" charset="-122"/>
              <a:cs typeface="+mn-cs"/>
            </a:endParaRPr>
          </a:p>
        </p:txBody>
      </p:sp>
      <p:sp>
        <p:nvSpPr>
          <p:cNvPr id="18" name="Text Box 17"/>
          <p:cNvSpPr txBox="1">
            <a:spLocks noChangeArrowheads="1"/>
          </p:cNvSpPr>
          <p:nvPr/>
        </p:nvSpPr>
        <p:spPr bwMode="auto">
          <a:xfrm>
            <a:off x="4010025" y="5434013"/>
            <a:ext cx="1633538" cy="923925"/>
          </a:xfrm>
          <a:prstGeom prst="rect">
            <a:avLst/>
          </a:prstGeom>
          <a:solidFill>
            <a:schemeClr val="tx2">
              <a:lumMod val="20000"/>
              <a:lumOff val="80000"/>
            </a:schemeClr>
          </a:solidFill>
          <a:ln w="38100" cap="sq">
            <a:solidFill>
              <a:schemeClr val="tx2"/>
            </a:solidFill>
            <a:miter lim="800000"/>
          </a:ln>
          <a:effectLst>
            <a:prstShdw prst="shdw17" dist="17961" dir="2700000">
              <a:schemeClr val="tx2">
                <a:gamma/>
                <a:shade val="60000"/>
                <a:invGamma/>
              </a:schemeClr>
            </a:prstShdw>
          </a:effectLst>
        </p:spPr>
        <p:txBody>
          <a:bodyPr anchor="ctr">
            <a:spAutoFit/>
          </a:bodyPr>
          <a:lstStyle/>
          <a:p>
            <a:pPr marR="0" defTabSz="914400" eaLnBrk="1" hangingPunct="1">
              <a:spcBef>
                <a:spcPct val="50000"/>
              </a:spcBef>
              <a:buClrTx/>
              <a:buSzTx/>
              <a:buFontTx/>
              <a:buNone/>
              <a:defRPr/>
            </a:pPr>
            <a:r>
              <a:rPr kumimoji="0" lang="zh-CN" altLang="en-US" kern="1200" cap="none" spc="0" normalizeH="0" baseline="0" noProof="0" dirty="0">
                <a:solidFill>
                  <a:srgbClr val="000000"/>
                </a:solidFill>
                <a:latin typeface="楷体_GB2312" pitchFamily="49" charset="-122"/>
                <a:ea typeface="楷体_GB2312" pitchFamily="49" charset="-122"/>
                <a:cs typeface="+mn-cs"/>
              </a:rPr>
              <a:t>检查“错误处理程序”本身的错误。</a:t>
            </a:r>
            <a:endParaRPr kumimoji="0" lang="zh-CN" altLang="en-US" kern="1200" cap="none" spc="0" normalizeH="0" baseline="0" noProof="0" dirty="0">
              <a:solidFill>
                <a:srgbClr val="000000"/>
              </a:solidFill>
              <a:latin typeface="楷体_GB2312" pitchFamily="49" charset="-122"/>
              <a:ea typeface="楷体_GB2312" pitchFamily="49" charset="-122"/>
              <a:cs typeface="+mn-cs"/>
            </a:endParaRPr>
          </a:p>
        </p:txBody>
      </p:sp>
      <p:sp>
        <p:nvSpPr>
          <p:cNvPr id="19" name="Text Box 18"/>
          <p:cNvSpPr txBox="1">
            <a:spLocks noChangeArrowheads="1"/>
          </p:cNvSpPr>
          <p:nvPr/>
        </p:nvSpPr>
        <p:spPr bwMode="auto">
          <a:xfrm>
            <a:off x="1071563" y="4937125"/>
            <a:ext cx="2405063" cy="1201738"/>
          </a:xfrm>
          <a:prstGeom prst="rect">
            <a:avLst/>
          </a:prstGeom>
          <a:solidFill>
            <a:schemeClr val="tx2">
              <a:lumMod val="20000"/>
              <a:lumOff val="80000"/>
            </a:schemeClr>
          </a:solidFill>
          <a:ln w="38100" cap="sq">
            <a:solidFill>
              <a:schemeClr val="tx2"/>
            </a:solidFill>
            <a:miter lim="800000"/>
          </a:ln>
          <a:effectLst>
            <a:prstShdw prst="shdw17" dist="17961" dir="2700000">
              <a:schemeClr val="tx2">
                <a:gamma/>
                <a:shade val="60000"/>
                <a:invGamma/>
              </a:schemeClr>
            </a:prstShdw>
          </a:effectLst>
        </p:spPr>
        <p:txBody>
          <a:bodyPr anchor="ctr">
            <a:spAutoFit/>
          </a:bodyPr>
          <a:lstStyle/>
          <a:p>
            <a:pPr marR="0" defTabSz="914400" eaLnBrk="1" hangingPunct="1">
              <a:spcBef>
                <a:spcPct val="50000"/>
              </a:spcBef>
              <a:buClrTx/>
              <a:buSzTx/>
              <a:buFontTx/>
              <a:buNone/>
              <a:defRPr/>
            </a:pPr>
            <a:r>
              <a:rPr kumimoji="0" lang="zh-CN" altLang="en-US" kern="1200" cap="none" spc="0" normalizeH="0" baseline="0" noProof="0" dirty="0">
                <a:solidFill>
                  <a:srgbClr val="000000"/>
                </a:solidFill>
                <a:latin typeface="楷体_GB2312" pitchFamily="49" charset="-122"/>
                <a:ea typeface="楷体_GB2312" pitchFamily="49" charset="-122"/>
                <a:cs typeface="+mn-cs"/>
              </a:rPr>
              <a:t>边界条件常包括循环边界，最大最小值、控制流中等于、大于、小于的比较值等。</a:t>
            </a:r>
            <a:endParaRPr kumimoji="0" lang="zh-CN" altLang="en-US" kern="1200" cap="none" spc="0" normalizeH="0" baseline="0" noProof="0" dirty="0">
              <a:solidFill>
                <a:srgbClr val="000000"/>
              </a:solidFill>
              <a:latin typeface="楷体_GB2312" pitchFamily="49" charset="-122"/>
              <a:ea typeface="楷体_GB2312" pitchFamily="49" charset="-122"/>
              <a:cs typeface="+mn-cs"/>
            </a:endParaRPr>
          </a:p>
        </p:txBody>
      </p:sp>
      <p:sp>
        <p:nvSpPr>
          <p:cNvPr id="20" name="Text Box 19"/>
          <p:cNvSpPr txBox="1">
            <a:spLocks noChangeArrowheads="1"/>
          </p:cNvSpPr>
          <p:nvPr/>
        </p:nvSpPr>
        <p:spPr bwMode="auto">
          <a:xfrm>
            <a:off x="5788025" y="2714625"/>
            <a:ext cx="2641600" cy="923925"/>
          </a:xfrm>
          <a:prstGeom prst="rect">
            <a:avLst/>
          </a:prstGeom>
          <a:solidFill>
            <a:schemeClr val="tx2">
              <a:lumMod val="20000"/>
              <a:lumOff val="80000"/>
            </a:schemeClr>
          </a:solidFill>
          <a:ln w="38100" cap="sq">
            <a:solidFill>
              <a:schemeClr val="tx2"/>
            </a:solidFill>
            <a:miter lim="800000"/>
          </a:ln>
          <a:effectLst>
            <a:prstShdw prst="shdw17" dist="17961" dir="2700000">
              <a:schemeClr val="tx2">
                <a:gamma/>
                <a:shade val="60000"/>
                <a:invGamma/>
              </a:schemeClr>
            </a:prstShdw>
          </a:effectLst>
        </p:spPr>
        <p:txBody>
          <a:bodyPr anchor="ctr">
            <a:spAutoFit/>
          </a:bodyPr>
          <a:lstStyle/>
          <a:p>
            <a:pPr marR="0" defTabSz="914400" eaLnBrk="1" hangingPunct="1">
              <a:buClrTx/>
              <a:buSzTx/>
              <a:buFontTx/>
              <a:buNone/>
              <a:defRPr/>
            </a:pPr>
            <a:r>
              <a:rPr kumimoji="0" lang="zh-CN" altLang="en-US" kern="1200" cap="none" spc="0" normalizeH="0" baseline="0" noProof="0" dirty="0">
                <a:solidFill>
                  <a:srgbClr val="000000"/>
                </a:solidFill>
                <a:latin typeface="Times New Roman" panose="02020603050405020304" pitchFamily="18" charset="0"/>
                <a:ea typeface="楷体_GB2312" pitchFamily="49" charset="-122"/>
                <a:cs typeface="+mn-cs"/>
              </a:rPr>
              <a:t>重要</a:t>
            </a:r>
            <a:r>
              <a:rPr kumimoji="0" lang="zh-CN" altLang="en-US" kern="1200" cap="none" spc="0" normalizeH="0" baseline="0" noProof="0" dirty="0">
                <a:solidFill>
                  <a:srgbClr val="000000"/>
                </a:solidFill>
                <a:latin typeface="楷体_GB2312" pitchFamily="49" charset="-122"/>
                <a:ea typeface="楷体_GB2312" pitchFamily="49" charset="-122"/>
                <a:cs typeface="+mn-cs"/>
              </a:rPr>
              <a:t>路径通常是指完成模块功能的主要路径，一般是控制结构。</a:t>
            </a:r>
            <a:endParaRPr kumimoji="0" lang="zh-CN" altLang="en-US" kern="1200" cap="none" spc="0" normalizeH="0" baseline="0" noProof="0" dirty="0">
              <a:solidFill>
                <a:srgbClr val="000000"/>
              </a:solidFill>
              <a:latin typeface="楷体_GB2312" pitchFamily="49" charset="-122"/>
              <a:ea typeface="楷体_GB2312" pitchFamily="49" charset="-122"/>
              <a:cs typeface="+mn-cs"/>
            </a:endParaRPr>
          </a:p>
        </p:txBody>
      </p:sp>
      <p:sp>
        <p:nvSpPr>
          <p:cNvPr id="20500" name="Oval 22">
            <a:hlinkClick r:id="" action="ppaction://hlinkshowjump?jump=previousslide"/>
          </p:cNvPr>
          <p:cNvSpPr/>
          <p:nvPr/>
        </p:nvSpPr>
        <p:spPr>
          <a:xfrm>
            <a:off x="6381750" y="6515100"/>
            <a:ext cx="742950" cy="57150"/>
          </a:xfrm>
          <a:prstGeom prst="ellipse">
            <a:avLst/>
          </a:prstGeom>
          <a:noFill/>
          <a:ln w="9525">
            <a:noFill/>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20501" name="Oval 23">
            <a:hlinkClick r:id="" action="ppaction://hlinkshowjump?jump=nextslide"/>
          </p:cNvPr>
          <p:cNvSpPr/>
          <p:nvPr/>
        </p:nvSpPr>
        <p:spPr>
          <a:xfrm>
            <a:off x="7245350" y="6521450"/>
            <a:ext cx="742950" cy="57150"/>
          </a:xfrm>
          <a:prstGeom prst="ellipse">
            <a:avLst/>
          </a:prstGeom>
          <a:noFill/>
          <a:ln w="9525">
            <a:noFill/>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20502" name="Oval 24">
            <a:hlinkClick r:id="" action="ppaction://hlinkshowjump?jump=firstslide"/>
          </p:cNvPr>
          <p:cNvSpPr/>
          <p:nvPr/>
        </p:nvSpPr>
        <p:spPr>
          <a:xfrm>
            <a:off x="8128000" y="6508750"/>
            <a:ext cx="742950" cy="57150"/>
          </a:xfrm>
          <a:prstGeom prst="ellipse">
            <a:avLst/>
          </a:prstGeom>
          <a:noFill/>
          <a:ln w="9525">
            <a:noFill/>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20503"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286750" cy="4286250"/>
          </a:xfrm>
        </p:spPr>
        <p:txBody>
          <a:bodyPr vert="horz" wrap="square" lIns="91440" tIns="45720" rIns="91440" bIns="45720" numCol="1" anchor="t" anchorCtr="0" compatLnSpc="1"/>
          <a:lstStyle/>
          <a:p>
            <a:pPr marL="0" marR="0" lvl="0" indent="-34290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rPr>
              <a:t>二、测试步骤</a:t>
            </a:r>
            <a:endParaRPr kumimoji="0" lang="zh-CN" altLang="en-US"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1.</a:t>
            </a:r>
            <a:r>
              <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代码审查</a:t>
            </a:r>
            <a:endParaRPr kumimoji="0" lang="en-US" altLang="zh-CN"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人工测试程序可以由编写者本人非正式地进行，也可以由审查小组正式进行；</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审查小组最好由四人组成：</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组长：有能力的程序员、没有直接参与这项工程；</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程序的设计者；</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程序的编写者；</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程序的测试者。</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sp>
        <p:nvSpPr>
          <p:cNvPr id="21507"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286750" cy="4286250"/>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2.</a:t>
            </a:r>
            <a:r>
              <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计算机测试</a:t>
            </a:r>
            <a:endParaRPr kumimoji="0" lang="en-US" altLang="zh-CN"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考虑到被测模块与其它模块的联系，因此测试时需要使用两类辅助模块来模拟其他模块。</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驱动模块（</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driver</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模拟主程序功能，用于向被测模块传递数据，接收、打印从被测模块返回的数据。</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桩模块（</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stub</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又称为假模块，用于模拟那些由被测模块所调用的下属模块功能。程序的编写者；</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grpSp>
        <p:nvGrpSpPr>
          <p:cNvPr id="22531" name="Group 21"/>
          <p:cNvGrpSpPr/>
          <p:nvPr/>
        </p:nvGrpSpPr>
        <p:grpSpPr>
          <a:xfrm>
            <a:off x="5786438" y="4143375"/>
            <a:ext cx="2395537" cy="2197100"/>
            <a:chOff x="3936" y="1824"/>
            <a:chExt cx="1584" cy="1488"/>
          </a:xfrm>
        </p:grpSpPr>
        <p:sp>
          <p:nvSpPr>
            <p:cNvPr id="4" name="Rectangle 9"/>
            <p:cNvSpPr>
              <a:spLocks noChangeArrowheads="1"/>
            </p:cNvSpPr>
            <p:nvPr/>
          </p:nvSpPr>
          <p:spPr bwMode="auto">
            <a:xfrm>
              <a:off x="4271" y="2400"/>
              <a:ext cx="913" cy="384"/>
            </a:xfrm>
            <a:prstGeom prst="rect">
              <a:avLst/>
            </a:prstGeom>
            <a:solidFill>
              <a:srgbClr val="FFC5D0"/>
            </a:solidFill>
            <a:ln w="9525" cap="sq">
              <a:solidFill>
                <a:schemeClr val="hlink"/>
              </a:solidFill>
              <a:miter lim="800000"/>
            </a:ln>
            <a:effectLst>
              <a:prstShdw prst="shdw17" dist="17961" dir="2700000">
                <a:schemeClr val="hlink">
                  <a:gamma/>
                  <a:shade val="60000"/>
                  <a:invGamma/>
                </a:schemeClr>
              </a:prstShdw>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600" b="0" i="0" u="none" strike="noStrike" kern="1200" cap="none" spc="0" normalizeH="0" baseline="0" noProof="0">
                  <a:ln>
                    <a:noFill/>
                  </a:ln>
                  <a:solidFill>
                    <a:schemeClr val="bg2"/>
                  </a:solidFill>
                  <a:effectLst/>
                  <a:uLnTx/>
                  <a:uFillTx/>
                  <a:latin typeface="宋体" panose="02010600030101010101" pitchFamily="2" charset="-122"/>
                  <a:ea typeface="宋体" panose="02010600030101010101" pitchFamily="2" charset="-122"/>
                  <a:cs typeface="+mn-cs"/>
                </a:rPr>
                <a:t>被测模块</a:t>
              </a:r>
              <a:endParaRPr kumimoji="0" lang="zh-CN" altLang="en-US" sz="1600" b="0"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p:txBody>
        </p:sp>
        <p:sp>
          <p:nvSpPr>
            <p:cNvPr id="22534" name="Rectangle 10"/>
            <p:cNvSpPr/>
            <p:nvPr/>
          </p:nvSpPr>
          <p:spPr>
            <a:xfrm>
              <a:off x="4320" y="1824"/>
              <a:ext cx="768" cy="336"/>
            </a:xfrm>
            <a:prstGeom prst="rect">
              <a:avLst/>
            </a:prstGeom>
            <a:solidFill>
              <a:srgbClr val="FFFF99"/>
            </a:solidFill>
            <a:ln w="9525" cap="sq" cmpd="sng">
              <a:solidFill>
                <a:srgbClr val="CC6600"/>
              </a:solidFill>
              <a:prstDash val="solid"/>
              <a:miter/>
              <a:headEnd type="none" w="med" len="med"/>
              <a:tailEnd type="none" w="med" len="med"/>
            </a:ln>
            <a:effectLst>
              <a:prstShdw prst="shdw17" dist="17961" dir="2699999">
                <a:srgbClr val="7A3D00"/>
              </a:prst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0"/>
                </a:spcBef>
                <a:buClrTx/>
                <a:buFontTx/>
                <a:buNone/>
              </a:pPr>
              <a:r>
                <a:rPr lang="zh-CN" altLang="en-US" sz="1600" dirty="0">
                  <a:latin typeface="宋体" panose="02010600030101010101" pitchFamily="2" charset="-122"/>
                  <a:ea typeface="宋体" panose="02010600030101010101" pitchFamily="2" charset="-122"/>
                </a:rPr>
                <a:t>驱动模块</a:t>
              </a:r>
              <a:endParaRPr lang="zh-CN" altLang="en-US" sz="1600" dirty="0">
                <a:solidFill>
                  <a:schemeClr val="folHlink"/>
                </a:solidFill>
                <a:latin typeface="楷体_GB2312" pitchFamily="49" charset="-122"/>
                <a:ea typeface="楷体_GB2312" pitchFamily="49" charset="-122"/>
              </a:endParaRPr>
            </a:p>
          </p:txBody>
        </p:sp>
        <p:sp>
          <p:nvSpPr>
            <p:cNvPr id="22535" name="Rectangle 11"/>
            <p:cNvSpPr/>
            <p:nvPr/>
          </p:nvSpPr>
          <p:spPr>
            <a:xfrm>
              <a:off x="4475" y="3024"/>
              <a:ext cx="480" cy="288"/>
            </a:xfrm>
            <a:prstGeom prst="rect">
              <a:avLst/>
            </a:prstGeom>
            <a:solidFill>
              <a:srgbClr val="FFFF99"/>
            </a:solidFill>
            <a:ln w="9525" cap="sq" cmpd="sng">
              <a:solidFill>
                <a:srgbClr val="CC6600"/>
              </a:solidFill>
              <a:prstDash val="solid"/>
              <a:miter/>
              <a:headEnd type="none" w="med" len="med"/>
              <a:tailEnd type="none" w="med" len="med"/>
            </a:ln>
            <a:effectLst>
              <a:prstShdw prst="shdw17" dist="17961" dir="2699999">
                <a:srgbClr val="7A3D00"/>
              </a:prst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0"/>
                </a:spcBef>
                <a:buClrTx/>
                <a:buFontTx/>
                <a:buNone/>
              </a:pPr>
              <a:r>
                <a:rPr lang="zh-CN" altLang="en-US" sz="1600" dirty="0">
                  <a:latin typeface="宋体" panose="02010600030101010101" pitchFamily="2" charset="-122"/>
                  <a:ea typeface="宋体" panose="02010600030101010101" pitchFamily="2" charset="-122"/>
                </a:rPr>
                <a:t>桩模块</a:t>
              </a:r>
              <a:endParaRPr lang="zh-CN" altLang="en-US" sz="1600" dirty="0">
                <a:solidFill>
                  <a:schemeClr val="folHlink"/>
                </a:solidFill>
                <a:latin typeface="楷体_GB2312" pitchFamily="49" charset="-122"/>
                <a:ea typeface="楷体_GB2312" pitchFamily="49" charset="-122"/>
              </a:endParaRPr>
            </a:p>
          </p:txBody>
        </p:sp>
        <p:sp>
          <p:nvSpPr>
            <p:cNvPr id="7" name="AutoShape 12"/>
            <p:cNvSpPr>
              <a:spLocks noChangeArrowheads="1"/>
            </p:cNvSpPr>
            <p:nvPr/>
          </p:nvSpPr>
          <p:spPr bwMode="auto">
            <a:xfrm>
              <a:off x="4657" y="2161"/>
              <a:ext cx="143" cy="243"/>
            </a:xfrm>
            <a:prstGeom prst="downArrow">
              <a:avLst>
                <a:gd name="adj1" fmla="val 50000"/>
                <a:gd name="adj2" fmla="val 41667"/>
              </a:avLst>
            </a:prstGeom>
            <a:gradFill rotWithShape="0">
              <a:gsLst>
                <a:gs pos="0">
                  <a:schemeClr val="tx1"/>
                </a:gs>
                <a:gs pos="100000">
                  <a:schemeClr val="tx1">
                    <a:gamma/>
                    <a:shade val="72941"/>
                    <a:invGamma/>
                  </a:schemeClr>
                </a:gs>
              </a:gsLst>
              <a:lin ang="5400000" scaled="1"/>
            </a:gradFill>
            <a:ln w="9525" cap="sq">
              <a:noFill/>
              <a:miter lim="800000"/>
            </a:ln>
            <a:effectLst>
              <a:prstShdw prst="shdw17" dist="17961" dir="2700000">
                <a:schemeClr val="tx1">
                  <a:gamma/>
                  <a:shade val="60000"/>
                  <a:invGamma/>
                </a:schemeClr>
              </a:prstShdw>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AutoShape 13"/>
            <p:cNvSpPr>
              <a:spLocks noChangeArrowheads="1"/>
            </p:cNvSpPr>
            <p:nvPr/>
          </p:nvSpPr>
          <p:spPr bwMode="auto">
            <a:xfrm>
              <a:off x="4657" y="2784"/>
              <a:ext cx="143" cy="240"/>
            </a:xfrm>
            <a:prstGeom prst="downArrow">
              <a:avLst>
                <a:gd name="adj1" fmla="val 50000"/>
                <a:gd name="adj2" fmla="val 41667"/>
              </a:avLst>
            </a:prstGeom>
            <a:gradFill rotWithShape="0">
              <a:gsLst>
                <a:gs pos="0">
                  <a:schemeClr val="tx1"/>
                </a:gs>
                <a:gs pos="100000">
                  <a:schemeClr val="tx1">
                    <a:gamma/>
                    <a:shade val="72941"/>
                    <a:invGamma/>
                  </a:schemeClr>
                </a:gs>
              </a:gsLst>
              <a:lin ang="5400000" scaled="1"/>
            </a:gradFill>
            <a:ln w="9525" cap="sq">
              <a:noFill/>
              <a:miter lim="800000"/>
            </a:ln>
            <a:effectLst>
              <a:prstShdw prst="shdw17" dist="17961" dir="2700000">
                <a:schemeClr val="tx1">
                  <a:gamma/>
                  <a:shade val="60000"/>
                  <a:invGamma/>
                </a:schemeClr>
              </a:prstShdw>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538" name="Rectangle 14"/>
            <p:cNvSpPr/>
            <p:nvPr/>
          </p:nvSpPr>
          <p:spPr>
            <a:xfrm>
              <a:off x="3936" y="3024"/>
              <a:ext cx="480" cy="288"/>
            </a:xfrm>
            <a:prstGeom prst="rect">
              <a:avLst/>
            </a:prstGeom>
            <a:solidFill>
              <a:srgbClr val="FFFF99"/>
            </a:solidFill>
            <a:ln w="9525" cap="sq" cmpd="sng">
              <a:solidFill>
                <a:srgbClr val="CC6600"/>
              </a:solidFill>
              <a:prstDash val="solid"/>
              <a:miter/>
              <a:headEnd type="none" w="med" len="med"/>
              <a:tailEnd type="none" w="med" len="med"/>
            </a:ln>
            <a:effectLst>
              <a:prstShdw prst="shdw17" dist="17961" dir="2699999">
                <a:srgbClr val="7A3D00"/>
              </a:prst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0"/>
                </a:spcBef>
                <a:buClrTx/>
                <a:buFontTx/>
                <a:buNone/>
              </a:pPr>
              <a:r>
                <a:rPr lang="zh-CN" altLang="en-US" sz="1600" dirty="0">
                  <a:latin typeface="宋体" panose="02010600030101010101" pitchFamily="2" charset="-122"/>
                  <a:ea typeface="宋体" panose="02010600030101010101" pitchFamily="2" charset="-122"/>
                </a:rPr>
                <a:t>桩模块</a:t>
              </a:r>
              <a:endParaRPr lang="zh-CN" altLang="en-US" sz="1600" dirty="0">
                <a:solidFill>
                  <a:schemeClr val="folHlink"/>
                </a:solidFill>
                <a:latin typeface="楷体_GB2312" pitchFamily="49" charset="-122"/>
                <a:ea typeface="楷体_GB2312" pitchFamily="49" charset="-122"/>
              </a:endParaRPr>
            </a:p>
          </p:txBody>
        </p:sp>
        <p:sp>
          <p:nvSpPr>
            <p:cNvPr id="22539" name="Rectangle 15"/>
            <p:cNvSpPr/>
            <p:nvPr/>
          </p:nvSpPr>
          <p:spPr>
            <a:xfrm>
              <a:off x="5040" y="3024"/>
              <a:ext cx="480" cy="288"/>
            </a:xfrm>
            <a:prstGeom prst="rect">
              <a:avLst/>
            </a:prstGeom>
            <a:solidFill>
              <a:srgbClr val="FFFF99"/>
            </a:solidFill>
            <a:ln w="9525" cap="sq" cmpd="sng">
              <a:solidFill>
                <a:srgbClr val="CC6600"/>
              </a:solidFill>
              <a:prstDash val="solid"/>
              <a:miter/>
              <a:headEnd type="none" w="med" len="med"/>
              <a:tailEnd type="none" w="med" len="med"/>
            </a:ln>
            <a:effectLst>
              <a:prstShdw prst="shdw17" dist="17961" dir="2699999">
                <a:srgbClr val="7A3D00"/>
              </a:prst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0"/>
                </a:spcBef>
                <a:buClrTx/>
                <a:buFontTx/>
                <a:buNone/>
              </a:pPr>
              <a:r>
                <a:rPr lang="zh-CN" altLang="en-US" sz="1600" dirty="0">
                  <a:latin typeface="宋体" panose="02010600030101010101" pitchFamily="2" charset="-122"/>
                  <a:ea typeface="宋体" panose="02010600030101010101" pitchFamily="2" charset="-122"/>
                </a:rPr>
                <a:t>桩模块</a:t>
              </a:r>
              <a:endParaRPr lang="zh-CN" altLang="en-US" sz="1600" dirty="0">
                <a:solidFill>
                  <a:schemeClr val="folHlink"/>
                </a:solidFill>
                <a:latin typeface="楷体_GB2312" pitchFamily="49" charset="-122"/>
                <a:ea typeface="楷体_GB2312" pitchFamily="49" charset="-122"/>
              </a:endParaRPr>
            </a:p>
          </p:txBody>
        </p:sp>
        <p:sp>
          <p:nvSpPr>
            <p:cNvPr id="11" name="AutoShape 16"/>
            <p:cNvSpPr>
              <a:spLocks noChangeArrowheads="1"/>
            </p:cNvSpPr>
            <p:nvPr/>
          </p:nvSpPr>
          <p:spPr bwMode="auto">
            <a:xfrm rot="1545568">
              <a:off x="4178" y="2782"/>
              <a:ext cx="169" cy="267"/>
            </a:xfrm>
            <a:prstGeom prst="downArrow">
              <a:avLst>
                <a:gd name="adj1" fmla="val 50000"/>
                <a:gd name="adj2" fmla="val 39035"/>
              </a:avLst>
            </a:prstGeom>
            <a:gradFill rotWithShape="0">
              <a:gsLst>
                <a:gs pos="0">
                  <a:schemeClr val="tx1"/>
                </a:gs>
                <a:gs pos="100000">
                  <a:schemeClr val="tx1">
                    <a:gamma/>
                    <a:shade val="72941"/>
                    <a:invGamma/>
                  </a:schemeClr>
                </a:gs>
              </a:gsLst>
              <a:lin ang="5400000" scaled="1"/>
            </a:gradFill>
            <a:ln w="9525" cap="sq">
              <a:noFill/>
              <a:miter lim="800000"/>
            </a:ln>
            <a:effectLst>
              <a:prstShdw prst="shdw17" dist="17961" dir="2700000">
                <a:schemeClr val="tx1">
                  <a:gamma/>
                  <a:shade val="60000"/>
                  <a:invGamma/>
                </a:schemeClr>
              </a:prstShdw>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 name="AutoShape 17"/>
            <p:cNvSpPr>
              <a:spLocks noChangeArrowheads="1"/>
            </p:cNvSpPr>
            <p:nvPr/>
          </p:nvSpPr>
          <p:spPr bwMode="auto">
            <a:xfrm rot="-2418638">
              <a:off x="5109" y="2781"/>
              <a:ext cx="148" cy="241"/>
            </a:xfrm>
            <a:prstGeom prst="downArrow">
              <a:avLst>
                <a:gd name="adj1" fmla="val 50000"/>
                <a:gd name="adj2" fmla="val 41667"/>
              </a:avLst>
            </a:prstGeom>
            <a:gradFill rotWithShape="0">
              <a:gsLst>
                <a:gs pos="0">
                  <a:schemeClr val="tx1"/>
                </a:gs>
                <a:gs pos="100000">
                  <a:schemeClr val="tx1">
                    <a:gamma/>
                    <a:shade val="72941"/>
                    <a:invGamma/>
                  </a:schemeClr>
                </a:gs>
              </a:gsLst>
              <a:lin ang="5400000" scaled="1"/>
            </a:gradFill>
            <a:ln w="9525" cap="sq">
              <a:noFill/>
              <a:miter lim="800000"/>
            </a:ln>
            <a:effectLst>
              <a:prstShdw prst="shdw17" dist="17961" dir="2700000">
                <a:schemeClr val="tx1">
                  <a:gamma/>
                  <a:shade val="60000"/>
                  <a:invGamma/>
                </a:schemeClr>
              </a:prstShdw>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22532"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内容占位符 2"/>
          <p:cNvSpPr>
            <a:spLocks noGrp="1"/>
          </p:cNvSpPr>
          <p:nvPr>
            <p:ph idx="1"/>
          </p:nvPr>
        </p:nvSpPr>
        <p:spPr>
          <a:xfrm>
            <a:off x="428625" y="1214438"/>
            <a:ext cx="8286750"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第四节  集成测试</a:t>
            </a:r>
            <a:endParaRPr kumimoji="0" lang="en-US" altLang="zh-CN" sz="1100" b="1" i="0" u="none" strike="noStrike" kern="0" cap="none" spc="0" normalizeH="0" baseline="0" noProof="0" dirty="0">
              <a:ln>
                <a:noFill/>
              </a:ln>
              <a:solidFill>
                <a:srgbClr val="FF0000"/>
              </a:solidFill>
              <a:effectLst/>
              <a:uLnTx/>
              <a:uFillTx/>
              <a:latin typeface="+mn-lt"/>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集成测试也称为联合测试或组装测试，重点测试模块的接口部分，需设计测试过程使用的驱动模块或桩模块。</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4290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rPr>
              <a:t>一、集成测试的任务</a:t>
            </a:r>
            <a:endParaRPr kumimoji="0" lang="zh-CN" altLang="en-US"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确定模块组装方案，将经过测试的模块组装为一个完整的系统。组装方案分为渐增式及非渐增式。</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测试方法以黑盒法为主，按照组装方案进行测试。</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非渐增式：先测试每个模块，再把模块组合成程序。</a:t>
            </a:r>
            <a:endPar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渐增式：先进行模块测试，然后将这些模块逐步组装成较大的系统，每连接一个模块进行一次测试。渐增式测试有</a:t>
            </a:r>
            <a:r>
              <a:rPr kumimoji="0" lang="en-US" altLang="zh-CN"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2</a:t>
            </a:r>
            <a:r>
              <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种模式：自顶而下集成和自底而上集成。</a:t>
            </a:r>
            <a:endPar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endParaRPr kumimoji="0" lang="en-US" altLang="zh-CN"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p:txBody>
      </p:sp>
      <p:sp>
        <p:nvSpPr>
          <p:cNvPr id="23555"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页脚占位符 3"/>
          <p:cNvSpPr txBox="1">
            <a:spLocks noGrp="1"/>
          </p:cNvSpPr>
          <p:nvPr>
            <p:ph type="ftr" sz="quarter" idx="11"/>
          </p:nvPr>
        </p:nvSpPr>
        <p:spPr>
          <a:xfrm>
            <a:off x="457200" y="6245225"/>
            <a:ext cx="2133600" cy="476250"/>
          </a:xfrm>
          <a:ln/>
        </p:spPr>
        <p:txBody>
          <a:bodyPr/>
          <a:p>
            <a:pPr marL="0" indent="0" eaLnBrk="1" hangingPunct="1">
              <a:spcBef>
                <a:spcPct val="0"/>
              </a:spcBef>
              <a:buClrTx/>
              <a:buFontTx/>
              <a:buNone/>
            </a:pPr>
            <a:fld id="{9A0DB2DC-4C9A-4742-B13C-FB6460FD3503}" type="slidenum">
              <a:rPr lang="en-US" altLang="zh-CN" sz="1400" dirty="0">
                <a:solidFill>
                  <a:schemeClr val="tx1"/>
                </a:solidFill>
                <a:ea typeface="宋体" panose="02010600030101010101" pitchFamily="2" charset="-122"/>
              </a:rPr>
            </a:fld>
            <a:endParaRPr lang="en-US" altLang="zh-CN" sz="1400" dirty="0">
              <a:solidFill>
                <a:schemeClr val="tx1"/>
              </a:solidFill>
              <a:ea typeface="宋体" panose="02010600030101010101" pitchFamily="2" charset="-122"/>
            </a:endParaRPr>
          </a:p>
        </p:txBody>
      </p:sp>
      <p:sp>
        <p:nvSpPr>
          <p:cNvPr id="24579" name="Rectangle 3"/>
          <p:cNvSpPr/>
          <p:nvPr/>
        </p:nvSpPr>
        <p:spPr>
          <a:xfrm>
            <a:off x="6097588" y="1774825"/>
            <a:ext cx="685800" cy="381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000" dirty="0">
                <a:ea typeface="宋体" panose="02010600030101010101" pitchFamily="2" charset="-122"/>
              </a:rPr>
              <a:t>M1</a:t>
            </a:r>
            <a:endParaRPr lang="en-US" altLang="zh-CN" sz="2000" dirty="0">
              <a:ea typeface="宋体" panose="02010600030101010101" pitchFamily="2" charset="-122"/>
            </a:endParaRPr>
          </a:p>
        </p:txBody>
      </p:sp>
      <p:sp>
        <p:nvSpPr>
          <p:cNvPr id="24580" name="Rectangle 4"/>
          <p:cNvSpPr/>
          <p:nvPr/>
        </p:nvSpPr>
        <p:spPr>
          <a:xfrm>
            <a:off x="7124700" y="2532063"/>
            <a:ext cx="685800" cy="381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000" dirty="0">
                <a:ea typeface="宋体" panose="02010600030101010101" pitchFamily="2" charset="-122"/>
              </a:rPr>
              <a:t>M4</a:t>
            </a:r>
            <a:endParaRPr lang="en-US" altLang="zh-CN" sz="2000" dirty="0">
              <a:ea typeface="宋体" panose="02010600030101010101" pitchFamily="2" charset="-122"/>
            </a:endParaRPr>
          </a:p>
        </p:txBody>
      </p:sp>
      <p:sp>
        <p:nvSpPr>
          <p:cNvPr id="24581" name="Rectangle 5"/>
          <p:cNvSpPr/>
          <p:nvPr/>
        </p:nvSpPr>
        <p:spPr>
          <a:xfrm>
            <a:off x="6097588" y="2532063"/>
            <a:ext cx="685800" cy="381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000" dirty="0">
                <a:ea typeface="宋体" panose="02010600030101010101" pitchFamily="2" charset="-122"/>
              </a:rPr>
              <a:t>M3</a:t>
            </a:r>
            <a:endParaRPr lang="en-US" altLang="zh-CN" sz="2000" dirty="0">
              <a:ea typeface="宋体" panose="02010600030101010101" pitchFamily="2" charset="-122"/>
            </a:endParaRPr>
          </a:p>
        </p:txBody>
      </p:sp>
      <p:sp>
        <p:nvSpPr>
          <p:cNvPr id="24582" name="Rectangle 6"/>
          <p:cNvSpPr/>
          <p:nvPr/>
        </p:nvSpPr>
        <p:spPr>
          <a:xfrm>
            <a:off x="5030788" y="2532063"/>
            <a:ext cx="685800" cy="381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000" dirty="0">
                <a:ea typeface="宋体" panose="02010600030101010101" pitchFamily="2" charset="-122"/>
              </a:rPr>
              <a:t>M2</a:t>
            </a:r>
            <a:endParaRPr lang="en-US" altLang="zh-CN" sz="2000" dirty="0">
              <a:ea typeface="宋体" panose="02010600030101010101" pitchFamily="2" charset="-122"/>
            </a:endParaRPr>
          </a:p>
        </p:txBody>
      </p:sp>
      <p:sp>
        <p:nvSpPr>
          <p:cNvPr id="25607" name="Line 7"/>
          <p:cNvSpPr>
            <a:spLocks noChangeShapeType="1"/>
          </p:cNvSpPr>
          <p:nvPr/>
        </p:nvSpPr>
        <p:spPr bwMode="auto">
          <a:xfrm>
            <a:off x="6402388" y="2155825"/>
            <a:ext cx="0" cy="457200"/>
          </a:xfrm>
          <a:prstGeom prst="line">
            <a:avLst/>
          </a:prstGeom>
          <a:noFill/>
          <a:ln w="19050">
            <a:solidFill>
              <a:schemeClr val="tx1">
                <a:lumMod val="25000"/>
              </a:schemeClr>
            </a:solidFill>
            <a:rou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608" name="Line 8"/>
          <p:cNvSpPr>
            <a:spLocks noChangeShapeType="1"/>
          </p:cNvSpPr>
          <p:nvPr/>
        </p:nvSpPr>
        <p:spPr bwMode="auto">
          <a:xfrm flipV="1">
            <a:off x="5397500" y="2155825"/>
            <a:ext cx="776288" cy="376238"/>
          </a:xfrm>
          <a:prstGeom prst="line">
            <a:avLst/>
          </a:prstGeom>
          <a:noFill/>
          <a:ln w="19050">
            <a:solidFill>
              <a:schemeClr val="tx1">
                <a:lumMod val="25000"/>
              </a:schemeClr>
            </a:solidFill>
            <a:rou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609" name="Line 9"/>
          <p:cNvSpPr>
            <a:spLocks noChangeShapeType="1"/>
          </p:cNvSpPr>
          <p:nvPr/>
        </p:nvSpPr>
        <p:spPr bwMode="auto">
          <a:xfrm>
            <a:off x="6707188" y="2155825"/>
            <a:ext cx="757238" cy="374650"/>
          </a:xfrm>
          <a:prstGeom prst="line">
            <a:avLst/>
          </a:prstGeom>
          <a:noFill/>
          <a:ln w="19050">
            <a:solidFill>
              <a:schemeClr val="tx1">
                <a:lumMod val="25000"/>
              </a:schemeClr>
            </a:solidFill>
            <a:rou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586" name="Rectangle 10"/>
          <p:cNvSpPr/>
          <p:nvPr/>
        </p:nvSpPr>
        <p:spPr>
          <a:xfrm>
            <a:off x="7164388" y="3308350"/>
            <a:ext cx="685800" cy="381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000" dirty="0">
                <a:ea typeface="宋体" panose="02010600030101010101" pitchFamily="2" charset="-122"/>
              </a:rPr>
              <a:t>M6</a:t>
            </a:r>
            <a:endParaRPr lang="en-US" altLang="zh-CN" sz="2000" dirty="0">
              <a:ea typeface="宋体" panose="02010600030101010101" pitchFamily="2" charset="-122"/>
            </a:endParaRPr>
          </a:p>
        </p:txBody>
      </p:sp>
      <p:sp>
        <p:nvSpPr>
          <p:cNvPr id="24587" name="Rectangle 11"/>
          <p:cNvSpPr/>
          <p:nvPr/>
        </p:nvSpPr>
        <p:spPr>
          <a:xfrm>
            <a:off x="5011738" y="3268663"/>
            <a:ext cx="685800" cy="381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000" dirty="0">
                <a:ea typeface="宋体" panose="02010600030101010101" pitchFamily="2" charset="-122"/>
              </a:rPr>
              <a:t>M5</a:t>
            </a:r>
            <a:endParaRPr lang="en-US" altLang="zh-CN" sz="2000" dirty="0">
              <a:ea typeface="宋体" panose="02010600030101010101" pitchFamily="2" charset="-122"/>
            </a:endParaRPr>
          </a:p>
        </p:txBody>
      </p:sp>
      <p:sp>
        <p:nvSpPr>
          <p:cNvPr id="25612" name="Line 12"/>
          <p:cNvSpPr>
            <a:spLocks noChangeShapeType="1"/>
          </p:cNvSpPr>
          <p:nvPr/>
        </p:nvSpPr>
        <p:spPr bwMode="auto">
          <a:xfrm>
            <a:off x="5335588" y="2913063"/>
            <a:ext cx="0" cy="334963"/>
          </a:xfrm>
          <a:prstGeom prst="line">
            <a:avLst/>
          </a:prstGeom>
          <a:noFill/>
          <a:ln w="19050">
            <a:solidFill>
              <a:schemeClr val="tx1">
                <a:lumMod val="25000"/>
              </a:schemeClr>
            </a:solidFill>
            <a:rou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613" name="Line 13"/>
          <p:cNvSpPr>
            <a:spLocks noChangeShapeType="1"/>
          </p:cNvSpPr>
          <p:nvPr/>
        </p:nvSpPr>
        <p:spPr bwMode="auto">
          <a:xfrm>
            <a:off x="7505700" y="2933700"/>
            <a:ext cx="1588" cy="354013"/>
          </a:xfrm>
          <a:prstGeom prst="line">
            <a:avLst/>
          </a:prstGeom>
          <a:noFill/>
          <a:ln w="19050">
            <a:solidFill>
              <a:schemeClr val="tx1">
                <a:lumMod val="25000"/>
              </a:schemeClr>
            </a:solidFill>
            <a:rou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590" name="Text Box 14"/>
          <p:cNvSpPr txBox="1"/>
          <p:nvPr/>
        </p:nvSpPr>
        <p:spPr>
          <a:xfrm>
            <a:off x="8151813" y="1804988"/>
            <a:ext cx="492125" cy="1981200"/>
          </a:xfrm>
          <a:prstGeom prst="rect">
            <a:avLst/>
          </a:prstGeom>
          <a:noFill/>
          <a:ln w="9525">
            <a:noFill/>
          </a:ln>
        </p:spPr>
        <p:txBody>
          <a:bodyPr vert="eaVert">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50000"/>
              </a:spcBef>
              <a:buClrTx/>
              <a:buFontTx/>
              <a:buNone/>
            </a:pPr>
            <a:r>
              <a:rPr lang="zh-CN" altLang="en-US" sz="2000" dirty="0">
                <a:solidFill>
                  <a:srgbClr val="000000"/>
                </a:solidFill>
                <a:latin typeface="楷体_GB2312" pitchFamily="49" charset="-122"/>
                <a:ea typeface="楷体_GB2312" pitchFamily="49" charset="-122"/>
              </a:rPr>
              <a:t>程序模块示意图</a:t>
            </a:r>
            <a:endParaRPr lang="zh-CN" altLang="en-US" sz="2000" dirty="0">
              <a:solidFill>
                <a:srgbClr val="000000"/>
              </a:solidFill>
              <a:ea typeface="宋体" panose="02010600030101010101" pitchFamily="2" charset="-122"/>
            </a:endParaRPr>
          </a:p>
        </p:txBody>
      </p:sp>
      <p:sp>
        <p:nvSpPr>
          <p:cNvPr id="136207" name="Rectangle 15"/>
          <p:cNvSpPr/>
          <p:nvPr/>
        </p:nvSpPr>
        <p:spPr>
          <a:xfrm>
            <a:off x="3603625" y="3251200"/>
            <a:ext cx="685800" cy="381000"/>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400" dirty="0">
                <a:solidFill>
                  <a:schemeClr val="tx1"/>
                </a:solidFill>
                <a:ea typeface="宋体" panose="02010600030101010101" pitchFamily="2" charset="-122"/>
              </a:rPr>
              <a:t>S5</a:t>
            </a:r>
            <a:endParaRPr lang="en-US" altLang="zh-CN" sz="2400" dirty="0">
              <a:solidFill>
                <a:schemeClr val="tx1"/>
              </a:solidFill>
              <a:ea typeface="宋体" panose="02010600030101010101" pitchFamily="2" charset="-122"/>
            </a:endParaRPr>
          </a:p>
        </p:txBody>
      </p:sp>
      <p:sp>
        <p:nvSpPr>
          <p:cNvPr id="136208" name="Rectangle 16"/>
          <p:cNvSpPr/>
          <p:nvPr/>
        </p:nvSpPr>
        <p:spPr>
          <a:xfrm>
            <a:off x="2460625" y="1779588"/>
            <a:ext cx="685800" cy="381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000" dirty="0">
                <a:ea typeface="宋体" panose="02010600030101010101" pitchFamily="2" charset="-122"/>
              </a:rPr>
              <a:t>M1</a:t>
            </a:r>
            <a:endParaRPr lang="en-US" altLang="zh-CN" sz="2000" dirty="0">
              <a:ea typeface="宋体" panose="02010600030101010101" pitchFamily="2" charset="-122"/>
            </a:endParaRPr>
          </a:p>
        </p:txBody>
      </p:sp>
      <p:sp>
        <p:nvSpPr>
          <p:cNvPr id="136209" name="Rectangle 17"/>
          <p:cNvSpPr/>
          <p:nvPr/>
        </p:nvSpPr>
        <p:spPr>
          <a:xfrm>
            <a:off x="1296988" y="2474913"/>
            <a:ext cx="685800" cy="381000"/>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400" dirty="0">
                <a:solidFill>
                  <a:schemeClr val="tx1"/>
                </a:solidFill>
                <a:ea typeface="宋体" panose="02010600030101010101" pitchFamily="2" charset="-122"/>
              </a:rPr>
              <a:t>S1</a:t>
            </a:r>
            <a:endParaRPr lang="en-US" altLang="zh-CN" sz="2400" dirty="0">
              <a:solidFill>
                <a:schemeClr val="tx1"/>
              </a:solidFill>
              <a:ea typeface="宋体" panose="02010600030101010101" pitchFamily="2" charset="-122"/>
            </a:endParaRPr>
          </a:p>
        </p:txBody>
      </p:sp>
      <p:sp>
        <p:nvSpPr>
          <p:cNvPr id="136210" name="Rectangle 18"/>
          <p:cNvSpPr/>
          <p:nvPr/>
        </p:nvSpPr>
        <p:spPr>
          <a:xfrm>
            <a:off x="1296988" y="2474913"/>
            <a:ext cx="685800" cy="381000"/>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400" dirty="0">
                <a:solidFill>
                  <a:schemeClr val="tx1"/>
                </a:solidFill>
                <a:ea typeface="宋体" panose="02010600030101010101" pitchFamily="2" charset="-122"/>
              </a:rPr>
              <a:t>S1</a:t>
            </a:r>
            <a:endParaRPr lang="en-US" altLang="zh-CN" sz="2400" dirty="0">
              <a:solidFill>
                <a:schemeClr val="tx1"/>
              </a:solidFill>
              <a:ea typeface="宋体" panose="02010600030101010101" pitchFamily="2" charset="-122"/>
            </a:endParaRPr>
          </a:p>
        </p:txBody>
      </p:sp>
      <p:sp>
        <p:nvSpPr>
          <p:cNvPr id="136211" name="Rectangle 19"/>
          <p:cNvSpPr/>
          <p:nvPr/>
        </p:nvSpPr>
        <p:spPr>
          <a:xfrm>
            <a:off x="1296988" y="2474913"/>
            <a:ext cx="685800" cy="381000"/>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400" dirty="0">
                <a:solidFill>
                  <a:schemeClr val="tx1"/>
                </a:solidFill>
                <a:ea typeface="宋体" panose="02010600030101010101" pitchFamily="2" charset="-122"/>
              </a:rPr>
              <a:t>S1</a:t>
            </a:r>
            <a:endParaRPr lang="en-US" altLang="zh-CN" sz="2400" dirty="0">
              <a:solidFill>
                <a:schemeClr val="tx1"/>
              </a:solidFill>
              <a:ea typeface="宋体" panose="02010600030101010101" pitchFamily="2" charset="-122"/>
            </a:endParaRPr>
          </a:p>
        </p:txBody>
      </p:sp>
      <p:sp>
        <p:nvSpPr>
          <p:cNvPr id="136212" name="Line 20"/>
          <p:cNvSpPr>
            <a:spLocks noChangeShapeType="1"/>
          </p:cNvSpPr>
          <p:nvPr/>
        </p:nvSpPr>
        <p:spPr bwMode="auto">
          <a:xfrm flipV="1">
            <a:off x="1601788" y="2160588"/>
            <a:ext cx="935038" cy="295275"/>
          </a:xfrm>
          <a:prstGeom prst="line">
            <a:avLst/>
          </a:prstGeom>
          <a:noFill/>
          <a:ln w="19050">
            <a:solidFill>
              <a:schemeClr val="tx1">
                <a:lumMod val="25000"/>
              </a:schemeClr>
            </a:solidFill>
            <a:rou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6213" name="Rectangle 21"/>
          <p:cNvSpPr/>
          <p:nvPr/>
        </p:nvSpPr>
        <p:spPr>
          <a:xfrm>
            <a:off x="2439988" y="2474913"/>
            <a:ext cx="685800" cy="381000"/>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400" dirty="0">
                <a:solidFill>
                  <a:schemeClr val="tx1"/>
                </a:solidFill>
                <a:ea typeface="宋体" panose="02010600030101010101" pitchFamily="2" charset="-122"/>
              </a:rPr>
              <a:t>S2</a:t>
            </a:r>
            <a:endParaRPr lang="en-US" altLang="zh-CN" sz="2400" dirty="0">
              <a:solidFill>
                <a:schemeClr val="tx1"/>
              </a:solidFill>
              <a:ea typeface="宋体" panose="02010600030101010101" pitchFamily="2" charset="-122"/>
            </a:endParaRPr>
          </a:p>
        </p:txBody>
      </p:sp>
      <p:sp>
        <p:nvSpPr>
          <p:cNvPr id="136214" name="Rectangle 22"/>
          <p:cNvSpPr/>
          <p:nvPr/>
        </p:nvSpPr>
        <p:spPr>
          <a:xfrm>
            <a:off x="2439988" y="2474913"/>
            <a:ext cx="685800" cy="381000"/>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400" dirty="0">
                <a:solidFill>
                  <a:schemeClr val="tx1"/>
                </a:solidFill>
                <a:ea typeface="宋体" panose="02010600030101010101" pitchFamily="2" charset="-122"/>
              </a:rPr>
              <a:t>S2</a:t>
            </a:r>
            <a:endParaRPr lang="en-US" altLang="zh-CN" sz="2400" dirty="0">
              <a:solidFill>
                <a:schemeClr val="tx1"/>
              </a:solidFill>
              <a:ea typeface="宋体" panose="02010600030101010101" pitchFamily="2" charset="-122"/>
            </a:endParaRPr>
          </a:p>
        </p:txBody>
      </p:sp>
      <p:sp>
        <p:nvSpPr>
          <p:cNvPr id="136215" name="Rectangle 23"/>
          <p:cNvSpPr/>
          <p:nvPr/>
        </p:nvSpPr>
        <p:spPr>
          <a:xfrm>
            <a:off x="2439988" y="2474913"/>
            <a:ext cx="685800" cy="381000"/>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400" dirty="0">
                <a:solidFill>
                  <a:schemeClr val="tx1"/>
                </a:solidFill>
                <a:ea typeface="宋体" panose="02010600030101010101" pitchFamily="2" charset="-122"/>
              </a:rPr>
              <a:t>S2</a:t>
            </a:r>
            <a:endParaRPr lang="en-US" altLang="zh-CN" sz="2400" dirty="0">
              <a:solidFill>
                <a:schemeClr val="tx1"/>
              </a:solidFill>
              <a:ea typeface="宋体" panose="02010600030101010101" pitchFamily="2" charset="-122"/>
            </a:endParaRPr>
          </a:p>
        </p:txBody>
      </p:sp>
      <p:sp>
        <p:nvSpPr>
          <p:cNvPr id="136216" name="Line 24"/>
          <p:cNvSpPr>
            <a:spLocks noChangeShapeType="1"/>
          </p:cNvSpPr>
          <p:nvPr/>
        </p:nvSpPr>
        <p:spPr bwMode="auto">
          <a:xfrm flipH="1">
            <a:off x="2765425" y="2160588"/>
            <a:ext cx="0" cy="315913"/>
          </a:xfrm>
          <a:prstGeom prst="line">
            <a:avLst/>
          </a:prstGeom>
          <a:noFill/>
          <a:ln w="19050">
            <a:solidFill>
              <a:schemeClr val="tx1">
                <a:lumMod val="25000"/>
              </a:schemeClr>
            </a:solidFill>
            <a:rou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6217" name="Rectangle 25"/>
          <p:cNvSpPr/>
          <p:nvPr/>
        </p:nvSpPr>
        <p:spPr>
          <a:xfrm>
            <a:off x="3582988" y="2474913"/>
            <a:ext cx="685800" cy="381000"/>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400" dirty="0">
                <a:solidFill>
                  <a:schemeClr val="tx1"/>
                </a:solidFill>
                <a:ea typeface="宋体" panose="02010600030101010101" pitchFamily="2" charset="-122"/>
              </a:rPr>
              <a:t>S3</a:t>
            </a:r>
            <a:endParaRPr lang="en-US" altLang="zh-CN" sz="2400" dirty="0">
              <a:solidFill>
                <a:schemeClr val="tx1"/>
              </a:solidFill>
              <a:ea typeface="宋体" panose="02010600030101010101" pitchFamily="2" charset="-122"/>
            </a:endParaRPr>
          </a:p>
        </p:txBody>
      </p:sp>
      <p:sp>
        <p:nvSpPr>
          <p:cNvPr id="136218" name="Rectangle 26"/>
          <p:cNvSpPr/>
          <p:nvPr/>
        </p:nvSpPr>
        <p:spPr>
          <a:xfrm>
            <a:off x="3582988" y="2474913"/>
            <a:ext cx="685800" cy="381000"/>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400" dirty="0">
                <a:solidFill>
                  <a:schemeClr val="tx1"/>
                </a:solidFill>
                <a:ea typeface="宋体" panose="02010600030101010101" pitchFamily="2" charset="-122"/>
              </a:rPr>
              <a:t>S3</a:t>
            </a:r>
            <a:endParaRPr lang="en-US" altLang="zh-CN" sz="2400" dirty="0">
              <a:solidFill>
                <a:schemeClr val="tx1"/>
              </a:solidFill>
              <a:ea typeface="宋体" panose="02010600030101010101" pitchFamily="2" charset="-122"/>
            </a:endParaRPr>
          </a:p>
        </p:txBody>
      </p:sp>
      <p:sp>
        <p:nvSpPr>
          <p:cNvPr id="136219" name="Rectangle 27"/>
          <p:cNvSpPr/>
          <p:nvPr/>
        </p:nvSpPr>
        <p:spPr>
          <a:xfrm>
            <a:off x="3582988" y="2474913"/>
            <a:ext cx="685800" cy="381000"/>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400" dirty="0">
                <a:solidFill>
                  <a:schemeClr val="tx1"/>
                </a:solidFill>
                <a:ea typeface="宋体" panose="02010600030101010101" pitchFamily="2" charset="-122"/>
              </a:rPr>
              <a:t>S3</a:t>
            </a:r>
            <a:endParaRPr lang="en-US" altLang="zh-CN" sz="2400" dirty="0">
              <a:solidFill>
                <a:schemeClr val="tx1"/>
              </a:solidFill>
              <a:ea typeface="宋体" panose="02010600030101010101" pitchFamily="2" charset="-122"/>
            </a:endParaRPr>
          </a:p>
        </p:txBody>
      </p:sp>
      <p:sp>
        <p:nvSpPr>
          <p:cNvPr id="136220" name="Line 28"/>
          <p:cNvSpPr>
            <a:spLocks noChangeShapeType="1"/>
          </p:cNvSpPr>
          <p:nvPr/>
        </p:nvSpPr>
        <p:spPr bwMode="auto">
          <a:xfrm>
            <a:off x="3070225" y="2160588"/>
            <a:ext cx="874713" cy="315913"/>
          </a:xfrm>
          <a:prstGeom prst="line">
            <a:avLst/>
          </a:prstGeom>
          <a:noFill/>
          <a:ln w="19050">
            <a:solidFill>
              <a:schemeClr val="tx1">
                <a:lumMod val="25000"/>
              </a:schemeClr>
            </a:solidFill>
            <a:rou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6221" name="Text Box 29"/>
          <p:cNvSpPr txBox="1"/>
          <p:nvPr/>
        </p:nvSpPr>
        <p:spPr>
          <a:xfrm>
            <a:off x="422275" y="3957638"/>
            <a:ext cx="4114800" cy="1016000"/>
          </a:xfrm>
          <a:prstGeom prst="rect">
            <a:avLst/>
          </a:prstGeom>
          <a:noFill/>
          <a:ln w="38100" cap="flat" cmpd="sng">
            <a:solidFill>
              <a:schemeClr val="tx2"/>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just" eaLnBrk="1" hangingPunct="1">
              <a:spcBef>
                <a:spcPct val="50000"/>
              </a:spcBef>
              <a:buClrTx/>
              <a:buFontTx/>
              <a:buNone/>
            </a:pPr>
            <a:r>
              <a:rPr lang="zh-CN" altLang="en-US" sz="2000" dirty="0">
                <a:solidFill>
                  <a:srgbClr val="000000"/>
                </a:solidFill>
                <a:ea typeface="楷体_GB2312" pitchFamily="49" charset="-122"/>
              </a:rPr>
              <a:t>第一步，测试主控模块</a:t>
            </a:r>
            <a:r>
              <a:rPr lang="en-US" altLang="zh-CN" sz="2000" dirty="0">
                <a:solidFill>
                  <a:srgbClr val="000000"/>
                </a:solidFill>
                <a:ea typeface="楷体_GB2312" pitchFamily="49" charset="-122"/>
              </a:rPr>
              <a:t>M1</a:t>
            </a:r>
            <a:r>
              <a:rPr lang="zh-CN" altLang="en-US" sz="2000" dirty="0">
                <a:solidFill>
                  <a:srgbClr val="000000"/>
                </a:solidFill>
                <a:ea typeface="楷体_GB2312" pitchFamily="49" charset="-122"/>
              </a:rPr>
              <a:t>，设计桩模块</a:t>
            </a:r>
            <a:r>
              <a:rPr lang="en-US" altLang="zh-CN" sz="2000" dirty="0">
                <a:solidFill>
                  <a:srgbClr val="000000"/>
                </a:solidFill>
                <a:ea typeface="楷体_GB2312" pitchFamily="49" charset="-122"/>
              </a:rPr>
              <a:t>S1、S2、S3，</a:t>
            </a:r>
            <a:r>
              <a:rPr lang="zh-CN" altLang="en-US" sz="2000" dirty="0">
                <a:solidFill>
                  <a:srgbClr val="000000"/>
                </a:solidFill>
                <a:ea typeface="楷体_GB2312" pitchFamily="49" charset="-122"/>
              </a:rPr>
              <a:t>模拟被</a:t>
            </a:r>
            <a:r>
              <a:rPr lang="en-US" altLang="zh-CN" sz="2000" dirty="0">
                <a:solidFill>
                  <a:srgbClr val="000000"/>
                </a:solidFill>
                <a:ea typeface="楷体_GB2312" pitchFamily="49" charset="-122"/>
              </a:rPr>
              <a:t>M1</a:t>
            </a:r>
            <a:r>
              <a:rPr lang="zh-CN" altLang="en-US" sz="2000" dirty="0">
                <a:solidFill>
                  <a:srgbClr val="000000"/>
                </a:solidFill>
                <a:ea typeface="楷体_GB2312" pitchFamily="49" charset="-122"/>
              </a:rPr>
              <a:t>调用的</a:t>
            </a:r>
            <a:r>
              <a:rPr lang="en-US" altLang="zh-CN" sz="2000" dirty="0">
                <a:solidFill>
                  <a:srgbClr val="000000"/>
                </a:solidFill>
                <a:ea typeface="楷体_GB2312" pitchFamily="49" charset="-122"/>
              </a:rPr>
              <a:t>M2、M3、M4。</a:t>
            </a:r>
            <a:endParaRPr lang="en-US" altLang="zh-CN" sz="2000" dirty="0">
              <a:solidFill>
                <a:srgbClr val="000000"/>
              </a:solidFill>
              <a:ea typeface="楷体_GB2312" pitchFamily="49" charset="-122"/>
            </a:endParaRPr>
          </a:p>
        </p:txBody>
      </p:sp>
      <p:sp>
        <p:nvSpPr>
          <p:cNvPr id="136222" name="Rectangle 30"/>
          <p:cNvSpPr/>
          <p:nvPr/>
        </p:nvSpPr>
        <p:spPr>
          <a:xfrm>
            <a:off x="1296988" y="2474913"/>
            <a:ext cx="685800" cy="381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000" dirty="0">
                <a:ea typeface="宋体" panose="02010600030101010101" pitchFamily="2" charset="-122"/>
              </a:rPr>
              <a:t>M2</a:t>
            </a:r>
            <a:endParaRPr lang="en-US" altLang="zh-CN" sz="2000" dirty="0">
              <a:ea typeface="宋体" panose="02010600030101010101" pitchFamily="2" charset="-122"/>
            </a:endParaRPr>
          </a:p>
        </p:txBody>
      </p:sp>
      <p:sp>
        <p:nvSpPr>
          <p:cNvPr id="136223" name="Rectangle 31"/>
          <p:cNvSpPr/>
          <p:nvPr/>
        </p:nvSpPr>
        <p:spPr>
          <a:xfrm>
            <a:off x="2439988" y="2474913"/>
            <a:ext cx="685800" cy="381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000" dirty="0">
                <a:ea typeface="宋体" panose="02010600030101010101" pitchFamily="2" charset="-122"/>
              </a:rPr>
              <a:t>M3</a:t>
            </a:r>
            <a:endParaRPr lang="en-US" altLang="zh-CN" sz="2000" dirty="0">
              <a:ea typeface="宋体" panose="02010600030101010101" pitchFamily="2" charset="-122"/>
            </a:endParaRPr>
          </a:p>
        </p:txBody>
      </p:sp>
      <p:sp>
        <p:nvSpPr>
          <p:cNvPr id="136224" name="Rectangle 32"/>
          <p:cNvSpPr/>
          <p:nvPr/>
        </p:nvSpPr>
        <p:spPr>
          <a:xfrm>
            <a:off x="3582988" y="2474913"/>
            <a:ext cx="685800" cy="381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000" dirty="0">
                <a:ea typeface="宋体" panose="02010600030101010101" pitchFamily="2" charset="-122"/>
              </a:rPr>
              <a:t>M4</a:t>
            </a:r>
            <a:endParaRPr lang="en-US" altLang="zh-CN" sz="2000" dirty="0">
              <a:ea typeface="宋体" panose="02010600030101010101" pitchFamily="2" charset="-122"/>
            </a:endParaRPr>
          </a:p>
        </p:txBody>
      </p:sp>
      <p:sp>
        <p:nvSpPr>
          <p:cNvPr id="136225" name="Text Box 33"/>
          <p:cNvSpPr txBox="1"/>
          <p:nvPr/>
        </p:nvSpPr>
        <p:spPr>
          <a:xfrm>
            <a:off x="4708525" y="3959225"/>
            <a:ext cx="4086225" cy="1016000"/>
          </a:xfrm>
          <a:prstGeom prst="rect">
            <a:avLst/>
          </a:prstGeom>
          <a:noFill/>
          <a:ln w="38100" cap="flat" cmpd="sng">
            <a:solidFill>
              <a:schemeClr val="tx2"/>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just" eaLnBrk="1" hangingPunct="1">
              <a:spcBef>
                <a:spcPct val="50000"/>
              </a:spcBef>
              <a:buClrTx/>
              <a:buFontTx/>
              <a:buNone/>
            </a:pPr>
            <a:r>
              <a:rPr lang="zh-CN" altLang="en-US" sz="2000" dirty="0">
                <a:solidFill>
                  <a:srgbClr val="000000"/>
                </a:solidFill>
                <a:ea typeface="楷体_GB2312" pitchFamily="49" charset="-122"/>
              </a:rPr>
              <a:t>第二步，依次用</a:t>
            </a:r>
            <a:r>
              <a:rPr lang="en-US" altLang="zh-CN" sz="2000" dirty="0">
                <a:solidFill>
                  <a:srgbClr val="000000"/>
                </a:solidFill>
                <a:ea typeface="楷体_GB2312" pitchFamily="49" charset="-122"/>
              </a:rPr>
              <a:t>M2、M3、M4</a:t>
            </a:r>
            <a:r>
              <a:rPr lang="zh-CN" altLang="en-US" sz="2000" dirty="0">
                <a:solidFill>
                  <a:srgbClr val="000000"/>
                </a:solidFill>
                <a:ea typeface="楷体_GB2312" pitchFamily="49" charset="-122"/>
              </a:rPr>
              <a:t>替代桩模块</a:t>
            </a:r>
            <a:r>
              <a:rPr lang="en-US" altLang="zh-CN" sz="2000" dirty="0">
                <a:solidFill>
                  <a:srgbClr val="000000"/>
                </a:solidFill>
                <a:ea typeface="楷体_GB2312" pitchFamily="49" charset="-122"/>
              </a:rPr>
              <a:t>S1、S2、S3，</a:t>
            </a:r>
            <a:r>
              <a:rPr lang="zh-CN" altLang="en-US" sz="2000" dirty="0">
                <a:solidFill>
                  <a:srgbClr val="000000"/>
                </a:solidFill>
                <a:ea typeface="楷体_GB2312" pitchFamily="49" charset="-122"/>
              </a:rPr>
              <a:t>每替代一次进行一次测试。</a:t>
            </a:r>
            <a:endParaRPr lang="zh-CN" altLang="en-US" sz="2000" dirty="0">
              <a:solidFill>
                <a:srgbClr val="000000"/>
              </a:solidFill>
              <a:ea typeface="楷体_GB2312" pitchFamily="49" charset="-122"/>
            </a:endParaRPr>
          </a:p>
        </p:txBody>
      </p:sp>
      <p:sp>
        <p:nvSpPr>
          <p:cNvPr id="136226" name="Rectangle 34"/>
          <p:cNvSpPr/>
          <p:nvPr/>
        </p:nvSpPr>
        <p:spPr>
          <a:xfrm>
            <a:off x="1317625" y="3230563"/>
            <a:ext cx="685800" cy="381000"/>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400" dirty="0">
                <a:solidFill>
                  <a:schemeClr val="tx1"/>
                </a:solidFill>
                <a:ea typeface="宋体" panose="02010600030101010101" pitchFamily="2" charset="-122"/>
              </a:rPr>
              <a:t>S4</a:t>
            </a:r>
            <a:endParaRPr lang="en-US" altLang="zh-CN" sz="2400" dirty="0">
              <a:solidFill>
                <a:schemeClr val="tx1"/>
              </a:solidFill>
              <a:ea typeface="宋体" panose="02010600030101010101" pitchFamily="2" charset="-122"/>
            </a:endParaRPr>
          </a:p>
        </p:txBody>
      </p:sp>
      <p:sp>
        <p:nvSpPr>
          <p:cNvPr id="136227" name="Line 35"/>
          <p:cNvSpPr>
            <a:spLocks noChangeShapeType="1"/>
          </p:cNvSpPr>
          <p:nvPr/>
        </p:nvSpPr>
        <p:spPr bwMode="auto">
          <a:xfrm>
            <a:off x="1622425" y="2857500"/>
            <a:ext cx="0" cy="374650"/>
          </a:xfrm>
          <a:prstGeom prst="line">
            <a:avLst/>
          </a:prstGeom>
          <a:noFill/>
          <a:ln w="19050">
            <a:solidFill>
              <a:schemeClr val="tx1">
                <a:lumMod val="25000"/>
              </a:schemeClr>
            </a:solidFill>
            <a:rou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6228" name="Rectangle 36"/>
          <p:cNvSpPr/>
          <p:nvPr/>
        </p:nvSpPr>
        <p:spPr>
          <a:xfrm>
            <a:off x="1317625" y="3230563"/>
            <a:ext cx="685800" cy="381000"/>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400" dirty="0">
                <a:solidFill>
                  <a:schemeClr val="tx1"/>
                </a:solidFill>
                <a:ea typeface="宋体" panose="02010600030101010101" pitchFamily="2" charset="-122"/>
              </a:rPr>
              <a:t>S4</a:t>
            </a:r>
            <a:endParaRPr lang="en-US" altLang="zh-CN" sz="2400" dirty="0">
              <a:solidFill>
                <a:schemeClr val="tx1"/>
              </a:solidFill>
              <a:ea typeface="宋体" panose="02010600030101010101" pitchFamily="2" charset="-122"/>
            </a:endParaRPr>
          </a:p>
        </p:txBody>
      </p:sp>
      <p:sp>
        <p:nvSpPr>
          <p:cNvPr id="136229" name="Rectangle 37"/>
          <p:cNvSpPr/>
          <p:nvPr/>
        </p:nvSpPr>
        <p:spPr>
          <a:xfrm>
            <a:off x="1317625" y="3230563"/>
            <a:ext cx="685800" cy="381000"/>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400" dirty="0">
                <a:solidFill>
                  <a:schemeClr val="tx1"/>
                </a:solidFill>
                <a:ea typeface="宋体" panose="02010600030101010101" pitchFamily="2" charset="-122"/>
              </a:rPr>
              <a:t>S4</a:t>
            </a:r>
            <a:endParaRPr lang="en-US" altLang="zh-CN" sz="2400" dirty="0">
              <a:solidFill>
                <a:schemeClr val="tx1"/>
              </a:solidFill>
              <a:ea typeface="宋体" panose="02010600030101010101" pitchFamily="2" charset="-122"/>
            </a:endParaRPr>
          </a:p>
        </p:txBody>
      </p:sp>
      <p:sp>
        <p:nvSpPr>
          <p:cNvPr id="136230" name="Rectangle 38"/>
          <p:cNvSpPr/>
          <p:nvPr/>
        </p:nvSpPr>
        <p:spPr>
          <a:xfrm>
            <a:off x="3603625" y="3251200"/>
            <a:ext cx="685800" cy="381000"/>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400" dirty="0">
                <a:solidFill>
                  <a:schemeClr val="tx1"/>
                </a:solidFill>
                <a:ea typeface="宋体" panose="02010600030101010101" pitchFamily="2" charset="-122"/>
              </a:rPr>
              <a:t>S5</a:t>
            </a:r>
            <a:endParaRPr lang="en-US" altLang="zh-CN" sz="2400" dirty="0">
              <a:solidFill>
                <a:schemeClr val="tx1"/>
              </a:solidFill>
              <a:ea typeface="宋体" panose="02010600030101010101" pitchFamily="2" charset="-122"/>
            </a:endParaRPr>
          </a:p>
        </p:txBody>
      </p:sp>
      <p:sp>
        <p:nvSpPr>
          <p:cNvPr id="136231" name="Rectangle 39"/>
          <p:cNvSpPr/>
          <p:nvPr/>
        </p:nvSpPr>
        <p:spPr>
          <a:xfrm>
            <a:off x="3603625" y="3251200"/>
            <a:ext cx="685800" cy="381000"/>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400" dirty="0">
                <a:solidFill>
                  <a:schemeClr val="tx1"/>
                </a:solidFill>
                <a:ea typeface="宋体" panose="02010600030101010101" pitchFamily="2" charset="-122"/>
              </a:rPr>
              <a:t>S5</a:t>
            </a:r>
            <a:endParaRPr lang="en-US" altLang="zh-CN" sz="2400" dirty="0">
              <a:solidFill>
                <a:schemeClr val="tx1"/>
              </a:solidFill>
              <a:ea typeface="宋体" panose="02010600030101010101" pitchFamily="2" charset="-122"/>
            </a:endParaRPr>
          </a:p>
        </p:txBody>
      </p:sp>
      <p:sp>
        <p:nvSpPr>
          <p:cNvPr id="136232" name="Line 40"/>
          <p:cNvSpPr>
            <a:spLocks noChangeShapeType="1"/>
          </p:cNvSpPr>
          <p:nvPr/>
        </p:nvSpPr>
        <p:spPr bwMode="auto">
          <a:xfrm>
            <a:off x="3944938" y="2855913"/>
            <a:ext cx="0" cy="415925"/>
          </a:xfrm>
          <a:prstGeom prst="line">
            <a:avLst/>
          </a:prstGeom>
          <a:noFill/>
          <a:ln w="19050">
            <a:solidFill>
              <a:schemeClr val="tx1">
                <a:lumMod val="25000"/>
              </a:schemeClr>
            </a:solidFill>
            <a:rou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6233" name="Text Box 41"/>
          <p:cNvSpPr txBox="1"/>
          <p:nvPr/>
        </p:nvSpPr>
        <p:spPr>
          <a:xfrm>
            <a:off x="425450" y="5340350"/>
            <a:ext cx="4089400" cy="1016000"/>
          </a:xfrm>
          <a:prstGeom prst="rect">
            <a:avLst/>
          </a:prstGeom>
          <a:noFill/>
          <a:ln w="38100" cap="flat" cmpd="sng">
            <a:solidFill>
              <a:schemeClr val="tx2"/>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just" eaLnBrk="1" hangingPunct="1">
              <a:spcBef>
                <a:spcPct val="50000"/>
              </a:spcBef>
              <a:buClrTx/>
              <a:buFontTx/>
              <a:buNone/>
            </a:pPr>
            <a:r>
              <a:rPr lang="zh-CN" altLang="en-US" sz="2000" dirty="0">
                <a:solidFill>
                  <a:srgbClr val="000000"/>
                </a:solidFill>
                <a:ea typeface="楷体_GB2312" pitchFamily="49" charset="-122"/>
              </a:rPr>
              <a:t>第三步，对由主控模块</a:t>
            </a:r>
            <a:r>
              <a:rPr lang="en-US" altLang="zh-CN" sz="2000" dirty="0">
                <a:solidFill>
                  <a:srgbClr val="000000"/>
                </a:solidFill>
                <a:ea typeface="楷体_GB2312" pitchFamily="49" charset="-122"/>
              </a:rPr>
              <a:t>M1</a:t>
            </a:r>
            <a:r>
              <a:rPr lang="zh-CN" altLang="en-US" sz="2000" dirty="0">
                <a:solidFill>
                  <a:srgbClr val="000000"/>
                </a:solidFill>
                <a:ea typeface="楷体_GB2312" pitchFamily="49" charset="-122"/>
              </a:rPr>
              <a:t>和模块</a:t>
            </a:r>
            <a:r>
              <a:rPr lang="en-US" altLang="zh-CN" sz="2000" dirty="0">
                <a:solidFill>
                  <a:srgbClr val="000000"/>
                </a:solidFill>
                <a:ea typeface="楷体_GB2312" pitchFamily="49" charset="-122"/>
              </a:rPr>
              <a:t>M2、M3、M4</a:t>
            </a:r>
            <a:r>
              <a:rPr lang="zh-CN" altLang="en-US" sz="2000" dirty="0">
                <a:solidFill>
                  <a:srgbClr val="000000"/>
                </a:solidFill>
                <a:ea typeface="楷体_GB2312" pitchFamily="49" charset="-122"/>
              </a:rPr>
              <a:t>构成的子系统进行测试，设计桩模块</a:t>
            </a:r>
            <a:r>
              <a:rPr lang="en-US" altLang="zh-CN" sz="2000" dirty="0">
                <a:solidFill>
                  <a:srgbClr val="000000"/>
                </a:solidFill>
                <a:ea typeface="楷体_GB2312" pitchFamily="49" charset="-122"/>
              </a:rPr>
              <a:t>S4、S5。</a:t>
            </a:r>
            <a:endParaRPr lang="en-US" altLang="zh-CN" sz="2000" dirty="0">
              <a:solidFill>
                <a:srgbClr val="000000"/>
              </a:solidFill>
              <a:ea typeface="宋体" panose="02010600030101010101" pitchFamily="2" charset="-122"/>
            </a:endParaRPr>
          </a:p>
        </p:txBody>
      </p:sp>
      <p:sp>
        <p:nvSpPr>
          <p:cNvPr id="136234" name="Rectangle 42"/>
          <p:cNvSpPr/>
          <p:nvPr/>
        </p:nvSpPr>
        <p:spPr>
          <a:xfrm>
            <a:off x="1317625" y="3230563"/>
            <a:ext cx="685800" cy="381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000" dirty="0">
                <a:ea typeface="宋体" panose="02010600030101010101" pitchFamily="2" charset="-122"/>
              </a:rPr>
              <a:t>M5</a:t>
            </a:r>
            <a:endParaRPr lang="en-US" altLang="zh-CN" sz="2000" dirty="0">
              <a:ea typeface="宋体" panose="02010600030101010101" pitchFamily="2" charset="-122"/>
            </a:endParaRPr>
          </a:p>
        </p:txBody>
      </p:sp>
      <p:sp>
        <p:nvSpPr>
          <p:cNvPr id="136235" name="Rectangle 43"/>
          <p:cNvSpPr/>
          <p:nvPr/>
        </p:nvSpPr>
        <p:spPr>
          <a:xfrm>
            <a:off x="3603625" y="3251200"/>
            <a:ext cx="685800" cy="381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000" dirty="0">
                <a:ea typeface="宋体" panose="02010600030101010101" pitchFamily="2" charset="-122"/>
              </a:rPr>
              <a:t>M6</a:t>
            </a:r>
            <a:endParaRPr lang="en-US" altLang="zh-CN" sz="2000" dirty="0">
              <a:ea typeface="宋体" panose="02010600030101010101" pitchFamily="2" charset="-122"/>
            </a:endParaRPr>
          </a:p>
        </p:txBody>
      </p:sp>
      <p:sp>
        <p:nvSpPr>
          <p:cNvPr id="136236" name="Text Box 44"/>
          <p:cNvSpPr txBox="1"/>
          <p:nvPr/>
        </p:nvSpPr>
        <p:spPr>
          <a:xfrm>
            <a:off x="4710113" y="5341938"/>
            <a:ext cx="4064000" cy="1016000"/>
          </a:xfrm>
          <a:prstGeom prst="rect">
            <a:avLst/>
          </a:prstGeom>
          <a:noFill/>
          <a:ln w="38100" cap="flat" cmpd="sng">
            <a:solidFill>
              <a:schemeClr val="tx2"/>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just" eaLnBrk="1" hangingPunct="1">
              <a:spcBef>
                <a:spcPct val="50000"/>
              </a:spcBef>
              <a:buClrTx/>
              <a:buFontTx/>
              <a:buNone/>
            </a:pPr>
            <a:r>
              <a:rPr lang="zh-CN" altLang="en-US" sz="2000" dirty="0">
                <a:solidFill>
                  <a:srgbClr val="000000"/>
                </a:solidFill>
                <a:ea typeface="楷体_GB2312" pitchFamily="49" charset="-122"/>
              </a:rPr>
              <a:t>第四步，依次用模块</a:t>
            </a:r>
            <a:r>
              <a:rPr lang="en-US" altLang="zh-CN" sz="2000" dirty="0">
                <a:solidFill>
                  <a:srgbClr val="000000"/>
                </a:solidFill>
                <a:ea typeface="楷体_GB2312" pitchFamily="49" charset="-122"/>
              </a:rPr>
              <a:t>M5</a:t>
            </a:r>
            <a:r>
              <a:rPr lang="zh-CN" altLang="en-US" sz="2000" dirty="0">
                <a:solidFill>
                  <a:srgbClr val="000000"/>
                </a:solidFill>
                <a:ea typeface="楷体_GB2312" pitchFamily="49" charset="-122"/>
              </a:rPr>
              <a:t>和</a:t>
            </a:r>
            <a:r>
              <a:rPr lang="en-US" altLang="zh-CN" sz="2000" dirty="0">
                <a:solidFill>
                  <a:srgbClr val="000000"/>
                </a:solidFill>
                <a:ea typeface="楷体_GB2312" pitchFamily="49" charset="-122"/>
              </a:rPr>
              <a:t>M6</a:t>
            </a:r>
            <a:r>
              <a:rPr lang="zh-CN" altLang="en-US" sz="2000" dirty="0">
                <a:solidFill>
                  <a:srgbClr val="000000"/>
                </a:solidFill>
                <a:ea typeface="楷体_GB2312" pitchFamily="49" charset="-122"/>
              </a:rPr>
              <a:t>替代桩模块</a:t>
            </a:r>
            <a:r>
              <a:rPr lang="en-US" altLang="zh-CN" sz="2000" dirty="0">
                <a:solidFill>
                  <a:srgbClr val="000000"/>
                </a:solidFill>
                <a:ea typeface="楷体_GB2312" pitchFamily="49" charset="-122"/>
              </a:rPr>
              <a:t>S4、S5，</a:t>
            </a:r>
            <a:r>
              <a:rPr lang="zh-CN" altLang="en-US" sz="2000" dirty="0">
                <a:solidFill>
                  <a:srgbClr val="000000"/>
                </a:solidFill>
                <a:ea typeface="楷体_GB2312" pitchFamily="49" charset="-122"/>
              </a:rPr>
              <a:t>并同时进行新的测试。组装测试完毕。</a:t>
            </a:r>
            <a:endParaRPr lang="zh-CN" altLang="en-US" sz="2000" dirty="0">
              <a:solidFill>
                <a:srgbClr val="000000"/>
              </a:solidFill>
              <a:ea typeface="楷体_GB2312" pitchFamily="49" charset="-122"/>
            </a:endParaRPr>
          </a:p>
        </p:txBody>
      </p:sp>
      <p:sp>
        <p:nvSpPr>
          <p:cNvPr id="136237" name="AutoShape 45"/>
          <p:cNvSpPr/>
          <p:nvPr/>
        </p:nvSpPr>
        <p:spPr>
          <a:xfrm rot="5400000">
            <a:off x="-166687" y="2565400"/>
            <a:ext cx="1905000" cy="228600"/>
          </a:xfrm>
          <a:prstGeom prst="notchedRightArrow">
            <a:avLst>
              <a:gd name="adj1" fmla="val 50000"/>
              <a:gd name="adj2" fmla="val 208333"/>
            </a:avLst>
          </a:prstGeom>
          <a:solidFill>
            <a:srgbClr val="92D05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24622" name="Oval 46">
            <a:hlinkClick r:id="" action="ppaction://hlinkshowjump?jump=previousslide"/>
          </p:cNvPr>
          <p:cNvSpPr/>
          <p:nvPr/>
        </p:nvSpPr>
        <p:spPr>
          <a:xfrm>
            <a:off x="6381750" y="6515100"/>
            <a:ext cx="742950" cy="57150"/>
          </a:xfrm>
          <a:prstGeom prst="ellipse">
            <a:avLst/>
          </a:prstGeom>
          <a:noFill/>
          <a:ln w="9525">
            <a:noFill/>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24623" name="Oval 47">
            <a:hlinkClick r:id="" action="ppaction://hlinkshowjump?jump=nextslide"/>
          </p:cNvPr>
          <p:cNvSpPr/>
          <p:nvPr/>
        </p:nvSpPr>
        <p:spPr>
          <a:xfrm>
            <a:off x="7245350" y="6521450"/>
            <a:ext cx="742950" cy="57150"/>
          </a:xfrm>
          <a:prstGeom prst="ellipse">
            <a:avLst/>
          </a:prstGeom>
          <a:noFill/>
          <a:ln w="9525">
            <a:noFill/>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24624" name="Oval 48">
            <a:hlinkClick r:id="" action="ppaction://hlinkshowjump?jump=firstslide"/>
          </p:cNvPr>
          <p:cNvSpPr/>
          <p:nvPr/>
        </p:nvSpPr>
        <p:spPr>
          <a:xfrm>
            <a:off x="8128000" y="6508750"/>
            <a:ext cx="742950" cy="57150"/>
          </a:xfrm>
          <a:prstGeom prst="ellipse">
            <a:avLst/>
          </a:prstGeom>
          <a:noFill/>
          <a:ln w="9525">
            <a:noFill/>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24625" name="Text Box 50"/>
          <p:cNvSpPr txBox="1"/>
          <p:nvPr/>
        </p:nvSpPr>
        <p:spPr>
          <a:xfrm>
            <a:off x="357188" y="1214438"/>
            <a:ext cx="2989262" cy="4445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lnSpc>
                <a:spcPct val="120000"/>
              </a:lnSpc>
              <a:buSzPct val="80000"/>
              <a:buFontTx/>
              <a:buNone/>
            </a:pPr>
            <a:r>
              <a:rPr lang="en-US" altLang="zh-CN" sz="2200" b="1" dirty="0">
                <a:latin typeface="黑体" panose="02010609060101010101" pitchFamily="49" charset="-122"/>
                <a:ea typeface="黑体" panose="02010609060101010101" pitchFamily="49" charset="-122"/>
              </a:rPr>
              <a:t>1.</a:t>
            </a:r>
            <a:r>
              <a:rPr lang="zh-CN" altLang="en-US" sz="2200" b="1" dirty="0">
                <a:latin typeface="黑体" panose="02010609060101010101" pitchFamily="49" charset="-122"/>
                <a:ea typeface="黑体" panose="02010609060101010101" pitchFamily="49" charset="-122"/>
              </a:rPr>
              <a:t>自顶而下集成</a:t>
            </a:r>
            <a:endParaRPr lang="zh-CN" altLang="en-US" sz="2200" b="1" dirty="0">
              <a:latin typeface="黑体" panose="02010609060101010101" pitchFamily="49" charset="-122"/>
              <a:ea typeface="黑体" panose="02010609060101010101" pitchFamily="49" charset="-122"/>
            </a:endParaRPr>
          </a:p>
        </p:txBody>
      </p:sp>
      <p:sp>
        <p:nvSpPr>
          <p:cNvPr id="24626"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6208"/>
                                        </p:tgtEl>
                                        <p:attrNameLst>
                                          <p:attrName>style.visibility</p:attrName>
                                        </p:attrNameLst>
                                      </p:cBhvr>
                                      <p:to>
                                        <p:strVal val="visible"/>
                                      </p:to>
                                    </p:set>
                                    <p:animEffect transition="in" filter="blinds(horizontal)">
                                      <p:cBhvr>
                                        <p:cTn id="7" dur="500"/>
                                        <p:tgtEl>
                                          <p:spTgt spid="136208"/>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36221"/>
                                        </p:tgtEl>
                                        <p:attrNameLst>
                                          <p:attrName>style.visibility</p:attrName>
                                        </p:attrNameLst>
                                      </p:cBhvr>
                                      <p:to>
                                        <p:strVal val="visible"/>
                                      </p:to>
                                    </p:set>
                                    <p:animEffect transition="in" filter="dissolve">
                                      <p:cBhvr>
                                        <p:cTn id="11" dur="500"/>
                                        <p:tgtEl>
                                          <p:spTgt spid="136221"/>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136212"/>
                                        </p:tgtEl>
                                        <p:attrNameLst>
                                          <p:attrName>style.visibility</p:attrName>
                                        </p:attrNameLst>
                                      </p:cBhvr>
                                      <p:to>
                                        <p:strVal val="visible"/>
                                      </p:to>
                                    </p:set>
                                    <p:animEffect transition="in" filter="wipe(up)">
                                      <p:cBhvr>
                                        <p:cTn id="15" dur="500"/>
                                        <p:tgtEl>
                                          <p:spTgt spid="136212"/>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36209"/>
                                        </p:tgtEl>
                                        <p:attrNameLst>
                                          <p:attrName>style.visibility</p:attrName>
                                        </p:attrNameLst>
                                      </p:cBhvr>
                                      <p:to>
                                        <p:strVal val="visible"/>
                                      </p:to>
                                    </p:set>
                                    <p:animEffect transition="in" filter="wipe(left)">
                                      <p:cBhvr>
                                        <p:cTn id="19" dur="500"/>
                                        <p:tgtEl>
                                          <p:spTgt spid="136209"/>
                                        </p:tgtEl>
                                      </p:cBhvr>
                                    </p:animEffect>
                                  </p:childTnLst>
                                  <p:subTnLst>
                                    <p:set>
                                      <p:cBhvr override="childStyle">
                                        <p:cTn dur="1" fill="hold" display="0" masterRel="sameClick" afterEffect="1">
                                          <p:stCondLst>
                                            <p:cond evt="end" delay="0">
                                              <p:tn val="17"/>
                                            </p:cond>
                                          </p:stCondLst>
                                        </p:cTn>
                                        <p:tgtEl>
                                          <p:spTgt spid="136209"/>
                                        </p:tgtEl>
                                        <p:attrNameLst>
                                          <p:attrName>style.visibility</p:attrName>
                                        </p:attrNameLst>
                                      </p:cBhvr>
                                      <p:to>
                                        <p:strVal val="hidden"/>
                                      </p:to>
                                    </p:set>
                                  </p:sub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36210"/>
                                        </p:tgtEl>
                                        <p:attrNameLst>
                                          <p:attrName>style.visibility</p:attrName>
                                        </p:attrNameLst>
                                      </p:cBhvr>
                                      <p:to>
                                        <p:strVal val="visible"/>
                                      </p:to>
                                    </p:set>
                                    <p:animEffect transition="in" filter="wipe(left)">
                                      <p:cBhvr>
                                        <p:cTn id="23" dur="500"/>
                                        <p:tgtEl>
                                          <p:spTgt spid="136210"/>
                                        </p:tgtEl>
                                      </p:cBhvr>
                                    </p:animEffect>
                                  </p:childTnLst>
                                  <p:subTnLst>
                                    <p:set>
                                      <p:cBhvr override="childStyle">
                                        <p:cTn dur="1" fill="hold" display="0" masterRel="sameClick" afterEffect="1">
                                          <p:stCondLst>
                                            <p:cond evt="end" delay="0">
                                              <p:tn val="21"/>
                                            </p:cond>
                                          </p:stCondLst>
                                        </p:cTn>
                                        <p:tgtEl>
                                          <p:spTgt spid="136210"/>
                                        </p:tgtEl>
                                        <p:attrNameLst>
                                          <p:attrName>style.visibility</p:attrName>
                                        </p:attrNameLst>
                                      </p:cBhvr>
                                      <p:to>
                                        <p:strVal val="hidden"/>
                                      </p:to>
                                    </p:set>
                                  </p:sub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136211"/>
                                        </p:tgtEl>
                                        <p:attrNameLst>
                                          <p:attrName>style.visibility</p:attrName>
                                        </p:attrNameLst>
                                      </p:cBhvr>
                                      <p:to>
                                        <p:strVal val="visible"/>
                                      </p:to>
                                    </p:set>
                                    <p:animEffect transition="in" filter="wipe(left)">
                                      <p:cBhvr>
                                        <p:cTn id="27" dur="500"/>
                                        <p:tgtEl>
                                          <p:spTgt spid="136211"/>
                                        </p:tgtEl>
                                      </p:cBhvr>
                                    </p:animEffect>
                                  </p:childTnLst>
                                </p:cTn>
                              </p:par>
                            </p:childTnLst>
                          </p:cTn>
                        </p:par>
                        <p:par>
                          <p:cTn id="28" fill="hold">
                            <p:stCondLst>
                              <p:cond delay="3000"/>
                            </p:stCondLst>
                            <p:childTnLst>
                              <p:par>
                                <p:cTn id="29" presetID="22" presetClass="entr" presetSubtype="1" fill="hold" nodeType="afterEffect">
                                  <p:stCondLst>
                                    <p:cond delay="0"/>
                                  </p:stCondLst>
                                  <p:childTnLst>
                                    <p:set>
                                      <p:cBhvr>
                                        <p:cTn id="30" dur="1" fill="hold">
                                          <p:stCondLst>
                                            <p:cond delay="0"/>
                                          </p:stCondLst>
                                        </p:cTn>
                                        <p:tgtEl>
                                          <p:spTgt spid="136216"/>
                                        </p:tgtEl>
                                        <p:attrNameLst>
                                          <p:attrName>style.visibility</p:attrName>
                                        </p:attrNameLst>
                                      </p:cBhvr>
                                      <p:to>
                                        <p:strVal val="visible"/>
                                      </p:to>
                                    </p:set>
                                    <p:animEffect transition="in" filter="wipe(up)">
                                      <p:cBhvr>
                                        <p:cTn id="31" dur="500"/>
                                        <p:tgtEl>
                                          <p:spTgt spid="136216"/>
                                        </p:tgtEl>
                                      </p:cBhvr>
                                    </p:animEffect>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136213"/>
                                        </p:tgtEl>
                                        <p:attrNameLst>
                                          <p:attrName>style.visibility</p:attrName>
                                        </p:attrNameLst>
                                      </p:cBhvr>
                                      <p:to>
                                        <p:strVal val="visible"/>
                                      </p:to>
                                    </p:set>
                                    <p:animEffect transition="in" filter="wipe(left)">
                                      <p:cBhvr>
                                        <p:cTn id="35" dur="500"/>
                                        <p:tgtEl>
                                          <p:spTgt spid="136213"/>
                                        </p:tgtEl>
                                      </p:cBhvr>
                                    </p:animEffect>
                                  </p:childTnLst>
                                  <p:subTnLst>
                                    <p:set>
                                      <p:cBhvr override="childStyle">
                                        <p:cTn dur="1" fill="hold" display="0" masterRel="sameClick" afterEffect="1">
                                          <p:stCondLst>
                                            <p:cond evt="end" delay="0">
                                              <p:tn val="33"/>
                                            </p:cond>
                                          </p:stCondLst>
                                        </p:cTn>
                                        <p:tgtEl>
                                          <p:spTgt spid="136213"/>
                                        </p:tgtEl>
                                        <p:attrNameLst>
                                          <p:attrName>style.visibility</p:attrName>
                                        </p:attrNameLst>
                                      </p:cBhvr>
                                      <p:to>
                                        <p:strVal val="hidden"/>
                                      </p:to>
                                    </p:set>
                                  </p:subTnLst>
                                </p:cTn>
                              </p:par>
                            </p:childTnLst>
                          </p:cTn>
                        </p:par>
                        <p:par>
                          <p:cTn id="36" fill="hold">
                            <p:stCondLst>
                              <p:cond delay="4000"/>
                            </p:stCondLst>
                            <p:childTnLst>
                              <p:par>
                                <p:cTn id="37" presetID="22" presetClass="entr" presetSubtype="8" fill="hold" grpId="0" nodeType="afterEffect">
                                  <p:stCondLst>
                                    <p:cond delay="0"/>
                                  </p:stCondLst>
                                  <p:childTnLst>
                                    <p:set>
                                      <p:cBhvr>
                                        <p:cTn id="38" dur="1" fill="hold">
                                          <p:stCondLst>
                                            <p:cond delay="0"/>
                                          </p:stCondLst>
                                        </p:cTn>
                                        <p:tgtEl>
                                          <p:spTgt spid="136214"/>
                                        </p:tgtEl>
                                        <p:attrNameLst>
                                          <p:attrName>style.visibility</p:attrName>
                                        </p:attrNameLst>
                                      </p:cBhvr>
                                      <p:to>
                                        <p:strVal val="visible"/>
                                      </p:to>
                                    </p:set>
                                    <p:animEffect transition="in" filter="wipe(left)">
                                      <p:cBhvr>
                                        <p:cTn id="39" dur="500"/>
                                        <p:tgtEl>
                                          <p:spTgt spid="136214"/>
                                        </p:tgtEl>
                                      </p:cBhvr>
                                    </p:animEffect>
                                  </p:childTnLst>
                                  <p:subTnLst>
                                    <p:set>
                                      <p:cBhvr override="childStyle">
                                        <p:cTn dur="1" fill="hold" display="0" masterRel="sameClick" afterEffect="1">
                                          <p:stCondLst>
                                            <p:cond evt="end" delay="0">
                                              <p:tn val="37"/>
                                            </p:cond>
                                          </p:stCondLst>
                                        </p:cTn>
                                        <p:tgtEl>
                                          <p:spTgt spid="136214"/>
                                        </p:tgtEl>
                                        <p:attrNameLst>
                                          <p:attrName>style.visibility</p:attrName>
                                        </p:attrNameLst>
                                      </p:cBhvr>
                                      <p:to>
                                        <p:strVal val="hidden"/>
                                      </p:to>
                                    </p:set>
                                  </p:subTnLst>
                                </p:cTn>
                              </p:par>
                            </p:childTnLst>
                          </p:cTn>
                        </p:par>
                        <p:par>
                          <p:cTn id="40" fill="hold">
                            <p:stCondLst>
                              <p:cond delay="4500"/>
                            </p:stCondLst>
                            <p:childTnLst>
                              <p:par>
                                <p:cTn id="41" presetID="22" presetClass="entr" presetSubtype="8" fill="hold" grpId="0" nodeType="afterEffect">
                                  <p:stCondLst>
                                    <p:cond delay="0"/>
                                  </p:stCondLst>
                                  <p:childTnLst>
                                    <p:set>
                                      <p:cBhvr>
                                        <p:cTn id="42" dur="1" fill="hold">
                                          <p:stCondLst>
                                            <p:cond delay="0"/>
                                          </p:stCondLst>
                                        </p:cTn>
                                        <p:tgtEl>
                                          <p:spTgt spid="136215"/>
                                        </p:tgtEl>
                                        <p:attrNameLst>
                                          <p:attrName>style.visibility</p:attrName>
                                        </p:attrNameLst>
                                      </p:cBhvr>
                                      <p:to>
                                        <p:strVal val="visible"/>
                                      </p:to>
                                    </p:set>
                                    <p:animEffect transition="in" filter="wipe(left)">
                                      <p:cBhvr>
                                        <p:cTn id="43" dur="500"/>
                                        <p:tgtEl>
                                          <p:spTgt spid="136215"/>
                                        </p:tgtEl>
                                      </p:cBhvr>
                                    </p:animEffect>
                                  </p:childTnLst>
                                </p:cTn>
                              </p:par>
                            </p:childTnLst>
                          </p:cTn>
                        </p:par>
                        <p:par>
                          <p:cTn id="44" fill="hold">
                            <p:stCondLst>
                              <p:cond delay="5000"/>
                            </p:stCondLst>
                            <p:childTnLst>
                              <p:par>
                                <p:cTn id="45" presetID="22" presetClass="entr" presetSubtype="1" fill="hold" nodeType="afterEffect">
                                  <p:stCondLst>
                                    <p:cond delay="0"/>
                                  </p:stCondLst>
                                  <p:childTnLst>
                                    <p:set>
                                      <p:cBhvr>
                                        <p:cTn id="46" dur="1" fill="hold">
                                          <p:stCondLst>
                                            <p:cond delay="0"/>
                                          </p:stCondLst>
                                        </p:cTn>
                                        <p:tgtEl>
                                          <p:spTgt spid="136220"/>
                                        </p:tgtEl>
                                        <p:attrNameLst>
                                          <p:attrName>style.visibility</p:attrName>
                                        </p:attrNameLst>
                                      </p:cBhvr>
                                      <p:to>
                                        <p:strVal val="visible"/>
                                      </p:to>
                                    </p:set>
                                    <p:animEffect transition="in" filter="wipe(up)">
                                      <p:cBhvr>
                                        <p:cTn id="47" dur="500"/>
                                        <p:tgtEl>
                                          <p:spTgt spid="136220"/>
                                        </p:tgtEl>
                                      </p:cBhvr>
                                    </p:animEffect>
                                  </p:childTnLst>
                                </p:cTn>
                              </p:par>
                            </p:childTnLst>
                          </p:cTn>
                        </p:par>
                        <p:par>
                          <p:cTn id="48" fill="hold">
                            <p:stCondLst>
                              <p:cond delay="5500"/>
                            </p:stCondLst>
                            <p:childTnLst>
                              <p:par>
                                <p:cTn id="49" presetID="22" presetClass="entr" presetSubtype="8" fill="hold" grpId="0" nodeType="afterEffect">
                                  <p:stCondLst>
                                    <p:cond delay="0"/>
                                  </p:stCondLst>
                                  <p:childTnLst>
                                    <p:set>
                                      <p:cBhvr>
                                        <p:cTn id="50" dur="1" fill="hold">
                                          <p:stCondLst>
                                            <p:cond delay="0"/>
                                          </p:stCondLst>
                                        </p:cTn>
                                        <p:tgtEl>
                                          <p:spTgt spid="136217"/>
                                        </p:tgtEl>
                                        <p:attrNameLst>
                                          <p:attrName>style.visibility</p:attrName>
                                        </p:attrNameLst>
                                      </p:cBhvr>
                                      <p:to>
                                        <p:strVal val="visible"/>
                                      </p:to>
                                    </p:set>
                                    <p:animEffect transition="in" filter="wipe(left)">
                                      <p:cBhvr>
                                        <p:cTn id="51" dur="500"/>
                                        <p:tgtEl>
                                          <p:spTgt spid="136217"/>
                                        </p:tgtEl>
                                      </p:cBhvr>
                                    </p:animEffect>
                                  </p:childTnLst>
                                  <p:subTnLst>
                                    <p:set>
                                      <p:cBhvr override="childStyle">
                                        <p:cTn dur="1" fill="hold" display="0" masterRel="sameClick" afterEffect="1">
                                          <p:stCondLst>
                                            <p:cond evt="end" delay="0">
                                              <p:tn val="49"/>
                                            </p:cond>
                                          </p:stCondLst>
                                        </p:cTn>
                                        <p:tgtEl>
                                          <p:spTgt spid="136217"/>
                                        </p:tgtEl>
                                        <p:attrNameLst>
                                          <p:attrName>style.visibility</p:attrName>
                                        </p:attrNameLst>
                                      </p:cBhvr>
                                      <p:to>
                                        <p:strVal val="hidden"/>
                                      </p:to>
                                    </p:set>
                                  </p:subTnLst>
                                </p:cTn>
                              </p:par>
                            </p:childTnLst>
                          </p:cTn>
                        </p:par>
                        <p:par>
                          <p:cTn id="52" fill="hold">
                            <p:stCondLst>
                              <p:cond delay="6000"/>
                            </p:stCondLst>
                            <p:childTnLst>
                              <p:par>
                                <p:cTn id="53" presetID="22" presetClass="entr" presetSubtype="8" fill="hold" grpId="0" nodeType="afterEffect">
                                  <p:stCondLst>
                                    <p:cond delay="0"/>
                                  </p:stCondLst>
                                  <p:childTnLst>
                                    <p:set>
                                      <p:cBhvr>
                                        <p:cTn id="54" dur="1" fill="hold">
                                          <p:stCondLst>
                                            <p:cond delay="0"/>
                                          </p:stCondLst>
                                        </p:cTn>
                                        <p:tgtEl>
                                          <p:spTgt spid="136218"/>
                                        </p:tgtEl>
                                        <p:attrNameLst>
                                          <p:attrName>style.visibility</p:attrName>
                                        </p:attrNameLst>
                                      </p:cBhvr>
                                      <p:to>
                                        <p:strVal val="visible"/>
                                      </p:to>
                                    </p:set>
                                    <p:animEffect transition="in" filter="wipe(left)">
                                      <p:cBhvr>
                                        <p:cTn id="55" dur="500"/>
                                        <p:tgtEl>
                                          <p:spTgt spid="136218"/>
                                        </p:tgtEl>
                                      </p:cBhvr>
                                    </p:animEffect>
                                  </p:childTnLst>
                                  <p:subTnLst>
                                    <p:set>
                                      <p:cBhvr override="childStyle">
                                        <p:cTn dur="1" fill="hold" display="0" masterRel="sameClick" afterEffect="1">
                                          <p:stCondLst>
                                            <p:cond evt="end" delay="0">
                                              <p:tn val="53"/>
                                            </p:cond>
                                          </p:stCondLst>
                                        </p:cTn>
                                        <p:tgtEl>
                                          <p:spTgt spid="136218"/>
                                        </p:tgtEl>
                                        <p:attrNameLst>
                                          <p:attrName>style.visibility</p:attrName>
                                        </p:attrNameLst>
                                      </p:cBhvr>
                                      <p:to>
                                        <p:strVal val="hidden"/>
                                      </p:to>
                                    </p:set>
                                  </p:subTnLst>
                                </p:cTn>
                              </p:par>
                            </p:childTnLst>
                          </p:cTn>
                        </p:par>
                        <p:par>
                          <p:cTn id="56" fill="hold">
                            <p:stCondLst>
                              <p:cond delay="6500"/>
                            </p:stCondLst>
                            <p:childTnLst>
                              <p:par>
                                <p:cTn id="57" presetID="22" presetClass="entr" presetSubtype="8" fill="hold" grpId="0" nodeType="afterEffect">
                                  <p:stCondLst>
                                    <p:cond delay="0"/>
                                  </p:stCondLst>
                                  <p:childTnLst>
                                    <p:set>
                                      <p:cBhvr>
                                        <p:cTn id="58" dur="1" fill="hold">
                                          <p:stCondLst>
                                            <p:cond delay="0"/>
                                          </p:stCondLst>
                                        </p:cTn>
                                        <p:tgtEl>
                                          <p:spTgt spid="136219"/>
                                        </p:tgtEl>
                                        <p:attrNameLst>
                                          <p:attrName>style.visibility</p:attrName>
                                        </p:attrNameLst>
                                      </p:cBhvr>
                                      <p:to>
                                        <p:strVal val="visible"/>
                                      </p:to>
                                    </p:set>
                                    <p:animEffect transition="in" filter="wipe(left)">
                                      <p:cBhvr>
                                        <p:cTn id="59" dur="500"/>
                                        <p:tgtEl>
                                          <p:spTgt spid="136219"/>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36222"/>
                                        </p:tgtEl>
                                        <p:attrNameLst>
                                          <p:attrName>style.visibility</p:attrName>
                                        </p:attrNameLst>
                                      </p:cBhvr>
                                      <p:to>
                                        <p:strVal val="visible"/>
                                      </p:to>
                                    </p:set>
                                    <p:animEffect transition="in" filter="wipe(left)">
                                      <p:cBhvr>
                                        <p:cTn id="64" dur="500"/>
                                        <p:tgtEl>
                                          <p:spTgt spid="136222"/>
                                        </p:tgtEl>
                                      </p:cBhvr>
                                    </p:animEffect>
                                  </p:childTnLst>
                                </p:cTn>
                              </p:par>
                            </p:childTnLst>
                          </p:cTn>
                        </p:par>
                        <p:par>
                          <p:cTn id="65" fill="hold">
                            <p:stCondLst>
                              <p:cond delay="500"/>
                            </p:stCondLst>
                            <p:childTnLst>
                              <p:par>
                                <p:cTn id="66" presetID="22" presetClass="entr" presetSubtype="8" fill="hold" grpId="0" nodeType="afterEffect">
                                  <p:stCondLst>
                                    <p:cond delay="0"/>
                                  </p:stCondLst>
                                  <p:childTnLst>
                                    <p:set>
                                      <p:cBhvr>
                                        <p:cTn id="67" dur="1" fill="hold">
                                          <p:stCondLst>
                                            <p:cond delay="0"/>
                                          </p:stCondLst>
                                        </p:cTn>
                                        <p:tgtEl>
                                          <p:spTgt spid="136223"/>
                                        </p:tgtEl>
                                        <p:attrNameLst>
                                          <p:attrName>style.visibility</p:attrName>
                                        </p:attrNameLst>
                                      </p:cBhvr>
                                      <p:to>
                                        <p:strVal val="visible"/>
                                      </p:to>
                                    </p:set>
                                    <p:animEffect transition="in" filter="wipe(left)">
                                      <p:cBhvr>
                                        <p:cTn id="68" dur="500"/>
                                        <p:tgtEl>
                                          <p:spTgt spid="136223"/>
                                        </p:tgtEl>
                                      </p:cBhvr>
                                    </p:animEffect>
                                  </p:childTnLst>
                                </p:cTn>
                              </p:par>
                            </p:childTnLst>
                          </p:cTn>
                        </p:par>
                        <p:par>
                          <p:cTn id="69" fill="hold">
                            <p:stCondLst>
                              <p:cond delay="1000"/>
                            </p:stCondLst>
                            <p:childTnLst>
                              <p:par>
                                <p:cTn id="70" presetID="22" presetClass="entr" presetSubtype="8" fill="hold" grpId="0" nodeType="afterEffect">
                                  <p:stCondLst>
                                    <p:cond delay="0"/>
                                  </p:stCondLst>
                                  <p:childTnLst>
                                    <p:set>
                                      <p:cBhvr>
                                        <p:cTn id="71" dur="1" fill="hold">
                                          <p:stCondLst>
                                            <p:cond delay="0"/>
                                          </p:stCondLst>
                                        </p:cTn>
                                        <p:tgtEl>
                                          <p:spTgt spid="136224"/>
                                        </p:tgtEl>
                                        <p:attrNameLst>
                                          <p:attrName>style.visibility</p:attrName>
                                        </p:attrNameLst>
                                      </p:cBhvr>
                                      <p:to>
                                        <p:strVal val="visible"/>
                                      </p:to>
                                    </p:set>
                                    <p:animEffect transition="in" filter="wipe(left)">
                                      <p:cBhvr>
                                        <p:cTn id="72" dur="500"/>
                                        <p:tgtEl>
                                          <p:spTgt spid="136224"/>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5" fill="hold" grpId="0" nodeType="clickEffect">
                                  <p:stCondLst>
                                    <p:cond delay="0"/>
                                  </p:stCondLst>
                                  <p:childTnLst>
                                    <p:set>
                                      <p:cBhvr>
                                        <p:cTn id="76" dur="1" fill="hold">
                                          <p:stCondLst>
                                            <p:cond delay="0"/>
                                          </p:stCondLst>
                                        </p:cTn>
                                        <p:tgtEl>
                                          <p:spTgt spid="136225"/>
                                        </p:tgtEl>
                                        <p:attrNameLst>
                                          <p:attrName>style.visibility</p:attrName>
                                        </p:attrNameLst>
                                      </p:cBhvr>
                                      <p:to>
                                        <p:strVal val="visible"/>
                                      </p:to>
                                    </p:set>
                                    <p:animEffect transition="in" filter="blinds(vertical)">
                                      <p:cBhvr>
                                        <p:cTn id="77" dur="500"/>
                                        <p:tgtEl>
                                          <p:spTgt spid="136225"/>
                                        </p:tgtEl>
                                      </p:cBhvr>
                                    </p:animEffect>
                                  </p:childTnLst>
                                </p:cTn>
                              </p:par>
                            </p:childTnLst>
                          </p:cTn>
                        </p:par>
                      </p:childTnLst>
                    </p:cTn>
                  </p:par>
                  <p:par>
                    <p:cTn id="78" fill="hold">
                      <p:stCondLst>
                        <p:cond delay="indefinite"/>
                      </p:stCondLst>
                      <p:childTnLst>
                        <p:par>
                          <p:cTn id="79" fill="hold">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136233"/>
                                        </p:tgtEl>
                                        <p:attrNameLst>
                                          <p:attrName>style.visibility</p:attrName>
                                        </p:attrNameLst>
                                      </p:cBhvr>
                                      <p:to>
                                        <p:strVal val="visible"/>
                                      </p:to>
                                    </p:set>
                                    <p:animEffect transition="in" filter="dissolve">
                                      <p:cBhvr>
                                        <p:cTn id="82" dur="500"/>
                                        <p:tgtEl>
                                          <p:spTgt spid="136233"/>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1" fill="hold" nodeType="clickEffect">
                                  <p:stCondLst>
                                    <p:cond delay="0"/>
                                  </p:stCondLst>
                                  <p:childTnLst>
                                    <p:set>
                                      <p:cBhvr>
                                        <p:cTn id="86" dur="1" fill="hold">
                                          <p:stCondLst>
                                            <p:cond delay="0"/>
                                          </p:stCondLst>
                                        </p:cTn>
                                        <p:tgtEl>
                                          <p:spTgt spid="136227"/>
                                        </p:tgtEl>
                                        <p:attrNameLst>
                                          <p:attrName>style.visibility</p:attrName>
                                        </p:attrNameLst>
                                      </p:cBhvr>
                                      <p:to>
                                        <p:strVal val="visible"/>
                                      </p:to>
                                    </p:set>
                                    <p:animEffect transition="in" filter="wipe(up)">
                                      <p:cBhvr>
                                        <p:cTn id="87" dur="500"/>
                                        <p:tgtEl>
                                          <p:spTgt spid="136227"/>
                                        </p:tgtEl>
                                      </p:cBhvr>
                                    </p:animEffect>
                                  </p:childTnLst>
                                </p:cTn>
                              </p:par>
                            </p:childTnLst>
                          </p:cTn>
                        </p:par>
                        <p:par>
                          <p:cTn id="88" fill="hold">
                            <p:stCondLst>
                              <p:cond delay="500"/>
                            </p:stCondLst>
                            <p:childTnLst>
                              <p:par>
                                <p:cTn id="89" presetID="22" presetClass="entr" presetSubtype="8" fill="hold" grpId="0" nodeType="afterEffect">
                                  <p:stCondLst>
                                    <p:cond delay="0"/>
                                  </p:stCondLst>
                                  <p:childTnLst>
                                    <p:set>
                                      <p:cBhvr>
                                        <p:cTn id="90" dur="1" fill="hold">
                                          <p:stCondLst>
                                            <p:cond delay="0"/>
                                          </p:stCondLst>
                                        </p:cTn>
                                        <p:tgtEl>
                                          <p:spTgt spid="136226"/>
                                        </p:tgtEl>
                                        <p:attrNameLst>
                                          <p:attrName>style.visibility</p:attrName>
                                        </p:attrNameLst>
                                      </p:cBhvr>
                                      <p:to>
                                        <p:strVal val="visible"/>
                                      </p:to>
                                    </p:set>
                                    <p:animEffect transition="in" filter="wipe(left)">
                                      <p:cBhvr>
                                        <p:cTn id="91" dur="500"/>
                                        <p:tgtEl>
                                          <p:spTgt spid="136226"/>
                                        </p:tgtEl>
                                      </p:cBhvr>
                                    </p:animEffect>
                                  </p:childTnLst>
                                  <p:subTnLst>
                                    <p:set>
                                      <p:cBhvr override="childStyle">
                                        <p:cTn dur="1" fill="hold" display="0" masterRel="sameClick" afterEffect="1">
                                          <p:stCondLst>
                                            <p:cond evt="end" delay="0">
                                              <p:tn val="89"/>
                                            </p:cond>
                                          </p:stCondLst>
                                        </p:cTn>
                                        <p:tgtEl>
                                          <p:spTgt spid="136226"/>
                                        </p:tgtEl>
                                        <p:attrNameLst>
                                          <p:attrName>style.visibility</p:attrName>
                                        </p:attrNameLst>
                                      </p:cBhvr>
                                      <p:to>
                                        <p:strVal val="hidden"/>
                                      </p:to>
                                    </p:set>
                                  </p:subTnLst>
                                </p:cTn>
                              </p:par>
                            </p:childTnLst>
                          </p:cTn>
                        </p:par>
                        <p:par>
                          <p:cTn id="92" fill="hold">
                            <p:stCondLst>
                              <p:cond delay="1000"/>
                            </p:stCondLst>
                            <p:childTnLst>
                              <p:par>
                                <p:cTn id="93" presetID="22" presetClass="entr" presetSubtype="8" fill="hold" grpId="0" nodeType="afterEffect">
                                  <p:stCondLst>
                                    <p:cond delay="0"/>
                                  </p:stCondLst>
                                  <p:childTnLst>
                                    <p:set>
                                      <p:cBhvr>
                                        <p:cTn id="94" dur="1" fill="hold">
                                          <p:stCondLst>
                                            <p:cond delay="0"/>
                                          </p:stCondLst>
                                        </p:cTn>
                                        <p:tgtEl>
                                          <p:spTgt spid="136228"/>
                                        </p:tgtEl>
                                        <p:attrNameLst>
                                          <p:attrName>style.visibility</p:attrName>
                                        </p:attrNameLst>
                                      </p:cBhvr>
                                      <p:to>
                                        <p:strVal val="visible"/>
                                      </p:to>
                                    </p:set>
                                    <p:animEffect transition="in" filter="wipe(left)">
                                      <p:cBhvr>
                                        <p:cTn id="95" dur="500"/>
                                        <p:tgtEl>
                                          <p:spTgt spid="136228"/>
                                        </p:tgtEl>
                                      </p:cBhvr>
                                    </p:animEffect>
                                  </p:childTnLst>
                                  <p:subTnLst>
                                    <p:set>
                                      <p:cBhvr override="childStyle">
                                        <p:cTn dur="1" fill="hold" display="0" masterRel="sameClick" afterEffect="1">
                                          <p:stCondLst>
                                            <p:cond evt="end" delay="0">
                                              <p:tn val="93"/>
                                            </p:cond>
                                          </p:stCondLst>
                                        </p:cTn>
                                        <p:tgtEl>
                                          <p:spTgt spid="136228"/>
                                        </p:tgtEl>
                                        <p:attrNameLst>
                                          <p:attrName>style.visibility</p:attrName>
                                        </p:attrNameLst>
                                      </p:cBhvr>
                                      <p:to>
                                        <p:strVal val="hidden"/>
                                      </p:to>
                                    </p:set>
                                  </p:subTnLst>
                                </p:cTn>
                              </p:par>
                            </p:childTnLst>
                          </p:cTn>
                        </p:par>
                        <p:par>
                          <p:cTn id="96" fill="hold">
                            <p:stCondLst>
                              <p:cond delay="1500"/>
                            </p:stCondLst>
                            <p:childTnLst>
                              <p:par>
                                <p:cTn id="97" presetID="22" presetClass="entr" presetSubtype="8" fill="hold" grpId="0" nodeType="afterEffect">
                                  <p:stCondLst>
                                    <p:cond delay="0"/>
                                  </p:stCondLst>
                                  <p:childTnLst>
                                    <p:set>
                                      <p:cBhvr>
                                        <p:cTn id="98" dur="1" fill="hold">
                                          <p:stCondLst>
                                            <p:cond delay="0"/>
                                          </p:stCondLst>
                                        </p:cTn>
                                        <p:tgtEl>
                                          <p:spTgt spid="136229"/>
                                        </p:tgtEl>
                                        <p:attrNameLst>
                                          <p:attrName>style.visibility</p:attrName>
                                        </p:attrNameLst>
                                      </p:cBhvr>
                                      <p:to>
                                        <p:strVal val="visible"/>
                                      </p:to>
                                    </p:set>
                                    <p:animEffect transition="in" filter="wipe(left)">
                                      <p:cBhvr>
                                        <p:cTn id="99" dur="500"/>
                                        <p:tgtEl>
                                          <p:spTgt spid="136229"/>
                                        </p:tgtEl>
                                      </p:cBhvr>
                                    </p:animEffect>
                                  </p:childTnLst>
                                </p:cTn>
                              </p:par>
                            </p:childTnLst>
                          </p:cTn>
                        </p:par>
                        <p:par>
                          <p:cTn id="100" fill="hold">
                            <p:stCondLst>
                              <p:cond delay="2000"/>
                            </p:stCondLst>
                            <p:childTnLst>
                              <p:par>
                                <p:cTn id="101" presetID="22" presetClass="entr" presetSubtype="1" fill="hold" nodeType="afterEffect">
                                  <p:stCondLst>
                                    <p:cond delay="0"/>
                                  </p:stCondLst>
                                  <p:childTnLst>
                                    <p:set>
                                      <p:cBhvr>
                                        <p:cTn id="102" dur="1" fill="hold">
                                          <p:stCondLst>
                                            <p:cond delay="0"/>
                                          </p:stCondLst>
                                        </p:cTn>
                                        <p:tgtEl>
                                          <p:spTgt spid="136232"/>
                                        </p:tgtEl>
                                        <p:attrNameLst>
                                          <p:attrName>style.visibility</p:attrName>
                                        </p:attrNameLst>
                                      </p:cBhvr>
                                      <p:to>
                                        <p:strVal val="visible"/>
                                      </p:to>
                                    </p:set>
                                    <p:animEffect transition="in" filter="wipe(up)">
                                      <p:cBhvr>
                                        <p:cTn id="103" dur="500"/>
                                        <p:tgtEl>
                                          <p:spTgt spid="136232"/>
                                        </p:tgtEl>
                                      </p:cBhvr>
                                    </p:animEffect>
                                  </p:childTnLst>
                                </p:cTn>
                              </p:par>
                            </p:childTnLst>
                          </p:cTn>
                        </p:par>
                        <p:par>
                          <p:cTn id="104" fill="hold">
                            <p:stCondLst>
                              <p:cond delay="2500"/>
                            </p:stCondLst>
                            <p:childTnLst>
                              <p:par>
                                <p:cTn id="105" presetID="22" presetClass="entr" presetSubtype="8" fill="hold" grpId="0" nodeType="afterEffect">
                                  <p:stCondLst>
                                    <p:cond delay="0"/>
                                  </p:stCondLst>
                                  <p:childTnLst>
                                    <p:set>
                                      <p:cBhvr>
                                        <p:cTn id="106" dur="1" fill="hold">
                                          <p:stCondLst>
                                            <p:cond delay="0"/>
                                          </p:stCondLst>
                                        </p:cTn>
                                        <p:tgtEl>
                                          <p:spTgt spid="136207"/>
                                        </p:tgtEl>
                                        <p:attrNameLst>
                                          <p:attrName>style.visibility</p:attrName>
                                        </p:attrNameLst>
                                      </p:cBhvr>
                                      <p:to>
                                        <p:strVal val="visible"/>
                                      </p:to>
                                    </p:set>
                                    <p:animEffect transition="in" filter="wipe(left)">
                                      <p:cBhvr>
                                        <p:cTn id="107" dur="500"/>
                                        <p:tgtEl>
                                          <p:spTgt spid="136207"/>
                                        </p:tgtEl>
                                      </p:cBhvr>
                                    </p:animEffect>
                                  </p:childTnLst>
                                  <p:subTnLst>
                                    <p:set>
                                      <p:cBhvr override="childStyle">
                                        <p:cTn dur="1" fill="hold" display="0" masterRel="sameClick" afterEffect="1">
                                          <p:stCondLst>
                                            <p:cond evt="end" delay="0">
                                              <p:tn val="105"/>
                                            </p:cond>
                                          </p:stCondLst>
                                        </p:cTn>
                                        <p:tgtEl>
                                          <p:spTgt spid="136207"/>
                                        </p:tgtEl>
                                        <p:attrNameLst>
                                          <p:attrName>style.visibility</p:attrName>
                                        </p:attrNameLst>
                                      </p:cBhvr>
                                      <p:to>
                                        <p:strVal val="hidden"/>
                                      </p:to>
                                    </p:set>
                                  </p:subTnLst>
                                </p:cTn>
                              </p:par>
                            </p:childTnLst>
                          </p:cTn>
                        </p:par>
                        <p:par>
                          <p:cTn id="108" fill="hold">
                            <p:stCondLst>
                              <p:cond delay="3000"/>
                            </p:stCondLst>
                            <p:childTnLst>
                              <p:par>
                                <p:cTn id="109" presetID="22" presetClass="entr" presetSubtype="8" fill="hold" grpId="0" nodeType="afterEffect">
                                  <p:stCondLst>
                                    <p:cond delay="0"/>
                                  </p:stCondLst>
                                  <p:childTnLst>
                                    <p:set>
                                      <p:cBhvr>
                                        <p:cTn id="110" dur="1" fill="hold">
                                          <p:stCondLst>
                                            <p:cond delay="0"/>
                                          </p:stCondLst>
                                        </p:cTn>
                                        <p:tgtEl>
                                          <p:spTgt spid="136230"/>
                                        </p:tgtEl>
                                        <p:attrNameLst>
                                          <p:attrName>style.visibility</p:attrName>
                                        </p:attrNameLst>
                                      </p:cBhvr>
                                      <p:to>
                                        <p:strVal val="visible"/>
                                      </p:to>
                                    </p:set>
                                    <p:animEffect transition="in" filter="wipe(left)">
                                      <p:cBhvr>
                                        <p:cTn id="111" dur="500"/>
                                        <p:tgtEl>
                                          <p:spTgt spid="136230"/>
                                        </p:tgtEl>
                                      </p:cBhvr>
                                    </p:animEffect>
                                  </p:childTnLst>
                                  <p:subTnLst>
                                    <p:set>
                                      <p:cBhvr override="childStyle">
                                        <p:cTn dur="1" fill="hold" display="0" masterRel="sameClick" afterEffect="1">
                                          <p:stCondLst>
                                            <p:cond evt="end" delay="0">
                                              <p:tn val="109"/>
                                            </p:cond>
                                          </p:stCondLst>
                                        </p:cTn>
                                        <p:tgtEl>
                                          <p:spTgt spid="136230"/>
                                        </p:tgtEl>
                                        <p:attrNameLst>
                                          <p:attrName>style.visibility</p:attrName>
                                        </p:attrNameLst>
                                      </p:cBhvr>
                                      <p:to>
                                        <p:strVal val="hidden"/>
                                      </p:to>
                                    </p:set>
                                  </p:subTnLst>
                                </p:cTn>
                              </p:par>
                            </p:childTnLst>
                          </p:cTn>
                        </p:par>
                        <p:par>
                          <p:cTn id="112" fill="hold">
                            <p:stCondLst>
                              <p:cond delay="3500"/>
                            </p:stCondLst>
                            <p:childTnLst>
                              <p:par>
                                <p:cTn id="113" presetID="22" presetClass="entr" presetSubtype="8" fill="hold" grpId="0" nodeType="afterEffect">
                                  <p:stCondLst>
                                    <p:cond delay="0"/>
                                  </p:stCondLst>
                                  <p:childTnLst>
                                    <p:set>
                                      <p:cBhvr>
                                        <p:cTn id="114" dur="1" fill="hold">
                                          <p:stCondLst>
                                            <p:cond delay="0"/>
                                          </p:stCondLst>
                                        </p:cTn>
                                        <p:tgtEl>
                                          <p:spTgt spid="136231"/>
                                        </p:tgtEl>
                                        <p:attrNameLst>
                                          <p:attrName>style.visibility</p:attrName>
                                        </p:attrNameLst>
                                      </p:cBhvr>
                                      <p:to>
                                        <p:strVal val="visible"/>
                                      </p:to>
                                    </p:set>
                                    <p:animEffect transition="in" filter="wipe(left)">
                                      <p:cBhvr>
                                        <p:cTn id="115" dur="500"/>
                                        <p:tgtEl>
                                          <p:spTgt spid="136231"/>
                                        </p:tgtEl>
                                      </p:cBhvr>
                                    </p:animEffect>
                                  </p:childTnLst>
                                </p:cTn>
                              </p:par>
                            </p:childTnLst>
                          </p:cTn>
                        </p:par>
                      </p:childTnLst>
                    </p:cTn>
                  </p:par>
                  <p:par>
                    <p:cTn id="116" fill="hold">
                      <p:stCondLst>
                        <p:cond delay="indefinite"/>
                      </p:stCondLst>
                      <p:childTnLst>
                        <p:par>
                          <p:cTn id="117" fill="hold">
                            <p:stCondLst>
                              <p:cond delay="0"/>
                            </p:stCondLst>
                            <p:childTnLst>
                              <p:par>
                                <p:cTn id="118" presetID="9" presetClass="entr" presetSubtype="0" fill="hold" grpId="0" nodeType="clickEffect">
                                  <p:stCondLst>
                                    <p:cond delay="0"/>
                                  </p:stCondLst>
                                  <p:childTnLst>
                                    <p:set>
                                      <p:cBhvr>
                                        <p:cTn id="119" dur="1" fill="hold">
                                          <p:stCondLst>
                                            <p:cond delay="0"/>
                                          </p:stCondLst>
                                        </p:cTn>
                                        <p:tgtEl>
                                          <p:spTgt spid="136236"/>
                                        </p:tgtEl>
                                        <p:attrNameLst>
                                          <p:attrName>style.visibility</p:attrName>
                                        </p:attrNameLst>
                                      </p:cBhvr>
                                      <p:to>
                                        <p:strVal val="visible"/>
                                      </p:to>
                                    </p:set>
                                    <p:animEffect transition="in" filter="dissolve">
                                      <p:cBhvr>
                                        <p:cTn id="120" dur="500"/>
                                        <p:tgtEl>
                                          <p:spTgt spid="136236"/>
                                        </p:tgtEl>
                                      </p:cBhvr>
                                    </p:animEffect>
                                  </p:childTnLst>
                                </p:cTn>
                              </p:par>
                            </p:childTnLst>
                          </p:cTn>
                        </p:par>
                      </p:childTnLst>
                    </p:cTn>
                  </p:par>
                  <p:par>
                    <p:cTn id="121" fill="hold">
                      <p:stCondLst>
                        <p:cond delay="indefinite"/>
                      </p:stCondLst>
                      <p:childTnLst>
                        <p:par>
                          <p:cTn id="122" fill="hold">
                            <p:stCondLst>
                              <p:cond delay="0"/>
                            </p:stCondLst>
                            <p:childTnLst>
                              <p:par>
                                <p:cTn id="123" presetID="22" presetClass="entr" presetSubtype="8" fill="hold" grpId="0" nodeType="clickEffect">
                                  <p:stCondLst>
                                    <p:cond delay="0"/>
                                  </p:stCondLst>
                                  <p:childTnLst>
                                    <p:set>
                                      <p:cBhvr>
                                        <p:cTn id="124" dur="1" fill="hold">
                                          <p:stCondLst>
                                            <p:cond delay="0"/>
                                          </p:stCondLst>
                                        </p:cTn>
                                        <p:tgtEl>
                                          <p:spTgt spid="136234"/>
                                        </p:tgtEl>
                                        <p:attrNameLst>
                                          <p:attrName>style.visibility</p:attrName>
                                        </p:attrNameLst>
                                      </p:cBhvr>
                                      <p:to>
                                        <p:strVal val="visible"/>
                                      </p:to>
                                    </p:set>
                                    <p:animEffect transition="in" filter="wipe(left)">
                                      <p:cBhvr>
                                        <p:cTn id="125" dur="500"/>
                                        <p:tgtEl>
                                          <p:spTgt spid="136234"/>
                                        </p:tgtEl>
                                      </p:cBhvr>
                                    </p:animEffect>
                                  </p:childTnLst>
                                </p:cTn>
                              </p:par>
                            </p:childTnLst>
                          </p:cTn>
                        </p:par>
                        <p:par>
                          <p:cTn id="126" fill="hold">
                            <p:stCondLst>
                              <p:cond delay="500"/>
                            </p:stCondLst>
                            <p:childTnLst>
                              <p:par>
                                <p:cTn id="127" presetID="22" presetClass="entr" presetSubtype="8" fill="hold" grpId="0" nodeType="afterEffect">
                                  <p:stCondLst>
                                    <p:cond delay="0"/>
                                  </p:stCondLst>
                                  <p:childTnLst>
                                    <p:set>
                                      <p:cBhvr>
                                        <p:cTn id="128" dur="1" fill="hold">
                                          <p:stCondLst>
                                            <p:cond delay="0"/>
                                          </p:stCondLst>
                                        </p:cTn>
                                        <p:tgtEl>
                                          <p:spTgt spid="136235"/>
                                        </p:tgtEl>
                                        <p:attrNameLst>
                                          <p:attrName>style.visibility</p:attrName>
                                        </p:attrNameLst>
                                      </p:cBhvr>
                                      <p:to>
                                        <p:strVal val="visible"/>
                                      </p:to>
                                    </p:set>
                                    <p:animEffect transition="in" filter="wipe(left)">
                                      <p:cBhvr>
                                        <p:cTn id="129" dur="500"/>
                                        <p:tgtEl>
                                          <p:spTgt spid="136235"/>
                                        </p:tgtEl>
                                      </p:cBhvr>
                                    </p:animEffect>
                                  </p:childTnLst>
                                </p:cTn>
                              </p:par>
                            </p:childTnLst>
                          </p:cTn>
                        </p:par>
                        <p:par>
                          <p:cTn id="130" fill="hold">
                            <p:stCondLst>
                              <p:cond delay="1000"/>
                            </p:stCondLst>
                            <p:childTnLst>
                              <p:par>
                                <p:cTn id="131" presetID="22" presetClass="entr" presetSubtype="1" fill="hold" grpId="0" nodeType="afterEffect">
                                  <p:stCondLst>
                                    <p:cond delay="0"/>
                                  </p:stCondLst>
                                  <p:childTnLst>
                                    <p:set>
                                      <p:cBhvr>
                                        <p:cTn id="132" dur="1" fill="hold">
                                          <p:stCondLst>
                                            <p:cond delay="0"/>
                                          </p:stCondLst>
                                        </p:cTn>
                                        <p:tgtEl>
                                          <p:spTgt spid="136237"/>
                                        </p:tgtEl>
                                        <p:attrNameLst>
                                          <p:attrName>style.visibility</p:attrName>
                                        </p:attrNameLst>
                                      </p:cBhvr>
                                      <p:to>
                                        <p:strVal val="visible"/>
                                      </p:to>
                                    </p:set>
                                    <p:animEffect transition="in" filter="wipe(up)">
                                      <p:cBhvr>
                                        <p:cTn id="133" dur="500"/>
                                        <p:tgtEl>
                                          <p:spTgt spid="1362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207" grpId="0" animBg="1"/>
      <p:bldP spid="136208" grpId="0" animBg="1"/>
      <p:bldP spid="136209" grpId="0" animBg="1"/>
      <p:bldP spid="136210" grpId="0" animBg="1"/>
      <p:bldP spid="136211" grpId="0" animBg="1"/>
      <p:bldP spid="136213" grpId="0" animBg="1"/>
      <p:bldP spid="136214" grpId="0" animBg="1"/>
      <p:bldP spid="136215" grpId="0" animBg="1"/>
      <p:bldP spid="136217" grpId="0" animBg="1"/>
      <p:bldP spid="136218" grpId="0" animBg="1"/>
      <p:bldP spid="136219" grpId="0" animBg="1"/>
      <p:bldP spid="136221" grpId="0" animBg="1"/>
      <p:bldP spid="136222" grpId="0" animBg="1"/>
      <p:bldP spid="136223" grpId="0" animBg="1"/>
      <p:bldP spid="136224" grpId="0" animBg="1"/>
      <p:bldP spid="136225" grpId="0" animBg="1"/>
      <p:bldP spid="136226" grpId="0" animBg="1"/>
      <p:bldP spid="136228" grpId="0" animBg="1"/>
      <p:bldP spid="136229" grpId="0" animBg="1"/>
      <p:bldP spid="136230" grpId="0" animBg="1"/>
      <p:bldP spid="136231" grpId="0" animBg="1"/>
      <p:bldP spid="136233" grpId="0" animBg="1"/>
      <p:bldP spid="136234" grpId="0" animBg="1"/>
      <p:bldP spid="136235" grpId="0" animBg="1"/>
      <p:bldP spid="136236" grpId="0" animBg="1"/>
      <p:bldP spid="13623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页脚占位符 3"/>
          <p:cNvSpPr txBox="1">
            <a:spLocks noGrp="1"/>
          </p:cNvSpPr>
          <p:nvPr>
            <p:ph type="ftr" sz="quarter" idx="11"/>
          </p:nvPr>
        </p:nvSpPr>
        <p:spPr>
          <a:xfrm>
            <a:off x="457200" y="6245225"/>
            <a:ext cx="2133600" cy="476250"/>
          </a:xfrm>
          <a:ln/>
        </p:spPr>
        <p:txBody>
          <a:bodyPr/>
          <a:p>
            <a:pPr marL="0" indent="0" eaLnBrk="1" hangingPunct="1">
              <a:spcBef>
                <a:spcPct val="0"/>
              </a:spcBef>
              <a:buClrTx/>
              <a:buFontTx/>
              <a:buNone/>
            </a:pPr>
            <a:fld id="{9A0DB2DC-4C9A-4742-B13C-FB6460FD3503}" type="slidenum">
              <a:rPr lang="en-US" altLang="zh-CN" sz="1400" dirty="0">
                <a:solidFill>
                  <a:schemeClr val="tx1"/>
                </a:solidFill>
                <a:ea typeface="宋体" panose="02010600030101010101" pitchFamily="2" charset="-122"/>
              </a:rPr>
            </a:fld>
            <a:endParaRPr lang="en-US" altLang="zh-CN" sz="1400" dirty="0">
              <a:solidFill>
                <a:schemeClr val="tx1"/>
              </a:solidFill>
              <a:ea typeface="宋体" panose="02010600030101010101" pitchFamily="2" charset="-122"/>
            </a:endParaRPr>
          </a:p>
        </p:txBody>
      </p:sp>
      <p:sp>
        <p:nvSpPr>
          <p:cNvPr id="137219" name="Rectangle 3"/>
          <p:cNvSpPr/>
          <p:nvPr/>
        </p:nvSpPr>
        <p:spPr>
          <a:xfrm>
            <a:off x="2149475" y="2622550"/>
            <a:ext cx="685800" cy="381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000" dirty="0">
                <a:ea typeface="宋体" panose="02010600030101010101" pitchFamily="2" charset="-122"/>
              </a:rPr>
              <a:t>M3</a:t>
            </a:r>
            <a:endParaRPr lang="en-US" altLang="zh-CN" sz="2000" dirty="0">
              <a:ea typeface="宋体" panose="02010600030101010101" pitchFamily="2" charset="-122"/>
            </a:endParaRPr>
          </a:p>
        </p:txBody>
      </p:sp>
      <p:sp>
        <p:nvSpPr>
          <p:cNvPr id="137220" name="Rectangle 4"/>
          <p:cNvSpPr/>
          <p:nvPr/>
        </p:nvSpPr>
        <p:spPr>
          <a:xfrm>
            <a:off x="3216275" y="3460750"/>
            <a:ext cx="685800" cy="381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000" dirty="0">
                <a:ea typeface="宋体" panose="02010600030101010101" pitchFamily="2" charset="-122"/>
              </a:rPr>
              <a:t>M6</a:t>
            </a:r>
            <a:endParaRPr lang="en-US" altLang="zh-CN" sz="2000" dirty="0">
              <a:ea typeface="宋体" panose="02010600030101010101" pitchFamily="2" charset="-122"/>
            </a:endParaRPr>
          </a:p>
        </p:txBody>
      </p:sp>
      <p:sp>
        <p:nvSpPr>
          <p:cNvPr id="137221" name="Rectangle 5"/>
          <p:cNvSpPr/>
          <p:nvPr/>
        </p:nvSpPr>
        <p:spPr>
          <a:xfrm>
            <a:off x="1082675" y="3460750"/>
            <a:ext cx="685800" cy="381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000" dirty="0">
                <a:ea typeface="宋体" panose="02010600030101010101" pitchFamily="2" charset="-122"/>
              </a:rPr>
              <a:t>M5</a:t>
            </a:r>
            <a:endParaRPr lang="en-US" altLang="zh-CN" sz="2000" dirty="0">
              <a:ea typeface="宋体" panose="02010600030101010101" pitchFamily="2" charset="-122"/>
            </a:endParaRPr>
          </a:p>
        </p:txBody>
      </p:sp>
      <p:sp>
        <p:nvSpPr>
          <p:cNvPr id="137222" name="Line 6"/>
          <p:cNvSpPr>
            <a:spLocks noChangeShapeType="1"/>
          </p:cNvSpPr>
          <p:nvPr/>
        </p:nvSpPr>
        <p:spPr bwMode="auto">
          <a:xfrm>
            <a:off x="1387475" y="3003550"/>
            <a:ext cx="0" cy="457200"/>
          </a:xfrm>
          <a:prstGeom prst="line">
            <a:avLst/>
          </a:prstGeom>
          <a:noFill/>
          <a:ln w="19050">
            <a:solidFill>
              <a:schemeClr val="tx1">
                <a:lumMod val="25000"/>
              </a:schemeClr>
            </a:solidFill>
            <a:rou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7223" name="Line 7"/>
          <p:cNvSpPr>
            <a:spLocks noChangeShapeType="1"/>
          </p:cNvSpPr>
          <p:nvPr/>
        </p:nvSpPr>
        <p:spPr bwMode="auto">
          <a:xfrm>
            <a:off x="3597275" y="3003550"/>
            <a:ext cx="0" cy="457200"/>
          </a:xfrm>
          <a:prstGeom prst="line">
            <a:avLst/>
          </a:prstGeom>
          <a:noFill/>
          <a:ln w="19050">
            <a:solidFill>
              <a:schemeClr val="tx1">
                <a:lumMod val="25000"/>
              </a:schemeClr>
            </a:solidFill>
            <a:rou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7224" name="Line 8"/>
          <p:cNvSpPr>
            <a:spLocks noChangeShapeType="1"/>
          </p:cNvSpPr>
          <p:nvPr/>
        </p:nvSpPr>
        <p:spPr bwMode="auto">
          <a:xfrm flipV="1">
            <a:off x="2454275" y="2089150"/>
            <a:ext cx="0" cy="533400"/>
          </a:xfrm>
          <a:prstGeom prst="line">
            <a:avLst/>
          </a:prstGeom>
          <a:noFill/>
          <a:ln w="9525">
            <a:solidFill>
              <a:schemeClr val="tx1">
                <a:lumMod val="25000"/>
              </a:schemeClr>
            </a:solidFill>
            <a:rou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7225" name="Rectangle 9"/>
          <p:cNvSpPr/>
          <p:nvPr/>
        </p:nvSpPr>
        <p:spPr>
          <a:xfrm>
            <a:off x="1082675" y="2622550"/>
            <a:ext cx="685800" cy="381000"/>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400" dirty="0">
                <a:solidFill>
                  <a:schemeClr val="tx1"/>
                </a:solidFill>
                <a:ea typeface="宋体" panose="02010600030101010101" pitchFamily="2" charset="-122"/>
              </a:rPr>
              <a:t>D1</a:t>
            </a:r>
            <a:endParaRPr lang="en-US" altLang="zh-CN" sz="2400" dirty="0">
              <a:solidFill>
                <a:schemeClr val="tx1"/>
              </a:solidFill>
              <a:ea typeface="宋体" panose="02010600030101010101" pitchFamily="2" charset="-122"/>
            </a:endParaRPr>
          </a:p>
        </p:txBody>
      </p:sp>
      <p:sp>
        <p:nvSpPr>
          <p:cNvPr id="137226" name="Rectangle 10"/>
          <p:cNvSpPr/>
          <p:nvPr/>
        </p:nvSpPr>
        <p:spPr>
          <a:xfrm>
            <a:off x="2149475" y="1784350"/>
            <a:ext cx="685800" cy="381000"/>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400" dirty="0">
                <a:solidFill>
                  <a:schemeClr val="tx1"/>
                </a:solidFill>
                <a:ea typeface="宋体" panose="02010600030101010101" pitchFamily="2" charset="-122"/>
              </a:rPr>
              <a:t>D2</a:t>
            </a:r>
            <a:endParaRPr lang="en-US" altLang="zh-CN" sz="2400" dirty="0">
              <a:solidFill>
                <a:schemeClr val="tx1"/>
              </a:solidFill>
              <a:ea typeface="宋体" panose="02010600030101010101" pitchFamily="2" charset="-122"/>
            </a:endParaRPr>
          </a:p>
        </p:txBody>
      </p:sp>
      <p:sp>
        <p:nvSpPr>
          <p:cNvPr id="137227" name="Rectangle 11"/>
          <p:cNvSpPr/>
          <p:nvPr/>
        </p:nvSpPr>
        <p:spPr>
          <a:xfrm>
            <a:off x="3216275" y="2622550"/>
            <a:ext cx="685800" cy="381000"/>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400" dirty="0">
                <a:solidFill>
                  <a:schemeClr val="tx1"/>
                </a:solidFill>
                <a:ea typeface="宋体" panose="02010600030101010101" pitchFamily="2" charset="-122"/>
              </a:rPr>
              <a:t>D3</a:t>
            </a:r>
            <a:endParaRPr lang="en-US" altLang="zh-CN" sz="2400" dirty="0">
              <a:solidFill>
                <a:schemeClr val="tx1"/>
              </a:solidFill>
              <a:ea typeface="宋体" panose="02010600030101010101" pitchFamily="2" charset="-122"/>
            </a:endParaRPr>
          </a:p>
        </p:txBody>
      </p:sp>
      <p:sp>
        <p:nvSpPr>
          <p:cNvPr id="137228" name="Rectangle 12"/>
          <p:cNvSpPr/>
          <p:nvPr/>
        </p:nvSpPr>
        <p:spPr>
          <a:xfrm>
            <a:off x="1082675" y="2622550"/>
            <a:ext cx="685800" cy="381000"/>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400" dirty="0">
                <a:solidFill>
                  <a:schemeClr val="tx1"/>
                </a:solidFill>
                <a:ea typeface="宋体" panose="02010600030101010101" pitchFamily="2" charset="-122"/>
              </a:rPr>
              <a:t>D1</a:t>
            </a:r>
            <a:endParaRPr lang="en-US" altLang="zh-CN" sz="2400" dirty="0">
              <a:solidFill>
                <a:schemeClr val="tx1"/>
              </a:solidFill>
              <a:ea typeface="宋体" panose="02010600030101010101" pitchFamily="2" charset="-122"/>
            </a:endParaRPr>
          </a:p>
        </p:txBody>
      </p:sp>
      <p:sp>
        <p:nvSpPr>
          <p:cNvPr id="137229" name="Rectangle 13"/>
          <p:cNvSpPr/>
          <p:nvPr/>
        </p:nvSpPr>
        <p:spPr>
          <a:xfrm>
            <a:off x="1082675" y="2622550"/>
            <a:ext cx="685800" cy="381000"/>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400" dirty="0">
                <a:solidFill>
                  <a:schemeClr val="tx1"/>
                </a:solidFill>
                <a:ea typeface="宋体" panose="02010600030101010101" pitchFamily="2" charset="-122"/>
              </a:rPr>
              <a:t>D1</a:t>
            </a:r>
            <a:endParaRPr lang="en-US" altLang="zh-CN" sz="2400" dirty="0">
              <a:solidFill>
                <a:schemeClr val="tx1"/>
              </a:solidFill>
              <a:ea typeface="宋体" panose="02010600030101010101" pitchFamily="2" charset="-122"/>
            </a:endParaRPr>
          </a:p>
        </p:txBody>
      </p:sp>
      <p:sp>
        <p:nvSpPr>
          <p:cNvPr id="137230" name="Rectangle 14"/>
          <p:cNvSpPr/>
          <p:nvPr/>
        </p:nvSpPr>
        <p:spPr>
          <a:xfrm>
            <a:off x="2149475" y="1784350"/>
            <a:ext cx="685800" cy="381000"/>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400" dirty="0">
                <a:solidFill>
                  <a:schemeClr val="tx1"/>
                </a:solidFill>
                <a:ea typeface="宋体" panose="02010600030101010101" pitchFamily="2" charset="-122"/>
              </a:rPr>
              <a:t>D2</a:t>
            </a:r>
            <a:endParaRPr lang="en-US" altLang="zh-CN" sz="2400" dirty="0">
              <a:solidFill>
                <a:schemeClr val="tx1"/>
              </a:solidFill>
              <a:ea typeface="宋体" panose="02010600030101010101" pitchFamily="2" charset="-122"/>
            </a:endParaRPr>
          </a:p>
        </p:txBody>
      </p:sp>
      <p:sp>
        <p:nvSpPr>
          <p:cNvPr id="137231" name="Rectangle 15"/>
          <p:cNvSpPr/>
          <p:nvPr/>
        </p:nvSpPr>
        <p:spPr>
          <a:xfrm>
            <a:off x="2149475" y="1784350"/>
            <a:ext cx="685800" cy="381000"/>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400" dirty="0">
                <a:solidFill>
                  <a:schemeClr val="tx1"/>
                </a:solidFill>
                <a:ea typeface="宋体" panose="02010600030101010101" pitchFamily="2" charset="-122"/>
              </a:rPr>
              <a:t>D2</a:t>
            </a:r>
            <a:endParaRPr lang="en-US" altLang="zh-CN" sz="2400" dirty="0">
              <a:solidFill>
                <a:schemeClr val="tx1"/>
              </a:solidFill>
              <a:ea typeface="宋体" panose="02010600030101010101" pitchFamily="2" charset="-122"/>
            </a:endParaRPr>
          </a:p>
        </p:txBody>
      </p:sp>
      <p:sp>
        <p:nvSpPr>
          <p:cNvPr id="137232" name="Rectangle 16"/>
          <p:cNvSpPr/>
          <p:nvPr/>
        </p:nvSpPr>
        <p:spPr>
          <a:xfrm>
            <a:off x="3216275" y="2622550"/>
            <a:ext cx="685800" cy="381000"/>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400" dirty="0">
                <a:solidFill>
                  <a:schemeClr val="tx1"/>
                </a:solidFill>
                <a:ea typeface="宋体" panose="02010600030101010101" pitchFamily="2" charset="-122"/>
              </a:rPr>
              <a:t>D3</a:t>
            </a:r>
            <a:endParaRPr lang="en-US" altLang="zh-CN" sz="2400" dirty="0">
              <a:solidFill>
                <a:schemeClr val="tx1"/>
              </a:solidFill>
              <a:ea typeface="宋体" panose="02010600030101010101" pitchFamily="2" charset="-122"/>
            </a:endParaRPr>
          </a:p>
        </p:txBody>
      </p:sp>
      <p:sp>
        <p:nvSpPr>
          <p:cNvPr id="137233" name="Rectangle 17"/>
          <p:cNvSpPr/>
          <p:nvPr/>
        </p:nvSpPr>
        <p:spPr>
          <a:xfrm>
            <a:off x="3216275" y="2622550"/>
            <a:ext cx="685800" cy="381000"/>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400" dirty="0">
                <a:solidFill>
                  <a:schemeClr val="tx1"/>
                </a:solidFill>
                <a:ea typeface="宋体" panose="02010600030101010101" pitchFamily="2" charset="-122"/>
              </a:rPr>
              <a:t>D3</a:t>
            </a:r>
            <a:endParaRPr lang="en-US" altLang="zh-CN" sz="2400" dirty="0">
              <a:solidFill>
                <a:schemeClr val="tx1"/>
              </a:solidFill>
              <a:ea typeface="宋体" panose="02010600030101010101" pitchFamily="2" charset="-122"/>
            </a:endParaRPr>
          </a:p>
        </p:txBody>
      </p:sp>
      <p:sp>
        <p:nvSpPr>
          <p:cNvPr id="137234" name="Rectangle 18"/>
          <p:cNvSpPr/>
          <p:nvPr/>
        </p:nvSpPr>
        <p:spPr>
          <a:xfrm>
            <a:off x="1082675" y="2622550"/>
            <a:ext cx="685800" cy="381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000" dirty="0">
                <a:ea typeface="宋体" panose="02010600030101010101" pitchFamily="2" charset="-122"/>
              </a:rPr>
              <a:t>M2</a:t>
            </a:r>
            <a:endParaRPr lang="en-US" altLang="zh-CN" sz="2000" dirty="0">
              <a:ea typeface="宋体" panose="02010600030101010101" pitchFamily="2" charset="-122"/>
            </a:endParaRPr>
          </a:p>
        </p:txBody>
      </p:sp>
      <p:sp>
        <p:nvSpPr>
          <p:cNvPr id="137235" name="Rectangle 19"/>
          <p:cNvSpPr/>
          <p:nvPr/>
        </p:nvSpPr>
        <p:spPr>
          <a:xfrm>
            <a:off x="3216275" y="2622550"/>
            <a:ext cx="685800" cy="381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000" dirty="0">
                <a:ea typeface="宋体" panose="02010600030101010101" pitchFamily="2" charset="-122"/>
              </a:rPr>
              <a:t>M4</a:t>
            </a:r>
            <a:endParaRPr lang="en-US" altLang="zh-CN" sz="2000" dirty="0">
              <a:ea typeface="宋体" panose="02010600030101010101" pitchFamily="2" charset="-122"/>
            </a:endParaRPr>
          </a:p>
        </p:txBody>
      </p:sp>
      <p:sp>
        <p:nvSpPr>
          <p:cNvPr id="137236" name="Line 20"/>
          <p:cNvSpPr>
            <a:spLocks noChangeShapeType="1"/>
          </p:cNvSpPr>
          <p:nvPr/>
        </p:nvSpPr>
        <p:spPr bwMode="auto">
          <a:xfrm flipV="1">
            <a:off x="1387475" y="2165350"/>
            <a:ext cx="838200" cy="457200"/>
          </a:xfrm>
          <a:prstGeom prst="line">
            <a:avLst/>
          </a:prstGeom>
          <a:noFill/>
          <a:ln w="19050">
            <a:solidFill>
              <a:schemeClr val="tx1">
                <a:lumMod val="25000"/>
              </a:schemeClr>
            </a:solidFill>
            <a:rou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7237" name="Line 21"/>
          <p:cNvSpPr>
            <a:spLocks noChangeShapeType="1"/>
          </p:cNvSpPr>
          <p:nvPr/>
        </p:nvSpPr>
        <p:spPr bwMode="auto">
          <a:xfrm flipH="1" flipV="1">
            <a:off x="2759075" y="2165350"/>
            <a:ext cx="838200" cy="457200"/>
          </a:xfrm>
          <a:prstGeom prst="line">
            <a:avLst/>
          </a:prstGeom>
          <a:noFill/>
          <a:ln w="19050">
            <a:solidFill>
              <a:schemeClr val="tx1">
                <a:lumMod val="25000"/>
              </a:schemeClr>
            </a:solidFill>
            <a:rou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7239" name="Rectangle 23"/>
          <p:cNvSpPr/>
          <p:nvPr/>
        </p:nvSpPr>
        <p:spPr>
          <a:xfrm>
            <a:off x="2149475" y="1784350"/>
            <a:ext cx="685800" cy="381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000" dirty="0">
                <a:ea typeface="宋体" panose="02010600030101010101" pitchFamily="2" charset="-122"/>
              </a:rPr>
              <a:t>M1</a:t>
            </a:r>
            <a:endParaRPr lang="en-US" altLang="zh-CN" sz="2000" dirty="0">
              <a:ea typeface="宋体" panose="02010600030101010101" pitchFamily="2" charset="-122"/>
            </a:endParaRPr>
          </a:p>
        </p:txBody>
      </p:sp>
      <p:sp>
        <p:nvSpPr>
          <p:cNvPr id="137240" name="Text Box 24"/>
          <p:cNvSpPr txBox="1"/>
          <p:nvPr/>
        </p:nvSpPr>
        <p:spPr>
          <a:xfrm>
            <a:off x="5029200" y="5429250"/>
            <a:ext cx="3752850" cy="1016000"/>
          </a:xfrm>
          <a:prstGeom prst="rect">
            <a:avLst/>
          </a:prstGeom>
          <a:noFill/>
          <a:ln w="38100" cap="flat" cmpd="sng">
            <a:solidFill>
              <a:schemeClr val="tx2"/>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just" eaLnBrk="1" hangingPunct="1">
              <a:spcBef>
                <a:spcPct val="50000"/>
              </a:spcBef>
              <a:buClrTx/>
              <a:buFontTx/>
              <a:buNone/>
            </a:pPr>
            <a:r>
              <a:rPr lang="zh-CN" altLang="en-US" sz="2000" dirty="0">
                <a:solidFill>
                  <a:srgbClr val="000000"/>
                </a:solidFill>
                <a:ea typeface="楷体_GB2312" pitchFamily="49" charset="-122"/>
              </a:rPr>
              <a:t>第四步，把已测试的子系统按程序结构连接起来完成程序整体的组装测试。</a:t>
            </a:r>
            <a:endParaRPr lang="zh-CN" altLang="en-US" sz="2000" dirty="0">
              <a:solidFill>
                <a:srgbClr val="000000"/>
              </a:solidFill>
              <a:ea typeface="楷体_GB2312" pitchFamily="49" charset="-122"/>
            </a:endParaRPr>
          </a:p>
        </p:txBody>
      </p:sp>
      <p:sp>
        <p:nvSpPr>
          <p:cNvPr id="137241" name="Line 25"/>
          <p:cNvSpPr>
            <a:spLocks noChangeShapeType="1"/>
          </p:cNvSpPr>
          <p:nvPr/>
        </p:nvSpPr>
        <p:spPr bwMode="auto">
          <a:xfrm flipV="1">
            <a:off x="1387475" y="2165350"/>
            <a:ext cx="0" cy="457200"/>
          </a:xfrm>
          <a:prstGeom prst="line">
            <a:avLst/>
          </a:prstGeom>
          <a:noFill/>
          <a:ln w="19050">
            <a:solidFill>
              <a:schemeClr val="tx1">
                <a:lumMod val="25000"/>
              </a:schemeClr>
            </a:solidFill>
            <a:rou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7242" name="Rectangle 26"/>
          <p:cNvSpPr/>
          <p:nvPr/>
        </p:nvSpPr>
        <p:spPr>
          <a:xfrm>
            <a:off x="1082675" y="1784350"/>
            <a:ext cx="685800" cy="381000"/>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400" dirty="0">
                <a:solidFill>
                  <a:schemeClr val="tx1"/>
                </a:solidFill>
                <a:ea typeface="宋体" panose="02010600030101010101" pitchFamily="2" charset="-122"/>
              </a:rPr>
              <a:t>D4</a:t>
            </a:r>
            <a:endParaRPr lang="en-US" altLang="zh-CN" sz="2400" dirty="0">
              <a:solidFill>
                <a:schemeClr val="tx1"/>
              </a:solidFill>
              <a:ea typeface="宋体" panose="02010600030101010101" pitchFamily="2" charset="-122"/>
            </a:endParaRPr>
          </a:p>
        </p:txBody>
      </p:sp>
      <p:sp>
        <p:nvSpPr>
          <p:cNvPr id="137243" name="Rectangle 27"/>
          <p:cNvSpPr/>
          <p:nvPr/>
        </p:nvSpPr>
        <p:spPr>
          <a:xfrm>
            <a:off x="1082675" y="1784350"/>
            <a:ext cx="685800" cy="381000"/>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400" dirty="0">
                <a:solidFill>
                  <a:schemeClr val="tx1"/>
                </a:solidFill>
                <a:ea typeface="宋体" panose="02010600030101010101" pitchFamily="2" charset="-122"/>
              </a:rPr>
              <a:t>D4</a:t>
            </a:r>
            <a:endParaRPr lang="en-US" altLang="zh-CN" sz="2400" dirty="0">
              <a:solidFill>
                <a:schemeClr val="tx1"/>
              </a:solidFill>
              <a:ea typeface="宋体" panose="02010600030101010101" pitchFamily="2" charset="-122"/>
            </a:endParaRPr>
          </a:p>
        </p:txBody>
      </p:sp>
      <p:sp>
        <p:nvSpPr>
          <p:cNvPr id="137245" name="Line 29"/>
          <p:cNvSpPr>
            <a:spLocks noChangeShapeType="1"/>
          </p:cNvSpPr>
          <p:nvPr/>
        </p:nvSpPr>
        <p:spPr bwMode="auto">
          <a:xfrm flipV="1">
            <a:off x="3597275" y="2165350"/>
            <a:ext cx="0" cy="457200"/>
          </a:xfrm>
          <a:prstGeom prst="line">
            <a:avLst/>
          </a:prstGeom>
          <a:noFill/>
          <a:ln w="19050">
            <a:solidFill>
              <a:schemeClr val="tx1">
                <a:lumMod val="25000"/>
              </a:schemeClr>
            </a:solidFill>
            <a:rou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7246" name="Rectangle 30"/>
          <p:cNvSpPr/>
          <p:nvPr/>
        </p:nvSpPr>
        <p:spPr>
          <a:xfrm>
            <a:off x="3292475" y="1784350"/>
            <a:ext cx="685800" cy="381000"/>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400" dirty="0">
                <a:solidFill>
                  <a:schemeClr val="tx1"/>
                </a:solidFill>
                <a:ea typeface="宋体" panose="02010600030101010101" pitchFamily="2" charset="-122"/>
              </a:rPr>
              <a:t>D5</a:t>
            </a:r>
            <a:endParaRPr lang="en-US" altLang="zh-CN" sz="2400" dirty="0">
              <a:solidFill>
                <a:schemeClr val="tx1"/>
              </a:solidFill>
              <a:ea typeface="宋体" panose="02010600030101010101" pitchFamily="2" charset="-122"/>
            </a:endParaRPr>
          </a:p>
        </p:txBody>
      </p:sp>
      <p:sp>
        <p:nvSpPr>
          <p:cNvPr id="137247" name="Rectangle 31"/>
          <p:cNvSpPr/>
          <p:nvPr/>
        </p:nvSpPr>
        <p:spPr>
          <a:xfrm>
            <a:off x="3292475" y="1784350"/>
            <a:ext cx="685800" cy="381000"/>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400" dirty="0">
                <a:solidFill>
                  <a:schemeClr val="tx1"/>
                </a:solidFill>
                <a:ea typeface="宋体" panose="02010600030101010101" pitchFamily="2" charset="-122"/>
              </a:rPr>
              <a:t>D5</a:t>
            </a:r>
            <a:endParaRPr lang="en-US" altLang="zh-CN" sz="2400" dirty="0">
              <a:solidFill>
                <a:schemeClr val="tx1"/>
              </a:solidFill>
              <a:ea typeface="宋体" panose="02010600030101010101" pitchFamily="2" charset="-122"/>
            </a:endParaRPr>
          </a:p>
        </p:txBody>
      </p:sp>
      <p:sp>
        <p:nvSpPr>
          <p:cNvPr id="137248" name="Rectangle 32"/>
          <p:cNvSpPr/>
          <p:nvPr/>
        </p:nvSpPr>
        <p:spPr>
          <a:xfrm>
            <a:off x="3292475" y="1784350"/>
            <a:ext cx="685800" cy="381000"/>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000" dirty="0">
                <a:solidFill>
                  <a:schemeClr val="tx1"/>
                </a:solidFill>
                <a:ea typeface="宋体" panose="02010600030101010101" pitchFamily="2" charset="-122"/>
              </a:rPr>
              <a:t>D5</a:t>
            </a:r>
            <a:endParaRPr lang="en-US" altLang="zh-CN" sz="2000" dirty="0">
              <a:solidFill>
                <a:schemeClr val="tx1"/>
              </a:solidFill>
              <a:ea typeface="宋体" panose="02010600030101010101" pitchFamily="2" charset="-122"/>
            </a:endParaRPr>
          </a:p>
        </p:txBody>
      </p:sp>
      <p:sp>
        <p:nvSpPr>
          <p:cNvPr id="137249" name="AutoShape 33"/>
          <p:cNvSpPr/>
          <p:nvPr/>
        </p:nvSpPr>
        <p:spPr>
          <a:xfrm rot="-5393699">
            <a:off x="-79375" y="2833688"/>
            <a:ext cx="1501775" cy="195262"/>
          </a:xfrm>
          <a:prstGeom prst="notchedRightArrow">
            <a:avLst>
              <a:gd name="adj1" fmla="val 50000"/>
              <a:gd name="adj2" fmla="val 192276"/>
            </a:avLst>
          </a:prstGeom>
          <a:solidFill>
            <a:srgbClr val="92D05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25632" name="Rectangle 34"/>
          <p:cNvSpPr/>
          <p:nvPr/>
        </p:nvSpPr>
        <p:spPr>
          <a:xfrm>
            <a:off x="6019800" y="1901825"/>
            <a:ext cx="685800" cy="381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000" dirty="0">
                <a:ea typeface="宋体" panose="02010600030101010101" pitchFamily="2" charset="-122"/>
              </a:rPr>
              <a:t>M1</a:t>
            </a:r>
            <a:endParaRPr lang="en-US" altLang="zh-CN" sz="2000" dirty="0">
              <a:ea typeface="宋体" panose="02010600030101010101" pitchFamily="2" charset="-122"/>
            </a:endParaRPr>
          </a:p>
        </p:txBody>
      </p:sp>
      <p:sp>
        <p:nvSpPr>
          <p:cNvPr id="25633" name="Rectangle 35"/>
          <p:cNvSpPr/>
          <p:nvPr/>
        </p:nvSpPr>
        <p:spPr>
          <a:xfrm>
            <a:off x="7046913" y="2659063"/>
            <a:ext cx="685800" cy="381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000" dirty="0">
                <a:ea typeface="宋体" panose="02010600030101010101" pitchFamily="2" charset="-122"/>
              </a:rPr>
              <a:t>M4</a:t>
            </a:r>
            <a:endParaRPr lang="en-US" altLang="zh-CN" sz="2000" dirty="0">
              <a:ea typeface="宋体" panose="02010600030101010101" pitchFamily="2" charset="-122"/>
            </a:endParaRPr>
          </a:p>
        </p:txBody>
      </p:sp>
      <p:sp>
        <p:nvSpPr>
          <p:cNvPr id="25634" name="Rectangle 36"/>
          <p:cNvSpPr/>
          <p:nvPr/>
        </p:nvSpPr>
        <p:spPr>
          <a:xfrm>
            <a:off x="6019800" y="2659063"/>
            <a:ext cx="685800" cy="381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000" dirty="0">
                <a:ea typeface="宋体" panose="02010600030101010101" pitchFamily="2" charset="-122"/>
              </a:rPr>
              <a:t>M3</a:t>
            </a:r>
            <a:endParaRPr lang="en-US" altLang="zh-CN" sz="2000" dirty="0">
              <a:ea typeface="宋体" panose="02010600030101010101" pitchFamily="2" charset="-122"/>
            </a:endParaRPr>
          </a:p>
        </p:txBody>
      </p:sp>
      <p:sp>
        <p:nvSpPr>
          <p:cNvPr id="25635" name="Rectangle 37"/>
          <p:cNvSpPr/>
          <p:nvPr/>
        </p:nvSpPr>
        <p:spPr>
          <a:xfrm>
            <a:off x="4953000" y="2659063"/>
            <a:ext cx="685800" cy="381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000" dirty="0">
                <a:ea typeface="宋体" panose="02010600030101010101" pitchFamily="2" charset="-122"/>
              </a:rPr>
              <a:t>M2</a:t>
            </a:r>
            <a:endParaRPr lang="en-US" altLang="zh-CN" sz="2000" dirty="0">
              <a:ea typeface="宋体" panose="02010600030101010101" pitchFamily="2" charset="-122"/>
            </a:endParaRPr>
          </a:p>
        </p:txBody>
      </p:sp>
      <p:sp>
        <p:nvSpPr>
          <p:cNvPr id="26660" name="Line 38"/>
          <p:cNvSpPr>
            <a:spLocks noChangeShapeType="1"/>
          </p:cNvSpPr>
          <p:nvPr/>
        </p:nvSpPr>
        <p:spPr bwMode="auto">
          <a:xfrm flipH="1">
            <a:off x="6324600" y="2282825"/>
            <a:ext cx="0" cy="355600"/>
          </a:xfrm>
          <a:prstGeom prst="line">
            <a:avLst/>
          </a:prstGeom>
          <a:noFill/>
          <a:ln w="19050">
            <a:solidFill>
              <a:schemeClr val="tx1">
                <a:lumMod val="25000"/>
              </a:schemeClr>
            </a:solidFill>
            <a:rou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661" name="Line 39"/>
          <p:cNvSpPr>
            <a:spLocks noChangeShapeType="1"/>
          </p:cNvSpPr>
          <p:nvPr/>
        </p:nvSpPr>
        <p:spPr bwMode="auto">
          <a:xfrm flipV="1">
            <a:off x="5319713" y="2282825"/>
            <a:ext cx="776288" cy="376238"/>
          </a:xfrm>
          <a:prstGeom prst="line">
            <a:avLst/>
          </a:prstGeom>
          <a:noFill/>
          <a:ln w="19050">
            <a:solidFill>
              <a:schemeClr val="tx1">
                <a:lumMod val="25000"/>
              </a:schemeClr>
            </a:solidFill>
            <a:rou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662" name="Line 40"/>
          <p:cNvSpPr>
            <a:spLocks noChangeShapeType="1"/>
          </p:cNvSpPr>
          <p:nvPr/>
        </p:nvSpPr>
        <p:spPr bwMode="auto">
          <a:xfrm>
            <a:off x="6629400" y="2282825"/>
            <a:ext cx="757238" cy="374650"/>
          </a:xfrm>
          <a:prstGeom prst="line">
            <a:avLst/>
          </a:prstGeom>
          <a:noFill/>
          <a:ln w="19050">
            <a:solidFill>
              <a:schemeClr val="tx1">
                <a:lumMod val="25000"/>
              </a:schemeClr>
            </a:solidFill>
            <a:rou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639" name="Rectangle 41"/>
          <p:cNvSpPr/>
          <p:nvPr/>
        </p:nvSpPr>
        <p:spPr>
          <a:xfrm>
            <a:off x="7086600" y="3435350"/>
            <a:ext cx="685800" cy="381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000" dirty="0">
                <a:ea typeface="宋体" panose="02010600030101010101" pitchFamily="2" charset="-122"/>
              </a:rPr>
              <a:t>M6</a:t>
            </a:r>
            <a:endParaRPr lang="en-US" altLang="zh-CN" sz="2000" dirty="0">
              <a:ea typeface="宋体" panose="02010600030101010101" pitchFamily="2" charset="-122"/>
            </a:endParaRPr>
          </a:p>
        </p:txBody>
      </p:sp>
      <p:sp>
        <p:nvSpPr>
          <p:cNvPr id="25640" name="Rectangle 42"/>
          <p:cNvSpPr/>
          <p:nvPr/>
        </p:nvSpPr>
        <p:spPr>
          <a:xfrm>
            <a:off x="4933950" y="3395663"/>
            <a:ext cx="685800" cy="381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2000" dirty="0">
                <a:ea typeface="宋体" panose="02010600030101010101" pitchFamily="2" charset="-122"/>
              </a:rPr>
              <a:t>M5</a:t>
            </a:r>
            <a:endParaRPr lang="en-US" altLang="zh-CN" sz="2000" dirty="0">
              <a:ea typeface="宋体" panose="02010600030101010101" pitchFamily="2" charset="-122"/>
            </a:endParaRPr>
          </a:p>
        </p:txBody>
      </p:sp>
      <p:sp>
        <p:nvSpPr>
          <p:cNvPr id="26665" name="Line 43"/>
          <p:cNvSpPr>
            <a:spLocks noChangeShapeType="1"/>
          </p:cNvSpPr>
          <p:nvPr/>
        </p:nvSpPr>
        <p:spPr bwMode="auto">
          <a:xfrm>
            <a:off x="5257800" y="3040063"/>
            <a:ext cx="0" cy="334963"/>
          </a:xfrm>
          <a:prstGeom prst="line">
            <a:avLst/>
          </a:prstGeom>
          <a:noFill/>
          <a:ln w="19050">
            <a:solidFill>
              <a:schemeClr val="tx1">
                <a:lumMod val="25000"/>
              </a:schemeClr>
            </a:solidFill>
            <a:rou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666" name="Line 44"/>
          <p:cNvSpPr>
            <a:spLocks noChangeShapeType="1"/>
          </p:cNvSpPr>
          <p:nvPr/>
        </p:nvSpPr>
        <p:spPr bwMode="auto">
          <a:xfrm>
            <a:off x="7427913" y="3060700"/>
            <a:ext cx="1588" cy="354013"/>
          </a:xfrm>
          <a:prstGeom prst="line">
            <a:avLst/>
          </a:prstGeom>
          <a:noFill/>
          <a:ln w="19050">
            <a:solidFill>
              <a:schemeClr val="tx1">
                <a:lumMod val="25000"/>
              </a:schemeClr>
            </a:solidFill>
            <a:rou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643" name="Text Box 45"/>
          <p:cNvSpPr txBox="1"/>
          <p:nvPr/>
        </p:nvSpPr>
        <p:spPr>
          <a:xfrm>
            <a:off x="8088313" y="1927225"/>
            <a:ext cx="492125" cy="1981200"/>
          </a:xfrm>
          <a:prstGeom prst="rect">
            <a:avLst/>
          </a:prstGeom>
          <a:noFill/>
          <a:ln w="9525">
            <a:noFill/>
          </a:ln>
        </p:spPr>
        <p:txBody>
          <a:bodyPr vert="eaVert">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50000"/>
              </a:spcBef>
              <a:buClrTx/>
              <a:buFontTx/>
              <a:buNone/>
            </a:pPr>
            <a:r>
              <a:rPr lang="zh-CN" altLang="en-US" sz="2000" dirty="0">
                <a:solidFill>
                  <a:srgbClr val="000000"/>
                </a:solidFill>
                <a:latin typeface="楷体_GB2312" pitchFamily="49" charset="-122"/>
                <a:ea typeface="楷体_GB2312" pitchFamily="49" charset="-122"/>
              </a:rPr>
              <a:t>程序模块示意图</a:t>
            </a:r>
            <a:endParaRPr lang="zh-CN" altLang="en-US" sz="1800" dirty="0">
              <a:solidFill>
                <a:srgbClr val="000000"/>
              </a:solidFill>
              <a:ea typeface="宋体" panose="02010600030101010101" pitchFamily="2" charset="-122"/>
            </a:endParaRPr>
          </a:p>
        </p:txBody>
      </p:sp>
      <p:sp>
        <p:nvSpPr>
          <p:cNvPr id="137262" name="Text Box 46"/>
          <p:cNvSpPr txBox="1"/>
          <p:nvPr/>
        </p:nvSpPr>
        <p:spPr>
          <a:xfrm>
            <a:off x="369888" y="4122738"/>
            <a:ext cx="4505325" cy="1016000"/>
          </a:xfrm>
          <a:prstGeom prst="rect">
            <a:avLst/>
          </a:prstGeom>
          <a:noFill/>
          <a:ln w="38100" cap="flat" cmpd="sng">
            <a:solidFill>
              <a:schemeClr val="tx2"/>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just" eaLnBrk="1" hangingPunct="1">
              <a:spcBef>
                <a:spcPct val="50000"/>
              </a:spcBef>
              <a:buClrTx/>
              <a:buFontTx/>
              <a:buNone/>
            </a:pPr>
            <a:r>
              <a:rPr lang="zh-CN" altLang="en-US" sz="2000" dirty="0">
                <a:solidFill>
                  <a:srgbClr val="000000"/>
                </a:solidFill>
                <a:ea typeface="楷体_GB2312" pitchFamily="49" charset="-122"/>
              </a:rPr>
              <a:t>第一步，对最底层的模块</a:t>
            </a:r>
            <a:r>
              <a:rPr lang="en-US" altLang="zh-CN" sz="2000" dirty="0">
                <a:solidFill>
                  <a:srgbClr val="000000"/>
                </a:solidFill>
                <a:ea typeface="楷体_GB2312" pitchFamily="49" charset="-122"/>
              </a:rPr>
              <a:t>M3、M5、M6</a:t>
            </a:r>
            <a:r>
              <a:rPr lang="zh-CN" altLang="en-US" sz="2000" dirty="0">
                <a:solidFill>
                  <a:srgbClr val="000000"/>
                </a:solidFill>
                <a:ea typeface="楷体_GB2312" pitchFamily="49" charset="-122"/>
              </a:rPr>
              <a:t>进行测试，设计驱动模块</a:t>
            </a:r>
            <a:r>
              <a:rPr lang="en-US" altLang="zh-CN" sz="2000" dirty="0">
                <a:solidFill>
                  <a:srgbClr val="000000"/>
                </a:solidFill>
                <a:ea typeface="楷体_GB2312" pitchFamily="49" charset="-122"/>
              </a:rPr>
              <a:t>D1、D2、D3</a:t>
            </a:r>
            <a:r>
              <a:rPr lang="zh-CN" altLang="en-US" sz="2000" dirty="0">
                <a:solidFill>
                  <a:srgbClr val="000000"/>
                </a:solidFill>
                <a:ea typeface="楷体_GB2312" pitchFamily="49" charset="-122"/>
              </a:rPr>
              <a:t>来模拟调用。</a:t>
            </a:r>
            <a:endParaRPr lang="zh-CN" altLang="en-US" sz="2000" dirty="0">
              <a:solidFill>
                <a:srgbClr val="000000"/>
              </a:solidFill>
              <a:ea typeface="楷体_GB2312" pitchFamily="49" charset="-122"/>
            </a:endParaRPr>
          </a:p>
        </p:txBody>
      </p:sp>
      <p:sp>
        <p:nvSpPr>
          <p:cNvPr id="137263" name="Text Box 47"/>
          <p:cNvSpPr txBox="1"/>
          <p:nvPr/>
        </p:nvSpPr>
        <p:spPr>
          <a:xfrm>
            <a:off x="406400" y="5441950"/>
            <a:ext cx="4476750" cy="1016000"/>
          </a:xfrm>
          <a:prstGeom prst="rect">
            <a:avLst/>
          </a:prstGeom>
          <a:noFill/>
          <a:ln w="38100" cap="flat" cmpd="sng">
            <a:solidFill>
              <a:schemeClr val="tx2"/>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just" eaLnBrk="1" hangingPunct="1">
              <a:spcBef>
                <a:spcPct val="50000"/>
              </a:spcBef>
              <a:buClrTx/>
              <a:buFontTx/>
              <a:buNone/>
            </a:pPr>
            <a:r>
              <a:rPr lang="zh-CN" altLang="en-US" sz="2000" dirty="0">
                <a:solidFill>
                  <a:srgbClr val="000000"/>
                </a:solidFill>
                <a:ea typeface="楷体_GB2312" pitchFamily="49" charset="-122"/>
              </a:rPr>
              <a:t>第三步，设计驱动模块</a:t>
            </a:r>
            <a:r>
              <a:rPr lang="en-US" altLang="zh-CN" sz="2000" dirty="0">
                <a:solidFill>
                  <a:srgbClr val="000000"/>
                </a:solidFill>
                <a:ea typeface="楷体_GB2312" pitchFamily="49" charset="-122"/>
              </a:rPr>
              <a:t>D4、D5 </a:t>
            </a:r>
            <a:r>
              <a:rPr lang="zh-CN" altLang="en-US" sz="2000" dirty="0">
                <a:solidFill>
                  <a:srgbClr val="000000"/>
                </a:solidFill>
                <a:ea typeface="楷体_GB2312" pitchFamily="49" charset="-122"/>
              </a:rPr>
              <a:t>模拟调用，分别对新子系统进行测试。</a:t>
            </a:r>
            <a:endParaRPr lang="en-US" altLang="zh-CN" sz="2000" dirty="0">
              <a:solidFill>
                <a:srgbClr val="000000"/>
              </a:solidFill>
              <a:ea typeface="楷体_GB2312" pitchFamily="49" charset="-122"/>
            </a:endParaRPr>
          </a:p>
          <a:p>
            <a:pPr marL="0" lvl="0" indent="0" algn="just" eaLnBrk="1" hangingPunct="1">
              <a:spcBef>
                <a:spcPct val="0"/>
              </a:spcBef>
              <a:buClrTx/>
              <a:buFontTx/>
              <a:buNone/>
            </a:pPr>
            <a:endParaRPr lang="zh-CN" altLang="en-US" sz="2000" dirty="0">
              <a:solidFill>
                <a:srgbClr val="000000"/>
              </a:solidFill>
              <a:ea typeface="楷体_GB2312" pitchFamily="49" charset="-122"/>
            </a:endParaRPr>
          </a:p>
        </p:txBody>
      </p:sp>
      <p:sp>
        <p:nvSpPr>
          <p:cNvPr id="137264" name="Text Box 48"/>
          <p:cNvSpPr txBox="1"/>
          <p:nvPr/>
        </p:nvSpPr>
        <p:spPr>
          <a:xfrm>
            <a:off x="5005388" y="4125913"/>
            <a:ext cx="3781425" cy="1016000"/>
          </a:xfrm>
          <a:prstGeom prst="rect">
            <a:avLst/>
          </a:prstGeom>
          <a:noFill/>
          <a:ln w="38100" cap="flat" cmpd="sng">
            <a:solidFill>
              <a:schemeClr val="tx2"/>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just" eaLnBrk="1" hangingPunct="1">
              <a:spcBef>
                <a:spcPct val="50000"/>
              </a:spcBef>
              <a:buClrTx/>
              <a:buFontTx/>
              <a:buNone/>
            </a:pPr>
            <a:r>
              <a:rPr lang="zh-CN" altLang="en-US" sz="2000" dirty="0">
                <a:solidFill>
                  <a:srgbClr val="000000"/>
                </a:solidFill>
                <a:ea typeface="楷体_GB2312" pitchFamily="49" charset="-122"/>
              </a:rPr>
              <a:t>第二步，用实际模块</a:t>
            </a:r>
            <a:r>
              <a:rPr lang="en-US" altLang="zh-CN" sz="2000" dirty="0">
                <a:solidFill>
                  <a:srgbClr val="000000"/>
                </a:solidFill>
                <a:ea typeface="楷体_GB2312" pitchFamily="49" charset="-122"/>
              </a:rPr>
              <a:t>M2、M1</a:t>
            </a:r>
            <a:r>
              <a:rPr lang="zh-CN" altLang="en-US" sz="2000" dirty="0">
                <a:solidFill>
                  <a:srgbClr val="000000"/>
                </a:solidFill>
                <a:ea typeface="楷体_GB2312" pitchFamily="49" charset="-122"/>
              </a:rPr>
              <a:t>和</a:t>
            </a:r>
            <a:r>
              <a:rPr lang="en-US" altLang="zh-CN" sz="2000" dirty="0">
                <a:solidFill>
                  <a:srgbClr val="000000"/>
                </a:solidFill>
                <a:ea typeface="楷体_GB2312" pitchFamily="49" charset="-122"/>
              </a:rPr>
              <a:t>M4</a:t>
            </a:r>
            <a:r>
              <a:rPr lang="zh-CN" altLang="en-US" sz="2000" dirty="0">
                <a:solidFill>
                  <a:srgbClr val="000000"/>
                </a:solidFill>
                <a:ea typeface="楷体_GB2312" pitchFamily="49" charset="-122"/>
              </a:rPr>
              <a:t>替换驱动模块</a:t>
            </a:r>
            <a:r>
              <a:rPr lang="en-US" altLang="zh-CN" sz="2000" dirty="0">
                <a:solidFill>
                  <a:srgbClr val="000000"/>
                </a:solidFill>
                <a:ea typeface="楷体_GB2312" pitchFamily="49" charset="-122"/>
              </a:rPr>
              <a:t>D1、D2、D3。 </a:t>
            </a:r>
            <a:endParaRPr lang="en-US" altLang="zh-CN" sz="2000" dirty="0">
              <a:solidFill>
                <a:srgbClr val="000000"/>
              </a:solidFill>
              <a:ea typeface="楷体_GB2312" pitchFamily="49" charset="-122"/>
            </a:endParaRPr>
          </a:p>
          <a:p>
            <a:pPr marL="0" lvl="0" indent="0" algn="just" eaLnBrk="1" hangingPunct="1">
              <a:spcBef>
                <a:spcPct val="0"/>
              </a:spcBef>
              <a:buClrTx/>
              <a:buFontTx/>
              <a:buNone/>
            </a:pPr>
            <a:r>
              <a:rPr lang="en-US" altLang="zh-CN" sz="2000" dirty="0">
                <a:solidFill>
                  <a:srgbClr val="000000"/>
                </a:solidFill>
                <a:ea typeface="楷体_GB2312" pitchFamily="49" charset="-122"/>
              </a:rPr>
              <a:t>  </a:t>
            </a:r>
            <a:endParaRPr lang="en-US" altLang="zh-CN" sz="2000" dirty="0">
              <a:solidFill>
                <a:srgbClr val="000000"/>
              </a:solidFill>
              <a:ea typeface="楷体_GB2312" pitchFamily="49" charset="-122"/>
            </a:endParaRPr>
          </a:p>
        </p:txBody>
      </p:sp>
      <p:sp>
        <p:nvSpPr>
          <p:cNvPr id="25647" name="Oval 53">
            <a:hlinkClick r:id="" action="ppaction://hlinkshowjump?jump=previousslide"/>
          </p:cNvPr>
          <p:cNvSpPr/>
          <p:nvPr/>
        </p:nvSpPr>
        <p:spPr>
          <a:xfrm>
            <a:off x="6470650" y="6402388"/>
            <a:ext cx="742950" cy="57150"/>
          </a:xfrm>
          <a:prstGeom prst="ellipse">
            <a:avLst/>
          </a:prstGeom>
          <a:noFill/>
          <a:ln w="9525">
            <a:noFill/>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25648" name="Text Box 50"/>
          <p:cNvSpPr txBox="1"/>
          <p:nvPr/>
        </p:nvSpPr>
        <p:spPr>
          <a:xfrm>
            <a:off x="357188" y="1214438"/>
            <a:ext cx="2989262" cy="4984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lnSpc>
                <a:spcPct val="120000"/>
              </a:lnSpc>
              <a:buSzPct val="80000"/>
              <a:buFontTx/>
              <a:buNone/>
            </a:pPr>
            <a:r>
              <a:rPr lang="en-US" altLang="zh-CN" sz="2200" b="1" dirty="0">
                <a:latin typeface="黑体" panose="02010609060101010101" pitchFamily="49" charset="-122"/>
                <a:ea typeface="黑体" panose="02010609060101010101" pitchFamily="49" charset="-122"/>
              </a:rPr>
              <a:t>2.</a:t>
            </a:r>
            <a:r>
              <a:rPr lang="zh-CN" altLang="en-US" sz="2200" b="1" dirty="0">
                <a:latin typeface="黑体" panose="02010609060101010101" pitchFamily="49" charset="-122"/>
                <a:ea typeface="黑体" panose="02010609060101010101" pitchFamily="49" charset="-122"/>
              </a:rPr>
              <a:t>自底而上集成</a:t>
            </a:r>
            <a:endParaRPr lang="zh-CN" altLang="en-US" sz="2200" b="1" dirty="0">
              <a:latin typeface="黑体" panose="02010609060101010101" pitchFamily="49" charset="-122"/>
              <a:ea typeface="黑体" panose="02010609060101010101" pitchFamily="49" charset="-122"/>
            </a:endParaRPr>
          </a:p>
        </p:txBody>
      </p:sp>
      <p:sp>
        <p:nvSpPr>
          <p:cNvPr id="25649"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37262"/>
                                        </p:tgtEl>
                                        <p:attrNameLst>
                                          <p:attrName>style.visibility</p:attrName>
                                        </p:attrNameLst>
                                      </p:cBhvr>
                                      <p:to>
                                        <p:strVal val="visible"/>
                                      </p:to>
                                    </p:set>
                                    <p:animEffect transition="in" filter="checkerboard(across)">
                                      <p:cBhvr>
                                        <p:cTn id="7" dur="500"/>
                                        <p:tgtEl>
                                          <p:spTgt spid="137262"/>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499"/>
                                          </p:stCondLst>
                                        </p:cTn>
                                        <p:tgtEl>
                                          <p:spTgt spid="137221"/>
                                        </p:tgtEl>
                                        <p:attrNameLst>
                                          <p:attrName>style.visibility</p:attrName>
                                        </p:attrNameLst>
                                      </p:cBhvr>
                                      <p:to>
                                        <p:strVal val="visible"/>
                                      </p:to>
                                    </p:set>
                                  </p:childTnLst>
                                </p:cTn>
                              </p:par>
                            </p:childTnLst>
                          </p:cTn>
                        </p:par>
                        <p:par>
                          <p:cTn id="11" fill="hold">
                            <p:stCondLst>
                              <p:cond delay="1000"/>
                            </p:stCondLst>
                            <p:childTnLst>
                              <p:par>
                                <p:cTn id="12" presetID="1" presetClass="entr" presetSubtype="0" fill="hold" grpId="0" nodeType="afterEffect">
                                  <p:stCondLst>
                                    <p:cond delay="0"/>
                                  </p:stCondLst>
                                  <p:childTnLst>
                                    <p:set>
                                      <p:cBhvr>
                                        <p:cTn id="13" dur="1" fill="hold">
                                          <p:stCondLst>
                                            <p:cond delay="499"/>
                                          </p:stCondLst>
                                        </p:cTn>
                                        <p:tgtEl>
                                          <p:spTgt spid="137219"/>
                                        </p:tgtEl>
                                        <p:attrNameLst>
                                          <p:attrName>style.visibility</p:attrName>
                                        </p:attrNameLst>
                                      </p:cBhvr>
                                      <p:to>
                                        <p:strVal val="visible"/>
                                      </p:to>
                                    </p:set>
                                  </p:childTnLst>
                                </p:cTn>
                              </p:par>
                            </p:childTnLst>
                          </p:cTn>
                        </p:par>
                        <p:par>
                          <p:cTn id="14" fill="hold">
                            <p:stCondLst>
                              <p:cond delay="1500"/>
                            </p:stCondLst>
                            <p:childTnLst>
                              <p:par>
                                <p:cTn id="15" presetID="1" presetClass="entr" presetSubtype="0" fill="hold" grpId="0" nodeType="afterEffect">
                                  <p:stCondLst>
                                    <p:cond delay="0"/>
                                  </p:stCondLst>
                                  <p:childTnLst>
                                    <p:set>
                                      <p:cBhvr>
                                        <p:cTn id="16" dur="1" fill="hold">
                                          <p:stCondLst>
                                            <p:cond delay="499"/>
                                          </p:stCondLst>
                                        </p:cTn>
                                        <p:tgtEl>
                                          <p:spTgt spid="13722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137222"/>
                                        </p:tgtEl>
                                        <p:attrNameLst>
                                          <p:attrName>style.visibility</p:attrName>
                                        </p:attrNameLst>
                                      </p:cBhvr>
                                      <p:to>
                                        <p:strVal val="visible"/>
                                      </p:to>
                                    </p:set>
                                    <p:animEffect transition="in" filter="wipe(down)">
                                      <p:cBhvr>
                                        <p:cTn id="21" dur="500"/>
                                        <p:tgtEl>
                                          <p:spTgt spid="137222"/>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137225"/>
                                        </p:tgtEl>
                                        <p:attrNameLst>
                                          <p:attrName>style.visibility</p:attrName>
                                        </p:attrNameLst>
                                      </p:cBhvr>
                                      <p:to>
                                        <p:strVal val="visible"/>
                                      </p:to>
                                    </p:set>
                                    <p:animEffect transition="in" filter="wipe(left)">
                                      <p:cBhvr>
                                        <p:cTn id="25" dur="500"/>
                                        <p:tgtEl>
                                          <p:spTgt spid="137225"/>
                                        </p:tgtEl>
                                      </p:cBhvr>
                                    </p:animEffect>
                                  </p:childTnLst>
                                  <p:subTnLst>
                                    <p:set>
                                      <p:cBhvr override="childStyle">
                                        <p:cTn dur="1" fill="hold" display="0" masterRel="sameClick" afterEffect="1">
                                          <p:stCondLst>
                                            <p:cond evt="end" delay="0">
                                              <p:tn val="23"/>
                                            </p:cond>
                                          </p:stCondLst>
                                        </p:cTn>
                                        <p:tgtEl>
                                          <p:spTgt spid="137225"/>
                                        </p:tgtEl>
                                        <p:attrNameLst>
                                          <p:attrName>style.visibility</p:attrName>
                                        </p:attrNameLst>
                                      </p:cBhvr>
                                      <p:to>
                                        <p:strVal val="hidden"/>
                                      </p:to>
                                    </p:set>
                                  </p:subTnLst>
                                </p:cTn>
                              </p:par>
                            </p:childTnLst>
                          </p:cTn>
                        </p:par>
                        <p:par>
                          <p:cTn id="26" fill="hold">
                            <p:stCondLst>
                              <p:cond delay="1000"/>
                            </p:stCondLst>
                            <p:childTnLst>
                              <p:par>
                                <p:cTn id="27" presetID="22" presetClass="entr" presetSubtype="8" fill="hold" grpId="0" nodeType="afterEffect">
                                  <p:stCondLst>
                                    <p:cond delay="0"/>
                                  </p:stCondLst>
                                  <p:childTnLst>
                                    <p:set>
                                      <p:cBhvr>
                                        <p:cTn id="28" dur="1" fill="hold">
                                          <p:stCondLst>
                                            <p:cond delay="0"/>
                                          </p:stCondLst>
                                        </p:cTn>
                                        <p:tgtEl>
                                          <p:spTgt spid="137228"/>
                                        </p:tgtEl>
                                        <p:attrNameLst>
                                          <p:attrName>style.visibility</p:attrName>
                                        </p:attrNameLst>
                                      </p:cBhvr>
                                      <p:to>
                                        <p:strVal val="visible"/>
                                      </p:to>
                                    </p:set>
                                    <p:animEffect transition="in" filter="wipe(left)">
                                      <p:cBhvr>
                                        <p:cTn id="29" dur="500"/>
                                        <p:tgtEl>
                                          <p:spTgt spid="137228"/>
                                        </p:tgtEl>
                                      </p:cBhvr>
                                    </p:animEffect>
                                  </p:childTnLst>
                                  <p:subTnLst>
                                    <p:set>
                                      <p:cBhvr override="childStyle">
                                        <p:cTn dur="1" fill="hold" display="0" masterRel="sameClick" afterEffect="1">
                                          <p:stCondLst>
                                            <p:cond evt="end" delay="0">
                                              <p:tn val="27"/>
                                            </p:cond>
                                          </p:stCondLst>
                                        </p:cTn>
                                        <p:tgtEl>
                                          <p:spTgt spid="137228"/>
                                        </p:tgtEl>
                                        <p:attrNameLst>
                                          <p:attrName>style.visibility</p:attrName>
                                        </p:attrNameLst>
                                      </p:cBhvr>
                                      <p:to>
                                        <p:strVal val="hidden"/>
                                      </p:to>
                                    </p:set>
                                  </p:subTnLst>
                                </p:cTn>
                              </p:par>
                            </p:childTnLst>
                          </p:cTn>
                        </p:par>
                        <p:par>
                          <p:cTn id="30" fill="hold">
                            <p:stCondLst>
                              <p:cond delay="1500"/>
                            </p:stCondLst>
                            <p:childTnLst>
                              <p:par>
                                <p:cTn id="31" presetID="22" presetClass="entr" presetSubtype="8" fill="hold" grpId="0" nodeType="afterEffect">
                                  <p:stCondLst>
                                    <p:cond delay="0"/>
                                  </p:stCondLst>
                                  <p:childTnLst>
                                    <p:set>
                                      <p:cBhvr>
                                        <p:cTn id="32" dur="1" fill="hold">
                                          <p:stCondLst>
                                            <p:cond delay="0"/>
                                          </p:stCondLst>
                                        </p:cTn>
                                        <p:tgtEl>
                                          <p:spTgt spid="137229"/>
                                        </p:tgtEl>
                                        <p:attrNameLst>
                                          <p:attrName>style.visibility</p:attrName>
                                        </p:attrNameLst>
                                      </p:cBhvr>
                                      <p:to>
                                        <p:strVal val="visible"/>
                                      </p:to>
                                    </p:set>
                                    <p:animEffect transition="in" filter="wipe(left)">
                                      <p:cBhvr>
                                        <p:cTn id="33" dur="500"/>
                                        <p:tgtEl>
                                          <p:spTgt spid="13722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137224"/>
                                        </p:tgtEl>
                                        <p:attrNameLst>
                                          <p:attrName>style.visibility</p:attrName>
                                        </p:attrNameLst>
                                      </p:cBhvr>
                                      <p:to>
                                        <p:strVal val="visible"/>
                                      </p:to>
                                    </p:set>
                                    <p:animEffect transition="in" filter="wipe(down)">
                                      <p:cBhvr>
                                        <p:cTn id="38" dur="500"/>
                                        <p:tgtEl>
                                          <p:spTgt spid="137224"/>
                                        </p:tgtEl>
                                      </p:cBhvr>
                                    </p:animEffect>
                                  </p:childTnLst>
                                </p:cTn>
                              </p:par>
                            </p:childTnLst>
                          </p:cTn>
                        </p:par>
                        <p:par>
                          <p:cTn id="39" fill="hold">
                            <p:stCondLst>
                              <p:cond delay="500"/>
                            </p:stCondLst>
                            <p:childTnLst>
                              <p:par>
                                <p:cTn id="40" presetID="22" presetClass="entr" presetSubtype="8" fill="hold" grpId="0" nodeType="afterEffect">
                                  <p:stCondLst>
                                    <p:cond delay="0"/>
                                  </p:stCondLst>
                                  <p:childTnLst>
                                    <p:set>
                                      <p:cBhvr>
                                        <p:cTn id="41" dur="1" fill="hold">
                                          <p:stCondLst>
                                            <p:cond delay="0"/>
                                          </p:stCondLst>
                                        </p:cTn>
                                        <p:tgtEl>
                                          <p:spTgt spid="137226"/>
                                        </p:tgtEl>
                                        <p:attrNameLst>
                                          <p:attrName>style.visibility</p:attrName>
                                        </p:attrNameLst>
                                      </p:cBhvr>
                                      <p:to>
                                        <p:strVal val="visible"/>
                                      </p:to>
                                    </p:set>
                                    <p:animEffect transition="in" filter="wipe(left)">
                                      <p:cBhvr>
                                        <p:cTn id="42" dur="500"/>
                                        <p:tgtEl>
                                          <p:spTgt spid="137226"/>
                                        </p:tgtEl>
                                      </p:cBhvr>
                                    </p:animEffect>
                                  </p:childTnLst>
                                  <p:subTnLst>
                                    <p:set>
                                      <p:cBhvr override="childStyle">
                                        <p:cTn dur="1" fill="hold" display="0" masterRel="sameClick" afterEffect="1">
                                          <p:stCondLst>
                                            <p:cond evt="end" delay="0">
                                              <p:tn val="40"/>
                                            </p:cond>
                                          </p:stCondLst>
                                        </p:cTn>
                                        <p:tgtEl>
                                          <p:spTgt spid="137226"/>
                                        </p:tgtEl>
                                        <p:attrNameLst>
                                          <p:attrName>style.visibility</p:attrName>
                                        </p:attrNameLst>
                                      </p:cBhvr>
                                      <p:to>
                                        <p:strVal val="hidden"/>
                                      </p:to>
                                    </p:set>
                                  </p:subTnLst>
                                </p:cTn>
                              </p:par>
                            </p:childTnLst>
                          </p:cTn>
                        </p:par>
                        <p:par>
                          <p:cTn id="43" fill="hold">
                            <p:stCondLst>
                              <p:cond delay="1000"/>
                            </p:stCondLst>
                            <p:childTnLst>
                              <p:par>
                                <p:cTn id="44" presetID="22" presetClass="entr" presetSubtype="8" fill="hold" grpId="0" nodeType="afterEffect">
                                  <p:stCondLst>
                                    <p:cond delay="0"/>
                                  </p:stCondLst>
                                  <p:childTnLst>
                                    <p:set>
                                      <p:cBhvr>
                                        <p:cTn id="45" dur="1" fill="hold">
                                          <p:stCondLst>
                                            <p:cond delay="0"/>
                                          </p:stCondLst>
                                        </p:cTn>
                                        <p:tgtEl>
                                          <p:spTgt spid="137230"/>
                                        </p:tgtEl>
                                        <p:attrNameLst>
                                          <p:attrName>style.visibility</p:attrName>
                                        </p:attrNameLst>
                                      </p:cBhvr>
                                      <p:to>
                                        <p:strVal val="visible"/>
                                      </p:to>
                                    </p:set>
                                    <p:animEffect transition="in" filter="wipe(left)">
                                      <p:cBhvr>
                                        <p:cTn id="46" dur="500"/>
                                        <p:tgtEl>
                                          <p:spTgt spid="137230"/>
                                        </p:tgtEl>
                                      </p:cBhvr>
                                    </p:animEffect>
                                  </p:childTnLst>
                                  <p:subTnLst>
                                    <p:set>
                                      <p:cBhvr override="childStyle">
                                        <p:cTn dur="1" fill="hold" display="0" masterRel="nextClick" afterEffect="1"/>
                                        <p:tgtEl>
                                          <p:spTgt spid="137230"/>
                                        </p:tgtEl>
                                        <p:attrNameLst>
                                          <p:attrName>style.visibility</p:attrName>
                                        </p:attrNameLst>
                                      </p:cBhvr>
                                      <p:to>
                                        <p:strVal val="hidden"/>
                                      </p:to>
                                    </p:set>
                                  </p:subTnLst>
                                </p:cTn>
                              </p:par>
                            </p:childTnLst>
                          </p:cTn>
                        </p:par>
                        <p:par>
                          <p:cTn id="47" fill="hold">
                            <p:stCondLst>
                              <p:cond delay="1500"/>
                            </p:stCondLst>
                            <p:childTnLst>
                              <p:par>
                                <p:cTn id="48" presetID="22" presetClass="entr" presetSubtype="8" fill="hold" grpId="0" nodeType="afterEffect">
                                  <p:stCondLst>
                                    <p:cond delay="0"/>
                                  </p:stCondLst>
                                  <p:childTnLst>
                                    <p:set>
                                      <p:cBhvr>
                                        <p:cTn id="49" dur="1" fill="hold">
                                          <p:stCondLst>
                                            <p:cond delay="0"/>
                                          </p:stCondLst>
                                        </p:cTn>
                                        <p:tgtEl>
                                          <p:spTgt spid="137231"/>
                                        </p:tgtEl>
                                        <p:attrNameLst>
                                          <p:attrName>style.visibility</p:attrName>
                                        </p:attrNameLst>
                                      </p:cBhvr>
                                      <p:to>
                                        <p:strVal val="visible"/>
                                      </p:to>
                                    </p:set>
                                    <p:animEffect transition="in" filter="wipe(left)">
                                      <p:cBhvr>
                                        <p:cTn id="50" dur="500"/>
                                        <p:tgtEl>
                                          <p:spTgt spid="137231"/>
                                        </p:tgtEl>
                                      </p:cBhvr>
                                    </p:animEffect>
                                  </p:childTnLst>
                                </p:cTn>
                              </p:par>
                            </p:childTnLst>
                          </p:cTn>
                        </p:par>
                        <p:par>
                          <p:cTn id="51" fill="hold">
                            <p:stCondLst>
                              <p:cond delay="2000"/>
                            </p:stCondLst>
                            <p:childTnLst>
                              <p:par>
                                <p:cTn id="52" presetID="22" presetClass="entr" presetSubtype="4" fill="hold" nodeType="afterEffect">
                                  <p:stCondLst>
                                    <p:cond delay="0"/>
                                  </p:stCondLst>
                                  <p:childTnLst>
                                    <p:set>
                                      <p:cBhvr>
                                        <p:cTn id="53" dur="1" fill="hold">
                                          <p:stCondLst>
                                            <p:cond delay="0"/>
                                          </p:stCondLst>
                                        </p:cTn>
                                        <p:tgtEl>
                                          <p:spTgt spid="137223"/>
                                        </p:tgtEl>
                                        <p:attrNameLst>
                                          <p:attrName>style.visibility</p:attrName>
                                        </p:attrNameLst>
                                      </p:cBhvr>
                                      <p:to>
                                        <p:strVal val="visible"/>
                                      </p:to>
                                    </p:set>
                                    <p:animEffect transition="in" filter="wipe(down)">
                                      <p:cBhvr>
                                        <p:cTn id="54" dur="500"/>
                                        <p:tgtEl>
                                          <p:spTgt spid="137223"/>
                                        </p:tgtEl>
                                      </p:cBhvr>
                                    </p:animEffect>
                                  </p:childTnLst>
                                </p:cTn>
                              </p:par>
                            </p:childTnLst>
                          </p:cTn>
                        </p:par>
                        <p:par>
                          <p:cTn id="55" fill="hold">
                            <p:stCondLst>
                              <p:cond delay="2500"/>
                            </p:stCondLst>
                            <p:childTnLst>
                              <p:par>
                                <p:cTn id="56" presetID="22" presetClass="entr" presetSubtype="8" fill="hold" grpId="0" nodeType="afterEffect">
                                  <p:stCondLst>
                                    <p:cond delay="0"/>
                                  </p:stCondLst>
                                  <p:childTnLst>
                                    <p:set>
                                      <p:cBhvr>
                                        <p:cTn id="57" dur="1" fill="hold">
                                          <p:stCondLst>
                                            <p:cond delay="0"/>
                                          </p:stCondLst>
                                        </p:cTn>
                                        <p:tgtEl>
                                          <p:spTgt spid="137232"/>
                                        </p:tgtEl>
                                        <p:attrNameLst>
                                          <p:attrName>style.visibility</p:attrName>
                                        </p:attrNameLst>
                                      </p:cBhvr>
                                      <p:to>
                                        <p:strVal val="visible"/>
                                      </p:to>
                                    </p:set>
                                    <p:animEffect transition="in" filter="wipe(left)">
                                      <p:cBhvr>
                                        <p:cTn id="58" dur="500"/>
                                        <p:tgtEl>
                                          <p:spTgt spid="137232"/>
                                        </p:tgtEl>
                                      </p:cBhvr>
                                    </p:animEffect>
                                  </p:childTnLst>
                                  <p:subTnLst>
                                    <p:set>
                                      <p:cBhvr override="childStyle">
                                        <p:cTn dur="1" fill="hold" display="0" masterRel="sameClick" afterEffect="1">
                                          <p:stCondLst>
                                            <p:cond evt="end" delay="0">
                                              <p:tn val="56"/>
                                            </p:cond>
                                          </p:stCondLst>
                                        </p:cTn>
                                        <p:tgtEl>
                                          <p:spTgt spid="137232"/>
                                        </p:tgtEl>
                                        <p:attrNameLst>
                                          <p:attrName>style.visibility</p:attrName>
                                        </p:attrNameLst>
                                      </p:cBhvr>
                                      <p:to>
                                        <p:strVal val="hidden"/>
                                      </p:to>
                                    </p:set>
                                  </p:subTnLst>
                                </p:cTn>
                              </p:par>
                            </p:childTnLst>
                          </p:cTn>
                        </p:par>
                        <p:par>
                          <p:cTn id="59" fill="hold">
                            <p:stCondLst>
                              <p:cond delay="3000"/>
                            </p:stCondLst>
                            <p:childTnLst>
                              <p:par>
                                <p:cTn id="60" presetID="22" presetClass="entr" presetSubtype="8" fill="hold" grpId="0" nodeType="afterEffect">
                                  <p:stCondLst>
                                    <p:cond delay="0"/>
                                  </p:stCondLst>
                                  <p:childTnLst>
                                    <p:set>
                                      <p:cBhvr>
                                        <p:cTn id="61" dur="1" fill="hold">
                                          <p:stCondLst>
                                            <p:cond delay="0"/>
                                          </p:stCondLst>
                                        </p:cTn>
                                        <p:tgtEl>
                                          <p:spTgt spid="137233"/>
                                        </p:tgtEl>
                                        <p:attrNameLst>
                                          <p:attrName>style.visibility</p:attrName>
                                        </p:attrNameLst>
                                      </p:cBhvr>
                                      <p:to>
                                        <p:strVal val="visible"/>
                                      </p:to>
                                    </p:set>
                                    <p:animEffect transition="in" filter="wipe(left)">
                                      <p:cBhvr>
                                        <p:cTn id="62" dur="500"/>
                                        <p:tgtEl>
                                          <p:spTgt spid="137233"/>
                                        </p:tgtEl>
                                      </p:cBhvr>
                                    </p:animEffect>
                                  </p:childTnLst>
                                  <p:subTnLst>
                                    <p:set>
                                      <p:cBhvr override="childStyle">
                                        <p:cTn dur="1" fill="hold" display="0" masterRel="nextClick" afterEffect="1"/>
                                        <p:tgtEl>
                                          <p:spTgt spid="137233"/>
                                        </p:tgtEl>
                                        <p:attrNameLst>
                                          <p:attrName>style.visibility</p:attrName>
                                        </p:attrNameLst>
                                      </p:cBhvr>
                                      <p:to>
                                        <p:strVal val="hidden"/>
                                      </p:to>
                                    </p:set>
                                  </p:subTnLst>
                                </p:cTn>
                              </p:par>
                            </p:childTnLst>
                          </p:cTn>
                        </p:par>
                        <p:par>
                          <p:cTn id="63" fill="hold">
                            <p:stCondLst>
                              <p:cond delay="3500"/>
                            </p:stCondLst>
                            <p:childTnLst>
                              <p:par>
                                <p:cTn id="64" presetID="22" presetClass="entr" presetSubtype="8" fill="hold" grpId="0" nodeType="afterEffect">
                                  <p:stCondLst>
                                    <p:cond delay="0"/>
                                  </p:stCondLst>
                                  <p:childTnLst>
                                    <p:set>
                                      <p:cBhvr>
                                        <p:cTn id="65" dur="1" fill="hold">
                                          <p:stCondLst>
                                            <p:cond delay="0"/>
                                          </p:stCondLst>
                                        </p:cTn>
                                        <p:tgtEl>
                                          <p:spTgt spid="137227"/>
                                        </p:tgtEl>
                                        <p:attrNameLst>
                                          <p:attrName>style.visibility</p:attrName>
                                        </p:attrNameLst>
                                      </p:cBhvr>
                                      <p:to>
                                        <p:strVal val="visible"/>
                                      </p:to>
                                    </p:set>
                                    <p:animEffect transition="in" filter="wipe(left)">
                                      <p:cBhvr>
                                        <p:cTn id="66" dur="500"/>
                                        <p:tgtEl>
                                          <p:spTgt spid="137227"/>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5" fill="hold" grpId="0" nodeType="clickEffect">
                                  <p:stCondLst>
                                    <p:cond delay="0"/>
                                  </p:stCondLst>
                                  <p:childTnLst>
                                    <p:set>
                                      <p:cBhvr>
                                        <p:cTn id="70" dur="1" fill="hold">
                                          <p:stCondLst>
                                            <p:cond delay="0"/>
                                          </p:stCondLst>
                                        </p:cTn>
                                        <p:tgtEl>
                                          <p:spTgt spid="137264"/>
                                        </p:tgtEl>
                                        <p:attrNameLst>
                                          <p:attrName>style.visibility</p:attrName>
                                        </p:attrNameLst>
                                      </p:cBhvr>
                                      <p:to>
                                        <p:strVal val="visible"/>
                                      </p:to>
                                    </p:set>
                                    <p:animEffect transition="in" filter="blinds(vertical)">
                                      <p:cBhvr>
                                        <p:cTn id="71" dur="500"/>
                                        <p:tgtEl>
                                          <p:spTgt spid="137264"/>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137234"/>
                                        </p:tgtEl>
                                        <p:attrNameLst>
                                          <p:attrName>style.visibility</p:attrName>
                                        </p:attrNameLst>
                                      </p:cBhvr>
                                      <p:to>
                                        <p:strVal val="visible"/>
                                      </p:to>
                                    </p:set>
                                    <p:animEffect transition="in" filter="wipe(left)">
                                      <p:cBhvr>
                                        <p:cTn id="76" dur="500"/>
                                        <p:tgtEl>
                                          <p:spTgt spid="137234"/>
                                        </p:tgtEl>
                                      </p:cBhvr>
                                    </p:animEffect>
                                  </p:childTnLst>
                                </p:cTn>
                              </p:par>
                            </p:childTnLst>
                          </p:cTn>
                        </p:par>
                        <p:par>
                          <p:cTn id="77" fill="hold">
                            <p:stCondLst>
                              <p:cond delay="500"/>
                            </p:stCondLst>
                            <p:childTnLst>
                              <p:par>
                                <p:cTn id="78" presetID="22" presetClass="entr" presetSubtype="8" fill="hold" grpId="0" nodeType="afterEffect">
                                  <p:stCondLst>
                                    <p:cond delay="2000"/>
                                  </p:stCondLst>
                                  <p:childTnLst>
                                    <p:set>
                                      <p:cBhvr>
                                        <p:cTn id="79" dur="1" fill="hold">
                                          <p:stCondLst>
                                            <p:cond delay="0"/>
                                          </p:stCondLst>
                                        </p:cTn>
                                        <p:tgtEl>
                                          <p:spTgt spid="137239"/>
                                        </p:tgtEl>
                                        <p:attrNameLst>
                                          <p:attrName>style.visibility</p:attrName>
                                        </p:attrNameLst>
                                      </p:cBhvr>
                                      <p:to>
                                        <p:strVal val="visible"/>
                                      </p:to>
                                    </p:set>
                                    <p:animEffect transition="in" filter="wipe(left)">
                                      <p:cBhvr>
                                        <p:cTn id="80" dur="500"/>
                                        <p:tgtEl>
                                          <p:spTgt spid="137239"/>
                                        </p:tgtEl>
                                      </p:cBhvr>
                                    </p:animEffect>
                                  </p:childTnLst>
                                </p:cTn>
                              </p:par>
                            </p:childTnLst>
                          </p:cTn>
                        </p:par>
                        <p:par>
                          <p:cTn id="81" fill="hold">
                            <p:stCondLst>
                              <p:cond delay="3000"/>
                            </p:stCondLst>
                            <p:childTnLst>
                              <p:par>
                                <p:cTn id="82" presetID="22" presetClass="entr" presetSubtype="8" fill="hold" grpId="0" nodeType="afterEffect">
                                  <p:stCondLst>
                                    <p:cond delay="2000"/>
                                  </p:stCondLst>
                                  <p:childTnLst>
                                    <p:set>
                                      <p:cBhvr>
                                        <p:cTn id="83" dur="1" fill="hold">
                                          <p:stCondLst>
                                            <p:cond delay="0"/>
                                          </p:stCondLst>
                                        </p:cTn>
                                        <p:tgtEl>
                                          <p:spTgt spid="137235"/>
                                        </p:tgtEl>
                                        <p:attrNameLst>
                                          <p:attrName>style.visibility</p:attrName>
                                        </p:attrNameLst>
                                      </p:cBhvr>
                                      <p:to>
                                        <p:strVal val="visible"/>
                                      </p:to>
                                    </p:set>
                                    <p:animEffect transition="in" filter="wipe(left)">
                                      <p:cBhvr>
                                        <p:cTn id="84" dur="500"/>
                                        <p:tgtEl>
                                          <p:spTgt spid="137235"/>
                                        </p:tgtEl>
                                      </p:cBhvr>
                                    </p:animEffect>
                                  </p:childTnLst>
                                </p:cTn>
                              </p:par>
                            </p:childTnLst>
                          </p:cTn>
                        </p:par>
                      </p:childTnLst>
                    </p:cTn>
                  </p:par>
                  <p:par>
                    <p:cTn id="85" fill="hold">
                      <p:stCondLst>
                        <p:cond delay="indefinite"/>
                      </p:stCondLst>
                      <p:childTnLst>
                        <p:par>
                          <p:cTn id="86" fill="hold">
                            <p:stCondLst>
                              <p:cond delay="0"/>
                            </p:stCondLst>
                            <p:childTnLst>
                              <p:par>
                                <p:cTn id="87" presetID="3" presetClass="entr" presetSubtype="5" fill="hold" grpId="0" nodeType="clickEffect">
                                  <p:stCondLst>
                                    <p:cond delay="0"/>
                                  </p:stCondLst>
                                  <p:childTnLst>
                                    <p:set>
                                      <p:cBhvr>
                                        <p:cTn id="88" dur="1" fill="hold">
                                          <p:stCondLst>
                                            <p:cond delay="0"/>
                                          </p:stCondLst>
                                        </p:cTn>
                                        <p:tgtEl>
                                          <p:spTgt spid="137263"/>
                                        </p:tgtEl>
                                        <p:attrNameLst>
                                          <p:attrName>style.visibility</p:attrName>
                                        </p:attrNameLst>
                                      </p:cBhvr>
                                      <p:to>
                                        <p:strVal val="visible"/>
                                      </p:to>
                                    </p:set>
                                    <p:animEffect transition="in" filter="blinds(vertical)">
                                      <p:cBhvr>
                                        <p:cTn id="89" dur="500"/>
                                        <p:tgtEl>
                                          <p:spTgt spid="137263"/>
                                        </p:tgtEl>
                                      </p:cBhvr>
                                    </p:animEffect>
                                  </p:childTnLst>
                                </p:cTn>
                              </p:par>
                            </p:childTnLst>
                          </p:cTn>
                        </p:par>
                        <p:par>
                          <p:cTn id="90" fill="hold">
                            <p:stCondLst>
                              <p:cond delay="500"/>
                            </p:stCondLst>
                            <p:childTnLst>
                              <p:par>
                                <p:cTn id="91" presetID="22" presetClass="entr" presetSubtype="4" fill="hold" nodeType="afterEffect">
                                  <p:stCondLst>
                                    <p:cond delay="0"/>
                                  </p:stCondLst>
                                  <p:childTnLst>
                                    <p:set>
                                      <p:cBhvr>
                                        <p:cTn id="92" dur="1" fill="hold">
                                          <p:stCondLst>
                                            <p:cond delay="0"/>
                                          </p:stCondLst>
                                        </p:cTn>
                                        <p:tgtEl>
                                          <p:spTgt spid="137241"/>
                                        </p:tgtEl>
                                        <p:attrNameLst>
                                          <p:attrName>style.visibility</p:attrName>
                                        </p:attrNameLst>
                                      </p:cBhvr>
                                      <p:to>
                                        <p:strVal val="visible"/>
                                      </p:to>
                                    </p:set>
                                    <p:animEffect transition="in" filter="wipe(down)">
                                      <p:cBhvr>
                                        <p:cTn id="93" dur="500"/>
                                        <p:tgtEl>
                                          <p:spTgt spid="137241"/>
                                        </p:tgtEl>
                                      </p:cBhvr>
                                    </p:animEffect>
                                  </p:childTnLst>
                                  <p:subTnLst>
                                    <p:set>
                                      <p:cBhvr override="childStyle">
                                        <p:cTn dur="1" fill="hold" display="0" masterRel="nextClick" afterEffect="1"/>
                                        <p:tgtEl>
                                          <p:spTgt spid="137241"/>
                                        </p:tgtEl>
                                        <p:attrNameLst>
                                          <p:attrName>style.visibility</p:attrName>
                                        </p:attrNameLst>
                                      </p:cBhvr>
                                      <p:to>
                                        <p:strVal val="hidden"/>
                                      </p:to>
                                    </p:set>
                                  </p:subTnLst>
                                </p:cTn>
                              </p:par>
                            </p:childTnLst>
                          </p:cTn>
                        </p:par>
                        <p:par>
                          <p:cTn id="94" fill="hold">
                            <p:stCondLst>
                              <p:cond delay="1000"/>
                            </p:stCondLst>
                            <p:childTnLst>
                              <p:par>
                                <p:cTn id="95" presetID="22" presetClass="entr" presetSubtype="8" fill="hold" grpId="0" nodeType="afterEffect">
                                  <p:stCondLst>
                                    <p:cond delay="0"/>
                                  </p:stCondLst>
                                  <p:childTnLst>
                                    <p:set>
                                      <p:cBhvr>
                                        <p:cTn id="96" dur="1" fill="hold">
                                          <p:stCondLst>
                                            <p:cond delay="0"/>
                                          </p:stCondLst>
                                        </p:cTn>
                                        <p:tgtEl>
                                          <p:spTgt spid="137242"/>
                                        </p:tgtEl>
                                        <p:attrNameLst>
                                          <p:attrName>style.visibility</p:attrName>
                                        </p:attrNameLst>
                                      </p:cBhvr>
                                      <p:to>
                                        <p:strVal val="visible"/>
                                      </p:to>
                                    </p:set>
                                    <p:animEffect transition="in" filter="wipe(left)">
                                      <p:cBhvr>
                                        <p:cTn id="97" dur="500"/>
                                        <p:tgtEl>
                                          <p:spTgt spid="137242"/>
                                        </p:tgtEl>
                                      </p:cBhvr>
                                    </p:animEffect>
                                  </p:childTnLst>
                                  <p:subTnLst>
                                    <p:set>
                                      <p:cBhvr override="childStyle">
                                        <p:cTn dur="1" fill="hold" display="0" masterRel="sameClick" afterEffect="1">
                                          <p:stCondLst>
                                            <p:cond evt="end" delay="0">
                                              <p:tn val="95"/>
                                            </p:cond>
                                          </p:stCondLst>
                                        </p:cTn>
                                        <p:tgtEl>
                                          <p:spTgt spid="137242"/>
                                        </p:tgtEl>
                                        <p:attrNameLst>
                                          <p:attrName>style.visibility</p:attrName>
                                        </p:attrNameLst>
                                      </p:cBhvr>
                                      <p:to>
                                        <p:strVal val="hidden"/>
                                      </p:to>
                                    </p:set>
                                  </p:subTnLst>
                                </p:cTn>
                              </p:par>
                            </p:childTnLst>
                          </p:cTn>
                        </p:par>
                        <p:par>
                          <p:cTn id="98" fill="hold">
                            <p:stCondLst>
                              <p:cond delay="1500"/>
                            </p:stCondLst>
                            <p:childTnLst>
                              <p:par>
                                <p:cTn id="99" presetID="22" presetClass="entr" presetSubtype="8" fill="hold" grpId="0" nodeType="afterEffect">
                                  <p:stCondLst>
                                    <p:cond delay="0"/>
                                  </p:stCondLst>
                                  <p:childTnLst>
                                    <p:set>
                                      <p:cBhvr>
                                        <p:cTn id="100" dur="1" fill="hold">
                                          <p:stCondLst>
                                            <p:cond delay="0"/>
                                          </p:stCondLst>
                                        </p:cTn>
                                        <p:tgtEl>
                                          <p:spTgt spid="137243"/>
                                        </p:tgtEl>
                                        <p:attrNameLst>
                                          <p:attrName>style.visibility</p:attrName>
                                        </p:attrNameLst>
                                      </p:cBhvr>
                                      <p:to>
                                        <p:strVal val="visible"/>
                                      </p:to>
                                    </p:set>
                                    <p:animEffect transition="in" filter="wipe(left)">
                                      <p:cBhvr>
                                        <p:cTn id="101" dur="500"/>
                                        <p:tgtEl>
                                          <p:spTgt spid="137243"/>
                                        </p:tgtEl>
                                      </p:cBhvr>
                                    </p:animEffect>
                                  </p:childTnLst>
                                  <p:subTnLst>
                                    <p:set>
                                      <p:cBhvr override="childStyle">
                                        <p:cTn dur="1" fill="hold" display="0" masterRel="nextClick" afterEffect="1"/>
                                        <p:tgtEl>
                                          <p:spTgt spid="137243"/>
                                        </p:tgtEl>
                                        <p:attrNameLst>
                                          <p:attrName>style.visibility</p:attrName>
                                        </p:attrNameLst>
                                      </p:cBhvr>
                                      <p:to>
                                        <p:strVal val="hidden"/>
                                      </p:to>
                                    </p:set>
                                  </p:subTnLst>
                                </p:cTn>
                              </p:par>
                            </p:childTnLst>
                          </p:cTn>
                        </p:par>
                        <p:par>
                          <p:cTn id="102" fill="hold">
                            <p:stCondLst>
                              <p:cond delay="2000"/>
                            </p:stCondLst>
                            <p:childTnLst>
                              <p:par>
                                <p:cTn id="103" presetID="22" presetClass="entr" presetSubtype="4" fill="hold" nodeType="afterEffect">
                                  <p:stCondLst>
                                    <p:cond delay="0"/>
                                  </p:stCondLst>
                                  <p:childTnLst>
                                    <p:set>
                                      <p:cBhvr>
                                        <p:cTn id="104" dur="1" fill="hold">
                                          <p:stCondLst>
                                            <p:cond delay="0"/>
                                          </p:stCondLst>
                                        </p:cTn>
                                        <p:tgtEl>
                                          <p:spTgt spid="137245"/>
                                        </p:tgtEl>
                                        <p:attrNameLst>
                                          <p:attrName>style.visibility</p:attrName>
                                        </p:attrNameLst>
                                      </p:cBhvr>
                                      <p:to>
                                        <p:strVal val="visible"/>
                                      </p:to>
                                    </p:set>
                                    <p:animEffect transition="in" filter="wipe(down)">
                                      <p:cBhvr>
                                        <p:cTn id="105" dur="500"/>
                                        <p:tgtEl>
                                          <p:spTgt spid="137245"/>
                                        </p:tgtEl>
                                      </p:cBhvr>
                                    </p:animEffect>
                                  </p:childTnLst>
                                  <p:subTnLst>
                                    <p:set>
                                      <p:cBhvr override="childStyle">
                                        <p:cTn dur="1" fill="hold" display="0" masterRel="nextClick" afterEffect="1"/>
                                        <p:tgtEl>
                                          <p:spTgt spid="137245"/>
                                        </p:tgtEl>
                                        <p:attrNameLst>
                                          <p:attrName>style.visibility</p:attrName>
                                        </p:attrNameLst>
                                      </p:cBhvr>
                                      <p:to>
                                        <p:strVal val="hidden"/>
                                      </p:to>
                                    </p:set>
                                  </p:subTnLst>
                                </p:cTn>
                              </p:par>
                            </p:childTnLst>
                          </p:cTn>
                        </p:par>
                        <p:par>
                          <p:cTn id="106" fill="hold">
                            <p:stCondLst>
                              <p:cond delay="2500"/>
                            </p:stCondLst>
                            <p:childTnLst>
                              <p:par>
                                <p:cTn id="107" presetID="22" presetClass="entr" presetSubtype="8" fill="hold" grpId="0" nodeType="afterEffect">
                                  <p:stCondLst>
                                    <p:cond delay="0"/>
                                  </p:stCondLst>
                                  <p:childTnLst>
                                    <p:set>
                                      <p:cBhvr>
                                        <p:cTn id="108" dur="1" fill="hold">
                                          <p:stCondLst>
                                            <p:cond delay="0"/>
                                          </p:stCondLst>
                                        </p:cTn>
                                        <p:tgtEl>
                                          <p:spTgt spid="137246"/>
                                        </p:tgtEl>
                                        <p:attrNameLst>
                                          <p:attrName>style.visibility</p:attrName>
                                        </p:attrNameLst>
                                      </p:cBhvr>
                                      <p:to>
                                        <p:strVal val="visible"/>
                                      </p:to>
                                    </p:set>
                                    <p:animEffect transition="in" filter="wipe(left)">
                                      <p:cBhvr>
                                        <p:cTn id="109" dur="500"/>
                                        <p:tgtEl>
                                          <p:spTgt spid="137246"/>
                                        </p:tgtEl>
                                      </p:cBhvr>
                                    </p:animEffect>
                                  </p:childTnLst>
                                  <p:subTnLst>
                                    <p:set>
                                      <p:cBhvr override="childStyle">
                                        <p:cTn dur="1" fill="hold" display="0" masterRel="sameClick" afterEffect="1">
                                          <p:stCondLst>
                                            <p:cond evt="end" delay="0">
                                              <p:tn val="107"/>
                                            </p:cond>
                                          </p:stCondLst>
                                        </p:cTn>
                                        <p:tgtEl>
                                          <p:spTgt spid="137246"/>
                                        </p:tgtEl>
                                        <p:attrNameLst>
                                          <p:attrName>style.visibility</p:attrName>
                                        </p:attrNameLst>
                                      </p:cBhvr>
                                      <p:to>
                                        <p:strVal val="hidden"/>
                                      </p:to>
                                    </p:set>
                                  </p:subTnLst>
                                </p:cTn>
                              </p:par>
                            </p:childTnLst>
                          </p:cTn>
                        </p:par>
                        <p:par>
                          <p:cTn id="110" fill="hold">
                            <p:stCondLst>
                              <p:cond delay="3000"/>
                            </p:stCondLst>
                            <p:childTnLst>
                              <p:par>
                                <p:cTn id="111" presetID="22" presetClass="entr" presetSubtype="8" fill="hold" grpId="0" nodeType="afterEffect">
                                  <p:stCondLst>
                                    <p:cond delay="0"/>
                                  </p:stCondLst>
                                  <p:childTnLst>
                                    <p:set>
                                      <p:cBhvr>
                                        <p:cTn id="112" dur="1" fill="hold">
                                          <p:stCondLst>
                                            <p:cond delay="0"/>
                                          </p:stCondLst>
                                        </p:cTn>
                                        <p:tgtEl>
                                          <p:spTgt spid="137247"/>
                                        </p:tgtEl>
                                        <p:attrNameLst>
                                          <p:attrName>style.visibility</p:attrName>
                                        </p:attrNameLst>
                                      </p:cBhvr>
                                      <p:to>
                                        <p:strVal val="visible"/>
                                      </p:to>
                                    </p:set>
                                    <p:animEffect transition="in" filter="wipe(left)">
                                      <p:cBhvr>
                                        <p:cTn id="113" dur="500"/>
                                        <p:tgtEl>
                                          <p:spTgt spid="137247"/>
                                        </p:tgtEl>
                                      </p:cBhvr>
                                    </p:animEffect>
                                  </p:childTnLst>
                                  <p:subTnLst>
                                    <p:set>
                                      <p:cBhvr override="childStyle">
                                        <p:cTn dur="1" fill="hold" display="0" masterRel="sameClick" afterEffect="1">
                                          <p:stCondLst>
                                            <p:cond evt="end" delay="0">
                                              <p:tn val="111"/>
                                            </p:cond>
                                          </p:stCondLst>
                                        </p:cTn>
                                        <p:tgtEl>
                                          <p:spTgt spid="137247"/>
                                        </p:tgtEl>
                                        <p:attrNameLst>
                                          <p:attrName>style.visibility</p:attrName>
                                        </p:attrNameLst>
                                      </p:cBhvr>
                                      <p:to>
                                        <p:strVal val="hidden"/>
                                      </p:to>
                                    </p:set>
                                  </p:subTnLst>
                                </p:cTn>
                              </p:par>
                            </p:childTnLst>
                          </p:cTn>
                        </p:par>
                        <p:par>
                          <p:cTn id="114" fill="hold">
                            <p:stCondLst>
                              <p:cond delay="3500"/>
                            </p:stCondLst>
                            <p:childTnLst>
                              <p:par>
                                <p:cTn id="115" presetID="22" presetClass="entr" presetSubtype="8" fill="hold" grpId="0" nodeType="afterEffect">
                                  <p:stCondLst>
                                    <p:cond delay="0"/>
                                  </p:stCondLst>
                                  <p:childTnLst>
                                    <p:set>
                                      <p:cBhvr>
                                        <p:cTn id="116" dur="1" fill="hold">
                                          <p:stCondLst>
                                            <p:cond delay="0"/>
                                          </p:stCondLst>
                                        </p:cTn>
                                        <p:tgtEl>
                                          <p:spTgt spid="137248"/>
                                        </p:tgtEl>
                                        <p:attrNameLst>
                                          <p:attrName>style.visibility</p:attrName>
                                        </p:attrNameLst>
                                      </p:cBhvr>
                                      <p:to>
                                        <p:strVal val="visible"/>
                                      </p:to>
                                    </p:set>
                                    <p:animEffect transition="in" filter="wipe(left)">
                                      <p:cBhvr>
                                        <p:cTn id="117" dur="500"/>
                                        <p:tgtEl>
                                          <p:spTgt spid="137248"/>
                                        </p:tgtEl>
                                      </p:cBhvr>
                                    </p:animEffect>
                                  </p:childTnLst>
                                  <p:subTnLst>
                                    <p:set>
                                      <p:cBhvr override="childStyle">
                                        <p:cTn dur="1" fill="hold" display="0" masterRel="nextClick" afterEffect="1"/>
                                        <p:tgtEl>
                                          <p:spTgt spid="137248"/>
                                        </p:tgtEl>
                                        <p:attrNameLst>
                                          <p:attrName>style.visibility</p:attrName>
                                        </p:attrNameLst>
                                      </p:cBhvr>
                                      <p:to>
                                        <p:strVal val="hidden"/>
                                      </p:to>
                                    </p:set>
                                  </p:subTnLst>
                                </p:cTn>
                              </p:par>
                            </p:childTnLst>
                          </p:cTn>
                        </p:par>
                      </p:childTnLst>
                    </p:cTn>
                  </p:par>
                  <p:par>
                    <p:cTn id="118" fill="hold">
                      <p:stCondLst>
                        <p:cond delay="indefinite"/>
                      </p:stCondLst>
                      <p:childTnLst>
                        <p:par>
                          <p:cTn id="119" fill="hold">
                            <p:stCondLst>
                              <p:cond delay="0"/>
                            </p:stCondLst>
                            <p:childTnLst>
                              <p:par>
                                <p:cTn id="120" presetID="22" presetClass="entr" presetSubtype="4" fill="hold" nodeType="clickEffect">
                                  <p:stCondLst>
                                    <p:cond delay="0"/>
                                  </p:stCondLst>
                                  <p:childTnLst>
                                    <p:set>
                                      <p:cBhvr>
                                        <p:cTn id="121" dur="1" fill="hold">
                                          <p:stCondLst>
                                            <p:cond delay="0"/>
                                          </p:stCondLst>
                                        </p:cTn>
                                        <p:tgtEl>
                                          <p:spTgt spid="137236"/>
                                        </p:tgtEl>
                                        <p:attrNameLst>
                                          <p:attrName>style.visibility</p:attrName>
                                        </p:attrNameLst>
                                      </p:cBhvr>
                                      <p:to>
                                        <p:strVal val="visible"/>
                                      </p:to>
                                    </p:set>
                                    <p:animEffect transition="in" filter="wipe(down)">
                                      <p:cBhvr>
                                        <p:cTn id="122" dur="500"/>
                                        <p:tgtEl>
                                          <p:spTgt spid="137236"/>
                                        </p:tgtEl>
                                      </p:cBhvr>
                                    </p:animEffect>
                                  </p:childTnLst>
                                </p:cTn>
                              </p:par>
                            </p:childTnLst>
                          </p:cTn>
                        </p:par>
                        <p:par>
                          <p:cTn id="123" fill="hold">
                            <p:stCondLst>
                              <p:cond delay="500"/>
                            </p:stCondLst>
                            <p:childTnLst>
                              <p:par>
                                <p:cTn id="124" presetID="22" presetClass="entr" presetSubtype="4" fill="hold" nodeType="afterEffect">
                                  <p:stCondLst>
                                    <p:cond delay="0"/>
                                  </p:stCondLst>
                                  <p:childTnLst>
                                    <p:set>
                                      <p:cBhvr>
                                        <p:cTn id="125" dur="1" fill="hold">
                                          <p:stCondLst>
                                            <p:cond delay="0"/>
                                          </p:stCondLst>
                                        </p:cTn>
                                        <p:tgtEl>
                                          <p:spTgt spid="137237"/>
                                        </p:tgtEl>
                                        <p:attrNameLst>
                                          <p:attrName>style.visibility</p:attrName>
                                        </p:attrNameLst>
                                      </p:cBhvr>
                                      <p:to>
                                        <p:strVal val="visible"/>
                                      </p:to>
                                    </p:set>
                                    <p:animEffect transition="in" filter="wipe(down)">
                                      <p:cBhvr>
                                        <p:cTn id="126" dur="500"/>
                                        <p:tgtEl>
                                          <p:spTgt spid="137237"/>
                                        </p:tgtEl>
                                      </p:cBhvr>
                                    </p:animEffect>
                                  </p:childTnLst>
                                </p:cTn>
                              </p:par>
                            </p:childTnLst>
                          </p:cTn>
                        </p:par>
                        <p:par>
                          <p:cTn id="127" fill="hold">
                            <p:stCondLst>
                              <p:cond delay="1000"/>
                            </p:stCondLst>
                            <p:childTnLst>
                              <p:par>
                                <p:cTn id="128" presetID="9" presetClass="entr" presetSubtype="0" fill="hold" grpId="0" nodeType="afterEffect">
                                  <p:stCondLst>
                                    <p:cond delay="0"/>
                                  </p:stCondLst>
                                  <p:childTnLst>
                                    <p:set>
                                      <p:cBhvr>
                                        <p:cTn id="129" dur="1" fill="hold">
                                          <p:stCondLst>
                                            <p:cond delay="0"/>
                                          </p:stCondLst>
                                        </p:cTn>
                                        <p:tgtEl>
                                          <p:spTgt spid="137240"/>
                                        </p:tgtEl>
                                        <p:attrNameLst>
                                          <p:attrName>style.visibility</p:attrName>
                                        </p:attrNameLst>
                                      </p:cBhvr>
                                      <p:to>
                                        <p:strVal val="visible"/>
                                      </p:to>
                                    </p:set>
                                    <p:animEffect transition="in" filter="dissolve">
                                      <p:cBhvr>
                                        <p:cTn id="130" dur="500"/>
                                        <p:tgtEl>
                                          <p:spTgt spid="137240"/>
                                        </p:tgtEl>
                                      </p:cBhvr>
                                    </p:animEffect>
                                  </p:childTnLst>
                                </p:cTn>
                              </p:par>
                            </p:childTnLst>
                          </p:cTn>
                        </p:par>
                        <p:par>
                          <p:cTn id="131" fill="hold">
                            <p:stCondLst>
                              <p:cond delay="1500"/>
                            </p:stCondLst>
                            <p:childTnLst>
                              <p:par>
                                <p:cTn id="132" presetID="22" presetClass="entr" presetSubtype="4" fill="hold" grpId="0" nodeType="afterEffect">
                                  <p:stCondLst>
                                    <p:cond delay="0"/>
                                  </p:stCondLst>
                                  <p:childTnLst>
                                    <p:set>
                                      <p:cBhvr>
                                        <p:cTn id="133" dur="1" fill="hold">
                                          <p:stCondLst>
                                            <p:cond delay="0"/>
                                          </p:stCondLst>
                                        </p:cTn>
                                        <p:tgtEl>
                                          <p:spTgt spid="137249"/>
                                        </p:tgtEl>
                                        <p:attrNameLst>
                                          <p:attrName>style.visibility</p:attrName>
                                        </p:attrNameLst>
                                      </p:cBhvr>
                                      <p:to>
                                        <p:strVal val="visible"/>
                                      </p:to>
                                    </p:set>
                                    <p:animEffect transition="in" filter="wipe(down)">
                                      <p:cBhvr>
                                        <p:cTn id="134" dur="500"/>
                                        <p:tgtEl>
                                          <p:spTgt spid="1372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9" grpId="0" animBg="1"/>
      <p:bldP spid="137220" grpId="0" animBg="1"/>
      <p:bldP spid="137221" grpId="0" animBg="1"/>
      <p:bldP spid="137225" grpId="0" animBg="1"/>
      <p:bldP spid="137226" grpId="0" animBg="1"/>
      <p:bldP spid="137227" grpId="0" animBg="1"/>
      <p:bldP spid="137228" grpId="0" animBg="1"/>
      <p:bldP spid="137229" grpId="0" animBg="1"/>
      <p:bldP spid="137230" grpId="0" animBg="1"/>
      <p:bldP spid="137231" grpId="0" animBg="1"/>
      <p:bldP spid="137232" grpId="0" animBg="1"/>
      <p:bldP spid="137233" grpId="0" animBg="1"/>
      <p:bldP spid="137234" grpId="0" animBg="1"/>
      <p:bldP spid="137235" grpId="0" animBg="1"/>
      <p:bldP spid="137239" grpId="0" animBg="1"/>
      <p:bldP spid="137240" grpId="0" animBg="1"/>
      <p:bldP spid="137242" grpId="0" animBg="1"/>
      <p:bldP spid="137243" grpId="0" animBg="1"/>
      <p:bldP spid="137246" grpId="0" animBg="1"/>
      <p:bldP spid="137247" grpId="0" animBg="1"/>
      <p:bldP spid="137248" grpId="0" animBg="1"/>
      <p:bldP spid="137249" grpId="0" animBg="1"/>
      <p:bldP spid="137262" grpId="0" animBg="1"/>
      <p:bldP spid="137263" grpId="0" animBg="1"/>
      <p:bldP spid="13726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286750" cy="5072063"/>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两种策略的比较</a:t>
            </a:r>
            <a:endPar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“自顶向下”法的主要优点：不需要测试驱动程序，能够在测试阶段的早期实现并验证系统的主要功能，而且能在早期发现上层模块的接口错误；</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“自顶向下”法的主要缺点：需要桩模块程序，可能遇到与此相联系的测试困难，低层关键模块中的错误发现较晚，而且用这种方法在早期不能充分展开人力；</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“自底向上”法的优缺点与“自顶向下”法刚好相反。</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sp>
        <p:nvSpPr>
          <p:cNvPr id="26627"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286750" cy="5072063"/>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3.</a:t>
            </a:r>
            <a:r>
              <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混合策略</a:t>
            </a:r>
            <a:r>
              <a:rPr kumimoji="0" lang="en-US" altLang="zh-CN"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a:t>
            </a:r>
            <a:r>
              <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三明治”方法</a:t>
            </a:r>
            <a:r>
              <a:rPr kumimoji="0" lang="en-US" altLang="zh-CN"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a:t>
            </a:r>
            <a:endParaRPr kumimoji="0" lang="en-US" altLang="zh-CN"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在具体测试中，采用混合策略。</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① </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改进的“自顶向下”法：</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基本使用“自顶向下”法，但在测试早期，使用“自底向上”法测试少数的关键模块；</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② </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混合法：</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对软件结构中较上层，使用的是“自顶向下”法；对软件结构中较下层，使用的是“自底向上”法，两者相结合。</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集成过程的原则：</a:t>
            </a:r>
            <a:endParaRPr kumimoji="0" lang="zh-CN" altLang="en-US" sz="2200" b="1" i="0" u="none" strike="noStrike" kern="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① 尽早测试关键模块。</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② 尽早测试包含</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I/O</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的模块。</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sp>
        <p:nvSpPr>
          <p:cNvPr id="27651"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内容占位符 2"/>
          <p:cNvSpPr>
            <a:spLocks noGrp="1"/>
          </p:cNvSpPr>
          <p:nvPr>
            <p:ph idx="1"/>
          </p:nvPr>
        </p:nvSpPr>
        <p:spPr>
          <a:xfrm>
            <a:off x="428625" y="1214438"/>
            <a:ext cx="8286750" cy="5000625"/>
          </a:xfrm>
        </p:spPr>
        <p:txBody>
          <a:bodyPr vert="horz" wrap="square" lIns="91440" tIns="45720" rIns="91440" bIns="45720" numCol="1" anchor="t" anchorCtr="0" compatLnSpc="1"/>
          <a:lstStyle/>
          <a:p>
            <a:pPr marL="0" marR="0" lvl="0" indent="-34290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rPr>
              <a:t>二、回归测试</a:t>
            </a:r>
            <a:endParaRPr kumimoji="0" lang="zh-CN" altLang="en-US"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回归测试是指重新执行已经做过的测试的某个子集，以保证修改变化没有带来非预期的副作用。</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因为在集成测试过程中每当一个新模块结合进来时，程序就发生了变化：建立了新的数据流路径，可能出现了新的</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I/O</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操作，激活了新的控制逻辑。这些变化有可能使原来工作正常的功能出现问题。</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回归测试的作用就是用于保证由于调试或其他原因引起的变化，不会导致非预期的软件行为或额外错误的测试活动。</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sp>
        <p:nvSpPr>
          <p:cNvPr id="28675" name="Rectangle 2"/>
          <p:cNvSpPr>
            <a:spLocks noGrp="1"/>
          </p:cNvSpPr>
          <p:nvPr>
            <p:ph type="title"/>
          </p:nvPr>
        </p:nvSpPr>
        <p:spPr>
          <a:xfrm>
            <a:off x="428625" y="0"/>
            <a:ext cx="8686800" cy="1125538"/>
          </a:xfrm>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pic>
        <p:nvPicPr>
          <p:cNvPr id="2" name="图片 1"/>
          <p:cNvPicPr>
            <a:picLocks noChangeAspect="1"/>
          </p:cNvPicPr>
          <p:nvPr/>
        </p:nvPicPr>
        <p:blipFill>
          <a:blip r:embed="rId1"/>
          <a:stretch>
            <a:fillRect/>
          </a:stretch>
        </p:blipFill>
        <p:spPr>
          <a:xfrm>
            <a:off x="-1962150" y="-204470"/>
            <a:ext cx="13068300" cy="726757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内容占位符 2"/>
          <p:cNvSpPr>
            <a:spLocks noGrp="1"/>
          </p:cNvSpPr>
          <p:nvPr>
            <p:ph idx="1"/>
          </p:nvPr>
        </p:nvSpPr>
        <p:spPr>
          <a:xfrm>
            <a:off x="428625" y="1214438"/>
            <a:ext cx="8286750" cy="5000625"/>
          </a:xfrm>
        </p:spPr>
        <p:txBody>
          <a:bodyPr vert="horz" wrap="square" lIns="91440" tIns="45720" rIns="91440" bIns="45720" numCol="1" anchor="t" anchorCtr="0" compatLnSpc="1"/>
          <a:lstStyle/>
          <a:p>
            <a:pPr marL="0" marR="0" lvl="0" indent="-34290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rPr>
              <a:t>二、回归测试</a:t>
            </a:r>
            <a:endParaRPr kumimoji="0" lang="zh-CN" altLang="en-US"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回归测试是指重新执行已经做过的测试的某个子集，以保证修改变化没有带来非预期的副作用。</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因为在集成测试过程中每当一个新模块结合进来时，程序就发生了变化：建立了新的数据流路径，可能出现了新的</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I/O</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操作，激活了新的控制逻辑。这些变化有可能使原来工作正常的功能出现问题。</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回归测试的作用就是用于保证由于调试或其他原因引起的变化，不会导致非预期的软件行为或额外错误的测试活动。</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sp>
        <p:nvSpPr>
          <p:cNvPr id="28675"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内容占位符 2"/>
          <p:cNvSpPr>
            <a:spLocks noGrp="1"/>
          </p:cNvSpPr>
          <p:nvPr>
            <p:ph idx="1"/>
          </p:nvPr>
        </p:nvSpPr>
        <p:spPr>
          <a:xfrm>
            <a:off x="428625" y="1214438"/>
            <a:ext cx="8286750" cy="5000625"/>
          </a:xfrm>
          <a:ln/>
        </p:spPr>
        <p:txBody>
          <a:bodyPr vert="horz" wrap="square" lIns="91440" tIns="45720" rIns="91440" bIns="45720" anchor="t" anchorCtr="0"/>
          <a:p>
            <a:pPr indent="363855"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回归测试集（已执行过的测试用例的子集）包括下述</a:t>
            </a:r>
            <a:r>
              <a:rPr lang="en-US" altLang="zh-CN" sz="2200" b="1" dirty="0">
                <a:latin typeface="宋体" panose="02010600030101010101" pitchFamily="2" charset="-122"/>
                <a:ea typeface="宋体" panose="02010600030101010101" pitchFamily="2" charset="-122"/>
                <a:cs typeface="+mn-cs"/>
              </a:rPr>
              <a:t>3</a:t>
            </a:r>
            <a:r>
              <a:rPr lang="zh-CN" altLang="en-US" sz="2200" b="1" dirty="0">
                <a:latin typeface="宋体" panose="02010600030101010101" pitchFamily="2" charset="-122"/>
                <a:ea typeface="宋体" panose="02010600030101010101" pitchFamily="2" charset="-122"/>
                <a:cs typeface="+mn-cs"/>
              </a:rPr>
              <a:t>类不同的测试用例：</a:t>
            </a:r>
            <a:endParaRPr lang="zh-CN" altLang="en-US"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Char char="l"/>
            </a:pPr>
            <a:r>
              <a:rPr lang="zh-CN" altLang="en-US" sz="2200" b="1" dirty="0">
                <a:latin typeface="宋体" panose="02010600030101010101" pitchFamily="2" charset="-122"/>
                <a:ea typeface="宋体" panose="02010600030101010101" pitchFamily="2" charset="-122"/>
                <a:cs typeface="+mn-cs"/>
              </a:rPr>
              <a:t>检测软件全部功能的代表性测试用例；</a:t>
            </a:r>
            <a:endParaRPr lang="zh-CN" altLang="en-US"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Char char="l"/>
            </a:pPr>
            <a:r>
              <a:rPr lang="zh-CN" altLang="en-US" sz="2200" b="1" dirty="0">
                <a:latin typeface="宋体" panose="02010600030101010101" pitchFamily="2" charset="-122"/>
                <a:ea typeface="宋体" panose="02010600030101010101" pitchFamily="2" charset="-122"/>
                <a:cs typeface="+mn-cs"/>
              </a:rPr>
              <a:t>专门针对可能受修改影响的软件功能的附加测试；</a:t>
            </a:r>
            <a:endParaRPr lang="zh-CN" altLang="en-US"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Char char="l"/>
            </a:pPr>
            <a:r>
              <a:rPr lang="zh-CN" altLang="en-US" sz="2200" b="1" dirty="0">
                <a:latin typeface="宋体" panose="02010600030101010101" pitchFamily="2" charset="-122"/>
                <a:ea typeface="宋体" panose="02010600030101010101" pitchFamily="2" charset="-122"/>
                <a:cs typeface="+mn-cs"/>
              </a:rPr>
              <a:t>针对被修改过的软件成分的测试。</a:t>
            </a:r>
            <a:endParaRPr lang="en-US" altLang="zh-CN"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Char char="l"/>
            </a:pPr>
            <a:endParaRPr lang="en-US" altLang="zh-CN"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Char char="l"/>
            </a:pPr>
            <a:endParaRPr lang="zh-CN" altLang="en-US" sz="2200" b="1" dirty="0">
              <a:latin typeface="宋体" panose="02010600030101010101" pitchFamily="2" charset="-122"/>
              <a:ea typeface="宋体" panose="02010600030101010101" pitchFamily="2" charset="-122"/>
              <a:cs typeface="+mn-cs"/>
            </a:endParaRPr>
          </a:p>
        </p:txBody>
      </p:sp>
      <p:sp>
        <p:nvSpPr>
          <p:cNvPr id="29699"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内容占位符 2"/>
          <p:cNvSpPr>
            <a:spLocks noGrp="1"/>
          </p:cNvSpPr>
          <p:nvPr>
            <p:ph idx="1"/>
          </p:nvPr>
        </p:nvSpPr>
        <p:spPr>
          <a:xfrm>
            <a:off x="428625" y="1214438"/>
            <a:ext cx="8286750"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第五节  确认测试</a:t>
            </a:r>
            <a:endParaRPr kumimoji="0" lang="en-US" altLang="zh-CN" sz="1100" b="1" i="0" u="none" strike="noStrike" kern="0" cap="none" spc="0" normalizeH="0" baseline="0" noProof="0" dirty="0">
              <a:ln>
                <a:noFill/>
              </a:ln>
              <a:solidFill>
                <a:srgbClr val="FF0000"/>
              </a:solidFill>
              <a:effectLst/>
              <a:uLnTx/>
              <a:uFillTx/>
              <a:latin typeface="+mn-lt"/>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确认测试又称验收测试，其任务是验证系统的功能、性能等特性是否符合需求规格说明。（验证软件有效性）</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sp>
        <p:nvSpPr>
          <p:cNvPr id="30723" name="页脚占位符 3"/>
          <p:cNvSpPr txBox="1">
            <a:spLocks noGrp="1"/>
          </p:cNvSpPr>
          <p:nvPr>
            <p:ph type="ftr" sz="quarter" idx="11"/>
          </p:nvPr>
        </p:nvSpPr>
        <p:spPr>
          <a:xfrm>
            <a:off x="1511300" y="6153150"/>
            <a:ext cx="1905000" cy="381000"/>
          </a:xfrm>
          <a:ln/>
        </p:spPr>
        <p:txBody>
          <a:bodyPr/>
          <a:p>
            <a:pPr marL="0" indent="0" algn="ctr" eaLnBrk="1" hangingPunct="1">
              <a:spcBef>
                <a:spcPct val="0"/>
              </a:spcBef>
              <a:buClrTx/>
              <a:buFontTx/>
              <a:buNone/>
            </a:pPr>
            <a:fld id="{9A0DB2DC-4C9A-4742-B13C-FB6460FD3503}" type="slidenum">
              <a:rPr lang="en-US" altLang="zh-CN" sz="1600" b="1" dirty="0">
                <a:solidFill>
                  <a:srgbClr val="000000"/>
                </a:solidFill>
                <a:ea typeface="宋体" panose="02010600030101010101" pitchFamily="2" charset="-122"/>
              </a:rPr>
            </a:fld>
            <a:endParaRPr lang="en-US" altLang="zh-CN" sz="1600" b="1" dirty="0">
              <a:solidFill>
                <a:srgbClr val="000000"/>
              </a:solidFill>
              <a:ea typeface="宋体" panose="02010600030101010101" pitchFamily="2" charset="-122"/>
            </a:endParaRPr>
          </a:p>
        </p:txBody>
      </p:sp>
      <p:sp>
        <p:nvSpPr>
          <p:cNvPr id="30724" name="Rectangle 4"/>
          <p:cNvSpPr/>
          <p:nvPr/>
        </p:nvSpPr>
        <p:spPr>
          <a:xfrm>
            <a:off x="1016000" y="2660650"/>
            <a:ext cx="1625600" cy="406400"/>
          </a:xfrm>
          <a:prstGeom prst="rect">
            <a:avLst/>
          </a:prstGeom>
          <a:solidFill>
            <a:srgbClr val="FFFFCC"/>
          </a:solidFill>
          <a:ln w="9525" cap="sq" cmpd="sng">
            <a:solidFill>
              <a:srgbClr val="CC9900"/>
            </a:solidFill>
            <a:prstDash val="solid"/>
            <a:miter/>
            <a:headEnd type="none" w="med" len="med"/>
            <a:tailEnd type="none" w="med" len="med"/>
          </a:ln>
          <a:effectLst>
            <a:prstShdw prst="shdw17" dist="17961" dir="2699999">
              <a:srgbClr val="7A5C00"/>
            </a:prst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0"/>
              </a:spcBef>
              <a:buClrTx/>
              <a:buFontTx/>
              <a:buNone/>
            </a:pPr>
            <a:r>
              <a:rPr lang="zh-CN" altLang="en-US" sz="1600" b="1" dirty="0">
                <a:solidFill>
                  <a:srgbClr val="000000"/>
                </a:solidFill>
                <a:ea typeface="宋体" panose="02010600030101010101" pitchFamily="2" charset="-122"/>
              </a:rPr>
              <a:t>选择测试人员</a:t>
            </a:r>
            <a:endParaRPr lang="zh-CN" altLang="en-US" sz="1600" b="1" dirty="0">
              <a:solidFill>
                <a:srgbClr val="000000"/>
              </a:solidFill>
              <a:ea typeface="宋体" panose="02010600030101010101" pitchFamily="2" charset="-122"/>
            </a:endParaRPr>
          </a:p>
        </p:txBody>
      </p:sp>
      <p:sp>
        <p:nvSpPr>
          <p:cNvPr id="30725" name="Rectangle 5"/>
          <p:cNvSpPr/>
          <p:nvPr/>
        </p:nvSpPr>
        <p:spPr>
          <a:xfrm>
            <a:off x="1006475" y="3159125"/>
            <a:ext cx="1625600" cy="406400"/>
          </a:xfrm>
          <a:prstGeom prst="rect">
            <a:avLst/>
          </a:prstGeom>
          <a:solidFill>
            <a:srgbClr val="FFFFCC"/>
          </a:solidFill>
          <a:ln w="9525" cap="sq" cmpd="sng">
            <a:solidFill>
              <a:srgbClr val="CC9900"/>
            </a:solidFill>
            <a:prstDash val="solid"/>
            <a:miter/>
            <a:headEnd type="none" w="med" len="med"/>
            <a:tailEnd type="none" w="med" len="med"/>
          </a:ln>
          <a:effectLst>
            <a:prstShdw prst="shdw17" dist="17961" dir="2699999">
              <a:srgbClr val="7A5C00"/>
            </a:prst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0"/>
              </a:spcBef>
              <a:buClrTx/>
              <a:buFontTx/>
              <a:buNone/>
            </a:pPr>
            <a:r>
              <a:rPr lang="zh-CN" altLang="en-US" sz="1600" b="1" dirty="0">
                <a:solidFill>
                  <a:srgbClr val="000000"/>
                </a:solidFill>
                <a:ea typeface="宋体" panose="02010600030101010101" pitchFamily="2" charset="-122"/>
              </a:rPr>
              <a:t>选择测试用例</a:t>
            </a:r>
            <a:endParaRPr lang="zh-CN" altLang="en-US" sz="1600" b="1" dirty="0">
              <a:solidFill>
                <a:srgbClr val="000000"/>
              </a:solidFill>
              <a:ea typeface="宋体" panose="02010600030101010101" pitchFamily="2" charset="-122"/>
            </a:endParaRPr>
          </a:p>
        </p:txBody>
      </p:sp>
      <p:sp>
        <p:nvSpPr>
          <p:cNvPr id="30726" name="Rectangle 6"/>
          <p:cNvSpPr/>
          <p:nvPr/>
        </p:nvSpPr>
        <p:spPr>
          <a:xfrm>
            <a:off x="1016000" y="3656013"/>
            <a:ext cx="1625600" cy="406400"/>
          </a:xfrm>
          <a:prstGeom prst="rect">
            <a:avLst/>
          </a:prstGeom>
          <a:solidFill>
            <a:srgbClr val="FFFFCC"/>
          </a:solidFill>
          <a:ln w="9525" cap="sq" cmpd="sng">
            <a:solidFill>
              <a:srgbClr val="CC9900"/>
            </a:solidFill>
            <a:prstDash val="solid"/>
            <a:miter/>
            <a:headEnd type="none" w="med" len="med"/>
            <a:tailEnd type="none" w="med" len="med"/>
          </a:ln>
          <a:effectLst>
            <a:prstShdw prst="shdw17" dist="17961" dir="2699999">
              <a:srgbClr val="7A5C00"/>
            </a:prst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0"/>
              </a:spcBef>
              <a:buClrTx/>
              <a:buFontTx/>
              <a:buNone/>
            </a:pPr>
            <a:r>
              <a:rPr lang="zh-CN" altLang="en-US" sz="1600" b="1" dirty="0">
                <a:solidFill>
                  <a:srgbClr val="000000"/>
                </a:solidFill>
                <a:ea typeface="宋体" panose="02010600030101010101" pitchFamily="2" charset="-122"/>
              </a:rPr>
              <a:t>实际运行测试</a:t>
            </a:r>
            <a:endParaRPr lang="zh-CN" altLang="en-US" sz="1600" b="1" dirty="0">
              <a:solidFill>
                <a:srgbClr val="000000"/>
              </a:solidFill>
              <a:ea typeface="宋体" panose="02010600030101010101" pitchFamily="2" charset="-122"/>
            </a:endParaRPr>
          </a:p>
        </p:txBody>
      </p:sp>
      <p:sp>
        <p:nvSpPr>
          <p:cNvPr id="30727" name="Rectangle 7"/>
          <p:cNvSpPr/>
          <p:nvPr/>
        </p:nvSpPr>
        <p:spPr>
          <a:xfrm>
            <a:off x="1025525" y="4195763"/>
            <a:ext cx="1625600" cy="406400"/>
          </a:xfrm>
          <a:prstGeom prst="rect">
            <a:avLst/>
          </a:prstGeom>
          <a:solidFill>
            <a:srgbClr val="FFFFCC"/>
          </a:solidFill>
          <a:ln w="9525" cap="sq" cmpd="sng">
            <a:solidFill>
              <a:srgbClr val="CC9900"/>
            </a:solidFill>
            <a:prstDash val="solid"/>
            <a:miter/>
            <a:headEnd type="none" w="med" len="med"/>
            <a:tailEnd type="none" w="med" len="med"/>
          </a:ln>
          <a:effectLst>
            <a:prstShdw prst="shdw17" dist="17961" dir="2699999">
              <a:srgbClr val="7A5C00"/>
            </a:prst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0"/>
              </a:spcBef>
              <a:buClrTx/>
              <a:buFontTx/>
              <a:buNone/>
            </a:pPr>
            <a:r>
              <a:rPr lang="zh-CN" altLang="en-US" sz="1600" b="1" dirty="0">
                <a:solidFill>
                  <a:srgbClr val="000000"/>
                </a:solidFill>
                <a:ea typeface="宋体" panose="02010600030101010101" pitchFamily="2" charset="-122"/>
              </a:rPr>
              <a:t>软件计划</a:t>
            </a:r>
            <a:endParaRPr lang="zh-CN" altLang="en-US" sz="1600" b="1" dirty="0">
              <a:solidFill>
                <a:srgbClr val="000000"/>
              </a:solidFill>
              <a:ea typeface="宋体" panose="02010600030101010101" pitchFamily="2" charset="-122"/>
            </a:endParaRPr>
          </a:p>
        </p:txBody>
      </p:sp>
      <p:sp>
        <p:nvSpPr>
          <p:cNvPr id="30728" name="Rectangle 8"/>
          <p:cNvSpPr/>
          <p:nvPr/>
        </p:nvSpPr>
        <p:spPr>
          <a:xfrm>
            <a:off x="1036638" y="4713288"/>
            <a:ext cx="1625600" cy="406400"/>
          </a:xfrm>
          <a:prstGeom prst="rect">
            <a:avLst/>
          </a:prstGeom>
          <a:solidFill>
            <a:srgbClr val="FFFFCC"/>
          </a:solidFill>
          <a:ln w="9525" cap="sq" cmpd="sng">
            <a:solidFill>
              <a:srgbClr val="CC9900"/>
            </a:solidFill>
            <a:prstDash val="solid"/>
            <a:miter/>
            <a:headEnd type="none" w="med" len="med"/>
            <a:tailEnd type="none" w="med" len="med"/>
          </a:ln>
          <a:effectLst>
            <a:prstShdw prst="shdw17" dist="17961" dir="2699999">
              <a:srgbClr val="7A5C00"/>
            </a:prst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0"/>
              </a:spcBef>
              <a:buClrTx/>
              <a:buFontTx/>
              <a:buNone/>
            </a:pPr>
            <a:r>
              <a:rPr lang="zh-CN" altLang="en-US" sz="1600" b="1" dirty="0">
                <a:solidFill>
                  <a:srgbClr val="000000"/>
                </a:solidFill>
                <a:ea typeface="宋体" panose="02010600030101010101" pitchFamily="2" charset="-122"/>
              </a:rPr>
              <a:t>用户文档</a:t>
            </a:r>
            <a:endParaRPr lang="zh-CN" altLang="en-US" sz="1600" b="1" dirty="0">
              <a:solidFill>
                <a:srgbClr val="000000"/>
              </a:solidFill>
              <a:ea typeface="宋体" panose="02010600030101010101" pitchFamily="2" charset="-122"/>
            </a:endParaRPr>
          </a:p>
        </p:txBody>
      </p:sp>
      <p:sp>
        <p:nvSpPr>
          <p:cNvPr id="30729" name="Rectangle 9"/>
          <p:cNvSpPr/>
          <p:nvPr/>
        </p:nvSpPr>
        <p:spPr>
          <a:xfrm>
            <a:off x="1027113" y="5191125"/>
            <a:ext cx="1625600" cy="406400"/>
          </a:xfrm>
          <a:prstGeom prst="rect">
            <a:avLst/>
          </a:prstGeom>
          <a:solidFill>
            <a:srgbClr val="FFFFCC"/>
          </a:solidFill>
          <a:ln w="9525" cap="sq" cmpd="sng">
            <a:solidFill>
              <a:srgbClr val="CC9900"/>
            </a:solidFill>
            <a:prstDash val="solid"/>
            <a:miter/>
            <a:headEnd type="none" w="med" len="med"/>
            <a:tailEnd type="none" w="med" len="med"/>
          </a:ln>
          <a:effectLst>
            <a:prstShdw prst="shdw17" dist="17961" dir="2699999">
              <a:srgbClr val="7A5C00"/>
            </a:prst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0"/>
              </a:spcBef>
              <a:buClrTx/>
              <a:buFontTx/>
              <a:buNone/>
            </a:pPr>
            <a:r>
              <a:rPr lang="zh-CN" altLang="en-US" sz="1600" b="1" dirty="0">
                <a:solidFill>
                  <a:srgbClr val="000000"/>
                </a:solidFill>
                <a:ea typeface="宋体" panose="02010600030101010101" pitchFamily="2" charset="-122"/>
              </a:rPr>
              <a:t>开发文档</a:t>
            </a:r>
            <a:endParaRPr lang="zh-CN" altLang="en-US" sz="1600" b="1" dirty="0">
              <a:solidFill>
                <a:srgbClr val="000000"/>
              </a:solidFill>
              <a:ea typeface="宋体" panose="02010600030101010101" pitchFamily="2" charset="-122"/>
            </a:endParaRPr>
          </a:p>
        </p:txBody>
      </p:sp>
      <p:sp>
        <p:nvSpPr>
          <p:cNvPr id="30730" name="Rectangle 10"/>
          <p:cNvSpPr/>
          <p:nvPr/>
        </p:nvSpPr>
        <p:spPr>
          <a:xfrm>
            <a:off x="1036638" y="5688013"/>
            <a:ext cx="1625600" cy="406400"/>
          </a:xfrm>
          <a:prstGeom prst="rect">
            <a:avLst/>
          </a:prstGeom>
          <a:solidFill>
            <a:srgbClr val="FFFFCC"/>
          </a:solidFill>
          <a:ln w="9525" cap="sq" cmpd="sng">
            <a:solidFill>
              <a:srgbClr val="CC9900"/>
            </a:solidFill>
            <a:prstDash val="solid"/>
            <a:miter/>
            <a:headEnd type="none" w="med" len="med"/>
            <a:tailEnd type="none" w="med" len="med"/>
          </a:ln>
          <a:effectLst>
            <a:prstShdw prst="shdw17" dist="17961" dir="2699999">
              <a:srgbClr val="7A5C00"/>
            </a:prst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0"/>
              </a:spcBef>
              <a:buClrTx/>
              <a:buFontTx/>
              <a:buNone/>
            </a:pPr>
            <a:r>
              <a:rPr lang="zh-CN" altLang="en-US" sz="1600" b="1" dirty="0">
                <a:solidFill>
                  <a:srgbClr val="000000"/>
                </a:solidFill>
                <a:ea typeface="宋体" panose="02010600030101010101" pitchFamily="2" charset="-122"/>
              </a:rPr>
              <a:t>源程序文本</a:t>
            </a:r>
            <a:endParaRPr lang="zh-CN" altLang="en-US" sz="1600" b="1" dirty="0">
              <a:solidFill>
                <a:srgbClr val="000000"/>
              </a:solidFill>
              <a:ea typeface="宋体" panose="02010600030101010101" pitchFamily="2" charset="-122"/>
            </a:endParaRPr>
          </a:p>
        </p:txBody>
      </p:sp>
      <p:sp>
        <p:nvSpPr>
          <p:cNvPr id="30731" name="Rectangle 11"/>
          <p:cNvSpPr/>
          <p:nvPr/>
        </p:nvSpPr>
        <p:spPr>
          <a:xfrm>
            <a:off x="1025525" y="6165850"/>
            <a:ext cx="1625600" cy="406400"/>
          </a:xfrm>
          <a:prstGeom prst="rect">
            <a:avLst/>
          </a:prstGeom>
          <a:solidFill>
            <a:srgbClr val="FFFFCC"/>
          </a:solidFill>
          <a:ln w="9525" cap="sq" cmpd="sng">
            <a:solidFill>
              <a:srgbClr val="CC9900"/>
            </a:solidFill>
            <a:prstDash val="solid"/>
            <a:miter/>
            <a:headEnd type="none" w="med" len="med"/>
            <a:tailEnd type="none" w="med" len="med"/>
          </a:ln>
          <a:effectLst>
            <a:prstShdw prst="shdw17" dist="17961" dir="2699999">
              <a:srgbClr val="7A5C00"/>
            </a:prst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0"/>
              </a:spcBef>
              <a:buClrTx/>
              <a:buFontTx/>
              <a:buNone/>
            </a:pPr>
            <a:r>
              <a:rPr lang="zh-CN" altLang="en-US" sz="1600" b="1" dirty="0">
                <a:solidFill>
                  <a:srgbClr val="000000"/>
                </a:solidFill>
                <a:ea typeface="宋体" panose="02010600030101010101" pitchFamily="2" charset="-122"/>
              </a:rPr>
              <a:t>支持环境</a:t>
            </a:r>
            <a:endParaRPr lang="zh-CN" altLang="en-US" sz="1600" b="1" dirty="0">
              <a:solidFill>
                <a:srgbClr val="000000"/>
              </a:solidFill>
              <a:ea typeface="宋体" panose="02010600030101010101" pitchFamily="2" charset="-122"/>
            </a:endParaRPr>
          </a:p>
        </p:txBody>
      </p:sp>
      <p:sp>
        <p:nvSpPr>
          <p:cNvPr id="30732" name="Oval 12"/>
          <p:cNvSpPr/>
          <p:nvPr/>
        </p:nvSpPr>
        <p:spPr>
          <a:xfrm>
            <a:off x="3352800" y="2843213"/>
            <a:ext cx="833438" cy="1260475"/>
          </a:xfrm>
          <a:prstGeom prst="ellipse">
            <a:avLst/>
          </a:prstGeom>
          <a:solidFill>
            <a:srgbClr val="92D050"/>
          </a:solidFill>
          <a:ln w="9525" cap="sq" cmpd="sng">
            <a:solidFill>
              <a:srgbClr val="CC9900"/>
            </a:solidFill>
            <a:prstDash val="solid"/>
            <a:headEnd type="none" w="med" len="med"/>
            <a:tailEnd type="none" w="med" len="med"/>
          </a:ln>
          <a:effectLst>
            <a:prstShdw prst="shdw17" dist="17961" dir="2699999">
              <a:srgbClr val="7A5C00"/>
            </a:prst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0"/>
              </a:spcBef>
              <a:buClrTx/>
              <a:buFontTx/>
              <a:buNone/>
            </a:pPr>
            <a:r>
              <a:rPr lang="zh-CN" altLang="en-US" sz="1600" b="1" dirty="0">
                <a:solidFill>
                  <a:srgbClr val="000000"/>
                </a:solidFill>
                <a:ea typeface="宋体" panose="02010600030101010101" pitchFamily="2" charset="-122"/>
              </a:rPr>
              <a:t>有效性</a:t>
            </a:r>
            <a:endParaRPr lang="zh-CN" altLang="en-US" sz="1600" b="1" dirty="0">
              <a:solidFill>
                <a:srgbClr val="000000"/>
              </a:solidFill>
              <a:ea typeface="宋体" panose="02010600030101010101" pitchFamily="2" charset="-122"/>
            </a:endParaRPr>
          </a:p>
          <a:p>
            <a:pPr marL="0" lvl="0" indent="0" algn="ctr" eaLnBrk="1" hangingPunct="1">
              <a:spcBef>
                <a:spcPct val="0"/>
              </a:spcBef>
              <a:buClrTx/>
              <a:buFontTx/>
              <a:buNone/>
            </a:pPr>
            <a:r>
              <a:rPr lang="zh-CN" altLang="en-US" sz="1600" b="1" dirty="0">
                <a:solidFill>
                  <a:srgbClr val="000000"/>
                </a:solidFill>
                <a:ea typeface="宋体" panose="02010600030101010101" pitchFamily="2" charset="-122"/>
              </a:rPr>
              <a:t>测试</a:t>
            </a:r>
            <a:endParaRPr lang="zh-CN" altLang="en-US" sz="1600" b="1" dirty="0">
              <a:solidFill>
                <a:srgbClr val="000000"/>
              </a:solidFill>
              <a:ea typeface="宋体" panose="02010600030101010101" pitchFamily="2" charset="-122"/>
            </a:endParaRPr>
          </a:p>
        </p:txBody>
      </p:sp>
      <p:sp>
        <p:nvSpPr>
          <p:cNvPr id="30733" name="Oval 13"/>
          <p:cNvSpPr/>
          <p:nvPr/>
        </p:nvSpPr>
        <p:spPr>
          <a:xfrm>
            <a:off x="3362325" y="4681538"/>
            <a:ext cx="833438" cy="1260475"/>
          </a:xfrm>
          <a:prstGeom prst="ellipse">
            <a:avLst/>
          </a:prstGeom>
          <a:solidFill>
            <a:srgbClr val="92D050"/>
          </a:solidFill>
          <a:ln w="9525" cap="sq" cmpd="sng">
            <a:solidFill>
              <a:srgbClr val="CC9900"/>
            </a:solidFill>
            <a:prstDash val="solid"/>
            <a:headEnd type="none" w="med" len="med"/>
            <a:tailEnd type="none" w="med" len="med"/>
          </a:ln>
          <a:effectLst>
            <a:prstShdw prst="shdw17" dist="17961" dir="2699999">
              <a:srgbClr val="7A5C00"/>
            </a:prst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0"/>
              </a:spcBef>
              <a:buClrTx/>
              <a:buFontTx/>
              <a:buNone/>
            </a:pPr>
            <a:r>
              <a:rPr lang="zh-CN" altLang="en-US" sz="1600" b="1" dirty="0">
                <a:solidFill>
                  <a:srgbClr val="000000"/>
                </a:solidFill>
                <a:ea typeface="宋体" panose="02010600030101010101" pitchFamily="2" charset="-122"/>
              </a:rPr>
              <a:t>软件</a:t>
            </a:r>
            <a:endParaRPr lang="zh-CN" altLang="en-US" sz="1600" b="1" dirty="0">
              <a:solidFill>
                <a:srgbClr val="000000"/>
              </a:solidFill>
              <a:ea typeface="宋体" panose="02010600030101010101" pitchFamily="2" charset="-122"/>
            </a:endParaRPr>
          </a:p>
          <a:p>
            <a:pPr marL="0" lvl="0" indent="0" algn="ctr" eaLnBrk="1" hangingPunct="1">
              <a:spcBef>
                <a:spcPct val="0"/>
              </a:spcBef>
              <a:buClrTx/>
              <a:buFontTx/>
              <a:buNone/>
            </a:pPr>
            <a:r>
              <a:rPr lang="zh-CN" altLang="en-US" sz="1600" b="1" dirty="0">
                <a:solidFill>
                  <a:srgbClr val="000000"/>
                </a:solidFill>
                <a:ea typeface="宋体" panose="02010600030101010101" pitchFamily="2" charset="-122"/>
              </a:rPr>
              <a:t>配置</a:t>
            </a:r>
            <a:endParaRPr lang="zh-CN" altLang="en-US" sz="1600" b="1" dirty="0">
              <a:solidFill>
                <a:srgbClr val="000000"/>
              </a:solidFill>
              <a:ea typeface="宋体" panose="02010600030101010101" pitchFamily="2" charset="-122"/>
            </a:endParaRPr>
          </a:p>
          <a:p>
            <a:pPr marL="0" lvl="0" indent="0" algn="ctr" eaLnBrk="1" hangingPunct="1">
              <a:spcBef>
                <a:spcPct val="0"/>
              </a:spcBef>
              <a:buClrTx/>
              <a:buFontTx/>
              <a:buNone/>
            </a:pPr>
            <a:r>
              <a:rPr lang="zh-CN" altLang="en-US" sz="1600" b="1" dirty="0">
                <a:solidFill>
                  <a:srgbClr val="000000"/>
                </a:solidFill>
                <a:ea typeface="宋体" panose="02010600030101010101" pitchFamily="2" charset="-122"/>
              </a:rPr>
              <a:t>审查</a:t>
            </a:r>
            <a:endParaRPr lang="zh-CN" altLang="en-US" sz="1600" b="1" dirty="0">
              <a:solidFill>
                <a:srgbClr val="000000"/>
              </a:solidFill>
              <a:ea typeface="宋体" panose="02010600030101010101" pitchFamily="2" charset="-122"/>
            </a:endParaRPr>
          </a:p>
        </p:txBody>
      </p:sp>
      <p:sp>
        <p:nvSpPr>
          <p:cNvPr id="30734" name="Oval 14"/>
          <p:cNvSpPr/>
          <p:nvPr/>
        </p:nvSpPr>
        <p:spPr>
          <a:xfrm>
            <a:off x="5140325" y="3778250"/>
            <a:ext cx="833438" cy="1260475"/>
          </a:xfrm>
          <a:prstGeom prst="ellipse">
            <a:avLst/>
          </a:prstGeom>
          <a:solidFill>
            <a:srgbClr val="92D050"/>
          </a:solidFill>
          <a:ln w="9525" cap="sq" cmpd="sng">
            <a:solidFill>
              <a:srgbClr val="CC9900"/>
            </a:solidFill>
            <a:prstDash val="solid"/>
            <a:headEnd type="none" w="med" len="med"/>
            <a:tailEnd type="none" w="med" len="med"/>
          </a:ln>
          <a:effectLst>
            <a:prstShdw prst="shdw17" dist="17961" dir="2699999">
              <a:srgbClr val="7A5C00"/>
            </a:prst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0"/>
              </a:spcBef>
              <a:buClrTx/>
              <a:buFontTx/>
              <a:buNone/>
            </a:pPr>
            <a:r>
              <a:rPr lang="zh-CN" altLang="en-US" sz="1600" b="1" dirty="0">
                <a:solidFill>
                  <a:srgbClr val="000000"/>
                </a:solidFill>
                <a:ea typeface="宋体" panose="02010600030101010101" pitchFamily="2" charset="-122"/>
              </a:rPr>
              <a:t>管理</a:t>
            </a:r>
            <a:endParaRPr lang="zh-CN" altLang="en-US" sz="1600" b="1" dirty="0">
              <a:solidFill>
                <a:srgbClr val="000000"/>
              </a:solidFill>
              <a:ea typeface="宋体" panose="02010600030101010101" pitchFamily="2" charset="-122"/>
            </a:endParaRPr>
          </a:p>
          <a:p>
            <a:pPr marL="0" lvl="0" indent="0" algn="ctr" eaLnBrk="1" hangingPunct="1">
              <a:spcBef>
                <a:spcPct val="0"/>
              </a:spcBef>
              <a:buClrTx/>
              <a:buFontTx/>
              <a:buNone/>
            </a:pPr>
            <a:r>
              <a:rPr lang="zh-CN" altLang="en-US" sz="1600" b="1" dirty="0">
                <a:solidFill>
                  <a:srgbClr val="000000"/>
                </a:solidFill>
                <a:ea typeface="宋体" panose="02010600030101010101" pitchFamily="2" charset="-122"/>
              </a:rPr>
              <a:t>机构</a:t>
            </a:r>
            <a:endParaRPr lang="zh-CN" altLang="en-US" sz="1600" b="1" dirty="0">
              <a:solidFill>
                <a:srgbClr val="000000"/>
              </a:solidFill>
              <a:ea typeface="宋体" panose="02010600030101010101" pitchFamily="2" charset="-122"/>
            </a:endParaRPr>
          </a:p>
          <a:p>
            <a:pPr marL="0" lvl="0" indent="0" algn="ctr" eaLnBrk="1" hangingPunct="1">
              <a:spcBef>
                <a:spcPct val="0"/>
              </a:spcBef>
              <a:buClrTx/>
              <a:buFontTx/>
              <a:buNone/>
            </a:pPr>
            <a:r>
              <a:rPr lang="zh-CN" altLang="en-US" sz="1600" b="1" dirty="0">
                <a:solidFill>
                  <a:srgbClr val="000000"/>
                </a:solidFill>
                <a:ea typeface="宋体" panose="02010600030101010101" pitchFamily="2" charset="-122"/>
              </a:rPr>
              <a:t>裁决</a:t>
            </a:r>
            <a:endParaRPr lang="zh-CN" altLang="en-US" sz="1600" b="1" dirty="0">
              <a:solidFill>
                <a:srgbClr val="000000"/>
              </a:solidFill>
              <a:ea typeface="宋体" panose="02010600030101010101" pitchFamily="2" charset="-122"/>
            </a:endParaRPr>
          </a:p>
        </p:txBody>
      </p:sp>
      <p:sp>
        <p:nvSpPr>
          <p:cNvPr id="30735" name="Oval 15"/>
          <p:cNvSpPr/>
          <p:nvPr/>
        </p:nvSpPr>
        <p:spPr>
          <a:xfrm>
            <a:off x="6611938" y="3768725"/>
            <a:ext cx="833437" cy="1260475"/>
          </a:xfrm>
          <a:prstGeom prst="ellipse">
            <a:avLst/>
          </a:prstGeom>
          <a:solidFill>
            <a:srgbClr val="92D050"/>
          </a:solidFill>
          <a:ln w="9525" cap="sq" cmpd="sng">
            <a:solidFill>
              <a:srgbClr val="CC9900"/>
            </a:solidFill>
            <a:prstDash val="solid"/>
            <a:headEnd type="none" w="med" len="med"/>
            <a:tailEnd type="none" w="med" len="med"/>
          </a:ln>
          <a:effectLst>
            <a:prstShdw prst="shdw17" dist="17961" dir="2699999">
              <a:srgbClr val="7A5C00"/>
            </a:prst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0"/>
              </a:spcBef>
              <a:buClrTx/>
              <a:buFontTx/>
              <a:buNone/>
            </a:pPr>
            <a:r>
              <a:rPr lang="zh-CN" altLang="en-US" sz="1600" b="1" dirty="0">
                <a:solidFill>
                  <a:srgbClr val="000000"/>
                </a:solidFill>
                <a:ea typeface="宋体" panose="02010600030101010101" pitchFamily="2" charset="-122"/>
              </a:rPr>
              <a:t>专家</a:t>
            </a:r>
            <a:endParaRPr lang="zh-CN" altLang="en-US" sz="1600" b="1" dirty="0">
              <a:solidFill>
                <a:srgbClr val="000000"/>
              </a:solidFill>
              <a:ea typeface="宋体" panose="02010600030101010101" pitchFamily="2" charset="-122"/>
            </a:endParaRPr>
          </a:p>
          <a:p>
            <a:pPr marL="0" lvl="0" indent="0" algn="ctr" eaLnBrk="1" hangingPunct="1">
              <a:spcBef>
                <a:spcPct val="0"/>
              </a:spcBef>
              <a:buClrTx/>
              <a:buFontTx/>
              <a:buNone/>
            </a:pPr>
            <a:r>
              <a:rPr lang="zh-CN" altLang="en-US" sz="1600" b="1" dirty="0">
                <a:solidFill>
                  <a:srgbClr val="000000"/>
                </a:solidFill>
                <a:ea typeface="宋体" panose="02010600030101010101" pitchFamily="2" charset="-122"/>
              </a:rPr>
              <a:t>鉴定会</a:t>
            </a:r>
            <a:endParaRPr lang="zh-CN" altLang="en-US" sz="1600" b="1" dirty="0">
              <a:solidFill>
                <a:srgbClr val="000000"/>
              </a:solidFill>
              <a:ea typeface="宋体" panose="02010600030101010101" pitchFamily="2" charset="-122"/>
            </a:endParaRPr>
          </a:p>
        </p:txBody>
      </p:sp>
      <p:sp>
        <p:nvSpPr>
          <p:cNvPr id="31761" name="Line 16"/>
          <p:cNvSpPr>
            <a:spLocks noChangeShapeType="1"/>
          </p:cNvSpPr>
          <p:nvPr/>
        </p:nvSpPr>
        <p:spPr bwMode="auto">
          <a:xfrm>
            <a:off x="2620963" y="2822575"/>
            <a:ext cx="771525" cy="325438"/>
          </a:xfrm>
          <a:prstGeom prst="line">
            <a:avLst/>
          </a:prstGeom>
          <a:noFill/>
          <a:ln w="28575" cap="sq">
            <a:solidFill>
              <a:schemeClr val="tx1">
                <a:lumMod val="25000"/>
              </a:schemeClr>
            </a:solidFill>
            <a:round/>
            <a:tailEnd type="triangl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762" name="Line 17"/>
          <p:cNvSpPr>
            <a:spLocks noChangeShapeType="1"/>
          </p:cNvSpPr>
          <p:nvPr/>
        </p:nvSpPr>
        <p:spPr bwMode="auto">
          <a:xfrm>
            <a:off x="2641600" y="3371850"/>
            <a:ext cx="731838" cy="0"/>
          </a:xfrm>
          <a:prstGeom prst="line">
            <a:avLst/>
          </a:prstGeom>
          <a:noFill/>
          <a:ln w="28575" cap="sq">
            <a:solidFill>
              <a:schemeClr val="tx1">
                <a:lumMod val="25000"/>
              </a:schemeClr>
            </a:solidFill>
            <a:round/>
            <a:tailEnd type="triangl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763" name="Line 18"/>
          <p:cNvSpPr>
            <a:spLocks noChangeShapeType="1"/>
          </p:cNvSpPr>
          <p:nvPr/>
        </p:nvSpPr>
        <p:spPr bwMode="auto">
          <a:xfrm flipV="1">
            <a:off x="2662238" y="3556000"/>
            <a:ext cx="690563" cy="284163"/>
          </a:xfrm>
          <a:prstGeom prst="line">
            <a:avLst/>
          </a:prstGeom>
          <a:noFill/>
          <a:ln w="28575" cap="sq">
            <a:solidFill>
              <a:schemeClr val="tx1">
                <a:lumMod val="25000"/>
              </a:schemeClr>
            </a:solidFill>
            <a:round/>
            <a:tailEnd type="triangl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764" name="Line 19"/>
          <p:cNvSpPr>
            <a:spLocks noChangeShapeType="1"/>
          </p:cNvSpPr>
          <p:nvPr/>
        </p:nvSpPr>
        <p:spPr bwMode="auto">
          <a:xfrm flipV="1">
            <a:off x="2641600" y="3738563"/>
            <a:ext cx="750888" cy="649288"/>
          </a:xfrm>
          <a:prstGeom prst="line">
            <a:avLst/>
          </a:prstGeom>
          <a:noFill/>
          <a:ln w="28575" cap="sq">
            <a:solidFill>
              <a:schemeClr val="tx1">
                <a:lumMod val="25000"/>
              </a:schemeClr>
            </a:solidFill>
            <a:round/>
            <a:tailEnd type="triangl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765" name="Line 20"/>
          <p:cNvSpPr>
            <a:spLocks noChangeShapeType="1"/>
          </p:cNvSpPr>
          <p:nvPr/>
        </p:nvSpPr>
        <p:spPr bwMode="auto">
          <a:xfrm>
            <a:off x="2641600" y="4510088"/>
            <a:ext cx="752475" cy="404813"/>
          </a:xfrm>
          <a:prstGeom prst="line">
            <a:avLst/>
          </a:prstGeom>
          <a:noFill/>
          <a:ln w="28575" cap="sq">
            <a:solidFill>
              <a:schemeClr val="tx1">
                <a:lumMod val="25000"/>
              </a:schemeClr>
            </a:solidFill>
            <a:round/>
            <a:tailEnd type="triangl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766" name="Line 21"/>
          <p:cNvSpPr>
            <a:spLocks noChangeShapeType="1"/>
          </p:cNvSpPr>
          <p:nvPr/>
        </p:nvSpPr>
        <p:spPr bwMode="auto">
          <a:xfrm flipV="1">
            <a:off x="2662238" y="3900488"/>
            <a:ext cx="792163" cy="995363"/>
          </a:xfrm>
          <a:prstGeom prst="line">
            <a:avLst/>
          </a:prstGeom>
          <a:noFill/>
          <a:ln w="28575" cap="sq">
            <a:solidFill>
              <a:schemeClr val="tx1">
                <a:lumMod val="25000"/>
              </a:schemeClr>
            </a:solidFill>
            <a:round/>
            <a:tailEnd type="triangl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767" name="Line 22"/>
          <p:cNvSpPr>
            <a:spLocks noChangeShapeType="1"/>
          </p:cNvSpPr>
          <p:nvPr/>
        </p:nvSpPr>
        <p:spPr bwMode="auto">
          <a:xfrm>
            <a:off x="2641600" y="4976813"/>
            <a:ext cx="750888" cy="142875"/>
          </a:xfrm>
          <a:prstGeom prst="line">
            <a:avLst/>
          </a:prstGeom>
          <a:noFill/>
          <a:ln w="28575" cap="sq">
            <a:solidFill>
              <a:schemeClr val="tx1">
                <a:lumMod val="25000"/>
              </a:schemeClr>
            </a:solidFill>
            <a:round/>
            <a:tailEnd type="triangl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768" name="Line 23"/>
          <p:cNvSpPr>
            <a:spLocks noChangeShapeType="1"/>
          </p:cNvSpPr>
          <p:nvPr/>
        </p:nvSpPr>
        <p:spPr bwMode="auto">
          <a:xfrm flipV="1">
            <a:off x="2681288" y="5403850"/>
            <a:ext cx="671513" cy="0"/>
          </a:xfrm>
          <a:prstGeom prst="line">
            <a:avLst/>
          </a:prstGeom>
          <a:noFill/>
          <a:ln w="28575" cap="sq">
            <a:solidFill>
              <a:schemeClr val="tx1">
                <a:lumMod val="25000"/>
              </a:schemeClr>
            </a:solidFill>
            <a:round/>
            <a:tailEnd type="triangl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44" name="Line 24"/>
          <p:cNvSpPr/>
          <p:nvPr/>
        </p:nvSpPr>
        <p:spPr>
          <a:xfrm flipV="1">
            <a:off x="2662238" y="5911850"/>
            <a:ext cx="406400" cy="20638"/>
          </a:xfrm>
          <a:prstGeom prst="line">
            <a:avLst/>
          </a:prstGeom>
          <a:ln w="9525">
            <a:noFill/>
          </a:ln>
          <a:effectLst>
            <a:prstShdw prst="shdw17" dist="17961" dir="2699999">
              <a:srgbClr val="999999"/>
            </a:prstShdw>
          </a:effectLst>
        </p:spPr>
      </p:sp>
      <p:sp>
        <p:nvSpPr>
          <p:cNvPr id="31770" name="Line 25"/>
          <p:cNvSpPr>
            <a:spLocks noChangeShapeType="1"/>
          </p:cNvSpPr>
          <p:nvPr/>
        </p:nvSpPr>
        <p:spPr bwMode="auto">
          <a:xfrm flipV="1">
            <a:off x="2662238" y="5586413"/>
            <a:ext cx="711200" cy="325438"/>
          </a:xfrm>
          <a:prstGeom prst="line">
            <a:avLst/>
          </a:prstGeom>
          <a:noFill/>
          <a:ln w="28575" cap="sq">
            <a:solidFill>
              <a:schemeClr val="tx1">
                <a:lumMod val="25000"/>
              </a:schemeClr>
            </a:solidFill>
            <a:round/>
            <a:tailEnd type="triangl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771" name="Line 26"/>
          <p:cNvSpPr>
            <a:spLocks noChangeShapeType="1"/>
          </p:cNvSpPr>
          <p:nvPr/>
        </p:nvSpPr>
        <p:spPr bwMode="auto">
          <a:xfrm flipV="1">
            <a:off x="2641600" y="5748338"/>
            <a:ext cx="833438" cy="609600"/>
          </a:xfrm>
          <a:prstGeom prst="line">
            <a:avLst/>
          </a:prstGeom>
          <a:noFill/>
          <a:ln w="28575" cap="sq">
            <a:solidFill>
              <a:schemeClr val="tx1">
                <a:lumMod val="25000"/>
              </a:schemeClr>
            </a:solidFill>
            <a:round/>
            <a:tailEnd type="triangle" w="med" len="me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AutoShape 27"/>
          <p:cNvSpPr>
            <a:spLocks noChangeArrowheads="1"/>
          </p:cNvSpPr>
          <p:nvPr/>
        </p:nvSpPr>
        <p:spPr bwMode="auto">
          <a:xfrm rot="1560233">
            <a:off x="4184650" y="3717925"/>
            <a:ext cx="1016000" cy="242888"/>
          </a:xfrm>
          <a:prstGeom prst="rightArrow">
            <a:avLst>
              <a:gd name="adj1" fmla="val 50000"/>
              <a:gd name="adj2" fmla="val 104575"/>
            </a:avLst>
          </a:prstGeom>
          <a:gradFill rotWithShape="0">
            <a:gsLst>
              <a:gs pos="0">
                <a:schemeClr val="tx1"/>
              </a:gs>
              <a:gs pos="100000">
                <a:schemeClr val="tx1">
                  <a:gamma/>
                  <a:shade val="72941"/>
                  <a:invGamma/>
                </a:schemeClr>
              </a:gs>
            </a:gsLst>
            <a:lin ang="5400000" scaled="1"/>
          </a:gradFill>
          <a:ln w="9525" cap="sq">
            <a:noFill/>
            <a:miter lim="800000"/>
          </a:ln>
          <a:effectLst>
            <a:prstShdw prst="shdw17" dist="17961" dir="2700000">
              <a:schemeClr val="tx1">
                <a:gamma/>
                <a:shade val="60000"/>
                <a:invGamma/>
              </a:schemeClr>
            </a:prstShdw>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9" name="AutoShape 28"/>
          <p:cNvSpPr>
            <a:spLocks noChangeArrowheads="1"/>
          </p:cNvSpPr>
          <p:nvPr/>
        </p:nvSpPr>
        <p:spPr bwMode="auto">
          <a:xfrm rot="19435093">
            <a:off x="4146550" y="4721225"/>
            <a:ext cx="1089025" cy="244475"/>
          </a:xfrm>
          <a:prstGeom prst="rightArrow">
            <a:avLst>
              <a:gd name="adj1" fmla="val 50000"/>
              <a:gd name="adj2" fmla="val 111364"/>
            </a:avLst>
          </a:prstGeom>
          <a:gradFill rotWithShape="0">
            <a:gsLst>
              <a:gs pos="0">
                <a:schemeClr val="tx1"/>
              </a:gs>
              <a:gs pos="100000">
                <a:schemeClr val="tx1">
                  <a:gamma/>
                  <a:shade val="72941"/>
                  <a:invGamma/>
                </a:schemeClr>
              </a:gs>
            </a:gsLst>
            <a:lin ang="5400000" scaled="1"/>
          </a:gradFill>
          <a:ln w="9525" cap="sq">
            <a:noFill/>
            <a:miter lim="800000"/>
          </a:ln>
          <a:effectLst>
            <a:prstShdw prst="shdw17" dist="17961" dir="2700000">
              <a:schemeClr val="tx1">
                <a:gamma/>
                <a:shade val="60000"/>
                <a:invGamma/>
              </a:schemeClr>
            </a:prstShdw>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0" name="AutoShape 29"/>
          <p:cNvSpPr>
            <a:spLocks noChangeArrowheads="1"/>
          </p:cNvSpPr>
          <p:nvPr/>
        </p:nvSpPr>
        <p:spPr bwMode="auto">
          <a:xfrm>
            <a:off x="6096000" y="4287838"/>
            <a:ext cx="446088" cy="268288"/>
          </a:xfrm>
          <a:prstGeom prst="rightArrow">
            <a:avLst>
              <a:gd name="adj1" fmla="val 50000"/>
              <a:gd name="adj2" fmla="val 41568"/>
            </a:avLst>
          </a:prstGeom>
          <a:gradFill rotWithShape="0">
            <a:gsLst>
              <a:gs pos="0">
                <a:schemeClr val="tx1"/>
              </a:gs>
              <a:gs pos="100000">
                <a:schemeClr val="tx1">
                  <a:gamma/>
                  <a:shade val="72941"/>
                  <a:invGamma/>
                </a:schemeClr>
              </a:gs>
            </a:gsLst>
            <a:lin ang="5400000" scaled="1"/>
          </a:gradFill>
          <a:ln w="9525" cap="sq">
            <a:noFill/>
            <a:miter lim="800000"/>
          </a:ln>
          <a:effectLst>
            <a:prstShdw prst="shdw17" dist="17961" dir="2700000">
              <a:schemeClr val="tx1">
                <a:gamma/>
                <a:shade val="60000"/>
                <a:invGamma/>
              </a:schemeClr>
            </a:prstShdw>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1" name="AutoShape 30"/>
          <p:cNvSpPr>
            <a:spLocks noChangeArrowheads="1"/>
          </p:cNvSpPr>
          <p:nvPr/>
        </p:nvSpPr>
        <p:spPr bwMode="auto">
          <a:xfrm>
            <a:off x="7518400" y="4346575"/>
            <a:ext cx="771525" cy="252413"/>
          </a:xfrm>
          <a:prstGeom prst="rightArrow">
            <a:avLst>
              <a:gd name="adj1" fmla="val 50000"/>
              <a:gd name="adj2" fmla="val 76415"/>
            </a:avLst>
          </a:prstGeom>
          <a:gradFill rotWithShape="0">
            <a:gsLst>
              <a:gs pos="0">
                <a:schemeClr val="tx1"/>
              </a:gs>
              <a:gs pos="100000">
                <a:schemeClr val="tx1">
                  <a:gamma/>
                  <a:shade val="72941"/>
                  <a:invGamma/>
                </a:schemeClr>
              </a:gs>
            </a:gsLst>
            <a:lin ang="5400000" scaled="1"/>
          </a:gradFill>
          <a:ln w="9525" cap="sq">
            <a:noFill/>
            <a:miter lim="800000"/>
          </a:ln>
          <a:effectLst>
            <a:prstShdw prst="shdw17" dist="17961" dir="2700000">
              <a:schemeClr val="tx1">
                <a:gamma/>
                <a:shade val="60000"/>
                <a:invGamma/>
              </a:schemeClr>
            </a:prstShdw>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2" name="Text Box 31"/>
          <p:cNvSpPr txBox="1">
            <a:spLocks noChangeArrowheads="1"/>
          </p:cNvSpPr>
          <p:nvPr/>
        </p:nvSpPr>
        <p:spPr bwMode="auto">
          <a:xfrm>
            <a:off x="7456488" y="3960813"/>
            <a:ext cx="995363" cy="338138"/>
          </a:xfrm>
          <a:prstGeom prst="rect">
            <a:avLst/>
          </a:prstGeom>
          <a:noFill/>
          <a:ln w="9525" cap="sq">
            <a:noFill/>
            <a:miter lim="800000"/>
          </a:ln>
          <a:effectLst>
            <a:prstShdw prst="shdw17" dist="17961" dir="2700000">
              <a:schemeClr val="tx1">
                <a:gamma/>
                <a:shade val="60000"/>
                <a:invGamma/>
              </a:schemeClr>
            </a:prstShdw>
          </a:effectLst>
        </p:spPr>
        <p:txBody>
          <a:bodyPr>
            <a:spAutoFit/>
          </a:bodyPr>
          <a:lstStyle/>
          <a:p>
            <a:pPr marR="0" algn="ctr" defTabSz="914400" eaLnBrk="1" hangingPunct="1">
              <a:spcBef>
                <a:spcPct val="50000"/>
              </a:spcBef>
              <a:buClrTx/>
              <a:buSzTx/>
              <a:buFontTx/>
              <a:buNone/>
              <a:defRPr/>
            </a:pPr>
            <a:r>
              <a:rPr kumimoji="0" lang="zh-CN" altLang="en-US" sz="1600" b="1" kern="1200" cap="none" spc="0" normalizeH="0" baseline="0" noProof="0">
                <a:solidFill>
                  <a:srgbClr val="000000"/>
                </a:solidFill>
                <a:latin typeface="Times New Roman" panose="02020603050405020304" pitchFamily="18" charset="0"/>
                <a:ea typeface="宋体" panose="02010600030101010101" pitchFamily="2" charset="-122"/>
                <a:cs typeface="+mn-cs"/>
              </a:rPr>
              <a:t>交用户</a:t>
            </a:r>
            <a:endParaRPr kumimoji="0" lang="zh-CN" altLang="en-US" sz="1600" b="1" kern="1200" cap="none" spc="0" normalizeH="0" baseline="0" noProof="0">
              <a:solidFill>
                <a:srgbClr val="000000"/>
              </a:solidFill>
              <a:latin typeface="Times New Roman" panose="02020603050405020304" pitchFamily="18" charset="0"/>
              <a:ea typeface="宋体" panose="02010600030101010101" pitchFamily="2" charset="-122"/>
              <a:cs typeface="+mn-cs"/>
            </a:endParaRPr>
          </a:p>
        </p:txBody>
      </p:sp>
      <p:sp>
        <p:nvSpPr>
          <p:cNvPr id="33" name="Text Box 32"/>
          <p:cNvSpPr txBox="1">
            <a:spLocks noChangeArrowheads="1"/>
          </p:cNvSpPr>
          <p:nvPr/>
        </p:nvSpPr>
        <p:spPr bwMode="auto">
          <a:xfrm>
            <a:off x="7397750" y="4591050"/>
            <a:ext cx="1279525" cy="338138"/>
          </a:xfrm>
          <a:prstGeom prst="rect">
            <a:avLst/>
          </a:prstGeom>
          <a:noFill/>
          <a:ln w="9525" cap="sq">
            <a:noFill/>
            <a:miter lim="800000"/>
          </a:ln>
          <a:effectLst>
            <a:prstShdw prst="shdw17" dist="17961" dir="2700000">
              <a:schemeClr val="tx1">
                <a:gamma/>
                <a:shade val="60000"/>
                <a:invGamma/>
              </a:schemeClr>
            </a:prstShdw>
          </a:effectLst>
        </p:spPr>
        <p:txBody>
          <a:bodyPr>
            <a:spAutoFit/>
          </a:bodyPr>
          <a:lstStyle/>
          <a:p>
            <a:pPr marR="0" algn="ctr" defTabSz="914400" eaLnBrk="1" hangingPunct="1">
              <a:spcBef>
                <a:spcPct val="50000"/>
              </a:spcBef>
              <a:buClrTx/>
              <a:buSzTx/>
              <a:buFontTx/>
              <a:buNone/>
              <a:defRPr/>
            </a:pPr>
            <a:r>
              <a:rPr kumimoji="0" lang="zh-CN" altLang="en-US" sz="1600" b="1" kern="1200" cap="none" spc="0" normalizeH="0" baseline="0" noProof="0">
                <a:solidFill>
                  <a:srgbClr val="000000"/>
                </a:solidFill>
                <a:latin typeface="Times New Roman" panose="02020603050405020304" pitchFamily="18" charset="0"/>
                <a:ea typeface="宋体" panose="02010600030101010101" pitchFamily="2" charset="-122"/>
                <a:cs typeface="+mn-cs"/>
              </a:rPr>
              <a:t>运行维护</a:t>
            </a:r>
            <a:endParaRPr kumimoji="0" lang="zh-CN" altLang="en-US" sz="1600" b="1" kern="1200" cap="none" spc="0" normalizeH="0" baseline="0" noProof="0">
              <a:solidFill>
                <a:srgbClr val="000000"/>
              </a:solidFill>
              <a:latin typeface="Times New Roman" panose="02020603050405020304" pitchFamily="18" charset="0"/>
              <a:ea typeface="宋体" panose="02010600030101010101" pitchFamily="2" charset="-122"/>
              <a:cs typeface="+mn-cs"/>
            </a:endParaRPr>
          </a:p>
        </p:txBody>
      </p:sp>
      <p:sp>
        <p:nvSpPr>
          <p:cNvPr id="30753" name="Text Box 33"/>
          <p:cNvSpPr txBox="1"/>
          <p:nvPr/>
        </p:nvSpPr>
        <p:spPr>
          <a:xfrm>
            <a:off x="4281488" y="3162300"/>
            <a:ext cx="1362075" cy="338138"/>
          </a:xfrm>
          <a:prstGeom prst="rect">
            <a:avLst/>
          </a:prstGeom>
          <a:noFill/>
          <a:ln w="9525">
            <a:noFill/>
          </a:ln>
          <a:effectLst>
            <a:prstShdw prst="shdw17" dist="17961" dir="2699999">
              <a:srgbClr val="F8F8F8"/>
            </a:prstShdw>
          </a:effectLst>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50000"/>
              </a:spcBef>
              <a:buClrTx/>
              <a:buFontTx/>
              <a:buNone/>
            </a:pPr>
            <a:r>
              <a:rPr lang="zh-CN" altLang="en-US" sz="1600" dirty="0">
                <a:solidFill>
                  <a:srgbClr val="000000"/>
                </a:solidFill>
                <a:ea typeface="宋体" panose="02010600030101010101" pitchFamily="2" charset="-122"/>
              </a:rPr>
              <a:t>测试报告</a:t>
            </a:r>
            <a:endParaRPr lang="zh-CN" altLang="en-US" sz="1600" dirty="0">
              <a:solidFill>
                <a:srgbClr val="000000"/>
              </a:solidFill>
              <a:ea typeface="宋体" panose="02010600030101010101" pitchFamily="2" charset="-122"/>
            </a:endParaRPr>
          </a:p>
        </p:txBody>
      </p:sp>
      <p:sp>
        <p:nvSpPr>
          <p:cNvPr id="30754" name="Text Box 34"/>
          <p:cNvSpPr txBox="1"/>
          <p:nvPr/>
        </p:nvSpPr>
        <p:spPr>
          <a:xfrm>
            <a:off x="4281488" y="5210175"/>
            <a:ext cx="1362075" cy="338138"/>
          </a:xfrm>
          <a:prstGeom prst="rect">
            <a:avLst/>
          </a:prstGeom>
          <a:noFill/>
          <a:ln w="9525">
            <a:noFill/>
          </a:ln>
          <a:effectLst>
            <a:prstShdw prst="shdw17" dist="35921" dir="2699999">
              <a:srgbClr val="F8F8F8"/>
            </a:prstShdw>
          </a:effectLst>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50000"/>
              </a:spcBef>
              <a:buClrTx/>
              <a:buFontTx/>
              <a:buNone/>
            </a:pPr>
            <a:r>
              <a:rPr lang="zh-CN" altLang="en-US" sz="1600" dirty="0">
                <a:solidFill>
                  <a:srgbClr val="000000"/>
                </a:solidFill>
                <a:ea typeface="宋体" panose="02010600030101010101" pitchFamily="2" charset="-122"/>
              </a:rPr>
              <a:t>软件配置</a:t>
            </a:r>
            <a:endParaRPr lang="zh-CN" altLang="en-US" sz="1600" dirty="0">
              <a:solidFill>
                <a:srgbClr val="000000"/>
              </a:solidFill>
              <a:ea typeface="宋体" panose="02010600030101010101" pitchFamily="2" charset="-122"/>
            </a:endParaRPr>
          </a:p>
        </p:txBody>
      </p:sp>
      <p:sp>
        <p:nvSpPr>
          <p:cNvPr id="30755"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内容占位符 2"/>
          <p:cNvSpPr>
            <a:spLocks noGrp="1"/>
          </p:cNvSpPr>
          <p:nvPr>
            <p:ph idx="1"/>
          </p:nvPr>
        </p:nvSpPr>
        <p:spPr>
          <a:xfrm>
            <a:off x="428625" y="1214438"/>
            <a:ext cx="8286750"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rPr>
              <a:t>一、确认测试步骤</a:t>
            </a:r>
            <a:endParaRPr kumimoji="0" lang="zh-CN" altLang="en-US"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1.</a:t>
            </a:r>
            <a:r>
              <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有效性测试</a:t>
            </a:r>
            <a:endPar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制定测试计划和测试过程，运用黑盒法，验证软件特性是否与需求符合。</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2.</a:t>
            </a:r>
            <a:r>
              <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软件配置复查</a:t>
            </a:r>
            <a:endPar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软件配置是指软件工程过程中所产生的所有信息项</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文档、报告、程序、表格、数据。随着软件工程过程的进展软件配置项快速增加和变化，应复查软件配置项是否齐全、一致。</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a:t>
            </a:r>
            <a:endParaRPr kumimoji="0" lang="en-US" altLang="zh-CN"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p:txBody>
      </p:sp>
      <p:sp>
        <p:nvSpPr>
          <p:cNvPr id="31747"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内容占位符 2"/>
          <p:cNvSpPr>
            <a:spLocks noGrp="1"/>
          </p:cNvSpPr>
          <p:nvPr>
            <p:ph idx="1"/>
          </p:nvPr>
        </p:nvSpPr>
        <p:spPr>
          <a:xfrm>
            <a:off x="428625" y="1214438"/>
            <a:ext cx="8286750"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3.</a:t>
            </a:r>
            <a:r>
              <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   测试和  测试</a:t>
            </a:r>
            <a:endPar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如果软件是专为某个客户开发的，则可进行一系列验收测试，以便用户确认所有需求都得到了满足；如果一个软件是为许多客户开发的，则需采用   测试和 测试。</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测试</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是在开发机构的指导下，在开发者的场所，由个别用户在确认测试阶段后期对软件进行测试，目的是评价软件的</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FLURPS</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（功能、局域化、可用性、可靠性、性能和支持），注重界面和特色。</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测试</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由支持软件预发行的客户，在一个或多个客户场所，对</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FLURPS</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进行测试，主要目的是测试系统的可支持性。</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endParaRPr kumimoji="0" lang="en-US" altLang="zh-CN"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p:txBody>
      </p:sp>
      <p:sp>
        <p:nvSpPr>
          <p:cNvPr id="32771" name="矩形 2"/>
          <p:cNvSpPr/>
          <p:nvPr/>
        </p:nvSpPr>
        <p:spPr>
          <a:xfrm>
            <a:off x="857250" y="1214438"/>
            <a:ext cx="433388" cy="4302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en-US" sz="2200" b="1" dirty="0">
                <a:latin typeface="黑体" panose="02010609060101010101" pitchFamily="49" charset="-122"/>
                <a:ea typeface="黑体" panose="02010609060101010101" pitchFamily="49" charset="-122"/>
                <a:sym typeface="Symbol" panose="05050102010706020507" pitchFamily="18" charset="2"/>
              </a:rPr>
              <a:t></a:t>
            </a:r>
            <a:endParaRPr lang="zh-CN" altLang="en-US" sz="2200" b="1" dirty="0">
              <a:latin typeface="黑体" panose="02010609060101010101" pitchFamily="49" charset="-122"/>
              <a:ea typeface="黑体" panose="02010609060101010101" pitchFamily="49" charset="-122"/>
            </a:endParaRPr>
          </a:p>
        </p:txBody>
      </p:sp>
      <p:sp>
        <p:nvSpPr>
          <p:cNvPr id="32772" name="矩形 3"/>
          <p:cNvSpPr/>
          <p:nvPr/>
        </p:nvSpPr>
        <p:spPr>
          <a:xfrm>
            <a:off x="2051050" y="1214438"/>
            <a:ext cx="339725" cy="430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zh-CN" sz="2200" b="1" dirty="0">
                <a:latin typeface="黑体" panose="02010609060101010101" pitchFamily="49" charset="-122"/>
                <a:ea typeface="黑体" panose="02010609060101010101" pitchFamily="49" charset="-122"/>
                <a:sym typeface="Symbol" panose="05050102010706020507" pitchFamily="18" charset="2"/>
              </a:rPr>
              <a:t></a:t>
            </a:r>
            <a:endParaRPr lang="zh-CN" altLang="en-US" sz="2200" b="1" dirty="0">
              <a:latin typeface="黑体" panose="02010609060101010101" pitchFamily="49" charset="-122"/>
              <a:ea typeface="黑体" panose="02010609060101010101" pitchFamily="49" charset="-122"/>
            </a:endParaRPr>
          </a:p>
        </p:txBody>
      </p:sp>
      <p:sp>
        <p:nvSpPr>
          <p:cNvPr id="32773" name="矩形 4"/>
          <p:cNvSpPr/>
          <p:nvPr/>
        </p:nvSpPr>
        <p:spPr>
          <a:xfrm>
            <a:off x="785813" y="2928938"/>
            <a:ext cx="433387" cy="4302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en-US" sz="2200" b="1" dirty="0">
                <a:latin typeface="黑体" panose="02010609060101010101" pitchFamily="49" charset="-122"/>
                <a:ea typeface="黑体" panose="02010609060101010101" pitchFamily="49" charset="-122"/>
                <a:sym typeface="Symbol" panose="05050102010706020507" pitchFamily="18" charset="2"/>
              </a:rPr>
              <a:t></a:t>
            </a:r>
            <a:endParaRPr lang="zh-CN" altLang="en-US" sz="2200" b="1" dirty="0">
              <a:latin typeface="黑体" panose="02010609060101010101" pitchFamily="49" charset="-122"/>
              <a:ea typeface="黑体" panose="02010609060101010101" pitchFamily="49" charset="-122"/>
            </a:endParaRPr>
          </a:p>
        </p:txBody>
      </p:sp>
      <p:sp>
        <p:nvSpPr>
          <p:cNvPr id="32774" name="矩形 5"/>
          <p:cNvSpPr/>
          <p:nvPr/>
        </p:nvSpPr>
        <p:spPr>
          <a:xfrm>
            <a:off x="857250" y="4643438"/>
            <a:ext cx="339725" cy="430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zh-CN" sz="2200" b="1" dirty="0">
                <a:latin typeface="黑体" panose="02010609060101010101" pitchFamily="49" charset="-122"/>
                <a:ea typeface="黑体" panose="02010609060101010101" pitchFamily="49" charset="-122"/>
                <a:sym typeface="Symbol" panose="05050102010706020507" pitchFamily="18" charset="2"/>
              </a:rPr>
              <a:t></a:t>
            </a:r>
            <a:endParaRPr lang="zh-CN" altLang="en-US" sz="2200" b="1" dirty="0">
              <a:latin typeface="黑体" panose="02010609060101010101" pitchFamily="49" charset="-122"/>
              <a:ea typeface="黑体" panose="02010609060101010101" pitchFamily="49" charset="-122"/>
            </a:endParaRPr>
          </a:p>
        </p:txBody>
      </p:sp>
      <p:sp>
        <p:nvSpPr>
          <p:cNvPr id="7" name="Text Box 11"/>
          <p:cNvSpPr txBox="1">
            <a:spLocks noChangeArrowheads="1"/>
          </p:cNvSpPr>
          <p:nvPr/>
        </p:nvSpPr>
        <p:spPr bwMode="auto">
          <a:xfrm>
            <a:off x="714375" y="5556250"/>
            <a:ext cx="8001000" cy="1016000"/>
          </a:xfrm>
          <a:prstGeom prst="rect">
            <a:avLst/>
          </a:prstGeom>
          <a:noFill/>
          <a:ln w="9525" cap="sq">
            <a:noFill/>
            <a:miter lim="800000"/>
          </a:ln>
          <a:effectLst/>
        </p:spPr>
        <p:txBody>
          <a:bodyPr>
            <a:spAutoFit/>
          </a:bodyPr>
          <a:lstStyle/>
          <a:p>
            <a:pPr marL="6350" marR="0" lvl="2"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rgbClr val="C00000"/>
                </a:solidFill>
                <a:effectLst>
                  <a:outerShdw blurRad="38100" dist="38100" dir="2700000" algn="tl">
                    <a:srgbClr val="C0C0C0"/>
                  </a:outerShdw>
                </a:effectLst>
                <a:uLnTx/>
                <a:uFillTx/>
                <a:latin typeface="华文仿宋" panose="02010600040101010101" pitchFamily="2" charset="-122"/>
                <a:ea typeface="华文仿宋" panose="02010600040101010101" pitchFamily="2" charset="-122"/>
                <a:cs typeface="+mn-cs"/>
              </a:rPr>
              <a:t>F</a:t>
            </a:r>
            <a:r>
              <a:rPr kumimoji="0" lang="en-US" altLang="zh-CN" sz="2000" b="0" i="0" u="none" strike="noStrike" kern="1200" cap="none" spc="0" normalizeH="0" baseline="0" noProof="0" dirty="0">
                <a:ln>
                  <a:noFill/>
                </a:ln>
                <a:solidFill>
                  <a:srgbClr val="000000"/>
                </a:solidFill>
                <a:effectLst/>
                <a:uLnTx/>
                <a:uFillTx/>
                <a:latin typeface="华文仿宋" panose="02010600040101010101" pitchFamily="2" charset="-122"/>
                <a:ea typeface="华文仿宋" panose="02010600040101010101" pitchFamily="2" charset="-122"/>
                <a:cs typeface="+mn-cs"/>
              </a:rPr>
              <a:t>unction Testing   </a:t>
            </a:r>
            <a:r>
              <a:rPr kumimoji="0" lang="zh-CN" altLang="en-US" sz="2000" b="0" i="0" u="none" strike="noStrike" kern="1200" cap="none" spc="0" normalizeH="0" baseline="0" noProof="0" dirty="0">
                <a:ln>
                  <a:noFill/>
                </a:ln>
                <a:solidFill>
                  <a:srgbClr val="000000"/>
                </a:solidFill>
                <a:effectLst/>
                <a:uLnTx/>
                <a:uFillTx/>
                <a:latin typeface="华文仿宋" panose="02010600040101010101" pitchFamily="2" charset="-122"/>
                <a:ea typeface="华文仿宋" panose="02010600040101010101" pitchFamily="2" charset="-122"/>
                <a:cs typeface="+mn-cs"/>
              </a:rPr>
              <a:t>功能测试</a:t>
            </a:r>
            <a:r>
              <a:rPr kumimoji="0" lang="zh-CN" altLang="zh-CN" sz="2000" b="0" i="0" u="none" strike="noStrike" kern="1200" cap="none" spc="0" normalizeH="0" baseline="0" noProof="0" dirty="0">
                <a:ln>
                  <a:noFill/>
                </a:ln>
                <a:solidFill>
                  <a:srgbClr val="000000"/>
                </a:solidFill>
                <a:effectLst/>
                <a:uLnTx/>
                <a:uFillTx/>
                <a:latin typeface="华文仿宋" panose="02010600040101010101" pitchFamily="2" charset="-122"/>
                <a:ea typeface="华文仿宋" panose="02010600040101010101" pitchFamily="2" charset="-122"/>
                <a:cs typeface="+mn-cs"/>
              </a:rPr>
              <a:t> </a:t>
            </a:r>
            <a:r>
              <a:rPr kumimoji="0" lang="en-US" altLang="zh-CN" sz="2000" b="0" i="0" u="none" strike="noStrike" kern="1200" cap="none" spc="0" normalizeH="0" baseline="0" noProof="0" dirty="0">
                <a:ln>
                  <a:noFill/>
                </a:ln>
                <a:solidFill>
                  <a:srgbClr val="000000"/>
                </a:solidFill>
                <a:effectLst/>
                <a:uLnTx/>
                <a:uFillTx/>
                <a:latin typeface="华文仿宋" panose="02010600040101010101" pitchFamily="2" charset="-122"/>
                <a:ea typeface="华文仿宋" panose="02010600040101010101" pitchFamily="2" charset="-122"/>
                <a:cs typeface="+mn-cs"/>
              </a:rPr>
              <a:t> </a:t>
            </a:r>
            <a:r>
              <a:rPr kumimoji="0" lang="zh-CN" altLang="zh-CN" sz="2000" b="0" i="0" u="none" strike="noStrike" kern="1200" cap="none" spc="0" normalizeH="0" baseline="0" noProof="0" dirty="0">
                <a:ln>
                  <a:noFill/>
                </a:ln>
                <a:solidFill>
                  <a:srgbClr val="000000"/>
                </a:solidFill>
                <a:effectLst/>
                <a:uLnTx/>
                <a:uFillTx/>
                <a:latin typeface="华文仿宋" panose="02010600040101010101" pitchFamily="2" charset="-122"/>
                <a:ea typeface="华文仿宋" panose="02010600040101010101" pitchFamily="2" charset="-122"/>
                <a:cs typeface="+mn-cs"/>
              </a:rPr>
              <a:t> </a:t>
            </a:r>
            <a:r>
              <a:rPr kumimoji="0" lang="zh-CN" altLang="zh-CN" sz="20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华文仿宋" panose="02010600040101010101" pitchFamily="2" charset="-122"/>
                <a:ea typeface="华文仿宋" panose="02010600040101010101" pitchFamily="2" charset="-122"/>
                <a:cs typeface="+mn-cs"/>
              </a:rPr>
              <a:t> </a:t>
            </a:r>
            <a:r>
              <a:rPr kumimoji="0" lang="zh-CN" altLang="en-US" sz="2000" b="0" i="0" u="none" strike="noStrike" kern="1200" cap="none" spc="0" normalizeH="0" baseline="0" noProof="0" dirty="0">
                <a:ln>
                  <a:noFill/>
                </a:ln>
                <a:solidFill>
                  <a:srgbClr val="000000"/>
                </a:solidFill>
                <a:effectLst>
                  <a:outerShdw blurRad="38100" dist="38100" dir="2700000" algn="tl">
                    <a:srgbClr val="C0C0C0"/>
                  </a:outerShdw>
                </a:effectLst>
                <a:uLnTx/>
                <a:uFillTx/>
                <a:latin typeface="华文仿宋" panose="02010600040101010101" pitchFamily="2" charset="-122"/>
                <a:ea typeface="华文仿宋" panose="02010600040101010101" pitchFamily="2" charset="-122"/>
                <a:cs typeface="+mn-cs"/>
              </a:rPr>
              <a:t>           </a:t>
            </a:r>
            <a:r>
              <a:rPr kumimoji="0" lang="en-US" altLang="zh-CN" sz="2000" b="1" i="0" u="none" strike="noStrike" kern="1200" cap="none" spc="0" normalizeH="0" baseline="0" noProof="0" dirty="0">
                <a:ln>
                  <a:noFill/>
                </a:ln>
                <a:solidFill>
                  <a:srgbClr val="C00000"/>
                </a:solidFill>
                <a:effectLst>
                  <a:outerShdw blurRad="38100" dist="38100" dir="2700000" algn="tl">
                    <a:srgbClr val="C0C0C0"/>
                  </a:outerShdw>
                </a:effectLst>
                <a:uLnTx/>
                <a:uFillTx/>
                <a:latin typeface="华文仿宋" panose="02010600040101010101" pitchFamily="2" charset="-122"/>
                <a:ea typeface="华文仿宋" panose="02010600040101010101" pitchFamily="2" charset="-122"/>
                <a:cs typeface="+mn-cs"/>
              </a:rPr>
              <a:t>L</a:t>
            </a:r>
            <a:r>
              <a:rPr kumimoji="0" lang="en-US" altLang="zh-CN" sz="2000" b="0" i="0" u="none" strike="noStrike" kern="1200" cap="none" spc="0" normalizeH="0" baseline="0" noProof="0" dirty="0">
                <a:ln>
                  <a:noFill/>
                </a:ln>
                <a:solidFill>
                  <a:srgbClr val="000000"/>
                </a:solidFill>
                <a:effectLst/>
                <a:uLnTx/>
                <a:uFillTx/>
                <a:latin typeface="华文仿宋" panose="02010600040101010101" pitchFamily="2" charset="-122"/>
                <a:ea typeface="华文仿宋" panose="02010600040101010101" pitchFamily="2" charset="-122"/>
                <a:cs typeface="+mn-cs"/>
              </a:rPr>
              <a:t>ocal Area Testing  </a:t>
            </a:r>
            <a:r>
              <a:rPr kumimoji="0" lang="zh-CN" altLang="en-US" sz="2000" b="0" i="0" u="none" strike="noStrike" kern="1200" cap="none" spc="0" normalizeH="0" baseline="0" noProof="0" dirty="0">
                <a:ln>
                  <a:noFill/>
                </a:ln>
                <a:solidFill>
                  <a:srgbClr val="000000"/>
                </a:solidFill>
                <a:effectLst/>
                <a:uLnTx/>
                <a:uFillTx/>
                <a:latin typeface="华文仿宋" panose="02010600040101010101" pitchFamily="2" charset="-122"/>
                <a:ea typeface="华文仿宋" panose="02010600040101010101" pitchFamily="2" charset="-122"/>
                <a:cs typeface="+mn-cs"/>
                <a:sym typeface="Symbol" panose="05050102010706020507" pitchFamily="18" charset="2"/>
              </a:rPr>
              <a:t>局域化测试</a:t>
            </a:r>
            <a:endParaRPr kumimoji="0" lang="zh-CN" altLang="zh-CN" sz="2000" b="0" i="0" u="none" strike="noStrike" kern="1200" cap="none" spc="0" normalizeH="0" baseline="0" noProof="0" dirty="0">
              <a:ln>
                <a:noFill/>
              </a:ln>
              <a:solidFill>
                <a:srgbClr val="000000"/>
              </a:solidFill>
              <a:effectLst/>
              <a:uLnTx/>
              <a:uFillTx/>
              <a:latin typeface="华文仿宋" panose="02010600040101010101" pitchFamily="2" charset="-122"/>
              <a:ea typeface="华文仿宋" panose="02010600040101010101" pitchFamily="2" charset="-122"/>
              <a:cs typeface="+mn-cs"/>
            </a:endParaRPr>
          </a:p>
          <a:p>
            <a:pPr marL="6350" marR="0" lvl="1"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rgbClr val="C00000"/>
                </a:solidFill>
                <a:effectLst>
                  <a:outerShdw blurRad="38100" dist="38100" dir="2700000" algn="tl">
                    <a:srgbClr val="C0C0C0"/>
                  </a:outerShdw>
                </a:effectLst>
                <a:uLnTx/>
                <a:uFillTx/>
                <a:latin typeface="华文仿宋" panose="02010600040101010101" pitchFamily="2" charset="-122"/>
                <a:ea typeface="华文仿宋" panose="02010600040101010101" pitchFamily="2" charset="-122"/>
                <a:cs typeface="+mn-cs"/>
              </a:rPr>
              <a:t>U</a:t>
            </a:r>
            <a:r>
              <a:rPr kumimoji="0" lang="en-US" altLang="zh-CN" sz="2000" b="0" i="0" u="none" strike="noStrike" kern="1200" cap="none" spc="0" normalizeH="0" baseline="0" noProof="0" dirty="0">
                <a:ln>
                  <a:noFill/>
                </a:ln>
                <a:solidFill>
                  <a:srgbClr val="000000"/>
                </a:solidFill>
                <a:effectLst/>
                <a:uLnTx/>
                <a:uFillTx/>
                <a:latin typeface="华文仿宋" panose="02010600040101010101" pitchFamily="2" charset="-122"/>
                <a:ea typeface="华文仿宋" panose="02010600040101010101" pitchFamily="2" charset="-122"/>
                <a:cs typeface="+mn-cs"/>
              </a:rPr>
              <a:t>sability Testing   </a:t>
            </a:r>
            <a:r>
              <a:rPr kumimoji="0" lang="zh-CN" altLang="en-US" sz="2000" b="0" i="0" u="none" strike="noStrike" kern="1200" cap="none" spc="0" normalizeH="0" baseline="0" noProof="0" dirty="0">
                <a:ln>
                  <a:noFill/>
                </a:ln>
                <a:solidFill>
                  <a:srgbClr val="000000"/>
                </a:solidFill>
                <a:effectLst/>
                <a:uLnTx/>
                <a:uFillTx/>
                <a:latin typeface="华文仿宋" panose="02010600040101010101" pitchFamily="2" charset="-122"/>
                <a:ea typeface="华文仿宋" panose="02010600040101010101" pitchFamily="2" charset="-122"/>
                <a:cs typeface="+mn-cs"/>
              </a:rPr>
              <a:t>可使用性测试       </a:t>
            </a:r>
            <a:r>
              <a:rPr kumimoji="0" lang="en-US" altLang="zh-CN" sz="2000" b="1" i="0" u="none" strike="noStrike" kern="1200" cap="none" spc="0" normalizeH="0" baseline="0" noProof="0" dirty="0">
                <a:ln>
                  <a:noFill/>
                </a:ln>
                <a:solidFill>
                  <a:srgbClr val="C00000"/>
                </a:solidFill>
                <a:effectLst>
                  <a:outerShdw blurRad="38100" dist="38100" dir="2700000" algn="tl">
                    <a:srgbClr val="C0C0C0"/>
                  </a:outerShdw>
                </a:effectLst>
                <a:uLnTx/>
                <a:uFillTx/>
                <a:latin typeface="华文仿宋" panose="02010600040101010101" pitchFamily="2" charset="-122"/>
                <a:ea typeface="华文仿宋" panose="02010600040101010101" pitchFamily="2" charset="-122"/>
                <a:cs typeface="+mn-cs"/>
              </a:rPr>
              <a:t>R</a:t>
            </a:r>
            <a:r>
              <a:rPr kumimoji="0" lang="en-US" altLang="zh-CN" sz="2000" b="0" i="0" u="none" strike="noStrike" kern="1200" cap="none" spc="0" normalizeH="0" baseline="0" noProof="0" dirty="0">
                <a:ln>
                  <a:noFill/>
                </a:ln>
                <a:solidFill>
                  <a:srgbClr val="000000"/>
                </a:solidFill>
                <a:effectLst/>
                <a:uLnTx/>
                <a:uFillTx/>
                <a:latin typeface="华文仿宋" panose="02010600040101010101" pitchFamily="2" charset="-122"/>
                <a:ea typeface="华文仿宋" panose="02010600040101010101" pitchFamily="2" charset="-122"/>
                <a:cs typeface="+mn-cs"/>
              </a:rPr>
              <a:t>eliability Testing   </a:t>
            </a:r>
            <a:r>
              <a:rPr kumimoji="0" lang="zh-CN" altLang="en-US" sz="2000" b="0" i="0" u="none" strike="noStrike" kern="1200" cap="none" spc="0" normalizeH="0" baseline="0" noProof="0" dirty="0">
                <a:ln>
                  <a:noFill/>
                </a:ln>
                <a:solidFill>
                  <a:srgbClr val="000000"/>
                </a:solidFill>
                <a:effectLst/>
                <a:uLnTx/>
                <a:uFillTx/>
                <a:latin typeface="华文仿宋" panose="02010600040101010101" pitchFamily="2" charset="-122"/>
                <a:ea typeface="华文仿宋" panose="02010600040101010101" pitchFamily="2" charset="-122"/>
                <a:cs typeface="+mn-cs"/>
              </a:rPr>
              <a:t>可靠性测试</a:t>
            </a:r>
            <a:endParaRPr kumimoji="0" lang="zh-CN" altLang="en-US" sz="2000" b="0" i="0" u="none" strike="noStrike" kern="1200" cap="none" spc="0" normalizeH="0" baseline="0" noProof="0" dirty="0">
              <a:ln>
                <a:noFill/>
              </a:ln>
              <a:solidFill>
                <a:srgbClr val="000000"/>
              </a:solidFill>
              <a:effectLst/>
              <a:uLnTx/>
              <a:uFillTx/>
              <a:latin typeface="华文仿宋" panose="02010600040101010101" pitchFamily="2" charset="-122"/>
              <a:ea typeface="华文仿宋" panose="02010600040101010101" pitchFamily="2" charset="-122"/>
              <a:cs typeface="+mn-cs"/>
            </a:endParaRPr>
          </a:p>
          <a:p>
            <a:pPr marL="6350" marR="0" lvl="1"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rgbClr val="C00000"/>
                </a:solidFill>
                <a:effectLst>
                  <a:outerShdw blurRad="38100" dist="38100" dir="2700000" algn="tl">
                    <a:srgbClr val="C0C0C0"/>
                  </a:outerShdw>
                </a:effectLst>
                <a:uLnTx/>
                <a:uFillTx/>
                <a:latin typeface="华文仿宋" panose="02010600040101010101" pitchFamily="2" charset="-122"/>
                <a:ea typeface="华文仿宋" panose="02010600040101010101" pitchFamily="2" charset="-122"/>
                <a:cs typeface="+mn-cs"/>
              </a:rPr>
              <a:t>P</a:t>
            </a:r>
            <a:r>
              <a:rPr kumimoji="0" lang="en-US" altLang="zh-CN" sz="2000" b="0" i="0" u="none" strike="noStrike" kern="1200" cap="none" spc="0" normalizeH="0" baseline="0" noProof="0" dirty="0">
                <a:ln>
                  <a:noFill/>
                </a:ln>
                <a:solidFill>
                  <a:srgbClr val="000000"/>
                </a:solidFill>
                <a:effectLst/>
                <a:uLnTx/>
                <a:uFillTx/>
                <a:latin typeface="华文仿宋" panose="02010600040101010101" pitchFamily="2" charset="-122"/>
                <a:ea typeface="华文仿宋" panose="02010600040101010101" pitchFamily="2" charset="-122"/>
                <a:cs typeface="+mn-cs"/>
              </a:rPr>
              <a:t>erformance Testing  </a:t>
            </a:r>
            <a:r>
              <a:rPr kumimoji="0" lang="zh-CN" altLang="en-US" sz="2000" b="0" i="0" u="none" strike="noStrike" kern="1200" cap="none" spc="0" normalizeH="0" baseline="0" noProof="0" dirty="0">
                <a:ln>
                  <a:noFill/>
                </a:ln>
                <a:solidFill>
                  <a:srgbClr val="000000"/>
                </a:solidFill>
                <a:effectLst/>
                <a:uLnTx/>
                <a:uFillTx/>
                <a:latin typeface="华文仿宋" panose="02010600040101010101" pitchFamily="2" charset="-122"/>
                <a:ea typeface="华文仿宋" panose="02010600040101010101" pitchFamily="2" charset="-122"/>
                <a:cs typeface="+mn-cs"/>
              </a:rPr>
              <a:t>性能测试          </a:t>
            </a:r>
            <a:r>
              <a:rPr kumimoji="0" lang="en-US" altLang="zh-CN" sz="2000" b="1" i="0" u="none" strike="noStrike" kern="1200" cap="none" spc="0" normalizeH="0" baseline="0" noProof="0" dirty="0">
                <a:ln>
                  <a:noFill/>
                </a:ln>
                <a:solidFill>
                  <a:srgbClr val="C00000"/>
                </a:solidFill>
                <a:effectLst>
                  <a:outerShdw blurRad="38100" dist="38100" dir="2700000" algn="tl">
                    <a:srgbClr val="C0C0C0"/>
                  </a:outerShdw>
                </a:effectLst>
                <a:uLnTx/>
                <a:uFillTx/>
                <a:latin typeface="华文仿宋" panose="02010600040101010101" pitchFamily="2" charset="-122"/>
                <a:ea typeface="华文仿宋" panose="02010600040101010101" pitchFamily="2" charset="-122"/>
                <a:cs typeface="+mn-cs"/>
              </a:rPr>
              <a:t>S</a:t>
            </a:r>
            <a:r>
              <a:rPr kumimoji="0" lang="en-US" altLang="zh-CN" sz="2000" b="0" i="0" u="none" strike="noStrike" kern="1200" cap="none" spc="0" normalizeH="0" baseline="0" noProof="0" dirty="0">
                <a:ln>
                  <a:noFill/>
                </a:ln>
                <a:solidFill>
                  <a:srgbClr val="000000"/>
                </a:solidFill>
                <a:effectLst/>
                <a:uLnTx/>
                <a:uFillTx/>
                <a:latin typeface="华文仿宋" panose="02010600040101010101" pitchFamily="2" charset="-122"/>
                <a:ea typeface="华文仿宋" panose="02010600040101010101" pitchFamily="2" charset="-122"/>
                <a:cs typeface="+mn-cs"/>
              </a:rPr>
              <a:t>upportability Testing  </a:t>
            </a:r>
            <a:r>
              <a:rPr kumimoji="0" lang="zh-CN" altLang="en-US" sz="2000" b="0" i="0" u="none" strike="noStrike" kern="1200" cap="none" spc="0" normalizeH="0" baseline="0" noProof="0" dirty="0">
                <a:ln>
                  <a:noFill/>
                </a:ln>
                <a:solidFill>
                  <a:srgbClr val="000000"/>
                </a:solidFill>
                <a:effectLst/>
                <a:uLnTx/>
                <a:uFillTx/>
                <a:latin typeface="华文仿宋" panose="02010600040101010101" pitchFamily="2" charset="-122"/>
                <a:ea typeface="华文仿宋" panose="02010600040101010101" pitchFamily="2" charset="-122"/>
                <a:cs typeface="+mn-cs"/>
              </a:rPr>
              <a:t>可支持性测试</a:t>
            </a:r>
            <a:endParaRPr kumimoji="0" lang="zh-CN" altLang="en-US" sz="2000" b="0" i="0" u="none" strike="noStrike" kern="1200" cap="none" spc="0" normalizeH="0" baseline="0" noProof="0" dirty="0">
              <a:ln>
                <a:noFill/>
              </a:ln>
              <a:solidFill>
                <a:srgbClr val="000000"/>
              </a:solidFill>
              <a:effectLst/>
              <a:uLnTx/>
              <a:uFillTx/>
              <a:latin typeface="华文仿宋" panose="02010600040101010101" pitchFamily="2" charset="-122"/>
              <a:ea typeface="华文仿宋" panose="02010600040101010101" pitchFamily="2" charset="-122"/>
              <a:cs typeface="+mn-cs"/>
            </a:endParaRPr>
          </a:p>
        </p:txBody>
      </p:sp>
      <p:sp>
        <p:nvSpPr>
          <p:cNvPr id="32776" name="矩形 7"/>
          <p:cNvSpPr/>
          <p:nvPr/>
        </p:nvSpPr>
        <p:spPr>
          <a:xfrm>
            <a:off x="3071813" y="2500313"/>
            <a:ext cx="433387" cy="4302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en-US" sz="2200" b="1" dirty="0">
                <a:latin typeface="黑体" panose="02010609060101010101" pitchFamily="49" charset="-122"/>
                <a:ea typeface="黑体" panose="02010609060101010101" pitchFamily="49" charset="-122"/>
                <a:sym typeface="Symbol" panose="05050102010706020507" pitchFamily="18" charset="2"/>
              </a:rPr>
              <a:t></a:t>
            </a:r>
            <a:endParaRPr lang="zh-CN" altLang="en-US" sz="2200" b="1" dirty="0">
              <a:latin typeface="黑体" panose="02010609060101010101" pitchFamily="49" charset="-122"/>
              <a:ea typeface="黑体" panose="02010609060101010101" pitchFamily="49" charset="-122"/>
            </a:endParaRPr>
          </a:p>
        </p:txBody>
      </p:sp>
      <p:sp>
        <p:nvSpPr>
          <p:cNvPr id="32777" name="矩形 10"/>
          <p:cNvSpPr/>
          <p:nvPr/>
        </p:nvSpPr>
        <p:spPr>
          <a:xfrm>
            <a:off x="4357688" y="2500313"/>
            <a:ext cx="339725" cy="430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zh-CN" sz="2200" b="1" dirty="0">
                <a:latin typeface="黑体" panose="02010609060101010101" pitchFamily="49" charset="-122"/>
                <a:ea typeface="黑体" panose="02010609060101010101" pitchFamily="49" charset="-122"/>
                <a:sym typeface="Symbol" panose="05050102010706020507" pitchFamily="18" charset="2"/>
              </a:rPr>
              <a:t></a:t>
            </a:r>
            <a:endParaRPr lang="zh-CN" altLang="en-US" sz="2200" b="1" dirty="0">
              <a:latin typeface="黑体" panose="02010609060101010101" pitchFamily="49" charset="-122"/>
              <a:ea typeface="黑体" panose="02010609060101010101" pitchFamily="49" charset="-122"/>
            </a:endParaRPr>
          </a:p>
        </p:txBody>
      </p:sp>
      <p:sp>
        <p:nvSpPr>
          <p:cNvPr id="32778"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内容占位符 2"/>
          <p:cNvSpPr>
            <a:spLocks noGrp="1"/>
          </p:cNvSpPr>
          <p:nvPr>
            <p:ph idx="1"/>
          </p:nvPr>
        </p:nvSpPr>
        <p:spPr>
          <a:xfrm>
            <a:off x="428625" y="1214438"/>
            <a:ext cx="8286750"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第六节  平行运行</a:t>
            </a:r>
            <a:endParaRPr kumimoji="0" lang="en-US" altLang="zh-CN" sz="1100" b="1" i="0" u="none" strike="noStrike" kern="0" cap="none" spc="0" normalizeH="0" baseline="0" noProof="0" dirty="0">
              <a:ln>
                <a:noFill/>
              </a:ln>
              <a:solidFill>
                <a:srgbClr val="FF0000"/>
              </a:solidFill>
              <a:effectLst/>
              <a:uLnTx/>
              <a:uFillTx/>
              <a:latin typeface="+mn-lt"/>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所谓平行运行就是同时运行新开发出来的系统和将被它取代的旧系统，以便比较新旧两个系统的处理结果。这样做的具体目的有如下几点：</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可以在准生产环境中运行新系统而又不冒风险；</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用户能有一段熟悉新系统的时间；</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可以验证用户指南和使用手册之类的文档；</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能够以准生产模式对新系统进行全负荷测试，可以用测试结果验证性能指标。 </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sp>
        <p:nvSpPr>
          <p:cNvPr id="33795"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灯片编号占位符 5"/>
          <p:cNvSpPr txBox="1">
            <a:spLocks noGrp="1"/>
          </p:cNvSpPr>
          <p:nvPr>
            <p:ph type="sldNum" sz="quarter" idx="12"/>
          </p:nvPr>
        </p:nvSpPr>
        <p:spPr>
          <a:ln/>
        </p:spPr>
        <p:txBody>
          <a:bodyPr/>
          <a:p>
            <a:pPr marL="0" indent="0" algn="r" eaLnBrk="1" hangingPunct="1">
              <a:spcBef>
                <a:spcPct val="0"/>
              </a:spcBef>
              <a:buClrTx/>
              <a:buFontTx/>
              <a:buNone/>
            </a:pPr>
            <a:fld id="{9A0DB2DC-4C9A-4742-B13C-FB6460FD3503}" type="slidenum">
              <a:rPr lang="zh-CN" altLang="en-US" sz="1400" dirty="0">
                <a:solidFill>
                  <a:schemeClr val="tx1"/>
                </a:solidFill>
                <a:ea typeface="宋体" panose="02010600030101010101" pitchFamily="2" charset="-122"/>
              </a:rPr>
            </a:fld>
            <a:endParaRPr lang="zh-CN" altLang="en-US" sz="1400" dirty="0">
              <a:solidFill>
                <a:schemeClr val="tx1"/>
              </a:solidFill>
              <a:ea typeface="宋体" panose="02010600030101010101" pitchFamily="2" charset="-122"/>
            </a:endParaRPr>
          </a:p>
        </p:txBody>
      </p:sp>
      <p:sp>
        <p:nvSpPr>
          <p:cNvPr id="120834" name="Rectangle 2"/>
          <p:cNvSpPr>
            <a:spLocks noGrp="1" noChangeArrowheads="1"/>
          </p:cNvSpPr>
          <p:nvPr>
            <p:ph type="title"/>
          </p:nvPr>
        </p:nvSpPr>
        <p:spPr>
          <a:xfrm>
            <a:off x="214313" y="1071563"/>
            <a:ext cx="6175375" cy="993775"/>
          </a:xfrm>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rPr>
              <a:t>  如  何  测  试  ？</a:t>
            </a:r>
            <a:endParaRPr kumimoji="0" lang="en-US" altLang="zh-CN"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endParaRPr>
          </a:p>
        </p:txBody>
      </p:sp>
      <p:sp>
        <p:nvSpPr>
          <p:cNvPr id="34820" name="Rectangle 3"/>
          <p:cNvSpPr>
            <a:spLocks noGrp="1"/>
          </p:cNvSpPr>
          <p:nvPr>
            <p:ph idx="1"/>
          </p:nvPr>
        </p:nvSpPr>
        <p:spPr>
          <a:xfrm>
            <a:off x="384175" y="2000250"/>
            <a:ext cx="8229600" cy="4024313"/>
          </a:xfrm>
          <a:ln/>
        </p:spPr>
        <p:txBody>
          <a:bodyPr vert="horz" wrap="square" lIns="91440" tIns="45720" rIns="91440" bIns="45720" anchor="t" anchorCtr="0"/>
          <a:p>
            <a:pPr indent="363855" eaLnBrk="1" hangingPunct="1">
              <a:lnSpc>
                <a:spcPct val="120000"/>
              </a:lnSpc>
              <a:buSzPct val="80000"/>
              <a:buFont typeface="Wingdings" panose="05000000000000000000" pitchFamily="2" charset="2"/>
              <a:buChar char="l"/>
            </a:pPr>
            <a:r>
              <a:rPr lang="zh-CN" altLang="en-US" sz="2200" b="1" dirty="0">
                <a:latin typeface="宋体" panose="02010600030101010101" pitchFamily="2" charset="-122"/>
                <a:ea typeface="宋体" panose="02010600030101010101" pitchFamily="2" charset="-122"/>
                <a:cs typeface="+mn-cs"/>
              </a:rPr>
              <a:t>关键 </a:t>
            </a:r>
            <a:r>
              <a:rPr lang="en-US" altLang="zh-CN" sz="2200" b="1" dirty="0">
                <a:latin typeface="宋体" panose="02010600030101010101" pitchFamily="2" charset="-122"/>
                <a:ea typeface="宋体" panose="02010600030101010101" pitchFamily="2" charset="-122"/>
                <a:cs typeface="+mn-cs"/>
              </a:rPr>
              <a:t>---- </a:t>
            </a:r>
            <a:r>
              <a:rPr lang="zh-CN" altLang="en-US" sz="2200" b="1" dirty="0">
                <a:latin typeface="宋体" panose="02010600030101010101" pitchFamily="2" charset="-122"/>
                <a:ea typeface="宋体" panose="02010600030101010101" pitchFamily="2" charset="-122"/>
                <a:cs typeface="+mn-cs"/>
              </a:rPr>
              <a:t>设计测试方案。</a:t>
            </a:r>
            <a:endParaRPr lang="zh-CN" altLang="en-US"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Char char="l"/>
            </a:pPr>
            <a:r>
              <a:rPr lang="zh-CN" altLang="en-US" sz="2200" b="1" dirty="0">
                <a:latin typeface="宋体" panose="02010600030101010101" pitchFamily="2" charset="-122"/>
                <a:ea typeface="宋体" panose="02010600030101010101" pitchFamily="2" charset="-122"/>
                <a:cs typeface="+mn-cs"/>
              </a:rPr>
              <a:t>测试方案 </a:t>
            </a:r>
            <a:r>
              <a:rPr lang="en-US" altLang="zh-CN" sz="2200" b="1" dirty="0">
                <a:latin typeface="宋体" panose="02010600030101010101" pitchFamily="2" charset="-122"/>
                <a:ea typeface="宋体" panose="02010600030101010101" pitchFamily="2" charset="-122"/>
                <a:cs typeface="+mn-cs"/>
              </a:rPr>
              <a:t>---- </a:t>
            </a:r>
            <a:r>
              <a:rPr lang="zh-CN" altLang="en-US" sz="2200" b="1" dirty="0">
                <a:latin typeface="宋体" panose="02010600030101010101" pitchFamily="2" charset="-122"/>
                <a:ea typeface="宋体" panose="02010600030101010101" pitchFamily="2" charset="-122"/>
                <a:cs typeface="+mn-cs"/>
              </a:rPr>
              <a:t>包括：具体的测试目的，应该输入的测试数据和预期的结果。</a:t>
            </a:r>
            <a:endParaRPr lang="zh-CN" altLang="en-US"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Char char="l"/>
            </a:pPr>
            <a:r>
              <a:rPr lang="zh-CN" altLang="en-US" sz="2200" b="1" dirty="0">
                <a:latin typeface="宋体" panose="02010600030101010101" pitchFamily="2" charset="-122"/>
                <a:ea typeface="宋体" panose="02010600030101010101" pitchFamily="2" charset="-122"/>
                <a:cs typeface="+mn-cs"/>
              </a:rPr>
              <a:t>通常又把测试数据和预期的输出结果称为</a:t>
            </a:r>
            <a:r>
              <a:rPr lang="zh-CN" altLang="en-US" sz="2200" b="1" dirty="0">
                <a:solidFill>
                  <a:srgbClr val="C00000"/>
                </a:solidFill>
                <a:latin typeface="宋体" panose="02010600030101010101" pitchFamily="2" charset="-122"/>
                <a:ea typeface="宋体" panose="02010600030101010101" pitchFamily="2" charset="-122"/>
                <a:cs typeface="+mn-cs"/>
              </a:rPr>
              <a:t>测试用例</a:t>
            </a:r>
            <a:r>
              <a:rPr lang="zh-CN" altLang="en-US" sz="2200" b="1" dirty="0">
                <a:latin typeface="宋体" panose="02010600030101010101" pitchFamily="2" charset="-122"/>
                <a:ea typeface="宋体" panose="02010600030101010101" pitchFamily="2" charset="-122"/>
                <a:cs typeface="+mn-cs"/>
              </a:rPr>
              <a:t>。其中最困难的问题是设计测试用的输入数据。</a:t>
            </a:r>
            <a:endParaRPr lang="zh-CN" altLang="en-US"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Char char="l"/>
            </a:pPr>
            <a:r>
              <a:rPr lang="zh-CN" altLang="en-US" sz="2200" b="1" dirty="0">
                <a:latin typeface="宋体" panose="02010600030101010101" pitchFamily="2" charset="-122"/>
                <a:ea typeface="宋体" panose="02010600030101010101" pitchFamily="2" charset="-122"/>
                <a:cs typeface="+mn-cs"/>
              </a:rPr>
              <a:t>不同的测试数据发现程序错误的能力差别很大，为了提高测试效率降低测试成本，应该选用高效的测试数据。</a:t>
            </a:r>
            <a:endParaRPr lang="zh-CN" altLang="en-US" sz="2200" b="1" dirty="0">
              <a:latin typeface="宋体" panose="02010600030101010101" pitchFamily="2" charset="-122"/>
              <a:ea typeface="宋体" panose="02010600030101010101" pitchFamily="2" charset="-122"/>
              <a:cs typeface="+mn-cs"/>
            </a:endParaRPr>
          </a:p>
        </p:txBody>
      </p:sp>
      <p:pic>
        <p:nvPicPr>
          <p:cNvPr id="34821" name="Picture 4" descr="MCj03612680000[1]"/>
          <p:cNvPicPr>
            <a:picLocks noChangeAspect="1"/>
          </p:cNvPicPr>
          <p:nvPr/>
        </p:nvPicPr>
        <p:blipFill>
          <a:blip r:embed="rId1"/>
          <a:stretch>
            <a:fillRect/>
          </a:stretch>
        </p:blipFill>
        <p:spPr>
          <a:xfrm>
            <a:off x="6858000" y="5214938"/>
            <a:ext cx="1704975" cy="1084262"/>
          </a:xfrm>
          <a:prstGeom prst="rect">
            <a:avLst/>
          </a:prstGeom>
          <a:noFill/>
          <a:ln w="9525">
            <a:noFill/>
          </a:ln>
        </p:spPr>
      </p:pic>
      <p:sp>
        <p:nvSpPr>
          <p:cNvPr id="34822" name="Rectangle 2"/>
          <p:cNvSpPr txBox="1"/>
          <p:nvPr/>
        </p:nvSpPr>
        <p:spPr>
          <a:xfrm>
            <a:off x="428625" y="0"/>
            <a:ext cx="8686800" cy="1125538"/>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en-US" sz="3000" b="1" dirty="0">
                <a:solidFill>
                  <a:schemeClr val="tx1"/>
                </a:solidFill>
                <a:latin typeface="黑体" panose="02010609060101010101" pitchFamily="49" charset="-122"/>
                <a:ea typeface="黑体" panose="02010609060101010101" pitchFamily="49" charset="-122"/>
              </a:rPr>
              <a:t>第六章  系统实现</a:t>
            </a:r>
            <a:endParaRPr lang="zh-CN" altLang="en-US" sz="3000" b="1" dirty="0">
              <a:solidFill>
                <a:schemeClr val="tx1"/>
              </a:solidFill>
              <a:latin typeface="黑体" panose="02010609060101010101" pitchFamily="49" charset="-122"/>
              <a:ea typeface="宋体" panose="0201060003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内容占位符 2"/>
          <p:cNvSpPr>
            <a:spLocks noGrp="1"/>
          </p:cNvSpPr>
          <p:nvPr>
            <p:ph idx="1"/>
          </p:nvPr>
        </p:nvSpPr>
        <p:spPr>
          <a:xfrm>
            <a:off x="428625" y="1214438"/>
            <a:ext cx="8286750"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第七节  软件测试技术</a:t>
            </a:r>
            <a:endParaRPr kumimoji="0" lang="en-US" altLang="zh-CN" sz="1100" b="1" i="0" u="none" strike="noStrike" kern="0" cap="none" spc="0" normalizeH="0" baseline="0" noProof="0" dirty="0">
              <a:ln>
                <a:noFill/>
              </a:ln>
              <a:solidFill>
                <a:srgbClr val="FF0000"/>
              </a:solidFill>
              <a:effectLst/>
              <a:uLnTx/>
              <a:uFillTx/>
              <a:latin typeface="+mn-lt"/>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软件测试技术分为两类：白盒测试技术、黑盒测试技术。</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白盒测试技术</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分析程序的内部逻辑结构，注意选择适当的覆盖标准，设计测试用例，对主要路径进行尽可能多的测试。</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黑盒测试技术</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不考虑程序的内部结构与特性，只根据程序功能或程序的外部特性设计测试用例。</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sp>
        <p:nvSpPr>
          <p:cNvPr id="35843"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内容占位符 2"/>
          <p:cNvSpPr>
            <a:spLocks noGrp="1"/>
          </p:cNvSpPr>
          <p:nvPr>
            <p:ph idx="1"/>
          </p:nvPr>
        </p:nvSpPr>
        <p:spPr>
          <a:xfrm>
            <a:off x="428625" y="1214438"/>
            <a:ext cx="8286750"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rPr>
              <a:t>一、白盒测试技术</a:t>
            </a:r>
            <a:endParaRPr kumimoji="0" lang="zh-CN" altLang="en-US"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白盒法又称为逻辑覆盖法，其测试用例选择，是按照不同覆盖标准确定的。</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graphicFrame>
        <p:nvGraphicFramePr>
          <p:cNvPr id="5" name="Group 36"/>
          <p:cNvGraphicFramePr>
            <a:graphicFrameLocks noGrp="1"/>
          </p:cNvGraphicFramePr>
          <p:nvPr/>
        </p:nvGraphicFramePr>
        <p:xfrm>
          <a:off x="928688" y="2714625"/>
          <a:ext cx="7358063" cy="3643313"/>
        </p:xfrm>
        <a:graphic>
          <a:graphicData uri="http://schemas.openxmlformats.org/drawingml/2006/table">
            <a:tbl>
              <a:tblPr/>
              <a:tblGrid>
                <a:gridCol w="1279480"/>
                <a:gridCol w="1771803"/>
                <a:gridCol w="4306779"/>
              </a:tblGrid>
              <a:tr h="731129">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dirty="0">
                          <a:ln>
                            <a:noFill/>
                          </a:ln>
                          <a:solidFill>
                            <a:schemeClr val="bg1">
                              <a:lumMod val="50000"/>
                            </a:schemeClr>
                          </a:solidFill>
                          <a:effectLst/>
                          <a:latin typeface="黑体" panose="02010609060101010101" pitchFamily="49" charset="-122"/>
                          <a:ea typeface="黑体" panose="02010609060101010101" pitchFamily="49" charset="-122"/>
                        </a:rPr>
                        <a:t>发现错误</a:t>
                      </a:r>
                      <a:endParaRPr kumimoji="0" lang="zh-CN" altLang="en-US" sz="1800" b="1" i="0" u="none" strike="noStrike" cap="none" normalizeH="0" baseline="0" dirty="0">
                        <a:ln>
                          <a:noFill/>
                        </a:ln>
                        <a:solidFill>
                          <a:schemeClr val="bg1">
                            <a:lumMod val="50000"/>
                          </a:schemeClr>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dirty="0">
                          <a:ln>
                            <a:noFill/>
                          </a:ln>
                          <a:solidFill>
                            <a:schemeClr val="bg1">
                              <a:lumMod val="50000"/>
                            </a:schemeClr>
                          </a:solidFill>
                          <a:effectLst/>
                          <a:latin typeface="黑体" panose="02010609060101010101" pitchFamily="49" charset="-122"/>
                          <a:ea typeface="黑体" panose="02010609060101010101" pitchFamily="49" charset="-122"/>
                        </a:rPr>
                        <a:t>的能力</a:t>
                      </a:r>
                      <a:endParaRPr kumimoji="0" lang="zh-CN" altLang="en-US" sz="1800" b="1" i="0" u="none" strike="noStrike" cap="none" normalizeH="0" baseline="0" dirty="0">
                        <a:ln>
                          <a:noFill/>
                        </a:ln>
                        <a:solidFill>
                          <a:schemeClr val="bg1">
                            <a:lumMod val="50000"/>
                          </a:schemeClr>
                        </a:solidFill>
                        <a:effectLst/>
                        <a:latin typeface="黑体" panose="02010609060101010101" pitchFamily="49" charset="-122"/>
                        <a:ea typeface="黑体" panose="02010609060101010101" pitchFamily="49" charset="-122"/>
                      </a:endParaRPr>
                    </a:p>
                  </a:txBody>
                  <a:tcPr marL="91439" marR="91439" anchor="ctr" horzOverflow="overflow">
                    <a:lnL w="12700" cap="flat" cmpd="sng" algn="ctr">
                      <a:solidFill>
                        <a:srgbClr val="1AA1A4"/>
                      </a:solidFill>
                      <a:prstDash val="solid"/>
                      <a:round/>
                      <a:headEnd type="none" w="med" len="med"/>
                      <a:tailEnd type="none" w="med" len="med"/>
                    </a:lnL>
                    <a:lnR w="12700" cap="flat" cmpd="sng" algn="ctr">
                      <a:solidFill>
                        <a:srgbClr val="1AA1A4"/>
                      </a:solidFill>
                      <a:prstDash val="solid"/>
                      <a:round/>
                      <a:headEnd type="none" w="med" len="med"/>
                      <a:tailEnd type="none" w="med" len="med"/>
                    </a:lnR>
                    <a:lnT w="12700" cap="flat" cmpd="sng" algn="ctr">
                      <a:solidFill>
                        <a:srgbClr val="1AA1A4"/>
                      </a:solidFill>
                      <a:prstDash val="solid"/>
                      <a:round/>
                      <a:headEnd type="none" w="med" len="med"/>
                      <a:tailEnd type="none" w="med" len="med"/>
                    </a:lnT>
                    <a:lnB w="12700" cap="flat" cmpd="sng" algn="ctr">
                      <a:solidFill>
                        <a:srgbClr val="1AA1A4"/>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dirty="0">
                          <a:ln>
                            <a:noFill/>
                          </a:ln>
                          <a:solidFill>
                            <a:schemeClr val="bg1">
                              <a:lumMod val="50000"/>
                            </a:schemeClr>
                          </a:solidFill>
                          <a:effectLst/>
                          <a:latin typeface="黑体" panose="02010609060101010101" pitchFamily="49" charset="-122"/>
                          <a:ea typeface="黑体" panose="02010609060101010101" pitchFamily="49" charset="-122"/>
                        </a:rPr>
                        <a:t>标  准</a:t>
                      </a:r>
                      <a:endParaRPr kumimoji="0" lang="zh-CN" altLang="en-US" sz="1800" b="1" i="0" u="none" strike="noStrike" cap="none" normalizeH="0" baseline="0" dirty="0">
                        <a:ln>
                          <a:noFill/>
                        </a:ln>
                        <a:solidFill>
                          <a:schemeClr val="bg1">
                            <a:lumMod val="50000"/>
                          </a:schemeClr>
                        </a:solidFill>
                        <a:effectLst/>
                        <a:latin typeface="黑体" panose="02010609060101010101" pitchFamily="49" charset="-122"/>
                        <a:ea typeface="黑体" panose="02010609060101010101" pitchFamily="49" charset="-122"/>
                      </a:endParaRPr>
                    </a:p>
                  </a:txBody>
                  <a:tcPr marL="91439" marR="91439" anchor="ctr" horzOverflow="overflow">
                    <a:lnL w="12700" cap="flat" cmpd="sng" algn="ctr">
                      <a:solidFill>
                        <a:srgbClr val="1AA1A4"/>
                      </a:solidFill>
                      <a:prstDash val="solid"/>
                      <a:round/>
                      <a:headEnd type="none" w="med" len="med"/>
                      <a:tailEnd type="none" w="med" len="med"/>
                    </a:lnL>
                    <a:lnR w="12700" cap="flat" cmpd="sng" algn="ctr">
                      <a:solidFill>
                        <a:srgbClr val="1AA1A4"/>
                      </a:solidFill>
                      <a:prstDash val="solid"/>
                      <a:round/>
                      <a:headEnd type="none" w="med" len="med"/>
                      <a:tailEnd type="none" w="med" len="med"/>
                    </a:lnR>
                    <a:lnT w="12700" cap="flat" cmpd="sng" algn="ctr">
                      <a:solidFill>
                        <a:srgbClr val="1AA1A4"/>
                      </a:solidFill>
                      <a:prstDash val="solid"/>
                      <a:round/>
                      <a:headEnd type="none" w="med" len="med"/>
                      <a:tailEnd type="none" w="med" len="med"/>
                    </a:lnT>
                    <a:lnB w="12700" cap="flat" cmpd="sng" algn="ctr">
                      <a:solidFill>
                        <a:srgbClr val="1AA1A4"/>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a:ln>
                            <a:noFill/>
                          </a:ln>
                          <a:solidFill>
                            <a:schemeClr val="bg1">
                              <a:lumMod val="50000"/>
                            </a:schemeClr>
                          </a:solidFill>
                          <a:effectLst/>
                          <a:latin typeface="黑体" panose="02010609060101010101" pitchFamily="49" charset="-122"/>
                          <a:ea typeface="黑体" panose="02010609060101010101" pitchFamily="49" charset="-122"/>
                        </a:rPr>
                        <a:t>含      义</a:t>
                      </a:r>
                      <a:endParaRPr kumimoji="0" lang="zh-CN" altLang="en-US" sz="1800" b="1" i="0" u="none" strike="noStrike" cap="none" normalizeH="0" baseline="0">
                        <a:ln>
                          <a:noFill/>
                        </a:ln>
                        <a:solidFill>
                          <a:schemeClr val="bg1">
                            <a:lumMod val="50000"/>
                          </a:schemeClr>
                        </a:solidFill>
                        <a:effectLst/>
                        <a:latin typeface="黑体" panose="02010609060101010101" pitchFamily="49" charset="-122"/>
                        <a:ea typeface="黑体" panose="02010609060101010101" pitchFamily="49" charset="-122"/>
                      </a:endParaRPr>
                    </a:p>
                  </a:txBody>
                  <a:tcPr marL="91439" marR="91439" anchor="ctr" horzOverflow="overflow">
                    <a:lnL w="12700" cap="flat" cmpd="sng" algn="ctr">
                      <a:solidFill>
                        <a:srgbClr val="1AA1A4"/>
                      </a:solidFill>
                      <a:prstDash val="solid"/>
                      <a:round/>
                      <a:headEnd type="none" w="med" len="med"/>
                      <a:tailEnd type="none" w="med" len="med"/>
                    </a:lnL>
                    <a:lnR w="12700" cap="flat" cmpd="sng" algn="ctr">
                      <a:solidFill>
                        <a:srgbClr val="1AA1A4"/>
                      </a:solidFill>
                      <a:prstDash val="solid"/>
                      <a:round/>
                      <a:headEnd type="none" w="med" len="med"/>
                      <a:tailEnd type="none" w="med" len="med"/>
                    </a:lnR>
                    <a:lnT w="12700" cap="flat" cmpd="sng" algn="ctr">
                      <a:solidFill>
                        <a:srgbClr val="1AA1A4"/>
                      </a:solidFill>
                      <a:prstDash val="solid"/>
                      <a:round/>
                      <a:headEnd type="none" w="med" len="med"/>
                      <a:tailEnd type="none" w="med" len="med"/>
                    </a:lnT>
                    <a:lnB w="12700" cap="flat" cmpd="sng" algn="ctr">
                      <a:solidFill>
                        <a:srgbClr val="1AA1A4"/>
                      </a:solidFill>
                      <a:prstDash val="solid"/>
                      <a:round/>
                      <a:headEnd type="none" w="med" len="med"/>
                      <a:tailEnd type="none" w="med" len="med"/>
                    </a:lnB>
                    <a:lnTlToBr>
                      <a:noFill/>
                    </a:lnTlToBr>
                    <a:lnBlToTr>
                      <a:noFill/>
                    </a:lnBlToTr>
                    <a:noFill/>
                  </a:tcPr>
                </a:tc>
              </a:tr>
              <a:tr h="384804">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dirty="0">
                          <a:ln>
                            <a:noFill/>
                          </a:ln>
                          <a:solidFill>
                            <a:schemeClr val="bg1">
                              <a:lumMod val="50000"/>
                            </a:schemeClr>
                          </a:solidFill>
                          <a:effectLst>
                            <a:outerShdw blurRad="38100" dist="38100" dir="2700000" algn="tl">
                              <a:srgbClr val="C0C0C0"/>
                            </a:outerShdw>
                          </a:effectLst>
                          <a:latin typeface="Arial" panose="020B0604020202020204" pitchFamily="34" charset="0"/>
                          <a:ea typeface="黑体" panose="02010609060101010101" pitchFamily="49" charset="-122"/>
                        </a:rPr>
                        <a:t> 1</a:t>
                      </a:r>
                      <a:endParaRPr kumimoji="0" lang="zh-CN" altLang="en-US" sz="1800" b="1" i="0" u="none" strike="noStrike" cap="none" normalizeH="0" baseline="0" dirty="0">
                        <a:ln>
                          <a:noFill/>
                        </a:ln>
                        <a:solidFill>
                          <a:schemeClr val="bg1">
                            <a:lumMod val="50000"/>
                          </a:schemeClr>
                        </a:solidFill>
                        <a:effectLst>
                          <a:outerShdw blurRad="38100" dist="38100" dir="2700000" algn="tl">
                            <a:srgbClr val="C0C0C0"/>
                          </a:outerShdw>
                        </a:effectLst>
                        <a:latin typeface="Arial" panose="020B0604020202020204" pitchFamily="34" charset="0"/>
                        <a:ea typeface="黑体" panose="02010609060101010101" pitchFamily="49" charset="-122"/>
                      </a:endParaRPr>
                    </a:p>
                  </a:txBody>
                  <a:tcPr marL="91439" marR="91439" anchor="ctr" horzOverflow="overflow">
                    <a:lnL w="12700" cap="flat" cmpd="sng" algn="ctr">
                      <a:solidFill>
                        <a:srgbClr val="1AA1A4"/>
                      </a:solidFill>
                      <a:prstDash val="solid"/>
                      <a:round/>
                      <a:headEnd type="none" w="med" len="med"/>
                      <a:tailEnd type="none" w="med" len="med"/>
                    </a:lnL>
                    <a:lnR w="12700" cap="flat" cmpd="sng" algn="ctr">
                      <a:solidFill>
                        <a:srgbClr val="1AA1A4"/>
                      </a:solidFill>
                      <a:prstDash val="solid"/>
                      <a:round/>
                      <a:headEnd type="none" w="med" len="med"/>
                      <a:tailEnd type="none" w="med" len="med"/>
                    </a:lnR>
                    <a:lnT w="12700" cap="flat" cmpd="sng" algn="ctr">
                      <a:solidFill>
                        <a:srgbClr val="1AA1A4"/>
                      </a:solidFill>
                      <a:prstDash val="solid"/>
                      <a:round/>
                      <a:headEnd type="none" w="med" len="med"/>
                      <a:tailEnd type="none" w="med" len="med"/>
                    </a:lnT>
                    <a:lnB w="12700" cap="flat" cmpd="sng" algn="ctr">
                      <a:solidFill>
                        <a:srgbClr val="1AA1A4"/>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dirty="0">
                          <a:ln>
                            <a:noFill/>
                          </a:ln>
                          <a:solidFill>
                            <a:schemeClr val="bg1">
                              <a:lumMod val="50000"/>
                            </a:schemeClr>
                          </a:solidFill>
                          <a:effectLst/>
                          <a:latin typeface="黑体" panose="02010609060101010101" pitchFamily="49" charset="-122"/>
                          <a:ea typeface="黑体" panose="02010609060101010101" pitchFamily="49" charset="-122"/>
                        </a:rPr>
                        <a:t>语句覆盖</a:t>
                      </a:r>
                      <a:endParaRPr kumimoji="0" lang="zh-CN" altLang="en-US" sz="1800" b="1" i="0" u="none" strike="noStrike" cap="none" normalizeH="0" baseline="0" dirty="0">
                        <a:ln>
                          <a:noFill/>
                        </a:ln>
                        <a:solidFill>
                          <a:schemeClr val="bg1">
                            <a:lumMod val="50000"/>
                          </a:schemeClr>
                        </a:solidFill>
                        <a:effectLst/>
                        <a:latin typeface="黑体" panose="02010609060101010101" pitchFamily="49" charset="-122"/>
                        <a:ea typeface="黑体" panose="02010609060101010101" pitchFamily="49" charset="-122"/>
                      </a:endParaRPr>
                    </a:p>
                  </a:txBody>
                  <a:tcPr marL="91439" marR="91439" anchor="ctr" horzOverflow="overflow">
                    <a:lnL w="12700" cap="flat" cmpd="sng" algn="ctr">
                      <a:solidFill>
                        <a:srgbClr val="1AA1A4"/>
                      </a:solidFill>
                      <a:prstDash val="solid"/>
                      <a:round/>
                      <a:headEnd type="none" w="med" len="med"/>
                      <a:tailEnd type="none" w="med" len="med"/>
                    </a:lnL>
                    <a:lnR w="12700" cap="flat" cmpd="sng" algn="ctr">
                      <a:solidFill>
                        <a:srgbClr val="1AA1A4"/>
                      </a:solidFill>
                      <a:prstDash val="solid"/>
                      <a:round/>
                      <a:headEnd type="none" w="med" len="med"/>
                      <a:tailEnd type="none" w="med" len="med"/>
                    </a:lnR>
                    <a:lnT w="12700" cap="flat" cmpd="sng" algn="ctr">
                      <a:solidFill>
                        <a:srgbClr val="1AA1A4"/>
                      </a:solidFill>
                      <a:prstDash val="solid"/>
                      <a:round/>
                      <a:headEnd type="none" w="med" len="med"/>
                      <a:tailEnd type="none" w="med" len="med"/>
                    </a:lnT>
                    <a:lnB w="12700" cap="flat" cmpd="sng" algn="ctr">
                      <a:solidFill>
                        <a:srgbClr val="1AA1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dirty="0">
                          <a:ln>
                            <a:noFill/>
                          </a:ln>
                          <a:solidFill>
                            <a:schemeClr val="bg1">
                              <a:lumMod val="50000"/>
                            </a:schemeClr>
                          </a:solidFill>
                          <a:effectLst/>
                          <a:latin typeface="黑体" panose="02010609060101010101" pitchFamily="49" charset="-122"/>
                          <a:ea typeface="黑体" panose="02010609060101010101" pitchFamily="49" charset="-122"/>
                        </a:rPr>
                        <a:t>每条语句至少执行一次</a:t>
                      </a:r>
                      <a:endParaRPr kumimoji="0" lang="zh-CN" altLang="en-US" sz="1800" b="1" i="0" u="none" strike="noStrike" cap="none" normalizeH="0" baseline="0" dirty="0">
                        <a:ln>
                          <a:noFill/>
                        </a:ln>
                        <a:solidFill>
                          <a:schemeClr val="bg1">
                            <a:lumMod val="50000"/>
                          </a:schemeClr>
                        </a:solidFill>
                        <a:effectLst/>
                        <a:latin typeface="黑体" panose="02010609060101010101" pitchFamily="49" charset="-122"/>
                        <a:ea typeface="黑体" panose="02010609060101010101" pitchFamily="49" charset="-122"/>
                      </a:endParaRPr>
                    </a:p>
                  </a:txBody>
                  <a:tcPr marL="91439" marR="91439" anchor="ctr" horzOverflow="overflow">
                    <a:lnL w="12700" cap="flat" cmpd="sng" algn="ctr">
                      <a:solidFill>
                        <a:srgbClr val="1AA1A4"/>
                      </a:solidFill>
                      <a:prstDash val="solid"/>
                      <a:round/>
                      <a:headEnd type="none" w="med" len="med"/>
                      <a:tailEnd type="none" w="med" len="med"/>
                    </a:lnL>
                    <a:lnR w="12700" cap="flat" cmpd="sng" algn="ctr">
                      <a:solidFill>
                        <a:srgbClr val="1AA1A4"/>
                      </a:solidFill>
                      <a:prstDash val="solid"/>
                      <a:round/>
                      <a:headEnd type="none" w="med" len="med"/>
                      <a:tailEnd type="none" w="med" len="med"/>
                    </a:lnR>
                    <a:lnT w="12700" cap="flat" cmpd="sng" algn="ctr">
                      <a:solidFill>
                        <a:srgbClr val="1AA1A4"/>
                      </a:solidFill>
                      <a:prstDash val="solid"/>
                      <a:round/>
                      <a:headEnd type="none" w="med" len="med"/>
                      <a:tailEnd type="none" w="med" len="med"/>
                    </a:lnT>
                    <a:lnB w="12700" cap="flat" cmpd="sng" algn="ctr">
                      <a:solidFill>
                        <a:srgbClr val="1AA1A4"/>
                      </a:solidFill>
                      <a:prstDash val="solid"/>
                      <a:round/>
                      <a:headEnd type="none" w="med" len="med"/>
                      <a:tailEnd type="none" w="med" len="med"/>
                    </a:lnB>
                    <a:lnTlToBr>
                      <a:noFill/>
                    </a:lnTlToBr>
                    <a:lnBlToTr>
                      <a:noFill/>
                    </a:lnBlToTr>
                    <a:noFill/>
                  </a:tcPr>
                </a:tc>
              </a:tr>
              <a:tr h="39390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a:ln>
                            <a:noFill/>
                          </a:ln>
                          <a:solidFill>
                            <a:schemeClr val="bg1">
                              <a:lumMod val="50000"/>
                            </a:schemeClr>
                          </a:solidFill>
                          <a:effectLst>
                            <a:outerShdw blurRad="38100" dist="38100" dir="2700000" algn="tl">
                              <a:srgbClr val="C0C0C0"/>
                            </a:outerShdw>
                          </a:effectLst>
                          <a:latin typeface="Arial" panose="020B0604020202020204" pitchFamily="34" charset="0"/>
                          <a:ea typeface="黑体" panose="02010609060101010101" pitchFamily="49" charset="-122"/>
                        </a:rPr>
                        <a:t> 2</a:t>
                      </a:r>
                      <a:endParaRPr kumimoji="0" lang="zh-CN" altLang="en-US" sz="1800" b="1" i="0" u="none" strike="noStrike" cap="none" normalizeH="0" baseline="0">
                        <a:ln>
                          <a:noFill/>
                        </a:ln>
                        <a:solidFill>
                          <a:schemeClr val="bg1">
                            <a:lumMod val="50000"/>
                          </a:schemeClr>
                        </a:solidFill>
                        <a:effectLst>
                          <a:outerShdw blurRad="38100" dist="38100" dir="2700000" algn="tl">
                            <a:srgbClr val="C0C0C0"/>
                          </a:outerShdw>
                        </a:effectLst>
                        <a:latin typeface="Arial" panose="020B0604020202020204" pitchFamily="34" charset="0"/>
                        <a:ea typeface="黑体" panose="02010609060101010101" pitchFamily="49" charset="-122"/>
                      </a:endParaRPr>
                    </a:p>
                  </a:txBody>
                  <a:tcPr marL="91439" marR="91439" anchor="ctr" horzOverflow="overflow">
                    <a:lnL w="12700" cap="flat" cmpd="sng" algn="ctr">
                      <a:solidFill>
                        <a:srgbClr val="1AA1A4"/>
                      </a:solidFill>
                      <a:prstDash val="solid"/>
                      <a:round/>
                      <a:headEnd type="none" w="med" len="med"/>
                      <a:tailEnd type="none" w="med" len="med"/>
                    </a:lnL>
                    <a:lnR w="12700" cap="flat" cmpd="sng" algn="ctr">
                      <a:solidFill>
                        <a:srgbClr val="1AA1A4"/>
                      </a:solidFill>
                      <a:prstDash val="solid"/>
                      <a:round/>
                      <a:headEnd type="none" w="med" len="med"/>
                      <a:tailEnd type="none" w="med" len="med"/>
                    </a:lnR>
                    <a:lnT w="12700" cap="flat" cmpd="sng" algn="ctr">
                      <a:solidFill>
                        <a:srgbClr val="1AA1A4"/>
                      </a:solidFill>
                      <a:prstDash val="solid"/>
                      <a:round/>
                      <a:headEnd type="none" w="med" len="med"/>
                      <a:tailEnd type="none" w="med" len="med"/>
                    </a:lnT>
                    <a:lnB w="12700" cap="flat" cmpd="sng" algn="ctr">
                      <a:solidFill>
                        <a:srgbClr val="1AA1A4"/>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a:ln>
                            <a:noFill/>
                          </a:ln>
                          <a:solidFill>
                            <a:schemeClr val="bg1">
                              <a:lumMod val="50000"/>
                            </a:schemeClr>
                          </a:solidFill>
                          <a:effectLst/>
                          <a:latin typeface="黑体" panose="02010609060101010101" pitchFamily="49" charset="-122"/>
                          <a:ea typeface="黑体" panose="02010609060101010101" pitchFamily="49" charset="-122"/>
                        </a:rPr>
                        <a:t>判定覆盖</a:t>
                      </a:r>
                      <a:endParaRPr kumimoji="0" lang="zh-CN" altLang="en-US" sz="1800" b="1" i="0" u="none" strike="noStrike" cap="none" normalizeH="0" baseline="0">
                        <a:ln>
                          <a:noFill/>
                        </a:ln>
                        <a:solidFill>
                          <a:schemeClr val="bg1">
                            <a:lumMod val="50000"/>
                          </a:schemeClr>
                        </a:solidFill>
                        <a:effectLst/>
                        <a:latin typeface="黑体" panose="02010609060101010101" pitchFamily="49" charset="-122"/>
                        <a:ea typeface="黑体" panose="02010609060101010101" pitchFamily="49" charset="-122"/>
                      </a:endParaRPr>
                    </a:p>
                  </a:txBody>
                  <a:tcPr marL="91439" marR="91439" anchor="ctr" horzOverflow="overflow">
                    <a:lnL w="12700" cap="flat" cmpd="sng" algn="ctr">
                      <a:solidFill>
                        <a:srgbClr val="1AA1A4"/>
                      </a:solidFill>
                      <a:prstDash val="solid"/>
                      <a:round/>
                      <a:headEnd type="none" w="med" len="med"/>
                      <a:tailEnd type="none" w="med" len="med"/>
                    </a:lnL>
                    <a:lnR w="12700" cap="flat" cmpd="sng" algn="ctr">
                      <a:solidFill>
                        <a:srgbClr val="1AA1A4"/>
                      </a:solidFill>
                      <a:prstDash val="solid"/>
                      <a:round/>
                      <a:headEnd type="none" w="med" len="med"/>
                      <a:tailEnd type="none" w="med" len="med"/>
                    </a:lnR>
                    <a:lnT w="12700" cap="flat" cmpd="sng" algn="ctr">
                      <a:solidFill>
                        <a:srgbClr val="1AA1A4"/>
                      </a:solidFill>
                      <a:prstDash val="solid"/>
                      <a:round/>
                      <a:headEnd type="none" w="med" len="med"/>
                      <a:tailEnd type="none" w="med" len="med"/>
                    </a:lnT>
                    <a:lnB w="12700" cap="flat" cmpd="sng" algn="ctr">
                      <a:solidFill>
                        <a:srgbClr val="1AA1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dirty="0">
                          <a:ln>
                            <a:noFill/>
                          </a:ln>
                          <a:solidFill>
                            <a:schemeClr val="bg1">
                              <a:lumMod val="50000"/>
                            </a:schemeClr>
                          </a:solidFill>
                          <a:effectLst/>
                          <a:latin typeface="黑体" panose="02010609060101010101" pitchFamily="49" charset="-122"/>
                          <a:ea typeface="黑体" panose="02010609060101010101" pitchFamily="49" charset="-122"/>
                        </a:rPr>
                        <a:t>每一判定的每个分支至少执行一次</a:t>
                      </a:r>
                      <a:endParaRPr kumimoji="0" lang="zh-CN" altLang="en-US" sz="1800" b="1" i="0" u="none" strike="noStrike" cap="none" normalizeH="0" baseline="0" dirty="0">
                        <a:ln>
                          <a:noFill/>
                        </a:ln>
                        <a:solidFill>
                          <a:schemeClr val="bg1">
                            <a:lumMod val="50000"/>
                          </a:schemeClr>
                        </a:solidFill>
                        <a:effectLst/>
                        <a:latin typeface="黑体" panose="02010609060101010101" pitchFamily="49" charset="-122"/>
                        <a:ea typeface="黑体" panose="02010609060101010101" pitchFamily="49" charset="-122"/>
                      </a:endParaRPr>
                    </a:p>
                  </a:txBody>
                  <a:tcPr marL="91439" marR="91439" anchor="ctr" horzOverflow="overflow">
                    <a:lnL w="12700" cap="flat" cmpd="sng" algn="ctr">
                      <a:solidFill>
                        <a:srgbClr val="1AA1A4"/>
                      </a:solidFill>
                      <a:prstDash val="solid"/>
                      <a:round/>
                      <a:headEnd type="none" w="med" len="med"/>
                      <a:tailEnd type="none" w="med" len="med"/>
                    </a:lnL>
                    <a:lnR w="12700" cap="flat" cmpd="sng" algn="ctr">
                      <a:solidFill>
                        <a:srgbClr val="1AA1A4"/>
                      </a:solidFill>
                      <a:prstDash val="solid"/>
                      <a:round/>
                      <a:headEnd type="none" w="med" len="med"/>
                      <a:tailEnd type="none" w="med" len="med"/>
                    </a:lnR>
                    <a:lnT w="12700" cap="flat" cmpd="sng" algn="ctr">
                      <a:solidFill>
                        <a:srgbClr val="1AA1A4"/>
                      </a:solidFill>
                      <a:prstDash val="solid"/>
                      <a:round/>
                      <a:headEnd type="none" w="med" len="med"/>
                      <a:tailEnd type="none" w="med" len="med"/>
                    </a:lnT>
                    <a:lnB w="12700" cap="flat" cmpd="sng" algn="ctr">
                      <a:solidFill>
                        <a:srgbClr val="1AA1A4"/>
                      </a:solidFill>
                      <a:prstDash val="solid"/>
                      <a:round/>
                      <a:headEnd type="none" w="med" len="med"/>
                      <a:tailEnd type="none" w="med" len="med"/>
                    </a:lnB>
                    <a:lnTlToBr>
                      <a:noFill/>
                    </a:lnTlToBr>
                    <a:lnBlToTr>
                      <a:noFill/>
                    </a:lnBlToTr>
                    <a:noFill/>
                  </a:tcPr>
                </a:tc>
              </a:tr>
              <a:tr h="731129">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a:ln>
                            <a:noFill/>
                          </a:ln>
                          <a:solidFill>
                            <a:schemeClr val="bg1">
                              <a:lumMod val="50000"/>
                            </a:schemeClr>
                          </a:solidFill>
                          <a:effectLst>
                            <a:outerShdw blurRad="38100" dist="38100" dir="2700000" algn="tl">
                              <a:srgbClr val="C0C0C0"/>
                            </a:outerShdw>
                          </a:effectLst>
                          <a:latin typeface="Arial" panose="020B0604020202020204" pitchFamily="34" charset="0"/>
                          <a:ea typeface="黑体" panose="02010609060101010101" pitchFamily="49" charset="-122"/>
                        </a:rPr>
                        <a:t> 3</a:t>
                      </a:r>
                      <a:endParaRPr kumimoji="0" lang="zh-CN" altLang="en-US" sz="1800" b="1" i="0" u="none" strike="noStrike" cap="none" normalizeH="0" baseline="0">
                        <a:ln>
                          <a:noFill/>
                        </a:ln>
                        <a:solidFill>
                          <a:schemeClr val="bg1">
                            <a:lumMod val="50000"/>
                          </a:schemeClr>
                        </a:solidFill>
                        <a:effectLst>
                          <a:outerShdw blurRad="38100" dist="38100" dir="2700000" algn="tl">
                            <a:srgbClr val="C0C0C0"/>
                          </a:outerShdw>
                        </a:effectLst>
                        <a:latin typeface="Arial" panose="020B0604020202020204" pitchFamily="34" charset="0"/>
                        <a:ea typeface="黑体" panose="02010609060101010101" pitchFamily="49" charset="-122"/>
                      </a:endParaRPr>
                    </a:p>
                  </a:txBody>
                  <a:tcPr marL="91439" marR="91439" anchor="ctr" horzOverflow="overflow">
                    <a:lnL w="12700" cap="flat" cmpd="sng" algn="ctr">
                      <a:solidFill>
                        <a:srgbClr val="1AA1A4"/>
                      </a:solidFill>
                      <a:prstDash val="solid"/>
                      <a:round/>
                      <a:headEnd type="none" w="med" len="med"/>
                      <a:tailEnd type="none" w="med" len="med"/>
                    </a:lnL>
                    <a:lnR w="12700" cap="flat" cmpd="sng" algn="ctr">
                      <a:solidFill>
                        <a:srgbClr val="1AA1A4"/>
                      </a:solidFill>
                      <a:prstDash val="solid"/>
                      <a:round/>
                      <a:headEnd type="none" w="med" len="med"/>
                      <a:tailEnd type="none" w="med" len="med"/>
                    </a:lnR>
                    <a:lnT w="12700" cap="flat" cmpd="sng" algn="ctr">
                      <a:solidFill>
                        <a:srgbClr val="1AA1A4"/>
                      </a:solidFill>
                      <a:prstDash val="solid"/>
                      <a:round/>
                      <a:headEnd type="none" w="med" len="med"/>
                      <a:tailEnd type="none" w="med" len="med"/>
                    </a:lnT>
                    <a:lnB w="12700" cap="flat" cmpd="sng" algn="ctr">
                      <a:solidFill>
                        <a:srgbClr val="1AA1A4"/>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a:ln>
                            <a:noFill/>
                          </a:ln>
                          <a:solidFill>
                            <a:schemeClr val="bg1">
                              <a:lumMod val="50000"/>
                            </a:schemeClr>
                          </a:solidFill>
                          <a:effectLst/>
                          <a:latin typeface="黑体" panose="02010609060101010101" pitchFamily="49" charset="-122"/>
                          <a:ea typeface="黑体" panose="02010609060101010101" pitchFamily="49" charset="-122"/>
                        </a:rPr>
                        <a:t>条件覆盖</a:t>
                      </a:r>
                      <a:endParaRPr kumimoji="0" lang="zh-CN" altLang="en-US" sz="1800" b="1" i="0" u="none" strike="noStrike" cap="none" normalizeH="0" baseline="0">
                        <a:ln>
                          <a:noFill/>
                        </a:ln>
                        <a:solidFill>
                          <a:schemeClr val="bg1">
                            <a:lumMod val="50000"/>
                          </a:schemeClr>
                        </a:solidFill>
                        <a:effectLst/>
                        <a:latin typeface="黑体" panose="02010609060101010101" pitchFamily="49" charset="-122"/>
                        <a:ea typeface="黑体" panose="02010609060101010101" pitchFamily="49" charset="-122"/>
                      </a:endParaRPr>
                    </a:p>
                  </a:txBody>
                  <a:tcPr marL="91439" marR="91439" anchor="ctr" horzOverflow="overflow">
                    <a:lnL w="12700" cap="flat" cmpd="sng" algn="ctr">
                      <a:solidFill>
                        <a:srgbClr val="1AA1A4"/>
                      </a:solidFill>
                      <a:prstDash val="solid"/>
                      <a:round/>
                      <a:headEnd type="none" w="med" len="med"/>
                      <a:tailEnd type="none" w="med" len="med"/>
                    </a:lnL>
                    <a:lnR w="12700" cap="flat" cmpd="sng" algn="ctr">
                      <a:solidFill>
                        <a:srgbClr val="1AA1A4"/>
                      </a:solidFill>
                      <a:prstDash val="solid"/>
                      <a:round/>
                      <a:headEnd type="none" w="med" len="med"/>
                      <a:tailEnd type="none" w="med" len="med"/>
                    </a:lnR>
                    <a:lnT w="12700" cap="flat" cmpd="sng" algn="ctr">
                      <a:solidFill>
                        <a:srgbClr val="1AA1A4"/>
                      </a:solidFill>
                      <a:prstDash val="solid"/>
                      <a:round/>
                      <a:headEnd type="none" w="med" len="med"/>
                      <a:tailEnd type="none" w="med" len="med"/>
                    </a:lnT>
                    <a:lnB w="12700" cap="flat" cmpd="sng" algn="ctr">
                      <a:solidFill>
                        <a:srgbClr val="1AA1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dirty="0">
                          <a:ln>
                            <a:noFill/>
                          </a:ln>
                          <a:solidFill>
                            <a:schemeClr val="bg1">
                              <a:lumMod val="50000"/>
                            </a:schemeClr>
                          </a:solidFill>
                          <a:effectLst/>
                          <a:latin typeface="黑体" panose="02010609060101010101" pitchFamily="49" charset="-122"/>
                          <a:ea typeface="黑体" panose="02010609060101010101" pitchFamily="49" charset="-122"/>
                        </a:rPr>
                        <a:t>每一判定中的每个条件，分别按</a:t>
                      </a:r>
                      <a:r>
                        <a:rPr kumimoji="0" lang="zh-CN" altLang="en-US" sz="1800" b="1" i="0" u="none" strike="noStrike" cap="none" normalizeH="0" baseline="0" dirty="0">
                          <a:ln>
                            <a:noFill/>
                          </a:ln>
                          <a:solidFill>
                            <a:schemeClr val="bg1">
                              <a:lumMod val="50000"/>
                            </a:schemeClr>
                          </a:solidFill>
                          <a:effectLst/>
                          <a:latin typeface="Arial" panose="020B0604020202020204"/>
                          <a:ea typeface="黑体" panose="02010609060101010101" pitchFamily="49" charset="-122"/>
                        </a:rPr>
                        <a:t>“</a:t>
                      </a:r>
                      <a:r>
                        <a:rPr kumimoji="0" lang="zh-CN" altLang="en-US" sz="1800" b="1" i="0" u="none" strike="noStrike" cap="none" normalizeH="0" baseline="0" dirty="0">
                          <a:ln>
                            <a:noFill/>
                          </a:ln>
                          <a:solidFill>
                            <a:schemeClr val="bg1">
                              <a:lumMod val="50000"/>
                            </a:schemeClr>
                          </a:solidFill>
                          <a:effectLst/>
                          <a:latin typeface="黑体" panose="02010609060101010101" pitchFamily="49" charset="-122"/>
                          <a:ea typeface="黑体" panose="02010609060101010101" pitchFamily="49" charset="-122"/>
                        </a:rPr>
                        <a:t>真</a:t>
                      </a:r>
                      <a:r>
                        <a:rPr kumimoji="0" lang="zh-CN" altLang="en-US" sz="1800" b="1" i="0" u="none" strike="noStrike" cap="none" normalizeH="0" baseline="0" dirty="0">
                          <a:ln>
                            <a:noFill/>
                          </a:ln>
                          <a:solidFill>
                            <a:schemeClr val="bg1">
                              <a:lumMod val="50000"/>
                            </a:schemeClr>
                          </a:solidFill>
                          <a:effectLst/>
                          <a:latin typeface="Arial" panose="020B0604020202020204"/>
                          <a:ea typeface="黑体" panose="02010609060101010101" pitchFamily="49" charset="-122"/>
                        </a:rPr>
                        <a:t>”</a:t>
                      </a:r>
                      <a:r>
                        <a:rPr kumimoji="0" lang="zh-CN" altLang="en-US" sz="1800" b="1" i="0" u="none" strike="noStrike" cap="none" normalizeH="0" baseline="0" dirty="0">
                          <a:ln>
                            <a:noFill/>
                          </a:ln>
                          <a:solidFill>
                            <a:schemeClr val="bg1">
                              <a:lumMod val="50000"/>
                            </a:schemeClr>
                          </a:solidFill>
                          <a:effectLst/>
                          <a:latin typeface="黑体" panose="02010609060101010101" pitchFamily="49" charset="-122"/>
                          <a:ea typeface="黑体" panose="02010609060101010101" pitchFamily="49" charset="-122"/>
                        </a:rPr>
                        <a:t>、</a:t>
                      </a:r>
                      <a:endParaRPr kumimoji="0" lang="zh-CN" altLang="en-US" sz="1800" b="1" i="0" u="none" strike="noStrike" cap="none" normalizeH="0" baseline="0" dirty="0">
                        <a:ln>
                          <a:noFill/>
                        </a:ln>
                        <a:solidFill>
                          <a:schemeClr val="bg1">
                            <a:lumMod val="50000"/>
                          </a:schemeClr>
                        </a:solidFill>
                        <a:effectLst/>
                        <a:latin typeface="黑体" panose="02010609060101010101" pitchFamily="49" charset="-122"/>
                        <a:ea typeface="黑体" panose="02010609060101010101" pitchFamily="49"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dirty="0">
                          <a:ln>
                            <a:noFill/>
                          </a:ln>
                          <a:solidFill>
                            <a:schemeClr val="bg1">
                              <a:lumMod val="50000"/>
                            </a:schemeClr>
                          </a:solidFill>
                          <a:effectLst/>
                          <a:latin typeface="Arial" panose="020B0604020202020204"/>
                          <a:ea typeface="黑体" panose="02010609060101010101" pitchFamily="49" charset="-122"/>
                        </a:rPr>
                        <a:t>“</a:t>
                      </a:r>
                      <a:r>
                        <a:rPr kumimoji="0" lang="zh-CN" altLang="en-US" sz="1800" b="1" i="0" u="none" strike="noStrike" cap="none" normalizeH="0" baseline="0" dirty="0">
                          <a:ln>
                            <a:noFill/>
                          </a:ln>
                          <a:solidFill>
                            <a:schemeClr val="bg1">
                              <a:lumMod val="50000"/>
                            </a:schemeClr>
                          </a:solidFill>
                          <a:effectLst/>
                          <a:latin typeface="黑体" panose="02010609060101010101" pitchFamily="49" charset="-122"/>
                          <a:ea typeface="黑体" panose="02010609060101010101" pitchFamily="49" charset="-122"/>
                        </a:rPr>
                        <a:t>假</a:t>
                      </a:r>
                      <a:r>
                        <a:rPr kumimoji="0" lang="zh-CN" altLang="en-US" sz="1800" b="1" i="0" u="none" strike="noStrike" cap="none" normalizeH="0" baseline="0" dirty="0">
                          <a:ln>
                            <a:noFill/>
                          </a:ln>
                          <a:solidFill>
                            <a:schemeClr val="bg1">
                              <a:lumMod val="50000"/>
                            </a:schemeClr>
                          </a:solidFill>
                          <a:effectLst/>
                          <a:latin typeface="Arial" panose="020B0604020202020204"/>
                          <a:ea typeface="黑体" panose="02010609060101010101" pitchFamily="49" charset="-122"/>
                        </a:rPr>
                        <a:t>”</a:t>
                      </a:r>
                      <a:r>
                        <a:rPr kumimoji="0" lang="zh-CN" altLang="en-US" sz="1800" b="1" i="0" u="none" strike="noStrike" cap="none" normalizeH="0" baseline="0" dirty="0">
                          <a:ln>
                            <a:noFill/>
                          </a:ln>
                          <a:solidFill>
                            <a:schemeClr val="bg1">
                              <a:lumMod val="50000"/>
                            </a:schemeClr>
                          </a:solidFill>
                          <a:effectLst/>
                          <a:latin typeface="黑体" panose="02010609060101010101" pitchFamily="49" charset="-122"/>
                          <a:ea typeface="黑体" panose="02010609060101010101" pitchFamily="49" charset="-122"/>
                        </a:rPr>
                        <a:t>至少各执行一次</a:t>
                      </a:r>
                      <a:endParaRPr kumimoji="0" lang="zh-CN" altLang="en-US" sz="1800" b="1" i="0" u="none" strike="noStrike" cap="none" normalizeH="0" baseline="0" dirty="0">
                        <a:ln>
                          <a:noFill/>
                        </a:ln>
                        <a:solidFill>
                          <a:schemeClr val="bg1">
                            <a:lumMod val="50000"/>
                          </a:schemeClr>
                        </a:solidFill>
                        <a:effectLst/>
                        <a:latin typeface="黑体" panose="02010609060101010101" pitchFamily="49" charset="-122"/>
                        <a:ea typeface="黑体" panose="02010609060101010101" pitchFamily="49" charset="-122"/>
                      </a:endParaRPr>
                    </a:p>
                  </a:txBody>
                  <a:tcPr marL="91439" marR="91439" anchor="ctr" horzOverflow="overflow">
                    <a:lnL w="12700" cap="flat" cmpd="sng" algn="ctr">
                      <a:solidFill>
                        <a:srgbClr val="1AA1A4"/>
                      </a:solidFill>
                      <a:prstDash val="solid"/>
                      <a:round/>
                      <a:headEnd type="none" w="med" len="med"/>
                      <a:tailEnd type="none" w="med" len="med"/>
                    </a:lnL>
                    <a:lnR w="12700" cap="flat" cmpd="sng" algn="ctr">
                      <a:solidFill>
                        <a:srgbClr val="1AA1A4"/>
                      </a:solidFill>
                      <a:prstDash val="solid"/>
                      <a:round/>
                      <a:headEnd type="none" w="med" len="med"/>
                      <a:tailEnd type="none" w="med" len="med"/>
                    </a:lnR>
                    <a:lnT w="12700" cap="flat" cmpd="sng" algn="ctr">
                      <a:solidFill>
                        <a:srgbClr val="1AA1A4"/>
                      </a:solidFill>
                      <a:prstDash val="solid"/>
                      <a:round/>
                      <a:headEnd type="none" w="med" len="med"/>
                      <a:tailEnd type="none" w="med" len="med"/>
                    </a:lnT>
                    <a:lnB w="12700" cap="flat" cmpd="sng" algn="ctr">
                      <a:solidFill>
                        <a:srgbClr val="1AA1A4"/>
                      </a:solidFill>
                      <a:prstDash val="solid"/>
                      <a:round/>
                      <a:headEnd type="none" w="med" len="med"/>
                      <a:tailEnd type="none" w="med" len="med"/>
                    </a:lnB>
                    <a:lnTlToBr>
                      <a:noFill/>
                    </a:lnTlToBr>
                    <a:lnBlToTr>
                      <a:noFill/>
                    </a:lnBlToTr>
                    <a:noFill/>
                  </a:tcPr>
                </a:tc>
              </a:tr>
              <a:tr h="474322">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a:ln>
                            <a:noFill/>
                          </a:ln>
                          <a:solidFill>
                            <a:schemeClr val="bg1">
                              <a:lumMod val="50000"/>
                            </a:schemeClr>
                          </a:solidFill>
                          <a:effectLst>
                            <a:outerShdw blurRad="38100" dist="38100" dir="2700000" algn="tl">
                              <a:srgbClr val="C0C0C0"/>
                            </a:outerShdw>
                          </a:effectLst>
                          <a:latin typeface="Arial" panose="020B0604020202020204" pitchFamily="34" charset="0"/>
                          <a:ea typeface="黑体" panose="02010609060101010101" pitchFamily="49" charset="-122"/>
                        </a:rPr>
                        <a:t>4 </a:t>
                      </a:r>
                      <a:endParaRPr kumimoji="0" lang="zh-CN" altLang="en-US" sz="1800" b="1" i="0" u="none" strike="noStrike" cap="none" normalizeH="0" baseline="0">
                        <a:ln>
                          <a:noFill/>
                        </a:ln>
                        <a:solidFill>
                          <a:schemeClr val="bg1">
                            <a:lumMod val="50000"/>
                          </a:schemeClr>
                        </a:solidFill>
                        <a:effectLst>
                          <a:outerShdw blurRad="38100" dist="38100" dir="2700000" algn="tl">
                            <a:srgbClr val="C0C0C0"/>
                          </a:outerShdw>
                        </a:effectLst>
                        <a:latin typeface="Arial" panose="020B0604020202020204" pitchFamily="34" charset="0"/>
                        <a:ea typeface="黑体" panose="02010609060101010101" pitchFamily="49" charset="-122"/>
                      </a:endParaRPr>
                    </a:p>
                  </a:txBody>
                  <a:tcPr marL="91439" marR="91439" anchor="ctr" horzOverflow="overflow">
                    <a:lnL w="12700" cap="flat" cmpd="sng" algn="ctr">
                      <a:solidFill>
                        <a:srgbClr val="1AA1A4"/>
                      </a:solidFill>
                      <a:prstDash val="solid"/>
                      <a:round/>
                      <a:headEnd type="none" w="med" len="med"/>
                      <a:tailEnd type="none" w="med" len="med"/>
                    </a:lnL>
                    <a:lnR w="12700" cap="flat" cmpd="sng" algn="ctr">
                      <a:solidFill>
                        <a:srgbClr val="1AA1A4"/>
                      </a:solidFill>
                      <a:prstDash val="solid"/>
                      <a:round/>
                      <a:headEnd type="none" w="med" len="med"/>
                      <a:tailEnd type="none" w="med" len="med"/>
                    </a:lnR>
                    <a:lnT w="12700" cap="flat" cmpd="sng" algn="ctr">
                      <a:solidFill>
                        <a:srgbClr val="1AA1A4"/>
                      </a:solidFill>
                      <a:prstDash val="solid"/>
                      <a:round/>
                      <a:headEnd type="none" w="med" len="med"/>
                      <a:tailEnd type="none" w="med" len="med"/>
                    </a:lnT>
                    <a:lnB w="12700" cap="flat" cmpd="sng" algn="ctr">
                      <a:solidFill>
                        <a:srgbClr val="1AA1A4"/>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a:ln>
                            <a:noFill/>
                          </a:ln>
                          <a:solidFill>
                            <a:schemeClr val="bg1">
                              <a:lumMod val="50000"/>
                            </a:schemeClr>
                          </a:solidFill>
                          <a:effectLst/>
                          <a:latin typeface="黑体" panose="02010609060101010101" pitchFamily="49" charset="-122"/>
                          <a:ea typeface="黑体" panose="02010609060101010101" pitchFamily="49" charset="-122"/>
                        </a:rPr>
                        <a:t>判定/条件覆盖</a:t>
                      </a:r>
                      <a:endParaRPr kumimoji="0" lang="zh-CN" altLang="en-US" sz="1800" b="1" i="0" u="none" strike="noStrike" cap="none" normalizeH="0" baseline="0">
                        <a:ln>
                          <a:noFill/>
                        </a:ln>
                        <a:solidFill>
                          <a:schemeClr val="bg1">
                            <a:lumMod val="50000"/>
                          </a:schemeClr>
                        </a:solidFill>
                        <a:effectLst/>
                        <a:latin typeface="黑体" panose="02010609060101010101" pitchFamily="49" charset="-122"/>
                        <a:ea typeface="黑体" panose="02010609060101010101" pitchFamily="49" charset="-122"/>
                      </a:endParaRPr>
                    </a:p>
                  </a:txBody>
                  <a:tcPr marL="91439" marR="91439" anchor="ctr" horzOverflow="overflow">
                    <a:lnL w="12700" cap="flat" cmpd="sng" algn="ctr">
                      <a:solidFill>
                        <a:srgbClr val="1AA1A4"/>
                      </a:solidFill>
                      <a:prstDash val="solid"/>
                      <a:round/>
                      <a:headEnd type="none" w="med" len="med"/>
                      <a:tailEnd type="none" w="med" len="med"/>
                    </a:lnL>
                    <a:lnR w="12700" cap="flat" cmpd="sng" algn="ctr">
                      <a:solidFill>
                        <a:srgbClr val="1AA1A4"/>
                      </a:solidFill>
                      <a:prstDash val="solid"/>
                      <a:round/>
                      <a:headEnd type="none" w="med" len="med"/>
                      <a:tailEnd type="none" w="med" len="med"/>
                    </a:lnR>
                    <a:lnT w="12700" cap="flat" cmpd="sng" algn="ctr">
                      <a:solidFill>
                        <a:srgbClr val="1AA1A4"/>
                      </a:solidFill>
                      <a:prstDash val="solid"/>
                      <a:round/>
                      <a:headEnd type="none" w="med" len="med"/>
                      <a:tailEnd type="none" w="med" len="med"/>
                    </a:lnT>
                    <a:lnB w="12700" cap="flat" cmpd="sng" algn="ctr">
                      <a:solidFill>
                        <a:srgbClr val="1AA1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dirty="0">
                          <a:ln>
                            <a:noFill/>
                          </a:ln>
                          <a:solidFill>
                            <a:schemeClr val="bg1">
                              <a:lumMod val="50000"/>
                            </a:schemeClr>
                          </a:solidFill>
                          <a:effectLst/>
                          <a:latin typeface="黑体" panose="02010609060101010101" pitchFamily="49" charset="-122"/>
                          <a:ea typeface="黑体" panose="02010609060101010101" pitchFamily="49" charset="-122"/>
                        </a:rPr>
                        <a:t>同时满足判定覆盖和条件覆盖的要求</a:t>
                      </a:r>
                      <a:endParaRPr kumimoji="0" lang="zh-CN" altLang="en-US" sz="1800" b="1" i="0" u="none" strike="noStrike" cap="none" normalizeH="0" baseline="0" dirty="0">
                        <a:ln>
                          <a:noFill/>
                        </a:ln>
                        <a:solidFill>
                          <a:schemeClr val="bg1">
                            <a:lumMod val="50000"/>
                          </a:schemeClr>
                        </a:solidFill>
                        <a:effectLst/>
                        <a:latin typeface="黑体" panose="02010609060101010101" pitchFamily="49" charset="-122"/>
                        <a:ea typeface="黑体" panose="02010609060101010101" pitchFamily="49" charset="-122"/>
                      </a:endParaRPr>
                    </a:p>
                  </a:txBody>
                  <a:tcPr marL="91439" marR="91439" anchor="ctr" horzOverflow="overflow">
                    <a:lnL w="12700" cap="flat" cmpd="sng" algn="ctr">
                      <a:solidFill>
                        <a:srgbClr val="1AA1A4"/>
                      </a:solidFill>
                      <a:prstDash val="solid"/>
                      <a:round/>
                      <a:headEnd type="none" w="med" len="med"/>
                      <a:tailEnd type="none" w="med" len="med"/>
                    </a:lnL>
                    <a:lnR w="12700" cap="flat" cmpd="sng" algn="ctr">
                      <a:solidFill>
                        <a:srgbClr val="1AA1A4"/>
                      </a:solidFill>
                      <a:prstDash val="solid"/>
                      <a:round/>
                      <a:headEnd type="none" w="med" len="med"/>
                      <a:tailEnd type="none" w="med" len="med"/>
                    </a:lnR>
                    <a:lnT w="12700" cap="flat" cmpd="sng" algn="ctr">
                      <a:solidFill>
                        <a:srgbClr val="1AA1A4"/>
                      </a:solidFill>
                      <a:prstDash val="solid"/>
                      <a:round/>
                      <a:headEnd type="none" w="med" len="med"/>
                      <a:tailEnd type="none" w="med" len="med"/>
                    </a:lnT>
                    <a:lnB w="12700" cap="flat" cmpd="sng" algn="ctr">
                      <a:solidFill>
                        <a:srgbClr val="1AA1A4"/>
                      </a:solidFill>
                      <a:prstDash val="solid"/>
                      <a:round/>
                      <a:headEnd type="none" w="med" len="med"/>
                      <a:tailEnd type="none" w="med" len="med"/>
                    </a:lnB>
                    <a:lnTlToBr>
                      <a:noFill/>
                    </a:lnTlToBr>
                    <a:lnBlToTr>
                      <a:noFill/>
                    </a:lnBlToTr>
                    <a:noFill/>
                  </a:tcPr>
                </a:tc>
              </a:tr>
              <a:tr h="928021">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a:ln>
                            <a:noFill/>
                          </a:ln>
                          <a:solidFill>
                            <a:schemeClr val="bg1">
                              <a:lumMod val="50000"/>
                            </a:schemeClr>
                          </a:solidFill>
                          <a:effectLst>
                            <a:outerShdw blurRad="38100" dist="38100" dir="2700000" algn="tl">
                              <a:srgbClr val="C0C0C0"/>
                            </a:outerShdw>
                          </a:effectLst>
                          <a:latin typeface="Arial" panose="020B0604020202020204" pitchFamily="34" charset="0"/>
                          <a:ea typeface="黑体" panose="02010609060101010101" pitchFamily="49" charset="-122"/>
                        </a:rPr>
                        <a:t>5 </a:t>
                      </a:r>
                      <a:endParaRPr kumimoji="0" lang="zh-CN" altLang="en-US" sz="1800" b="1" i="0" u="none" strike="noStrike" cap="none" normalizeH="0" baseline="0">
                        <a:ln>
                          <a:noFill/>
                        </a:ln>
                        <a:solidFill>
                          <a:schemeClr val="bg1">
                            <a:lumMod val="50000"/>
                          </a:schemeClr>
                        </a:solidFill>
                        <a:effectLst/>
                        <a:latin typeface="Arial" panose="020B0604020202020204" pitchFamily="34" charset="0"/>
                        <a:ea typeface="黑体" panose="02010609060101010101" pitchFamily="49" charset="-122"/>
                      </a:endParaRPr>
                    </a:p>
                  </a:txBody>
                  <a:tcPr marL="91439" marR="91439" anchor="ctr" horzOverflow="overflow">
                    <a:lnL w="12700" cap="flat" cmpd="sng" algn="ctr">
                      <a:solidFill>
                        <a:srgbClr val="1AA1A4"/>
                      </a:solidFill>
                      <a:prstDash val="solid"/>
                      <a:round/>
                      <a:headEnd type="none" w="med" len="med"/>
                      <a:tailEnd type="none" w="med" len="med"/>
                    </a:lnL>
                    <a:lnR w="12700" cap="flat" cmpd="sng" algn="ctr">
                      <a:solidFill>
                        <a:srgbClr val="1AA1A4"/>
                      </a:solidFill>
                      <a:prstDash val="solid"/>
                      <a:round/>
                      <a:headEnd type="none" w="med" len="med"/>
                      <a:tailEnd type="none" w="med" len="med"/>
                    </a:lnR>
                    <a:lnT w="12700" cap="flat" cmpd="sng" algn="ctr">
                      <a:solidFill>
                        <a:srgbClr val="1AA1A4"/>
                      </a:solidFill>
                      <a:prstDash val="solid"/>
                      <a:round/>
                      <a:headEnd type="none" w="med" len="med"/>
                      <a:tailEnd type="none" w="med" len="med"/>
                    </a:lnT>
                    <a:lnB w="12700" cap="flat" cmpd="sng" algn="ctr">
                      <a:solidFill>
                        <a:srgbClr val="1AA1A4"/>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dirty="0">
                          <a:ln>
                            <a:noFill/>
                          </a:ln>
                          <a:solidFill>
                            <a:schemeClr val="bg1">
                              <a:lumMod val="50000"/>
                            </a:schemeClr>
                          </a:solidFill>
                          <a:effectLst/>
                          <a:latin typeface="黑体" panose="02010609060101010101" pitchFamily="49" charset="-122"/>
                          <a:ea typeface="黑体" panose="02010609060101010101" pitchFamily="49" charset="-122"/>
                        </a:rPr>
                        <a:t>条件组合覆盖</a:t>
                      </a:r>
                      <a:endParaRPr kumimoji="0" lang="zh-CN" altLang="en-US" sz="1800" b="1" i="0" u="none" strike="noStrike" cap="none" normalizeH="0" baseline="0" dirty="0">
                        <a:ln>
                          <a:noFill/>
                        </a:ln>
                        <a:solidFill>
                          <a:schemeClr val="bg1">
                            <a:lumMod val="50000"/>
                          </a:schemeClr>
                        </a:solidFill>
                        <a:effectLst/>
                        <a:latin typeface="黑体" panose="02010609060101010101" pitchFamily="49" charset="-122"/>
                        <a:ea typeface="黑体" panose="02010609060101010101" pitchFamily="49" charset="-122"/>
                      </a:endParaRPr>
                    </a:p>
                  </a:txBody>
                  <a:tcPr marL="91439" marR="91439" anchor="ctr" horzOverflow="overflow">
                    <a:lnL w="12700" cap="flat" cmpd="sng" algn="ctr">
                      <a:solidFill>
                        <a:srgbClr val="1AA1A4"/>
                      </a:solidFill>
                      <a:prstDash val="solid"/>
                      <a:round/>
                      <a:headEnd type="none" w="med" len="med"/>
                      <a:tailEnd type="none" w="med" len="med"/>
                    </a:lnL>
                    <a:lnR w="12700" cap="flat" cmpd="sng" algn="ctr">
                      <a:solidFill>
                        <a:srgbClr val="1AA1A4"/>
                      </a:solidFill>
                      <a:prstDash val="solid"/>
                      <a:round/>
                      <a:headEnd type="none" w="med" len="med"/>
                      <a:tailEnd type="none" w="med" len="med"/>
                    </a:lnR>
                    <a:lnT w="12700" cap="flat" cmpd="sng" algn="ctr">
                      <a:solidFill>
                        <a:srgbClr val="1AA1A4"/>
                      </a:solidFill>
                      <a:prstDash val="solid"/>
                      <a:round/>
                      <a:headEnd type="none" w="med" len="med"/>
                      <a:tailEnd type="none" w="med" len="med"/>
                    </a:lnT>
                    <a:lnB w="12700" cap="flat" cmpd="sng" algn="ctr">
                      <a:solidFill>
                        <a:srgbClr val="1AA1A4"/>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dirty="0">
                          <a:ln>
                            <a:noFill/>
                          </a:ln>
                          <a:solidFill>
                            <a:schemeClr val="bg1">
                              <a:lumMod val="50000"/>
                            </a:schemeClr>
                          </a:solidFill>
                          <a:effectLst/>
                          <a:latin typeface="黑体" panose="02010609060101010101" pitchFamily="49" charset="-122"/>
                          <a:ea typeface="黑体" panose="02010609060101010101" pitchFamily="49" charset="-122"/>
                        </a:rPr>
                        <a:t>求出判定中所有条件的各种可能组合</a:t>
                      </a:r>
                      <a:endParaRPr kumimoji="0" lang="zh-CN" altLang="en-US" sz="1800" b="1" i="0" u="none" strike="noStrike" cap="none" normalizeH="0" baseline="0" dirty="0">
                        <a:ln>
                          <a:noFill/>
                        </a:ln>
                        <a:solidFill>
                          <a:schemeClr val="bg1">
                            <a:lumMod val="50000"/>
                          </a:schemeClr>
                        </a:solidFill>
                        <a:effectLst/>
                        <a:latin typeface="黑体" panose="02010609060101010101" pitchFamily="49" charset="-122"/>
                        <a:ea typeface="黑体" panose="02010609060101010101" pitchFamily="49" charset="-122"/>
                      </a:endParaRPr>
                    </a:p>
                    <a:p>
                      <a:pPr marL="0" marR="0" lvl="0" indent="0" algn="l"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dirty="0">
                          <a:ln>
                            <a:noFill/>
                          </a:ln>
                          <a:solidFill>
                            <a:schemeClr val="bg1">
                              <a:lumMod val="50000"/>
                            </a:schemeClr>
                          </a:solidFill>
                          <a:effectLst/>
                          <a:latin typeface="黑体" panose="02010609060101010101" pitchFamily="49" charset="-122"/>
                          <a:ea typeface="黑体" panose="02010609060101010101" pitchFamily="49" charset="-122"/>
                        </a:rPr>
                        <a:t>值，每一可能的条件组合至少执行一次</a:t>
                      </a:r>
                      <a:endParaRPr kumimoji="0" lang="zh-CN" altLang="en-US" sz="1800" b="1" i="0" u="none" strike="noStrike" cap="none" normalizeH="0" baseline="0" dirty="0">
                        <a:ln>
                          <a:noFill/>
                        </a:ln>
                        <a:solidFill>
                          <a:schemeClr val="bg1">
                            <a:lumMod val="50000"/>
                          </a:schemeClr>
                        </a:solidFill>
                        <a:effectLst/>
                        <a:latin typeface="黑体" panose="02010609060101010101" pitchFamily="49" charset="-122"/>
                        <a:ea typeface="黑体" panose="02010609060101010101" pitchFamily="49" charset="-122"/>
                      </a:endParaRPr>
                    </a:p>
                  </a:txBody>
                  <a:tcPr marL="91439" marR="91439" anchor="ctr" horzOverflow="overflow">
                    <a:lnL w="12700" cap="flat" cmpd="sng" algn="ctr">
                      <a:solidFill>
                        <a:srgbClr val="1AA1A4"/>
                      </a:solidFill>
                      <a:prstDash val="solid"/>
                      <a:round/>
                      <a:headEnd type="none" w="med" len="med"/>
                      <a:tailEnd type="none" w="med" len="med"/>
                    </a:lnL>
                    <a:lnR w="12700" cap="flat" cmpd="sng" algn="ctr">
                      <a:solidFill>
                        <a:srgbClr val="1AA1A4"/>
                      </a:solidFill>
                      <a:prstDash val="solid"/>
                      <a:round/>
                      <a:headEnd type="none" w="med" len="med"/>
                      <a:tailEnd type="none" w="med" len="med"/>
                    </a:lnR>
                    <a:lnT w="12700" cap="flat" cmpd="sng" algn="ctr">
                      <a:solidFill>
                        <a:srgbClr val="1AA1A4"/>
                      </a:solidFill>
                      <a:prstDash val="solid"/>
                      <a:round/>
                      <a:headEnd type="none" w="med" len="med"/>
                      <a:tailEnd type="none" w="med" len="med"/>
                    </a:lnT>
                    <a:lnB w="12700" cap="flat" cmpd="sng" algn="ctr">
                      <a:solidFill>
                        <a:srgbClr val="1AA1A4"/>
                      </a:solidFill>
                      <a:prstDash val="solid"/>
                      <a:round/>
                      <a:headEnd type="none" w="med" len="med"/>
                      <a:tailEnd type="none" w="med" len="med"/>
                    </a:lnB>
                    <a:lnTlToBr>
                      <a:noFill/>
                    </a:lnTlToBr>
                    <a:lnBlToTr>
                      <a:noFill/>
                    </a:lnBlToTr>
                    <a:noFill/>
                  </a:tcPr>
                </a:tc>
              </a:tr>
            </a:tbl>
          </a:graphicData>
        </a:graphic>
      </p:graphicFrame>
      <p:sp>
        <p:nvSpPr>
          <p:cNvPr id="36897"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内容占位符 2"/>
          <p:cNvSpPr>
            <a:spLocks noGrp="1"/>
          </p:cNvSpPr>
          <p:nvPr>
            <p:ph idx="1"/>
          </p:nvPr>
        </p:nvSpPr>
        <p:spPr>
          <a:xfrm>
            <a:off x="428625" y="1214438"/>
            <a:ext cx="8286750" cy="5000625"/>
          </a:xfrm>
        </p:spPr>
        <p:txBody>
          <a:bodyPr vert="horz" wrap="square" lIns="91440" tIns="45720" rIns="91440" bIns="45720" numCol="1" anchor="t" anchorCtr="0" compatLnSpc="1"/>
          <a:lstStyle/>
          <a:p>
            <a:pPr marL="0" marR="0" lvl="0" indent="363855"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白盒法步骤：</a:t>
            </a:r>
            <a:endPar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选择逻辑覆盖标准；</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按照覆盖标准列出所有情况；</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选择确定测试用例；</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验证分析运行结果与预期结果。</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ts val="1200"/>
              </a:spcBef>
              <a:spcAft>
                <a:spcPct val="0"/>
              </a:spcAft>
              <a:buClr>
                <a:srgbClr val="A50021"/>
              </a:buClr>
              <a:buSzTx/>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例：用白盒法测试以下程序段</a:t>
            </a:r>
            <a:endPar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812800" algn="l" defTabSz="914400" rtl="0" eaLnBrk="1" fontAlgn="base" latinLnBrk="0" hangingPunct="1">
              <a:lnSpc>
                <a:spcPct val="100000"/>
              </a:lnSpc>
              <a:spcBef>
                <a:spcPts val="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Procedure</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VAR A</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B</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X</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REAL</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812800" algn="l" defTabSz="914400" rtl="0" eaLnBrk="1" fontAlgn="base" latinLnBrk="0" hangingPunct="1">
              <a:lnSpc>
                <a:spcPct val="100000"/>
              </a:lnSpc>
              <a:spcBef>
                <a:spcPts val="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BEGIN</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812800" algn="l" defTabSz="914400" rtl="0" eaLnBrk="1" fontAlgn="base" latinLnBrk="0" hangingPunct="1">
              <a:lnSpc>
                <a:spcPct val="100000"/>
              </a:lnSpc>
              <a:spcBef>
                <a:spcPts val="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IF </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A&gt;1) AND (B=0)  </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812800" algn="l" defTabSz="914400" rtl="0" eaLnBrk="1" fontAlgn="base" latinLnBrk="0" hangingPunct="1">
              <a:lnSpc>
                <a:spcPct val="100000"/>
              </a:lnSpc>
              <a:spcBef>
                <a:spcPts val="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THEN  X:=X/A ;</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812800" algn="l" defTabSz="914400" rtl="0" eaLnBrk="1" fontAlgn="base" latinLnBrk="0" hangingPunct="1">
              <a:lnSpc>
                <a:spcPct val="100000"/>
              </a:lnSpc>
              <a:spcBef>
                <a:spcPts val="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IF (A=2)  OR  (X&gt;1) </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812800" algn="l" defTabSz="914400" rtl="0" eaLnBrk="1" fontAlgn="base" latinLnBrk="0" hangingPunct="1">
              <a:lnSpc>
                <a:spcPct val="100000"/>
              </a:lnSpc>
              <a:spcBef>
                <a:spcPts val="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THEN   X:=X+1</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812800" algn="l" defTabSz="914400" rtl="0" eaLnBrk="1" fontAlgn="base" latinLnBrk="0" hangingPunct="1">
              <a:lnSpc>
                <a:spcPct val="100000"/>
              </a:lnSpc>
              <a:spcBef>
                <a:spcPts val="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END;</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grpSp>
        <p:nvGrpSpPr>
          <p:cNvPr id="37891" name="Group 60"/>
          <p:cNvGrpSpPr/>
          <p:nvPr/>
        </p:nvGrpSpPr>
        <p:grpSpPr>
          <a:xfrm>
            <a:off x="5976938" y="2928938"/>
            <a:ext cx="2381250" cy="3571875"/>
            <a:chOff x="3360" y="867"/>
            <a:chExt cx="2035" cy="2643"/>
          </a:xfrm>
        </p:grpSpPr>
        <p:sp>
          <p:nvSpPr>
            <p:cNvPr id="2" name="Line 9"/>
            <p:cNvSpPr>
              <a:spLocks noChangeShapeType="1"/>
            </p:cNvSpPr>
            <p:nvPr/>
          </p:nvSpPr>
          <p:spPr bwMode="auto">
            <a:xfrm>
              <a:off x="3965" y="867"/>
              <a:ext cx="0" cy="240"/>
            </a:xfrm>
            <a:prstGeom prst="line">
              <a:avLst/>
            </a:prstGeom>
            <a:noFill/>
            <a:ln w="12700">
              <a:solidFill>
                <a:schemeClr val="bg1">
                  <a:lumMod val="50000"/>
                </a:schemeClr>
              </a:solidFill>
              <a:round/>
              <a:tailEnd type="triangle" w="med" len="med"/>
            </a:ln>
            <a:effectLst>
              <a:outerShdw dist="17961" dir="2700000" algn="ctr" rotWithShape="0">
                <a:srgbClr val="DDDDDD"/>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4821" name="AutoShape 10"/>
            <p:cNvSpPr>
              <a:spLocks noChangeArrowheads="1"/>
            </p:cNvSpPr>
            <p:nvPr/>
          </p:nvSpPr>
          <p:spPr bwMode="auto">
            <a:xfrm>
              <a:off x="3360" y="1104"/>
              <a:ext cx="1206" cy="546"/>
            </a:xfrm>
            <a:prstGeom prst="diamond">
              <a:avLst/>
            </a:prstGeom>
            <a:solidFill>
              <a:srgbClr val="FFFFCC"/>
            </a:solidFill>
            <a:ln w="12700">
              <a:solidFill>
                <a:schemeClr val="bg1">
                  <a:lumMod val="50000"/>
                </a:schemeClr>
              </a:solidFill>
              <a:miter lim="800000"/>
            </a:ln>
            <a:effectLst>
              <a:outerShdw dist="53882" dir="2700000" algn="ctr" rotWithShape="0">
                <a:srgbClr val="A50021"/>
              </a:outerShdw>
            </a:effectLst>
          </p:spPr>
          <p:txBody>
            <a:bodyPr wrap="none" anchor="ctr"/>
            <a:lstStyle/>
            <a:p>
              <a:pPr marL="0" marR="0" lvl="0" indent="0" algn="l" defTabSz="914400" rtl="0" eaLnBrk="1" fontAlgn="base" latinLnBrk="0" hangingPunct="1">
                <a:lnSpc>
                  <a:spcPct val="8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rPr>
                <a:t>A&gt;1</a:t>
              </a:r>
              <a:endPar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8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rPr>
                <a:t>AND</a:t>
              </a:r>
              <a:endPar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8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rPr>
                <a:t>B=0</a:t>
              </a:r>
              <a:endPar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34822" name="Line 11"/>
            <p:cNvSpPr>
              <a:spLocks noChangeShapeType="1"/>
            </p:cNvSpPr>
            <p:nvPr/>
          </p:nvSpPr>
          <p:spPr bwMode="auto">
            <a:xfrm>
              <a:off x="4590" y="1389"/>
              <a:ext cx="391" cy="0"/>
            </a:xfrm>
            <a:prstGeom prst="line">
              <a:avLst/>
            </a:prstGeom>
            <a:noFill/>
            <a:ln w="12700">
              <a:solidFill>
                <a:schemeClr val="bg1">
                  <a:lumMod val="50000"/>
                </a:schemeClr>
              </a:solidFill>
              <a:round/>
            </a:ln>
            <a:effectLst>
              <a:outerShdw dist="35921" dir="2700000" algn="ctr" rotWithShape="0">
                <a:srgbClr val="DDDDDD"/>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4823" name="Rectangle 13"/>
            <p:cNvSpPr>
              <a:spLocks noChangeArrowheads="1"/>
            </p:cNvSpPr>
            <p:nvPr/>
          </p:nvSpPr>
          <p:spPr bwMode="auto">
            <a:xfrm>
              <a:off x="4633" y="1641"/>
              <a:ext cx="719" cy="233"/>
            </a:xfrm>
            <a:prstGeom prst="rect">
              <a:avLst/>
            </a:prstGeom>
            <a:solidFill>
              <a:srgbClr val="FFFFCC"/>
            </a:solidFill>
            <a:ln w="12700">
              <a:solidFill>
                <a:schemeClr val="bg1">
                  <a:lumMod val="50000"/>
                </a:schemeClr>
              </a:solidFill>
              <a:miter lim="800000"/>
            </a:ln>
            <a:effectLst>
              <a:outerShdw dist="53882" dir="2700000" algn="ctr" rotWithShape="0">
                <a:srgbClr val="A50021"/>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rPr>
                <a:t>X:=X/A</a:t>
              </a:r>
              <a:endPar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11" name="Line 28"/>
            <p:cNvSpPr>
              <a:spLocks noChangeShapeType="1"/>
            </p:cNvSpPr>
            <p:nvPr/>
          </p:nvSpPr>
          <p:spPr bwMode="auto">
            <a:xfrm>
              <a:off x="4992" y="1876"/>
              <a:ext cx="0" cy="141"/>
            </a:xfrm>
            <a:prstGeom prst="line">
              <a:avLst/>
            </a:prstGeom>
            <a:noFill/>
            <a:ln w="12700" cap="sq">
              <a:solidFill>
                <a:schemeClr val="bg1">
                  <a:lumMod val="50000"/>
                </a:schemeClr>
              </a:solidFill>
              <a:round/>
              <a:tailEnd type="triangle" w="med" len="me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12" name="Line 30"/>
            <p:cNvSpPr>
              <a:spLocks noChangeShapeType="1"/>
            </p:cNvSpPr>
            <p:nvPr/>
          </p:nvSpPr>
          <p:spPr bwMode="auto">
            <a:xfrm flipH="1">
              <a:off x="3994" y="1674"/>
              <a:ext cx="0" cy="561"/>
            </a:xfrm>
            <a:prstGeom prst="line">
              <a:avLst/>
            </a:prstGeom>
            <a:noFill/>
            <a:ln w="12700" cap="sq">
              <a:solidFill>
                <a:schemeClr val="bg1">
                  <a:lumMod val="50000"/>
                </a:schemeClr>
              </a:solidFill>
              <a:round/>
              <a:tailEnd type="triangle" w="med" len="me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13" name="Line 31"/>
            <p:cNvSpPr>
              <a:spLocks noChangeShapeType="1"/>
            </p:cNvSpPr>
            <p:nvPr/>
          </p:nvSpPr>
          <p:spPr bwMode="auto">
            <a:xfrm flipV="1">
              <a:off x="4008" y="2036"/>
              <a:ext cx="1011" cy="1"/>
            </a:xfrm>
            <a:prstGeom prst="line">
              <a:avLst/>
            </a:prstGeom>
            <a:noFill/>
            <a:ln w="12700" cap="sq">
              <a:solidFill>
                <a:schemeClr val="bg1">
                  <a:lumMod val="50000"/>
                </a:schemeClr>
              </a:solidFill>
              <a:roun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14" name="Line 44"/>
            <p:cNvSpPr>
              <a:spLocks noChangeShapeType="1"/>
            </p:cNvSpPr>
            <p:nvPr/>
          </p:nvSpPr>
          <p:spPr bwMode="auto">
            <a:xfrm>
              <a:off x="4983" y="1405"/>
              <a:ext cx="0" cy="243"/>
            </a:xfrm>
            <a:prstGeom prst="line">
              <a:avLst/>
            </a:prstGeom>
            <a:noFill/>
            <a:ln w="12700" cap="sq">
              <a:solidFill>
                <a:schemeClr val="bg1">
                  <a:lumMod val="50000"/>
                </a:schemeClr>
              </a:solidFill>
              <a:round/>
              <a:tailEnd type="triangle" w="med" len="me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34828" name="AutoShape 45"/>
            <p:cNvSpPr>
              <a:spLocks noChangeArrowheads="1"/>
            </p:cNvSpPr>
            <p:nvPr/>
          </p:nvSpPr>
          <p:spPr bwMode="auto">
            <a:xfrm>
              <a:off x="3405" y="2237"/>
              <a:ext cx="1206" cy="547"/>
            </a:xfrm>
            <a:prstGeom prst="diamond">
              <a:avLst/>
            </a:prstGeom>
            <a:solidFill>
              <a:srgbClr val="FFFFCC"/>
            </a:solidFill>
            <a:ln w="12700">
              <a:solidFill>
                <a:schemeClr val="bg1">
                  <a:lumMod val="50000"/>
                </a:schemeClr>
              </a:solidFill>
              <a:miter lim="800000"/>
            </a:ln>
            <a:effectLst>
              <a:outerShdw dist="53882" dir="2700000" algn="ctr" rotWithShape="0">
                <a:srgbClr val="A50021"/>
              </a:outerShdw>
            </a:effectLst>
          </p:spPr>
          <p:txBody>
            <a:bodyPr wrap="none" anchor="ctr"/>
            <a:lstStyle/>
            <a:p>
              <a:pPr marL="0" marR="0" lvl="0" indent="0" algn="l" defTabSz="914400" rtl="0" eaLnBrk="1" fontAlgn="base" latinLnBrk="0" hangingPunct="1">
                <a:lnSpc>
                  <a:spcPct val="8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rPr>
                <a:t>A=2</a:t>
              </a:r>
              <a:endPar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8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rPr>
                <a:t>OR </a:t>
              </a:r>
              <a:endPar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8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rPr>
                <a:t>X&gt;1</a:t>
              </a:r>
              <a:endPar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34829" name="Line 46"/>
            <p:cNvSpPr>
              <a:spLocks noChangeShapeType="1"/>
            </p:cNvSpPr>
            <p:nvPr/>
          </p:nvSpPr>
          <p:spPr bwMode="auto">
            <a:xfrm>
              <a:off x="4635" y="2522"/>
              <a:ext cx="391" cy="0"/>
            </a:xfrm>
            <a:prstGeom prst="line">
              <a:avLst/>
            </a:prstGeom>
            <a:noFill/>
            <a:ln w="12700">
              <a:solidFill>
                <a:schemeClr val="bg1">
                  <a:lumMod val="50000"/>
                </a:schemeClr>
              </a:solidFill>
              <a:round/>
            </a:ln>
            <a:effectLst>
              <a:outerShdw dist="35921" dir="2700000" algn="ctr" rotWithShape="0">
                <a:srgbClr val="DDDDDD"/>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4830" name="Rectangle 47"/>
            <p:cNvSpPr>
              <a:spLocks noChangeArrowheads="1"/>
            </p:cNvSpPr>
            <p:nvPr/>
          </p:nvSpPr>
          <p:spPr bwMode="auto">
            <a:xfrm>
              <a:off x="4677" y="2773"/>
              <a:ext cx="718" cy="234"/>
            </a:xfrm>
            <a:prstGeom prst="rect">
              <a:avLst/>
            </a:prstGeom>
            <a:solidFill>
              <a:srgbClr val="FFFFCC"/>
            </a:solidFill>
            <a:ln w="12700">
              <a:solidFill>
                <a:schemeClr val="bg1">
                  <a:lumMod val="50000"/>
                </a:schemeClr>
              </a:solidFill>
              <a:miter lim="800000"/>
            </a:ln>
            <a:effectLst>
              <a:outerShdw dist="53882" dir="2700000" algn="ctr" rotWithShape="0">
                <a:srgbClr val="A50021"/>
              </a:outer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rPr>
                <a:t>X:=X+1</a:t>
              </a:r>
              <a:endPar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18" name="Line 48"/>
            <p:cNvSpPr>
              <a:spLocks noChangeShapeType="1"/>
            </p:cNvSpPr>
            <p:nvPr/>
          </p:nvSpPr>
          <p:spPr bwMode="auto">
            <a:xfrm>
              <a:off x="5037" y="3062"/>
              <a:ext cx="0" cy="141"/>
            </a:xfrm>
            <a:prstGeom prst="line">
              <a:avLst/>
            </a:prstGeom>
            <a:noFill/>
            <a:ln w="12700" cap="sq">
              <a:solidFill>
                <a:schemeClr val="bg1">
                  <a:lumMod val="50000"/>
                </a:schemeClr>
              </a:solidFill>
              <a:round/>
              <a:tailEnd type="triangle" w="med" len="me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19" name="Line 50"/>
            <p:cNvSpPr>
              <a:spLocks noChangeShapeType="1"/>
            </p:cNvSpPr>
            <p:nvPr/>
          </p:nvSpPr>
          <p:spPr bwMode="auto">
            <a:xfrm>
              <a:off x="4026" y="2833"/>
              <a:ext cx="0" cy="677"/>
            </a:xfrm>
            <a:prstGeom prst="line">
              <a:avLst/>
            </a:prstGeom>
            <a:noFill/>
            <a:ln w="12700" cap="sq">
              <a:solidFill>
                <a:schemeClr val="bg1">
                  <a:lumMod val="50000"/>
                </a:schemeClr>
              </a:solidFill>
              <a:round/>
              <a:tailEnd type="triangle" w="med" len="me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20" name="Line 51"/>
            <p:cNvSpPr>
              <a:spLocks noChangeShapeType="1"/>
            </p:cNvSpPr>
            <p:nvPr/>
          </p:nvSpPr>
          <p:spPr bwMode="auto">
            <a:xfrm flipV="1">
              <a:off x="4027" y="3190"/>
              <a:ext cx="1035" cy="0"/>
            </a:xfrm>
            <a:prstGeom prst="line">
              <a:avLst/>
            </a:prstGeom>
            <a:noFill/>
            <a:ln w="12700" cap="sq">
              <a:solidFill>
                <a:schemeClr val="bg1">
                  <a:lumMod val="50000"/>
                </a:schemeClr>
              </a:solidFill>
              <a:roun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21" name="Line 53"/>
            <p:cNvSpPr>
              <a:spLocks noChangeShapeType="1"/>
            </p:cNvSpPr>
            <p:nvPr/>
          </p:nvSpPr>
          <p:spPr bwMode="auto">
            <a:xfrm>
              <a:off x="5015" y="2539"/>
              <a:ext cx="0" cy="242"/>
            </a:xfrm>
            <a:prstGeom prst="line">
              <a:avLst/>
            </a:prstGeom>
            <a:noFill/>
            <a:ln w="12700" cap="sq">
              <a:solidFill>
                <a:schemeClr val="bg1">
                  <a:lumMod val="50000"/>
                </a:schemeClr>
              </a:solidFill>
              <a:round/>
              <a:tailEnd type="triangle" w="med" len="me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22" name="Text Box 54"/>
            <p:cNvSpPr txBox="1">
              <a:spLocks noChangeArrowheads="1"/>
            </p:cNvSpPr>
            <p:nvPr/>
          </p:nvSpPr>
          <p:spPr bwMode="auto">
            <a:xfrm>
              <a:off x="4538" y="1041"/>
              <a:ext cx="285" cy="251"/>
            </a:xfrm>
            <a:prstGeom prst="rect">
              <a:avLst/>
            </a:prstGeom>
            <a:noFill/>
            <a:ln w="12700" cap="sq">
              <a:noFill/>
              <a:miter lim="800000"/>
            </a:ln>
            <a:effectLst>
              <a:prstShdw prst="shdw17" dist="17961" dir="2700000">
                <a:schemeClr val="tx1">
                  <a:gamma/>
                  <a:shade val="60000"/>
                  <a:invGamma/>
                </a:schemeClr>
              </a:prstShdw>
            </a:effectLst>
          </p:spPr>
          <p:txBody>
            <a:bodyPr wrap="none" anchor="ct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rPr>
                <a:t>Y</a:t>
              </a:r>
              <a:endPar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23" name="Text Box 55"/>
            <p:cNvSpPr txBox="1">
              <a:spLocks noChangeArrowheads="1"/>
            </p:cNvSpPr>
            <p:nvPr/>
          </p:nvSpPr>
          <p:spPr bwMode="auto">
            <a:xfrm>
              <a:off x="4090" y="1679"/>
              <a:ext cx="285" cy="251"/>
            </a:xfrm>
            <a:prstGeom prst="rect">
              <a:avLst/>
            </a:prstGeom>
            <a:noFill/>
            <a:ln w="12700" cap="sq">
              <a:noFill/>
              <a:miter lim="800000"/>
            </a:ln>
            <a:effectLst>
              <a:prstShdw prst="shdw17" dist="17961" dir="2700000">
                <a:schemeClr val="tx1">
                  <a:gamma/>
                  <a:shade val="60000"/>
                  <a:invGamma/>
                </a:schemeClr>
              </a:prstShdw>
            </a:effectLst>
          </p:spPr>
          <p:txBody>
            <a:bodyPr wrap="none" anchor="ct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rPr>
                <a:t>N</a:t>
              </a:r>
              <a:endPar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24" name="Text Box 56"/>
            <p:cNvSpPr txBox="1">
              <a:spLocks noChangeArrowheads="1"/>
            </p:cNvSpPr>
            <p:nvPr/>
          </p:nvSpPr>
          <p:spPr bwMode="auto">
            <a:xfrm>
              <a:off x="4490" y="2241"/>
              <a:ext cx="284" cy="250"/>
            </a:xfrm>
            <a:prstGeom prst="rect">
              <a:avLst/>
            </a:prstGeom>
            <a:noFill/>
            <a:ln w="12700" cap="sq">
              <a:noFill/>
              <a:miter lim="800000"/>
            </a:ln>
            <a:effectLst>
              <a:prstShdw prst="shdw17" dist="17961" dir="2700000">
                <a:schemeClr val="tx1">
                  <a:gamma/>
                  <a:shade val="60000"/>
                  <a:invGamma/>
                </a:schemeClr>
              </a:prstShdw>
            </a:effectLst>
          </p:spPr>
          <p:txBody>
            <a:bodyPr wrap="none" anchor="ct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rPr>
                <a:t>Y</a:t>
              </a:r>
              <a:endPar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25" name="Text Box 57"/>
            <p:cNvSpPr txBox="1">
              <a:spLocks noChangeArrowheads="1"/>
            </p:cNvSpPr>
            <p:nvPr/>
          </p:nvSpPr>
          <p:spPr bwMode="auto">
            <a:xfrm>
              <a:off x="4010" y="2817"/>
              <a:ext cx="284" cy="251"/>
            </a:xfrm>
            <a:prstGeom prst="rect">
              <a:avLst/>
            </a:prstGeom>
            <a:noFill/>
            <a:ln w="12700" cap="sq">
              <a:noFill/>
              <a:miter lim="800000"/>
            </a:ln>
            <a:effectLst>
              <a:prstShdw prst="shdw17" dist="17961" dir="2700000">
                <a:schemeClr val="tx1">
                  <a:gamma/>
                  <a:shade val="60000"/>
                  <a:invGamma/>
                </a:schemeClr>
              </a:prstShdw>
            </a:effectLst>
          </p:spPr>
          <p:txBody>
            <a:bodyPr wrap="none" anchor="ct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rPr>
                <a:t>N</a:t>
              </a:r>
              <a:endPar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grpSp>
      <p:sp>
        <p:nvSpPr>
          <p:cNvPr id="37892"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内容占位符 2"/>
          <p:cNvSpPr>
            <a:spLocks noGrp="1"/>
          </p:cNvSpPr>
          <p:nvPr>
            <p:ph idx="1"/>
          </p:nvPr>
        </p:nvSpPr>
        <p:spPr>
          <a:xfrm>
            <a:off x="428625" y="1214438"/>
            <a:ext cx="8286750" cy="5000625"/>
          </a:xfrm>
          <a:ln/>
        </p:spPr>
        <p:txBody>
          <a:bodyPr vert="horz" wrap="square" lIns="91440" tIns="45720" rIns="91440" bIns="45720" anchor="t" anchorCtr="0"/>
          <a:p>
            <a:pPr indent="0" eaLnBrk="1" hangingPunct="1">
              <a:lnSpc>
                <a:spcPct val="120000"/>
              </a:lnSpc>
              <a:buFont typeface="Wingdings" panose="05000000000000000000" pitchFamily="2" charset="2"/>
              <a:buNone/>
            </a:pPr>
            <a:r>
              <a:rPr lang="en-US" altLang="zh-CN" sz="2200" b="1" dirty="0">
                <a:latin typeface="黑体" panose="02010609060101010101" pitchFamily="49" charset="-122"/>
                <a:ea typeface="黑体" panose="02010609060101010101" pitchFamily="49" charset="-122"/>
                <a:cs typeface="+mn-cs"/>
              </a:rPr>
              <a:t>1.</a:t>
            </a:r>
            <a:r>
              <a:rPr lang="zh-CN" altLang="en-US" sz="2200" b="1" dirty="0">
                <a:latin typeface="黑体" panose="02010609060101010101" pitchFamily="49" charset="-122"/>
                <a:ea typeface="黑体" panose="02010609060101010101" pitchFamily="49" charset="-122"/>
                <a:cs typeface="+mn-cs"/>
              </a:rPr>
              <a:t>基于逻辑覆盖测试</a:t>
            </a:r>
            <a:endParaRPr lang="zh-CN" altLang="en-US" sz="2200" b="1" dirty="0">
              <a:latin typeface="黑体" panose="02010609060101010101" pitchFamily="49" charset="-122"/>
              <a:ea typeface="黑体" panose="02010609060101010101" pitchFamily="49" charset="-122"/>
              <a:cs typeface="+mn-cs"/>
            </a:endParaRPr>
          </a:p>
          <a:p>
            <a:pPr indent="0" eaLnBrk="1" hangingPunct="1">
              <a:lnSpc>
                <a:spcPct val="120000"/>
              </a:lnSpc>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a:t>
            </a:r>
            <a:r>
              <a:rPr lang="en-US" altLang="zh-CN" sz="2200" b="1" dirty="0">
                <a:latin typeface="宋体" panose="02010600030101010101" pitchFamily="2" charset="-122"/>
                <a:ea typeface="宋体" panose="02010600030101010101" pitchFamily="2" charset="-122"/>
                <a:cs typeface="+mn-cs"/>
              </a:rPr>
              <a:t>1</a:t>
            </a:r>
            <a:r>
              <a:rPr lang="zh-CN" altLang="en-US" sz="2200" b="1" dirty="0">
                <a:latin typeface="宋体" panose="02010600030101010101" pitchFamily="2" charset="-122"/>
                <a:ea typeface="宋体" panose="02010600030101010101" pitchFamily="2" charset="-122"/>
                <a:cs typeface="+mn-cs"/>
              </a:rPr>
              <a:t>）语句覆盖</a:t>
            </a:r>
            <a:endParaRPr lang="en-US" altLang="zh-CN" sz="2200" b="1" dirty="0">
              <a:latin typeface="宋体" panose="02010600030101010101" pitchFamily="2" charset="-122"/>
              <a:ea typeface="宋体" panose="02010600030101010101" pitchFamily="2" charset="-122"/>
              <a:cs typeface="+mn-cs"/>
            </a:endParaRPr>
          </a:p>
          <a:p>
            <a:pPr indent="0" eaLnBrk="1" hangingPunct="1">
              <a:lnSpc>
                <a:spcPct val="120000"/>
              </a:lnSpc>
              <a:buSzPct val="80000"/>
              <a:buFont typeface="Wingdings" panose="05000000000000000000" pitchFamily="2" charset="2"/>
              <a:buChar char="l"/>
            </a:pPr>
            <a:r>
              <a:rPr lang="zh-CN" altLang="en-US" sz="2200" b="1" dirty="0">
                <a:latin typeface="宋体" panose="02010600030101010101" pitchFamily="2" charset="-122"/>
                <a:ea typeface="宋体" panose="02010600030101010101" pitchFamily="2" charset="-122"/>
                <a:cs typeface="+mn-cs"/>
              </a:rPr>
              <a:t> 使得程序中每个语句至少都能被执行一次。</a:t>
            </a:r>
            <a:endParaRPr lang="zh-CN" altLang="en-US" sz="2200" b="1" dirty="0">
              <a:latin typeface="宋体" panose="02010600030101010101" pitchFamily="2" charset="-122"/>
              <a:ea typeface="宋体" panose="02010600030101010101" pitchFamily="2" charset="-122"/>
              <a:cs typeface="+mn-cs"/>
            </a:endParaRPr>
          </a:p>
          <a:p>
            <a:pPr indent="0" eaLnBrk="1" hangingPunct="1">
              <a:lnSpc>
                <a:spcPct val="120000"/>
              </a:lnSpc>
              <a:buFont typeface="Wingdings" panose="05000000000000000000" pitchFamily="2" charset="2"/>
              <a:buNone/>
            </a:pPr>
            <a:endParaRPr lang="zh-CN" altLang="en-US" sz="2200" b="1" dirty="0">
              <a:latin typeface="宋体" panose="02010600030101010101" pitchFamily="2" charset="-122"/>
              <a:ea typeface="宋体" panose="02010600030101010101" pitchFamily="2" charset="-122"/>
              <a:cs typeface="+mn-cs"/>
            </a:endParaRPr>
          </a:p>
        </p:txBody>
      </p:sp>
      <p:sp>
        <p:nvSpPr>
          <p:cNvPr id="38915" name="Rectangle 24"/>
          <p:cNvSpPr/>
          <p:nvPr/>
        </p:nvSpPr>
        <p:spPr>
          <a:xfrm>
            <a:off x="7219950" y="1733550"/>
            <a:ext cx="1066800" cy="838200"/>
          </a:xfrm>
          <a:prstGeom prst="rect">
            <a:avLst/>
          </a:prstGeom>
          <a:solidFill>
            <a:srgbClr val="CCFFFF">
              <a:alpha val="50195"/>
            </a:srgbClr>
          </a:solidFill>
          <a:ln w="9525" cap="flat" cmpd="sng">
            <a:prstDash val="solid"/>
            <a:miter/>
            <a:headEnd type="none" w="med" len="med"/>
            <a:tailEnd type="none" w="med" len="med"/>
          </a:ln>
          <a:scene3d>
            <a:camera prst="legacyPerspectiveTopRight">
              <a:rot lat="0" lon="0" rev="0"/>
            </a:camera>
            <a:lightRig rig="legacyFlat4" dir="t"/>
          </a:scene3d>
          <a:sp3d extrusionH="1801800" prstMaterial="legacyMatte">
            <a:bevelT w="13500" h="13500" prst="angle"/>
            <a:bevelB w="13500" h="13500" prst="angle"/>
            <a:extrusionClr>
              <a:srgbClr val="CCFFFF"/>
            </a:extrusionClr>
          </a:sp3d>
        </p:spPr>
        <p:txBody>
          <a:bodyPr wrap="none" anchor="ctr" anchorCtr="0">
            <a:flatTx/>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en-US" sz="1600" dirty="0">
                <a:solidFill>
                  <a:srgbClr val="333333"/>
                </a:solidFill>
                <a:ea typeface="楷体_GB2312" pitchFamily="49" charset="-122"/>
              </a:rPr>
              <a:t>逻辑结构</a:t>
            </a:r>
            <a:endParaRPr lang="zh-CN" altLang="en-US" sz="1600" dirty="0">
              <a:solidFill>
                <a:srgbClr val="333333"/>
              </a:solidFill>
              <a:ea typeface="宋体" panose="02010600030101010101" pitchFamily="2" charset="-122"/>
            </a:endParaRPr>
          </a:p>
          <a:p>
            <a:pPr marL="0" lvl="0" indent="0" eaLnBrk="1" hangingPunct="1">
              <a:spcBef>
                <a:spcPct val="0"/>
              </a:spcBef>
              <a:buClrTx/>
              <a:buFontTx/>
              <a:buNone/>
            </a:pPr>
            <a:endParaRPr lang="zh-CN" altLang="en-US" sz="1600" dirty="0">
              <a:solidFill>
                <a:srgbClr val="333333"/>
              </a:solidFill>
              <a:ea typeface="宋体" panose="02010600030101010101" pitchFamily="2" charset="-122"/>
            </a:endParaRPr>
          </a:p>
        </p:txBody>
      </p:sp>
      <p:sp>
        <p:nvSpPr>
          <p:cNvPr id="38916" name="Oval 25"/>
          <p:cNvSpPr/>
          <p:nvPr/>
        </p:nvSpPr>
        <p:spPr>
          <a:xfrm>
            <a:off x="7639050" y="2219325"/>
            <a:ext cx="228600" cy="228600"/>
          </a:xfrm>
          <a:prstGeom prst="ellipse">
            <a:avLst/>
          </a:prstGeom>
          <a:gradFill rotWithShape="0">
            <a:gsLst>
              <a:gs pos="0">
                <a:srgbClr val="FFFF99"/>
              </a:gs>
              <a:gs pos="100000">
                <a:srgbClr val="767647"/>
              </a:gs>
            </a:gsLst>
            <a:path path="shape">
              <a:fillToRect l="50000" t="50000" r="50000" b="50000"/>
            </a:path>
            <a:tileRect/>
          </a:gradFill>
          <a:ln w="9525">
            <a:noFill/>
          </a:ln>
          <a:effectLst>
            <a:prstShdw prst="shdw17" dist="17961" dir="2699999">
              <a:srgbClr val="99995C"/>
            </a:prst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25" name="Text Box 42"/>
          <p:cNvSpPr txBox="1">
            <a:spLocks noChangeArrowheads="1"/>
          </p:cNvSpPr>
          <p:nvPr/>
        </p:nvSpPr>
        <p:spPr bwMode="auto">
          <a:xfrm>
            <a:off x="4143375" y="2884488"/>
            <a:ext cx="4716463" cy="830263"/>
          </a:xfrm>
          <a:prstGeom prst="rect">
            <a:avLst/>
          </a:prstGeom>
          <a:noFill/>
          <a:ln w="9525" cap="sq">
            <a:noFill/>
            <a:miter lim="800000"/>
          </a:ln>
          <a:effectLst>
            <a:prstShdw prst="shdw17" dist="17961" dir="2700000">
              <a:schemeClr val="tx1">
                <a:gamma/>
                <a:shade val="60000"/>
                <a:invGamma/>
              </a:schemeClr>
            </a:prstShdw>
          </a:effectLst>
        </p:spPr>
        <p:txBody>
          <a:bodyPr anchor="ctr">
            <a:spAutoFit/>
          </a:bodyPr>
          <a:lstStyle/>
          <a:p>
            <a:pPr marR="0" defTabSz="914400" eaLnBrk="1" hangingPunct="1">
              <a:buClrTx/>
              <a:buSzTx/>
              <a:buFontTx/>
              <a:buNone/>
              <a:defRPr/>
            </a:pPr>
            <a:r>
              <a:rPr kumimoji="0" lang="zh-CN" altLang="zh-CN" sz="2400" kern="1200" cap="none" spc="0" normalizeH="0" baseline="0" noProof="0" dirty="0">
                <a:solidFill>
                  <a:srgbClr val="333333"/>
                </a:solidFill>
                <a:latin typeface="楷体_GB2312" pitchFamily="49" charset="-122"/>
                <a:ea typeface="楷体_GB2312" pitchFamily="49" charset="-122"/>
                <a:cs typeface="+mn-cs"/>
              </a:rPr>
              <a:t>满足语句覆盖的情况：</a:t>
            </a:r>
            <a:endParaRPr kumimoji="0" lang="zh-CN" altLang="zh-CN" sz="2400" kern="1200" cap="none" spc="0" normalizeH="0" baseline="0" noProof="0" dirty="0">
              <a:solidFill>
                <a:srgbClr val="333333"/>
              </a:solidFill>
              <a:latin typeface="楷体_GB2312" pitchFamily="49" charset="-122"/>
              <a:ea typeface="楷体_GB2312" pitchFamily="49" charset="-122"/>
              <a:cs typeface="+mn-cs"/>
            </a:endParaRPr>
          </a:p>
          <a:p>
            <a:pPr marR="0" defTabSz="914400" eaLnBrk="1" hangingPunct="1">
              <a:buClrTx/>
              <a:buSzTx/>
              <a:buFontTx/>
              <a:buNone/>
              <a:defRPr/>
            </a:pPr>
            <a:r>
              <a:rPr kumimoji="0" lang="zh-CN" altLang="zh-CN" sz="2400" kern="1200" cap="none" spc="0" normalizeH="0" baseline="0" noProof="0" dirty="0">
                <a:solidFill>
                  <a:srgbClr val="333333"/>
                </a:solidFill>
                <a:latin typeface="楷体_GB2312" pitchFamily="49" charset="-122"/>
                <a:ea typeface="楷体_GB2312" pitchFamily="49" charset="-122"/>
                <a:cs typeface="+mn-cs"/>
              </a:rPr>
              <a:t>执行路径：ace</a:t>
            </a:r>
            <a:endParaRPr kumimoji="0" lang="zh-CN" altLang="en-US" sz="2400" kern="1200" cap="none" spc="0" normalizeH="0" baseline="0" noProof="0" dirty="0">
              <a:solidFill>
                <a:srgbClr val="333333"/>
              </a:solidFill>
              <a:latin typeface="Times New Roman" panose="02020603050405020304" pitchFamily="18" charset="0"/>
              <a:ea typeface="宋体" panose="02010600030101010101" pitchFamily="2" charset="-122"/>
              <a:cs typeface="+mn-cs"/>
            </a:endParaRPr>
          </a:p>
        </p:txBody>
      </p:sp>
      <p:sp>
        <p:nvSpPr>
          <p:cNvPr id="26" name="Text Box 43"/>
          <p:cNvSpPr txBox="1">
            <a:spLocks noChangeArrowheads="1"/>
          </p:cNvSpPr>
          <p:nvPr/>
        </p:nvSpPr>
        <p:spPr bwMode="auto">
          <a:xfrm>
            <a:off x="4238625" y="5143500"/>
            <a:ext cx="3884613" cy="830263"/>
          </a:xfrm>
          <a:prstGeom prst="rect">
            <a:avLst/>
          </a:prstGeom>
          <a:noFill/>
          <a:ln w="9525" cap="sq">
            <a:noFill/>
            <a:miter lim="800000"/>
          </a:ln>
          <a:effectLst>
            <a:prstShdw prst="shdw17" dist="17961" dir="2700000">
              <a:schemeClr val="tx1">
                <a:gamma/>
                <a:shade val="60000"/>
                <a:invGamma/>
              </a:schemeClr>
            </a:prstShdw>
          </a:effectLst>
        </p:spPr>
        <p:txBody>
          <a:bodyPr anchor="ctr">
            <a:spAutoFit/>
          </a:bodyPr>
          <a:lstStyle/>
          <a:p>
            <a:pPr marR="0" defTabSz="914400" eaLnBrk="1" hangingPunct="1">
              <a:spcBef>
                <a:spcPct val="50000"/>
              </a:spcBef>
              <a:buClrTx/>
              <a:buSzTx/>
              <a:buFontTx/>
              <a:buNone/>
              <a:defRPr/>
            </a:pPr>
            <a:r>
              <a:rPr kumimoji="0" lang="zh-CN" altLang="en-US" sz="2400" kern="1200" cap="none" spc="0" normalizeH="0" baseline="0" noProof="0" dirty="0">
                <a:solidFill>
                  <a:srgbClr val="333333"/>
                </a:solidFill>
                <a:latin typeface="Times New Roman" panose="02020603050405020304" pitchFamily="18" charset="0"/>
                <a:ea typeface="楷体_GB2312" pitchFamily="49" charset="-122"/>
                <a:cs typeface="+mn-cs"/>
              </a:rPr>
              <a:t>选择用例：</a:t>
            </a:r>
            <a:endParaRPr kumimoji="0" lang="zh-CN" altLang="en-US" sz="2400" kern="1200" cap="none" spc="0" normalizeH="0" baseline="0" noProof="0" dirty="0">
              <a:solidFill>
                <a:srgbClr val="333333"/>
              </a:solidFill>
              <a:latin typeface="Times New Roman" panose="02020603050405020304" pitchFamily="18" charset="0"/>
              <a:ea typeface="楷体_GB2312" pitchFamily="49" charset="-122"/>
              <a:cs typeface="+mn-cs"/>
            </a:endParaRPr>
          </a:p>
          <a:p>
            <a:pPr marR="0" defTabSz="914400" eaLnBrk="1" hangingPunct="1">
              <a:buClrTx/>
              <a:buSzTx/>
              <a:buFontTx/>
              <a:buNone/>
              <a:defRPr/>
            </a:pPr>
            <a:r>
              <a:rPr kumimoji="0" lang="zh-CN" altLang="zh-CN" sz="2400" kern="1200" cap="none" spc="0" normalizeH="0" baseline="0" noProof="0" dirty="0">
                <a:solidFill>
                  <a:srgbClr val="333333"/>
                </a:solidFill>
                <a:latin typeface="楷体_GB2312" pitchFamily="49" charset="-122"/>
                <a:ea typeface="楷体_GB2312" pitchFamily="49" charset="-122"/>
                <a:cs typeface="+mn-cs"/>
              </a:rPr>
              <a:t>[(2,0,4),(2,0,3)]</a:t>
            </a:r>
            <a:endParaRPr kumimoji="0" lang="zh-CN" altLang="zh-CN" sz="2400" kern="1200" cap="none" spc="0" normalizeH="0" baseline="0" noProof="0" dirty="0">
              <a:solidFill>
                <a:srgbClr val="333333"/>
              </a:solidFill>
              <a:latin typeface="楷体_GB2312" pitchFamily="49" charset="-122"/>
              <a:ea typeface="楷体_GB2312" pitchFamily="49" charset="-122"/>
              <a:cs typeface="+mn-cs"/>
            </a:endParaRPr>
          </a:p>
        </p:txBody>
      </p:sp>
      <p:sp>
        <p:nvSpPr>
          <p:cNvPr id="27" name="Text Box 44"/>
          <p:cNvSpPr txBox="1">
            <a:spLocks noChangeArrowheads="1"/>
          </p:cNvSpPr>
          <p:nvPr/>
        </p:nvSpPr>
        <p:spPr bwMode="auto">
          <a:xfrm>
            <a:off x="4038600" y="3943350"/>
            <a:ext cx="5105400" cy="830263"/>
          </a:xfrm>
          <a:prstGeom prst="rect">
            <a:avLst/>
          </a:prstGeom>
          <a:noFill/>
          <a:ln w="9525" cap="sq">
            <a:noFill/>
            <a:miter lim="800000"/>
          </a:ln>
          <a:effectLst>
            <a:prstShdw prst="shdw17" dist="17961" dir="2700000">
              <a:schemeClr val="tx1">
                <a:gamma/>
                <a:shade val="60000"/>
                <a:invGamma/>
              </a:schemeClr>
            </a:prstShdw>
          </a:effectLst>
        </p:spPr>
        <p:txBody>
          <a:bodyPr anchor="ctr">
            <a:spAutoFit/>
          </a:bodyPr>
          <a:lstStyle/>
          <a:p>
            <a:pPr marR="0" defTabSz="914400" eaLnBrk="1" hangingPunct="1">
              <a:buClrTx/>
              <a:buSzTx/>
              <a:buFontTx/>
              <a:buNone/>
              <a:defRPr/>
            </a:pPr>
            <a:r>
              <a:rPr kumimoji="0" lang="zh-CN" altLang="zh-CN" sz="2400" kern="1200" cap="none" spc="0" normalizeH="0" baseline="0" noProof="0" dirty="0">
                <a:solidFill>
                  <a:srgbClr val="333333"/>
                </a:solidFill>
                <a:latin typeface="楷体_GB2312" pitchFamily="49" charset="-122"/>
                <a:ea typeface="楷体_GB2312" pitchFamily="49" charset="-122"/>
                <a:cs typeface="+mn-cs"/>
              </a:rPr>
              <a:t> 用例格式：</a:t>
            </a:r>
            <a:endParaRPr kumimoji="0" lang="zh-CN" altLang="zh-CN" sz="2400" kern="1200" cap="none" spc="0" normalizeH="0" baseline="0" noProof="0" dirty="0">
              <a:solidFill>
                <a:srgbClr val="333333"/>
              </a:solidFill>
              <a:latin typeface="楷体_GB2312" pitchFamily="49" charset="-122"/>
              <a:ea typeface="楷体_GB2312" pitchFamily="49" charset="-122"/>
              <a:cs typeface="+mn-cs"/>
            </a:endParaRPr>
          </a:p>
          <a:p>
            <a:pPr marR="0" defTabSz="914400" eaLnBrk="1" hangingPunct="1">
              <a:buClrTx/>
              <a:buSzTx/>
              <a:buFontTx/>
              <a:buNone/>
              <a:defRPr/>
            </a:pPr>
            <a:r>
              <a:rPr kumimoji="0" lang="en-US" altLang="zh-CN" sz="2400" kern="1200" cap="none" spc="0" normalizeH="0" baseline="0" noProof="0" dirty="0">
                <a:solidFill>
                  <a:srgbClr val="333333"/>
                </a:solidFill>
                <a:latin typeface="楷体_GB2312" pitchFamily="49" charset="-122"/>
                <a:ea typeface="楷体_GB2312" pitchFamily="49" charset="-122"/>
                <a:cs typeface="+mn-cs"/>
              </a:rPr>
              <a:t> </a:t>
            </a:r>
            <a:r>
              <a:rPr kumimoji="0" lang="zh-CN" altLang="zh-CN" sz="2400" kern="1200" cap="none" spc="0" normalizeH="0" baseline="0" noProof="0" dirty="0">
                <a:solidFill>
                  <a:srgbClr val="333333"/>
                </a:solidFill>
                <a:latin typeface="楷体_GB2312" pitchFamily="49" charset="-122"/>
                <a:ea typeface="楷体_GB2312" pitchFamily="49" charset="-122"/>
                <a:cs typeface="+mn-cs"/>
              </a:rPr>
              <a:t>[输入(A,B,X)，输出(A,B,X)]</a:t>
            </a:r>
            <a:endParaRPr kumimoji="0" lang="zh-CN" altLang="en-US" sz="2400" kern="1200" cap="none" spc="0" normalizeH="0" baseline="0" noProof="0" dirty="0">
              <a:solidFill>
                <a:srgbClr val="333333"/>
              </a:solidFill>
              <a:latin typeface="Times New Roman" panose="02020603050405020304" pitchFamily="18" charset="0"/>
              <a:ea typeface="宋体" panose="02010600030101010101" pitchFamily="2" charset="-122"/>
              <a:cs typeface="+mn-cs"/>
            </a:endParaRPr>
          </a:p>
        </p:txBody>
      </p:sp>
      <p:grpSp>
        <p:nvGrpSpPr>
          <p:cNvPr id="38920" name="组合 32"/>
          <p:cNvGrpSpPr/>
          <p:nvPr/>
        </p:nvGrpSpPr>
        <p:grpSpPr>
          <a:xfrm>
            <a:off x="714375" y="2487613"/>
            <a:ext cx="2406650" cy="3870325"/>
            <a:chOff x="762000" y="2487634"/>
            <a:chExt cx="2406622" cy="3870304"/>
          </a:xfrm>
        </p:grpSpPr>
        <p:grpSp>
          <p:nvGrpSpPr>
            <p:cNvPr id="38922" name="Group 60"/>
            <p:cNvGrpSpPr/>
            <p:nvPr/>
          </p:nvGrpSpPr>
          <p:grpSpPr>
            <a:xfrm>
              <a:off x="762000" y="2786063"/>
              <a:ext cx="2381250" cy="3571875"/>
              <a:chOff x="3360" y="867"/>
              <a:chExt cx="2035" cy="2643"/>
            </a:xfrm>
          </p:grpSpPr>
          <p:sp>
            <p:nvSpPr>
              <p:cNvPr id="38928" name="Line 9"/>
              <p:cNvSpPr/>
              <p:nvPr/>
            </p:nvSpPr>
            <p:spPr>
              <a:xfrm>
                <a:off x="3965" y="867"/>
                <a:ext cx="0" cy="240"/>
              </a:xfrm>
              <a:prstGeom prst="line">
                <a:avLst/>
              </a:prstGeom>
              <a:ln w="28575" cap="flat" cmpd="sng">
                <a:solidFill>
                  <a:schemeClr val="tx1"/>
                </a:solidFill>
                <a:prstDash val="solid"/>
                <a:headEnd type="none" w="med" len="med"/>
                <a:tailEnd type="triangle" w="med" len="med"/>
              </a:ln>
              <a:effectLst>
                <a:outerShdw dist="17961" dir="2699999" algn="ctr" rotWithShape="0">
                  <a:srgbClr val="DDDDDD"/>
                </a:outerShdw>
              </a:effectLst>
            </p:spPr>
          </p:sp>
          <p:sp>
            <p:nvSpPr>
              <p:cNvPr id="38929" name="AutoShape 10"/>
              <p:cNvSpPr/>
              <p:nvPr/>
            </p:nvSpPr>
            <p:spPr>
              <a:xfrm>
                <a:off x="3360" y="1104"/>
                <a:ext cx="1206" cy="546"/>
              </a:xfrm>
              <a:prstGeom prst="diamond">
                <a:avLst/>
              </a:prstGeom>
              <a:solidFill>
                <a:srgbClr val="FFFFCC"/>
              </a:solidFill>
              <a:ln w="9525" cap="flat" cmpd="sng">
                <a:solidFill>
                  <a:srgbClr val="A50021"/>
                </a:solidFill>
                <a:prstDash val="solid"/>
                <a:miter/>
                <a:headEnd type="none" w="med" len="med"/>
                <a:tailEnd type="none" w="med" len="med"/>
              </a:ln>
              <a:effectLst>
                <a:outerShdw dist="53882" dir="2699999" algn="ctr" rotWithShape="0">
                  <a:srgbClr val="A50021"/>
                </a:outer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lnSpc>
                    <a:spcPct val="80000"/>
                  </a:lnSpc>
                  <a:spcBef>
                    <a:spcPct val="0"/>
                  </a:spcBef>
                  <a:buClrTx/>
                  <a:buFontTx/>
                  <a:buNone/>
                </a:pPr>
                <a:r>
                  <a:rPr lang="en-US" altLang="zh-CN" sz="1600" dirty="0">
                    <a:solidFill>
                      <a:srgbClr val="333333"/>
                    </a:solidFill>
                    <a:ea typeface="宋体" panose="02010600030101010101" pitchFamily="2" charset="-122"/>
                  </a:rPr>
                  <a:t>A&gt;1</a:t>
                </a:r>
                <a:endParaRPr lang="en-US" altLang="zh-CN" sz="1600" dirty="0">
                  <a:solidFill>
                    <a:srgbClr val="333333"/>
                  </a:solidFill>
                  <a:ea typeface="宋体" panose="02010600030101010101" pitchFamily="2" charset="-122"/>
                </a:endParaRPr>
              </a:p>
              <a:p>
                <a:pPr marL="0" lvl="0" indent="0" eaLnBrk="1" hangingPunct="1">
                  <a:lnSpc>
                    <a:spcPct val="80000"/>
                  </a:lnSpc>
                  <a:spcBef>
                    <a:spcPct val="0"/>
                  </a:spcBef>
                  <a:buClrTx/>
                  <a:buFontTx/>
                  <a:buNone/>
                </a:pPr>
                <a:r>
                  <a:rPr lang="en-US" altLang="zh-CN" sz="1600" dirty="0">
                    <a:solidFill>
                      <a:srgbClr val="333333"/>
                    </a:solidFill>
                    <a:ea typeface="宋体" panose="02010600030101010101" pitchFamily="2" charset="-122"/>
                  </a:rPr>
                  <a:t>AND</a:t>
                </a:r>
                <a:endParaRPr lang="en-US" altLang="zh-CN" sz="1600" dirty="0">
                  <a:solidFill>
                    <a:srgbClr val="333333"/>
                  </a:solidFill>
                  <a:ea typeface="宋体" panose="02010600030101010101" pitchFamily="2" charset="-122"/>
                </a:endParaRPr>
              </a:p>
              <a:p>
                <a:pPr marL="0" lvl="0" indent="0" eaLnBrk="1" hangingPunct="1">
                  <a:lnSpc>
                    <a:spcPct val="80000"/>
                  </a:lnSpc>
                  <a:spcBef>
                    <a:spcPct val="0"/>
                  </a:spcBef>
                  <a:buClrTx/>
                  <a:buFontTx/>
                  <a:buNone/>
                </a:pPr>
                <a:r>
                  <a:rPr lang="en-US" altLang="zh-CN" sz="1600" dirty="0">
                    <a:solidFill>
                      <a:srgbClr val="333333"/>
                    </a:solidFill>
                    <a:ea typeface="宋体" panose="02010600030101010101" pitchFamily="2" charset="-122"/>
                  </a:rPr>
                  <a:t>B=0</a:t>
                </a:r>
                <a:endParaRPr lang="en-US" altLang="zh-CN" sz="1600" dirty="0">
                  <a:solidFill>
                    <a:srgbClr val="333333"/>
                  </a:solidFill>
                  <a:ea typeface="宋体" panose="02010600030101010101" pitchFamily="2" charset="-122"/>
                </a:endParaRPr>
              </a:p>
            </p:txBody>
          </p:sp>
          <p:sp>
            <p:nvSpPr>
              <p:cNvPr id="38930" name="Line 11"/>
              <p:cNvSpPr/>
              <p:nvPr/>
            </p:nvSpPr>
            <p:spPr>
              <a:xfrm>
                <a:off x="4590" y="1389"/>
                <a:ext cx="391" cy="0"/>
              </a:xfrm>
              <a:prstGeom prst="line">
                <a:avLst/>
              </a:prstGeom>
              <a:ln w="28575" cap="flat" cmpd="sng">
                <a:solidFill>
                  <a:schemeClr val="tx1"/>
                </a:solidFill>
                <a:prstDash val="solid"/>
                <a:headEnd type="none" w="med" len="med"/>
                <a:tailEnd type="none" w="med" len="med"/>
              </a:ln>
              <a:effectLst>
                <a:outerShdw dist="35921" dir="2699999" algn="ctr" rotWithShape="0">
                  <a:srgbClr val="DDDDDD"/>
                </a:outerShdw>
              </a:effectLst>
            </p:spPr>
          </p:sp>
          <p:sp>
            <p:nvSpPr>
              <p:cNvPr id="38931" name="Rectangle 13"/>
              <p:cNvSpPr/>
              <p:nvPr/>
            </p:nvSpPr>
            <p:spPr>
              <a:xfrm>
                <a:off x="4633" y="1641"/>
                <a:ext cx="719" cy="233"/>
              </a:xfrm>
              <a:prstGeom prst="rect">
                <a:avLst/>
              </a:prstGeom>
              <a:solidFill>
                <a:srgbClr val="FFFFCC"/>
              </a:solidFill>
              <a:ln w="9525" cap="flat" cmpd="sng">
                <a:solidFill>
                  <a:srgbClr val="A50021"/>
                </a:solidFill>
                <a:prstDash val="solid"/>
                <a:miter/>
                <a:headEnd type="none" w="med" len="med"/>
                <a:tailEnd type="none" w="med" len="med"/>
              </a:ln>
              <a:effectLst>
                <a:outerShdw dist="53882" dir="2699999" algn="ctr" rotWithShape="0">
                  <a:srgbClr val="A50021"/>
                </a:outer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1600" dirty="0">
                    <a:solidFill>
                      <a:srgbClr val="333333"/>
                    </a:solidFill>
                    <a:ea typeface="宋体" panose="02010600030101010101" pitchFamily="2" charset="-122"/>
                  </a:rPr>
                  <a:t>X:=X/A</a:t>
                </a:r>
                <a:endParaRPr lang="en-US" altLang="zh-CN" sz="1600" dirty="0">
                  <a:solidFill>
                    <a:srgbClr val="333333"/>
                  </a:solidFill>
                  <a:ea typeface="宋体" panose="02010600030101010101" pitchFamily="2" charset="-122"/>
                </a:endParaRPr>
              </a:p>
            </p:txBody>
          </p:sp>
          <p:sp>
            <p:nvSpPr>
              <p:cNvPr id="10" name="Line 28"/>
              <p:cNvSpPr>
                <a:spLocks noChangeShapeType="1"/>
              </p:cNvSpPr>
              <p:nvPr/>
            </p:nvSpPr>
            <p:spPr bwMode="auto">
              <a:xfrm>
                <a:off x="4992" y="1929"/>
                <a:ext cx="0" cy="141"/>
              </a:xfrm>
              <a:prstGeom prst="line">
                <a:avLst/>
              </a:prstGeom>
              <a:noFill/>
              <a:ln w="28575" cap="sq">
                <a:solidFill>
                  <a:schemeClr val="tx1"/>
                </a:solidFill>
                <a:round/>
                <a:tailEnd type="triangle" w="med" len="me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11" name="Line 30"/>
              <p:cNvSpPr>
                <a:spLocks noChangeShapeType="1"/>
              </p:cNvSpPr>
              <p:nvPr/>
            </p:nvSpPr>
            <p:spPr bwMode="auto">
              <a:xfrm flipH="1">
                <a:off x="3994" y="1674"/>
                <a:ext cx="0" cy="561"/>
              </a:xfrm>
              <a:prstGeom prst="line">
                <a:avLst/>
              </a:prstGeom>
              <a:noFill/>
              <a:ln w="28575" cap="sq">
                <a:solidFill>
                  <a:schemeClr val="tx1"/>
                </a:solidFill>
                <a:round/>
                <a:tailEnd type="triangle" w="med" len="me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12" name="Line 31"/>
              <p:cNvSpPr>
                <a:spLocks noChangeShapeType="1"/>
              </p:cNvSpPr>
              <p:nvPr/>
            </p:nvSpPr>
            <p:spPr bwMode="auto">
              <a:xfrm flipV="1">
                <a:off x="4008" y="2044"/>
                <a:ext cx="1011" cy="1"/>
              </a:xfrm>
              <a:prstGeom prst="line">
                <a:avLst/>
              </a:prstGeom>
              <a:noFill/>
              <a:ln w="28575" cap="sq">
                <a:solidFill>
                  <a:schemeClr val="tx1"/>
                </a:solidFill>
                <a:roun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13" name="Line 44"/>
              <p:cNvSpPr>
                <a:spLocks noChangeShapeType="1"/>
              </p:cNvSpPr>
              <p:nvPr/>
            </p:nvSpPr>
            <p:spPr bwMode="auto">
              <a:xfrm>
                <a:off x="4983" y="1405"/>
                <a:ext cx="0" cy="243"/>
              </a:xfrm>
              <a:prstGeom prst="line">
                <a:avLst/>
              </a:prstGeom>
              <a:noFill/>
              <a:ln w="9525" cap="sq">
                <a:solidFill>
                  <a:schemeClr val="tx1"/>
                </a:solidFill>
                <a:round/>
                <a:tailEnd type="triangle" w="med" len="me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38936" name="AutoShape 45"/>
              <p:cNvSpPr/>
              <p:nvPr/>
            </p:nvSpPr>
            <p:spPr>
              <a:xfrm>
                <a:off x="3405" y="2237"/>
                <a:ext cx="1206" cy="547"/>
              </a:xfrm>
              <a:prstGeom prst="diamond">
                <a:avLst/>
              </a:prstGeom>
              <a:solidFill>
                <a:srgbClr val="FFFFCC"/>
              </a:solidFill>
              <a:ln w="9525" cap="flat" cmpd="sng">
                <a:solidFill>
                  <a:srgbClr val="A50021"/>
                </a:solidFill>
                <a:prstDash val="solid"/>
                <a:miter/>
                <a:headEnd type="none" w="med" len="med"/>
                <a:tailEnd type="none" w="med" len="med"/>
              </a:ln>
              <a:effectLst>
                <a:outerShdw dist="53882" dir="2699999" algn="ctr" rotWithShape="0">
                  <a:srgbClr val="A50021"/>
                </a:outer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lnSpc>
                    <a:spcPct val="80000"/>
                  </a:lnSpc>
                  <a:spcBef>
                    <a:spcPct val="0"/>
                  </a:spcBef>
                  <a:buClrTx/>
                  <a:buFontTx/>
                  <a:buNone/>
                </a:pPr>
                <a:r>
                  <a:rPr lang="en-US" altLang="zh-CN" sz="1600" dirty="0">
                    <a:solidFill>
                      <a:srgbClr val="333333"/>
                    </a:solidFill>
                    <a:ea typeface="宋体" panose="02010600030101010101" pitchFamily="2" charset="-122"/>
                  </a:rPr>
                  <a:t>A=2</a:t>
                </a:r>
                <a:endParaRPr lang="en-US" altLang="zh-CN" sz="1600" dirty="0">
                  <a:solidFill>
                    <a:srgbClr val="333333"/>
                  </a:solidFill>
                  <a:ea typeface="宋体" panose="02010600030101010101" pitchFamily="2" charset="-122"/>
                </a:endParaRPr>
              </a:p>
              <a:p>
                <a:pPr marL="0" lvl="0" indent="0" eaLnBrk="1" hangingPunct="1">
                  <a:lnSpc>
                    <a:spcPct val="80000"/>
                  </a:lnSpc>
                  <a:spcBef>
                    <a:spcPct val="0"/>
                  </a:spcBef>
                  <a:buClrTx/>
                  <a:buFontTx/>
                  <a:buNone/>
                </a:pPr>
                <a:r>
                  <a:rPr lang="en-US" altLang="zh-CN" sz="1600" dirty="0">
                    <a:solidFill>
                      <a:srgbClr val="333333"/>
                    </a:solidFill>
                    <a:ea typeface="宋体" panose="02010600030101010101" pitchFamily="2" charset="-122"/>
                  </a:rPr>
                  <a:t>OR </a:t>
                </a:r>
                <a:endParaRPr lang="en-US" altLang="zh-CN" sz="1600" dirty="0">
                  <a:solidFill>
                    <a:srgbClr val="333333"/>
                  </a:solidFill>
                  <a:ea typeface="宋体" panose="02010600030101010101" pitchFamily="2" charset="-122"/>
                </a:endParaRPr>
              </a:p>
              <a:p>
                <a:pPr marL="0" lvl="0" indent="0" eaLnBrk="1" hangingPunct="1">
                  <a:lnSpc>
                    <a:spcPct val="80000"/>
                  </a:lnSpc>
                  <a:spcBef>
                    <a:spcPct val="0"/>
                  </a:spcBef>
                  <a:buClrTx/>
                  <a:buFontTx/>
                  <a:buNone/>
                </a:pPr>
                <a:r>
                  <a:rPr lang="en-US" altLang="zh-CN" sz="1600" dirty="0">
                    <a:solidFill>
                      <a:srgbClr val="333333"/>
                    </a:solidFill>
                    <a:ea typeface="宋体" panose="02010600030101010101" pitchFamily="2" charset="-122"/>
                  </a:rPr>
                  <a:t>X&gt;1</a:t>
                </a:r>
                <a:endParaRPr lang="en-US" altLang="zh-CN" sz="1600" dirty="0">
                  <a:solidFill>
                    <a:srgbClr val="333333"/>
                  </a:solidFill>
                  <a:ea typeface="宋体" panose="02010600030101010101" pitchFamily="2" charset="-122"/>
                </a:endParaRPr>
              </a:p>
            </p:txBody>
          </p:sp>
          <p:sp>
            <p:nvSpPr>
              <p:cNvPr id="38937" name="Line 46"/>
              <p:cNvSpPr/>
              <p:nvPr/>
            </p:nvSpPr>
            <p:spPr>
              <a:xfrm>
                <a:off x="4635" y="2522"/>
                <a:ext cx="391" cy="0"/>
              </a:xfrm>
              <a:prstGeom prst="line">
                <a:avLst/>
              </a:prstGeom>
              <a:ln w="28575" cap="flat" cmpd="sng">
                <a:solidFill>
                  <a:schemeClr val="tx1"/>
                </a:solidFill>
                <a:prstDash val="solid"/>
                <a:headEnd type="none" w="med" len="med"/>
                <a:tailEnd type="none" w="med" len="med"/>
              </a:ln>
              <a:effectLst>
                <a:outerShdw dist="35921" dir="2699999" algn="ctr" rotWithShape="0">
                  <a:srgbClr val="DDDDDD"/>
                </a:outerShdw>
              </a:effectLst>
            </p:spPr>
          </p:sp>
          <p:sp>
            <p:nvSpPr>
              <p:cNvPr id="38938" name="Rectangle 47"/>
              <p:cNvSpPr/>
              <p:nvPr/>
            </p:nvSpPr>
            <p:spPr>
              <a:xfrm>
                <a:off x="4677" y="2773"/>
                <a:ext cx="718" cy="234"/>
              </a:xfrm>
              <a:prstGeom prst="rect">
                <a:avLst/>
              </a:prstGeom>
              <a:solidFill>
                <a:srgbClr val="FFFFCC"/>
              </a:solidFill>
              <a:ln w="9525" cap="flat" cmpd="sng">
                <a:solidFill>
                  <a:srgbClr val="A50021"/>
                </a:solidFill>
                <a:prstDash val="solid"/>
                <a:miter/>
                <a:headEnd type="none" w="med" len="med"/>
                <a:tailEnd type="none" w="med" len="med"/>
              </a:ln>
              <a:effectLst>
                <a:outerShdw dist="53882" dir="2699999" algn="ctr" rotWithShape="0">
                  <a:srgbClr val="A50021"/>
                </a:outer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1600" dirty="0">
                    <a:solidFill>
                      <a:srgbClr val="333333"/>
                    </a:solidFill>
                    <a:ea typeface="宋体" panose="02010600030101010101" pitchFamily="2" charset="-122"/>
                  </a:rPr>
                  <a:t>X:=X+1</a:t>
                </a:r>
                <a:endParaRPr lang="en-US" altLang="zh-CN" sz="1600" dirty="0">
                  <a:solidFill>
                    <a:srgbClr val="333333"/>
                  </a:solidFill>
                  <a:ea typeface="宋体" panose="02010600030101010101" pitchFamily="2" charset="-122"/>
                </a:endParaRPr>
              </a:p>
            </p:txBody>
          </p:sp>
          <p:sp>
            <p:nvSpPr>
              <p:cNvPr id="17" name="Line 48"/>
              <p:cNvSpPr>
                <a:spLocks noChangeShapeType="1"/>
              </p:cNvSpPr>
              <p:nvPr/>
            </p:nvSpPr>
            <p:spPr bwMode="auto">
              <a:xfrm>
                <a:off x="5037" y="3062"/>
                <a:ext cx="0" cy="141"/>
              </a:xfrm>
              <a:prstGeom prst="line">
                <a:avLst/>
              </a:prstGeom>
              <a:noFill/>
              <a:ln w="28575" cap="sq">
                <a:solidFill>
                  <a:schemeClr val="tx1"/>
                </a:solidFill>
                <a:round/>
                <a:tailEnd type="triangle" w="med" len="me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18" name="Line 50"/>
              <p:cNvSpPr>
                <a:spLocks noChangeShapeType="1"/>
              </p:cNvSpPr>
              <p:nvPr/>
            </p:nvSpPr>
            <p:spPr bwMode="auto">
              <a:xfrm>
                <a:off x="4026" y="2833"/>
                <a:ext cx="0" cy="677"/>
              </a:xfrm>
              <a:prstGeom prst="line">
                <a:avLst/>
              </a:prstGeom>
              <a:noFill/>
              <a:ln w="28575" cap="sq">
                <a:solidFill>
                  <a:schemeClr val="tx1"/>
                </a:solidFill>
                <a:round/>
                <a:tailEnd type="triangle" w="med" len="me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19" name="Line 51"/>
              <p:cNvSpPr>
                <a:spLocks noChangeShapeType="1"/>
              </p:cNvSpPr>
              <p:nvPr/>
            </p:nvSpPr>
            <p:spPr bwMode="auto">
              <a:xfrm flipV="1">
                <a:off x="4027" y="3190"/>
                <a:ext cx="1035" cy="0"/>
              </a:xfrm>
              <a:prstGeom prst="line">
                <a:avLst/>
              </a:prstGeom>
              <a:noFill/>
              <a:ln w="28575" cap="sq">
                <a:solidFill>
                  <a:schemeClr val="tx1"/>
                </a:solidFill>
                <a:roun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20" name="Line 53"/>
              <p:cNvSpPr>
                <a:spLocks noChangeShapeType="1"/>
              </p:cNvSpPr>
              <p:nvPr/>
            </p:nvSpPr>
            <p:spPr bwMode="auto">
              <a:xfrm>
                <a:off x="5015" y="2539"/>
                <a:ext cx="0" cy="242"/>
              </a:xfrm>
              <a:prstGeom prst="line">
                <a:avLst/>
              </a:prstGeom>
              <a:noFill/>
              <a:ln w="9525" cap="sq">
                <a:solidFill>
                  <a:schemeClr val="tx1"/>
                </a:solidFill>
                <a:round/>
                <a:tailEnd type="triangle" w="med" len="me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21" name="Text Box 54"/>
              <p:cNvSpPr txBox="1">
                <a:spLocks noChangeArrowheads="1"/>
              </p:cNvSpPr>
              <p:nvPr/>
            </p:nvSpPr>
            <p:spPr bwMode="auto">
              <a:xfrm>
                <a:off x="4538" y="1041"/>
                <a:ext cx="285" cy="251"/>
              </a:xfrm>
              <a:prstGeom prst="rect">
                <a:avLst/>
              </a:prstGeom>
              <a:noFill/>
              <a:ln w="9525" cap="sq">
                <a:noFill/>
                <a:miter lim="800000"/>
              </a:ln>
              <a:effectLst>
                <a:prstShdw prst="shdw17" dist="17961" dir="2700000">
                  <a:schemeClr val="tx1">
                    <a:gamma/>
                    <a:shade val="60000"/>
                    <a:invGamma/>
                  </a:schemeClr>
                </a:prstShdw>
              </a:effectLst>
            </p:spPr>
            <p:txBody>
              <a:bodyPr wrap="none" anchor="ct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rPr>
                  <a:t>Y</a:t>
                </a:r>
                <a:endPar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22" name="Text Box 55"/>
              <p:cNvSpPr txBox="1">
                <a:spLocks noChangeArrowheads="1"/>
              </p:cNvSpPr>
              <p:nvPr/>
            </p:nvSpPr>
            <p:spPr bwMode="auto">
              <a:xfrm>
                <a:off x="3985" y="1641"/>
                <a:ext cx="285" cy="251"/>
              </a:xfrm>
              <a:prstGeom prst="rect">
                <a:avLst/>
              </a:prstGeom>
              <a:noFill/>
              <a:ln w="9525" cap="sq">
                <a:noFill/>
                <a:miter lim="800000"/>
              </a:ln>
              <a:effectLst>
                <a:prstShdw prst="shdw17" dist="17961" dir="2700000">
                  <a:schemeClr val="tx1">
                    <a:gamma/>
                    <a:shade val="60000"/>
                    <a:invGamma/>
                  </a:schemeClr>
                </a:prstShdw>
              </a:effectLst>
            </p:spPr>
            <p:txBody>
              <a:bodyPr wrap="none" anchor="ct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rPr>
                  <a:t>N</a:t>
                </a:r>
                <a:endPar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23" name="Text Box 56"/>
              <p:cNvSpPr txBox="1">
                <a:spLocks noChangeArrowheads="1"/>
              </p:cNvSpPr>
              <p:nvPr/>
            </p:nvSpPr>
            <p:spPr bwMode="auto">
              <a:xfrm>
                <a:off x="4490" y="2241"/>
                <a:ext cx="284" cy="250"/>
              </a:xfrm>
              <a:prstGeom prst="rect">
                <a:avLst/>
              </a:prstGeom>
              <a:noFill/>
              <a:ln w="9525" cap="sq">
                <a:noFill/>
                <a:miter lim="800000"/>
              </a:ln>
              <a:effectLst>
                <a:prstShdw prst="shdw17" dist="17961" dir="2700000">
                  <a:schemeClr val="tx1">
                    <a:gamma/>
                    <a:shade val="60000"/>
                    <a:invGamma/>
                  </a:schemeClr>
                </a:prstShdw>
              </a:effectLst>
            </p:spPr>
            <p:txBody>
              <a:bodyPr wrap="none" anchor="ct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rPr>
                  <a:t>Y</a:t>
                </a:r>
                <a:endPar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24" name="Text Box 57"/>
              <p:cNvSpPr txBox="1">
                <a:spLocks noChangeArrowheads="1"/>
              </p:cNvSpPr>
              <p:nvPr/>
            </p:nvSpPr>
            <p:spPr bwMode="auto">
              <a:xfrm>
                <a:off x="4010" y="2817"/>
                <a:ext cx="284" cy="251"/>
              </a:xfrm>
              <a:prstGeom prst="rect">
                <a:avLst/>
              </a:prstGeom>
              <a:noFill/>
              <a:ln w="9525" cap="sq">
                <a:noFill/>
                <a:miter lim="800000"/>
              </a:ln>
              <a:effectLst>
                <a:prstShdw prst="shdw17" dist="17961" dir="2700000">
                  <a:schemeClr val="tx1">
                    <a:gamma/>
                    <a:shade val="60000"/>
                    <a:invGamma/>
                  </a:schemeClr>
                </a:prstShdw>
              </a:effectLst>
            </p:spPr>
            <p:txBody>
              <a:bodyPr wrap="none" anchor="ct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rPr>
                  <a:t>N</a:t>
                </a:r>
                <a:endPar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grpSp>
        <p:sp>
          <p:nvSpPr>
            <p:cNvPr id="28" name="Text Box 37"/>
            <p:cNvSpPr txBox="1">
              <a:spLocks noChangeArrowheads="1"/>
            </p:cNvSpPr>
            <p:nvPr/>
          </p:nvSpPr>
          <p:spPr bwMode="auto">
            <a:xfrm>
              <a:off x="1138234" y="2487634"/>
              <a:ext cx="361946" cy="519109"/>
            </a:xfrm>
            <a:prstGeom prst="rect">
              <a:avLst/>
            </a:prstGeom>
            <a:noFill/>
            <a:ln w="9525" cap="sq">
              <a:noFill/>
              <a:miter lim="800000"/>
            </a:ln>
            <a:effectLst>
              <a:prstShdw prst="shdw17" dist="17961" dir="2700000">
                <a:schemeClr val="tx1">
                  <a:gamma/>
                  <a:shade val="60000"/>
                  <a:invGamma/>
                </a:schemeClr>
              </a:prstShdw>
            </a:effectLst>
          </p:spPr>
          <p:txBody>
            <a:bodyPr wrap="none">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rPr>
                <a:t>a</a:t>
              </a:r>
              <a:endPar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sp>
          <p:nvSpPr>
            <p:cNvPr id="29" name="Text Box 38"/>
            <p:cNvSpPr txBox="1">
              <a:spLocks noChangeArrowheads="1"/>
            </p:cNvSpPr>
            <p:nvPr/>
          </p:nvSpPr>
          <p:spPr bwMode="auto">
            <a:xfrm>
              <a:off x="1184270" y="4071950"/>
              <a:ext cx="530219" cy="519109"/>
            </a:xfrm>
            <a:prstGeom prst="rect">
              <a:avLst/>
            </a:prstGeom>
            <a:noFill/>
            <a:ln w="9525" cap="sq">
              <a:noFill/>
              <a:miter lim="800000"/>
            </a:ln>
            <a:effectLst>
              <a:prstShdw prst="shdw17" dist="17961" dir="2700000">
                <a:schemeClr val="tx1">
                  <a:gamma/>
                  <a:shade val="60000"/>
                  <a:invGamma/>
                </a:schemeClr>
              </a:prstShdw>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rPr>
                <a:t>b</a:t>
              </a:r>
              <a:endPar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sp>
          <p:nvSpPr>
            <p:cNvPr id="30" name="Text Box 39"/>
            <p:cNvSpPr txBox="1">
              <a:spLocks noChangeArrowheads="1"/>
            </p:cNvSpPr>
            <p:nvPr/>
          </p:nvSpPr>
          <p:spPr bwMode="auto">
            <a:xfrm>
              <a:off x="2644753" y="3090881"/>
              <a:ext cx="509582" cy="519109"/>
            </a:xfrm>
            <a:prstGeom prst="rect">
              <a:avLst/>
            </a:prstGeom>
            <a:noFill/>
            <a:ln w="9525" cap="sq">
              <a:noFill/>
              <a:miter lim="800000"/>
            </a:ln>
            <a:effectLst>
              <a:prstShdw prst="shdw17" dist="17961" dir="2700000">
                <a:schemeClr val="tx1">
                  <a:gamma/>
                  <a:shade val="60000"/>
                  <a:invGamma/>
                </a:schemeClr>
              </a:prstShdw>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rPr>
                <a:t>c</a:t>
              </a:r>
              <a:endPar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sp>
          <p:nvSpPr>
            <p:cNvPr id="31" name="Text Box 40"/>
            <p:cNvSpPr txBox="1">
              <a:spLocks noChangeArrowheads="1"/>
            </p:cNvSpPr>
            <p:nvPr/>
          </p:nvSpPr>
          <p:spPr bwMode="auto">
            <a:xfrm>
              <a:off x="1214433" y="5695954"/>
              <a:ext cx="538156" cy="519110"/>
            </a:xfrm>
            <a:prstGeom prst="rect">
              <a:avLst/>
            </a:prstGeom>
            <a:noFill/>
            <a:ln w="9525" cap="sq">
              <a:noFill/>
              <a:miter lim="800000"/>
            </a:ln>
            <a:effectLst>
              <a:prstShdw prst="shdw17" dist="17961" dir="2700000">
                <a:schemeClr val="tx1">
                  <a:gamma/>
                  <a:shade val="60000"/>
                  <a:invGamma/>
                </a:schemeClr>
              </a:prstShdw>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rPr>
                <a:t>d</a:t>
              </a:r>
              <a:endPar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sp>
          <p:nvSpPr>
            <p:cNvPr id="32" name="Text Box 41"/>
            <p:cNvSpPr txBox="1">
              <a:spLocks noChangeArrowheads="1"/>
            </p:cNvSpPr>
            <p:nvPr/>
          </p:nvSpPr>
          <p:spPr bwMode="auto">
            <a:xfrm>
              <a:off x="2720952" y="4643447"/>
              <a:ext cx="447670" cy="519109"/>
            </a:xfrm>
            <a:prstGeom prst="rect">
              <a:avLst/>
            </a:prstGeom>
            <a:noFill/>
            <a:ln w="9525" cap="sq">
              <a:noFill/>
              <a:miter lim="800000"/>
            </a:ln>
            <a:effectLst>
              <a:prstShdw prst="shdw17" dist="17961" dir="2700000">
                <a:schemeClr val="tx1">
                  <a:gamma/>
                  <a:shade val="60000"/>
                  <a:invGamma/>
                </a:schemeClr>
              </a:prstShdw>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rPr>
                <a:t>e</a:t>
              </a:r>
              <a:endPar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grpSp>
      <p:sp>
        <p:nvSpPr>
          <p:cNvPr id="38921"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内容占位符 2"/>
          <p:cNvSpPr>
            <a:spLocks noGrp="1"/>
          </p:cNvSpPr>
          <p:nvPr>
            <p:ph idx="1"/>
          </p:nvPr>
        </p:nvSpPr>
        <p:spPr>
          <a:xfrm>
            <a:off x="428625" y="1214438"/>
            <a:ext cx="8286750" cy="5000625"/>
          </a:xfrm>
          <a:ln/>
        </p:spPr>
        <p:txBody>
          <a:bodyPr vert="horz" wrap="square" lIns="91440" tIns="45720" rIns="91440" bIns="45720" anchor="t" anchorCtr="0"/>
          <a:p>
            <a:pPr indent="0" eaLnBrk="1" hangingPunct="1">
              <a:lnSpc>
                <a:spcPct val="120000"/>
              </a:lnSpc>
              <a:buFont typeface="Wingdings" panose="05000000000000000000" pitchFamily="2" charset="2"/>
              <a:buNone/>
            </a:pPr>
            <a:r>
              <a:rPr lang="en-US" altLang="zh-CN" sz="2200" b="1" dirty="0">
                <a:latin typeface="黑体" panose="02010609060101010101" pitchFamily="49" charset="-122"/>
                <a:ea typeface="黑体" panose="02010609060101010101" pitchFamily="49" charset="-122"/>
                <a:cs typeface="+mn-cs"/>
              </a:rPr>
              <a:t>1.</a:t>
            </a:r>
            <a:r>
              <a:rPr lang="zh-CN" altLang="en-US" sz="2200" b="1" dirty="0">
                <a:latin typeface="黑体" panose="02010609060101010101" pitchFamily="49" charset="-122"/>
                <a:ea typeface="黑体" panose="02010609060101010101" pitchFamily="49" charset="-122"/>
                <a:cs typeface="+mn-cs"/>
              </a:rPr>
              <a:t>基于逻辑覆盖测试</a:t>
            </a:r>
            <a:endParaRPr lang="zh-CN" altLang="en-US" sz="2200" b="1" dirty="0">
              <a:latin typeface="黑体" panose="02010609060101010101" pitchFamily="49" charset="-122"/>
              <a:ea typeface="黑体" panose="02010609060101010101" pitchFamily="49" charset="-122"/>
              <a:cs typeface="+mn-cs"/>
            </a:endParaRPr>
          </a:p>
          <a:p>
            <a:pPr indent="0" eaLnBrk="1" hangingPunct="1">
              <a:lnSpc>
                <a:spcPct val="120000"/>
              </a:lnSpc>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a:t>
            </a:r>
            <a:r>
              <a:rPr lang="en-US" altLang="zh-CN" sz="2200" b="1" dirty="0">
                <a:latin typeface="宋体" panose="02010600030101010101" pitchFamily="2" charset="-122"/>
                <a:ea typeface="宋体" panose="02010600030101010101" pitchFamily="2" charset="-122"/>
                <a:cs typeface="+mn-cs"/>
              </a:rPr>
              <a:t>2</a:t>
            </a:r>
            <a:r>
              <a:rPr lang="zh-CN" altLang="en-US" sz="2200" b="1" dirty="0">
                <a:latin typeface="宋体" panose="02010600030101010101" pitchFamily="2" charset="-122"/>
                <a:ea typeface="宋体" panose="02010600030101010101" pitchFamily="2" charset="-122"/>
                <a:cs typeface="+mn-cs"/>
              </a:rPr>
              <a:t>）判定覆盖</a:t>
            </a:r>
            <a:endParaRPr lang="en-US" altLang="zh-CN" sz="2200" b="1" dirty="0">
              <a:latin typeface="宋体" panose="02010600030101010101" pitchFamily="2" charset="-122"/>
              <a:ea typeface="宋体" panose="02010600030101010101" pitchFamily="2" charset="-122"/>
              <a:cs typeface="+mn-cs"/>
            </a:endParaRPr>
          </a:p>
          <a:p>
            <a:pPr indent="0" eaLnBrk="1" hangingPunct="1">
              <a:lnSpc>
                <a:spcPct val="120000"/>
              </a:lnSpc>
              <a:buSzPct val="80000"/>
              <a:buFont typeface="Wingdings" panose="05000000000000000000" pitchFamily="2" charset="2"/>
              <a:buChar char="l"/>
            </a:pPr>
            <a:r>
              <a:rPr lang="zh-CN" altLang="en-US" sz="2200" b="1" dirty="0">
                <a:latin typeface="宋体" panose="02010600030101010101" pitchFamily="2" charset="-122"/>
                <a:ea typeface="宋体" panose="02010600030101010101" pitchFamily="2" charset="-122"/>
                <a:cs typeface="+mn-cs"/>
              </a:rPr>
              <a:t> 使得程序中每个判定至少为</a:t>
            </a:r>
            <a:r>
              <a:rPr lang="en-US" altLang="zh-CN" sz="2200" b="1" dirty="0">
                <a:latin typeface="宋体" panose="02010600030101010101" pitchFamily="2" charset="-122"/>
                <a:ea typeface="宋体" panose="02010600030101010101" pitchFamily="2" charset="-122"/>
                <a:cs typeface="+mn-cs"/>
              </a:rPr>
              <a:t>TRUE </a:t>
            </a:r>
            <a:r>
              <a:rPr lang="zh-CN" altLang="en-US" sz="2200" b="1" dirty="0">
                <a:latin typeface="宋体" panose="02010600030101010101" pitchFamily="2" charset="-122"/>
                <a:ea typeface="宋体" panose="02010600030101010101" pitchFamily="2" charset="-122"/>
                <a:cs typeface="+mn-cs"/>
              </a:rPr>
              <a:t>或</a:t>
            </a:r>
            <a:r>
              <a:rPr lang="en-US" altLang="zh-CN" sz="2200" b="1" dirty="0">
                <a:latin typeface="宋体" panose="02010600030101010101" pitchFamily="2" charset="-122"/>
                <a:ea typeface="宋体" panose="02010600030101010101" pitchFamily="2" charset="-122"/>
                <a:cs typeface="+mn-cs"/>
              </a:rPr>
              <a:t>FALSE</a:t>
            </a:r>
            <a:r>
              <a:rPr lang="zh-CN" altLang="en-US" sz="2200" b="1" dirty="0">
                <a:latin typeface="宋体" panose="02010600030101010101" pitchFamily="2" charset="-122"/>
                <a:ea typeface="宋体" panose="02010600030101010101" pitchFamily="2" charset="-122"/>
                <a:cs typeface="+mn-cs"/>
              </a:rPr>
              <a:t>各一次。</a:t>
            </a:r>
            <a:endParaRPr lang="zh-CN" altLang="en-US" sz="2200" b="1" dirty="0">
              <a:latin typeface="宋体" panose="02010600030101010101" pitchFamily="2" charset="-122"/>
              <a:ea typeface="宋体" panose="02010600030101010101" pitchFamily="2" charset="-122"/>
              <a:cs typeface="+mn-cs"/>
            </a:endParaRPr>
          </a:p>
          <a:p>
            <a:pPr indent="0" eaLnBrk="1" hangingPunct="1">
              <a:lnSpc>
                <a:spcPct val="120000"/>
              </a:lnSpc>
              <a:buFont typeface="Wingdings" panose="05000000000000000000" pitchFamily="2" charset="2"/>
              <a:buNone/>
            </a:pPr>
            <a:endParaRPr lang="zh-CN" altLang="en-US" sz="2200" b="1" dirty="0">
              <a:latin typeface="宋体" panose="02010600030101010101" pitchFamily="2" charset="-122"/>
              <a:ea typeface="宋体" panose="02010600030101010101" pitchFamily="2" charset="-122"/>
              <a:cs typeface="+mn-cs"/>
            </a:endParaRPr>
          </a:p>
        </p:txBody>
      </p:sp>
      <p:sp>
        <p:nvSpPr>
          <p:cNvPr id="39939" name="Rectangle 24"/>
          <p:cNvSpPr/>
          <p:nvPr/>
        </p:nvSpPr>
        <p:spPr>
          <a:xfrm>
            <a:off x="7219950" y="1733550"/>
            <a:ext cx="1066800" cy="838200"/>
          </a:xfrm>
          <a:prstGeom prst="rect">
            <a:avLst/>
          </a:prstGeom>
          <a:solidFill>
            <a:srgbClr val="CCFFFF">
              <a:alpha val="50195"/>
            </a:srgbClr>
          </a:solidFill>
          <a:ln w="9525" cap="flat" cmpd="sng">
            <a:prstDash val="solid"/>
            <a:miter/>
            <a:headEnd type="none" w="med" len="med"/>
            <a:tailEnd type="none" w="med" len="med"/>
          </a:ln>
          <a:scene3d>
            <a:camera prst="legacyPerspectiveTopRight">
              <a:rot lat="0" lon="0" rev="0"/>
            </a:camera>
            <a:lightRig rig="legacyFlat4" dir="t"/>
          </a:scene3d>
          <a:sp3d extrusionH="1801800" prstMaterial="legacyMatte">
            <a:bevelT w="13500" h="13500" prst="angle"/>
            <a:bevelB w="13500" h="13500" prst="angle"/>
            <a:extrusionClr>
              <a:srgbClr val="CCFFFF"/>
            </a:extrusionClr>
          </a:sp3d>
        </p:spPr>
        <p:txBody>
          <a:bodyPr wrap="none" anchor="ctr" anchorCtr="0">
            <a:flatTx/>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en-US" sz="1600" dirty="0">
                <a:solidFill>
                  <a:srgbClr val="333333"/>
                </a:solidFill>
                <a:ea typeface="楷体_GB2312" pitchFamily="49" charset="-122"/>
              </a:rPr>
              <a:t>逻辑结构</a:t>
            </a:r>
            <a:endParaRPr lang="zh-CN" altLang="en-US" sz="1600" dirty="0">
              <a:solidFill>
                <a:srgbClr val="333333"/>
              </a:solidFill>
              <a:ea typeface="宋体" panose="02010600030101010101" pitchFamily="2" charset="-122"/>
            </a:endParaRPr>
          </a:p>
          <a:p>
            <a:pPr marL="0" lvl="0" indent="0" eaLnBrk="1" hangingPunct="1">
              <a:spcBef>
                <a:spcPct val="0"/>
              </a:spcBef>
              <a:buClrTx/>
              <a:buFontTx/>
              <a:buNone/>
            </a:pPr>
            <a:endParaRPr lang="zh-CN" altLang="en-US" sz="1600" dirty="0">
              <a:solidFill>
                <a:srgbClr val="333333"/>
              </a:solidFill>
              <a:ea typeface="宋体" panose="02010600030101010101" pitchFamily="2" charset="-122"/>
            </a:endParaRPr>
          </a:p>
        </p:txBody>
      </p:sp>
      <p:sp>
        <p:nvSpPr>
          <p:cNvPr id="39940" name="Oval 25"/>
          <p:cNvSpPr/>
          <p:nvPr/>
        </p:nvSpPr>
        <p:spPr>
          <a:xfrm>
            <a:off x="7639050" y="2219325"/>
            <a:ext cx="228600" cy="228600"/>
          </a:xfrm>
          <a:prstGeom prst="ellipse">
            <a:avLst/>
          </a:prstGeom>
          <a:gradFill rotWithShape="0">
            <a:gsLst>
              <a:gs pos="0">
                <a:srgbClr val="FFFF99"/>
              </a:gs>
              <a:gs pos="100000">
                <a:srgbClr val="767647"/>
              </a:gs>
            </a:gsLst>
            <a:path path="shape">
              <a:fillToRect l="50000" t="50000" r="50000" b="50000"/>
            </a:path>
            <a:tileRect/>
          </a:gradFill>
          <a:ln w="9525">
            <a:noFill/>
          </a:ln>
          <a:effectLst>
            <a:prstShdw prst="shdw17" dist="17961" dir="2699999">
              <a:srgbClr val="99995C"/>
            </a:prst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25" name="Text Box 42"/>
          <p:cNvSpPr txBox="1">
            <a:spLocks noChangeArrowheads="1"/>
          </p:cNvSpPr>
          <p:nvPr/>
        </p:nvSpPr>
        <p:spPr bwMode="auto">
          <a:xfrm>
            <a:off x="4143375" y="2884488"/>
            <a:ext cx="4716463" cy="830263"/>
          </a:xfrm>
          <a:prstGeom prst="rect">
            <a:avLst/>
          </a:prstGeom>
          <a:noFill/>
          <a:ln w="9525" cap="sq">
            <a:noFill/>
            <a:miter lim="800000"/>
          </a:ln>
          <a:effectLst>
            <a:prstShdw prst="shdw17" dist="17961" dir="2700000">
              <a:schemeClr val="tx1">
                <a:gamma/>
                <a:shade val="60000"/>
                <a:invGamma/>
              </a:schemeClr>
            </a:prstShdw>
          </a:effectLst>
        </p:spPr>
        <p:txBody>
          <a:bodyPr anchor="ctr">
            <a:spAutoFit/>
          </a:bodyPr>
          <a:lstStyle/>
          <a:p>
            <a:pPr marR="0" defTabSz="914400" eaLnBrk="1" hangingPunct="1">
              <a:buClrTx/>
              <a:buSzTx/>
              <a:buFontTx/>
              <a:buNone/>
              <a:defRPr/>
            </a:pPr>
            <a:r>
              <a:rPr kumimoji="0" lang="zh-CN" altLang="en-US" sz="2400" kern="1200" cap="none" spc="0" normalizeH="0" baseline="0" noProof="0" dirty="0">
                <a:solidFill>
                  <a:srgbClr val="333333"/>
                </a:solidFill>
                <a:latin typeface="楷体_GB2312" pitchFamily="49" charset="-122"/>
                <a:ea typeface="楷体_GB2312" pitchFamily="49" charset="-122"/>
                <a:cs typeface="+mn-cs"/>
              </a:rPr>
              <a:t>覆盖情况：应执行路径</a:t>
            </a:r>
            <a:endParaRPr kumimoji="0" lang="zh-CN" altLang="en-US" sz="2400" kern="1200" cap="none" spc="0" normalizeH="0" baseline="0" noProof="0" dirty="0">
              <a:solidFill>
                <a:srgbClr val="333333"/>
              </a:solidFill>
              <a:latin typeface="楷体_GB2312" pitchFamily="49" charset="-122"/>
              <a:ea typeface="楷体_GB2312" pitchFamily="49" charset="-122"/>
              <a:cs typeface="+mn-cs"/>
            </a:endParaRPr>
          </a:p>
          <a:p>
            <a:pPr marR="0" defTabSz="914400" eaLnBrk="1" hangingPunct="1">
              <a:buClrTx/>
              <a:buSzTx/>
              <a:buFontTx/>
              <a:buNone/>
              <a:defRPr/>
            </a:pPr>
            <a:r>
              <a:rPr kumimoji="0" lang="en-US" altLang="zh-CN" sz="2400" kern="1200" cap="none" spc="0" normalizeH="0" baseline="0" noProof="0" dirty="0">
                <a:solidFill>
                  <a:srgbClr val="333333"/>
                </a:solidFill>
                <a:latin typeface="楷体_GB2312" pitchFamily="49" charset="-122"/>
                <a:ea typeface="楷体_GB2312" pitchFamily="49" charset="-122"/>
                <a:cs typeface="+mn-cs"/>
              </a:rPr>
              <a:t>ace ∧ </a:t>
            </a:r>
            <a:r>
              <a:rPr kumimoji="0" lang="en-US" altLang="zh-CN" sz="2400" kern="1200" cap="none" spc="0" normalizeH="0" baseline="0" noProof="0" dirty="0" err="1">
                <a:solidFill>
                  <a:srgbClr val="333333"/>
                </a:solidFill>
                <a:latin typeface="楷体_GB2312" pitchFamily="49" charset="-122"/>
                <a:ea typeface="楷体_GB2312" pitchFamily="49" charset="-122"/>
                <a:cs typeface="+mn-cs"/>
              </a:rPr>
              <a:t>abd</a:t>
            </a:r>
            <a:r>
              <a:rPr kumimoji="0" lang="en-US" altLang="zh-CN" sz="2400" kern="1200" cap="none" spc="0" normalizeH="0" baseline="0" noProof="0" dirty="0">
                <a:solidFill>
                  <a:srgbClr val="333333"/>
                </a:solidFill>
                <a:latin typeface="楷体_GB2312" pitchFamily="49" charset="-122"/>
                <a:ea typeface="楷体_GB2312" pitchFamily="49" charset="-122"/>
                <a:cs typeface="+mn-cs"/>
              </a:rPr>
              <a:t>	</a:t>
            </a:r>
            <a:r>
              <a:rPr kumimoji="0" lang="zh-CN" altLang="en-US" sz="2400" kern="1200" cap="none" spc="0" normalizeH="0" baseline="0" noProof="0" dirty="0">
                <a:solidFill>
                  <a:srgbClr val="333333"/>
                </a:solidFill>
                <a:latin typeface="楷体_GB2312" pitchFamily="49" charset="-122"/>
                <a:ea typeface="楷体_GB2312" pitchFamily="49" charset="-122"/>
                <a:cs typeface="+mn-cs"/>
              </a:rPr>
              <a:t>或： </a:t>
            </a:r>
            <a:r>
              <a:rPr kumimoji="0" lang="en-US" altLang="zh-CN" sz="2400" kern="1200" cap="none" spc="0" normalizeH="0" baseline="0" noProof="0" dirty="0" err="1">
                <a:solidFill>
                  <a:srgbClr val="333333"/>
                </a:solidFill>
                <a:latin typeface="楷体_GB2312" pitchFamily="49" charset="-122"/>
                <a:ea typeface="楷体_GB2312" pitchFamily="49" charset="-122"/>
                <a:cs typeface="+mn-cs"/>
              </a:rPr>
              <a:t>abe</a:t>
            </a:r>
            <a:r>
              <a:rPr kumimoji="0" lang="en-US" altLang="zh-CN" sz="2400" kern="1200" cap="none" spc="0" normalizeH="0" baseline="0" noProof="0" dirty="0">
                <a:solidFill>
                  <a:srgbClr val="333333"/>
                </a:solidFill>
                <a:latin typeface="楷体_GB2312" pitchFamily="49" charset="-122"/>
                <a:ea typeface="楷体_GB2312" pitchFamily="49" charset="-122"/>
                <a:cs typeface="+mn-cs"/>
              </a:rPr>
              <a:t> ∧ </a:t>
            </a:r>
            <a:r>
              <a:rPr kumimoji="0" lang="en-US" altLang="zh-CN" sz="2400" kern="1200" cap="none" spc="0" normalizeH="0" baseline="0" noProof="0" dirty="0" err="1">
                <a:solidFill>
                  <a:srgbClr val="333333"/>
                </a:solidFill>
                <a:latin typeface="楷体_GB2312" pitchFamily="49" charset="-122"/>
                <a:ea typeface="楷体_GB2312" pitchFamily="49" charset="-122"/>
                <a:cs typeface="+mn-cs"/>
              </a:rPr>
              <a:t>acd</a:t>
            </a:r>
            <a:r>
              <a:rPr kumimoji="0" lang="en-US" altLang="zh-CN" sz="2400" kern="1200" cap="none" spc="0" normalizeH="0" baseline="0" noProof="0" dirty="0">
                <a:solidFill>
                  <a:srgbClr val="333333"/>
                </a:solidFill>
                <a:latin typeface="楷体_GB2312" pitchFamily="49" charset="-122"/>
                <a:ea typeface="楷体_GB2312" pitchFamily="49" charset="-122"/>
                <a:cs typeface="+mn-cs"/>
              </a:rPr>
              <a:t> </a:t>
            </a:r>
            <a:endParaRPr kumimoji="0" lang="zh-CN" altLang="en-US" sz="2400" kern="1200" cap="none" spc="0" normalizeH="0" baseline="0" noProof="0" dirty="0">
              <a:solidFill>
                <a:srgbClr val="333333"/>
              </a:solidFill>
              <a:latin typeface="Times New Roman" panose="02020603050405020304" pitchFamily="18" charset="0"/>
              <a:ea typeface="宋体" panose="02010600030101010101" pitchFamily="2" charset="-122"/>
              <a:cs typeface="+mn-cs"/>
            </a:endParaRPr>
          </a:p>
        </p:txBody>
      </p:sp>
      <p:sp>
        <p:nvSpPr>
          <p:cNvPr id="27" name="Text Box 44"/>
          <p:cNvSpPr txBox="1">
            <a:spLocks noChangeArrowheads="1"/>
          </p:cNvSpPr>
          <p:nvPr/>
        </p:nvSpPr>
        <p:spPr bwMode="auto">
          <a:xfrm>
            <a:off x="4038600" y="3943350"/>
            <a:ext cx="5105400" cy="1938338"/>
          </a:xfrm>
          <a:prstGeom prst="rect">
            <a:avLst/>
          </a:prstGeom>
          <a:noFill/>
          <a:ln w="9525" cap="sq">
            <a:noFill/>
            <a:miter lim="800000"/>
          </a:ln>
          <a:effectLst>
            <a:prstShdw prst="shdw17" dist="17961" dir="2700000">
              <a:schemeClr val="tx1">
                <a:gamma/>
                <a:shade val="60000"/>
                <a:invGamma/>
              </a:schemeClr>
            </a:prstShdw>
          </a:effectLst>
        </p:spPr>
        <p:txBody>
          <a:bodyPr anchor="ctr">
            <a:spAutoFit/>
          </a:bodyPr>
          <a:lstStyle/>
          <a:p>
            <a:pPr marR="0" defTabSz="914400" eaLnBrk="1" hangingPunct="1">
              <a:buClrTx/>
              <a:buSzTx/>
              <a:buFontTx/>
              <a:buNone/>
              <a:defRPr/>
            </a:pPr>
            <a:r>
              <a:rPr kumimoji="0" lang="zh-CN" altLang="en-US" sz="2400" kern="1200" cap="none" spc="0" normalizeH="0" baseline="0" noProof="0" dirty="0">
                <a:solidFill>
                  <a:srgbClr val="333333"/>
                </a:solidFill>
                <a:latin typeface="楷体_GB2312" pitchFamily="49" charset="-122"/>
                <a:ea typeface="楷体_GB2312" pitchFamily="49" charset="-122"/>
                <a:cs typeface="+mn-cs"/>
              </a:rPr>
              <a:t>选择用例</a:t>
            </a:r>
            <a:r>
              <a:rPr kumimoji="0" lang="en-US" altLang="zh-CN" sz="2400" kern="1200" cap="none" spc="0" normalizeH="0" baseline="0" noProof="0" dirty="0">
                <a:solidFill>
                  <a:srgbClr val="333333"/>
                </a:solidFill>
                <a:latin typeface="楷体_GB2312" pitchFamily="49" charset="-122"/>
                <a:ea typeface="楷体_GB2312" pitchFamily="49" charset="-122"/>
                <a:cs typeface="+mn-cs"/>
              </a:rPr>
              <a:t>(</a:t>
            </a:r>
            <a:r>
              <a:rPr kumimoji="0" lang="zh-CN" altLang="en-US" sz="2400" kern="1200" cap="none" spc="0" normalizeH="0" baseline="0" noProof="0" dirty="0">
                <a:solidFill>
                  <a:srgbClr val="333333"/>
                </a:solidFill>
                <a:latin typeface="楷体_GB2312" pitchFamily="49" charset="-122"/>
                <a:ea typeface="楷体_GB2312" pitchFamily="49" charset="-122"/>
                <a:cs typeface="+mn-cs"/>
              </a:rPr>
              <a:t>其一）：</a:t>
            </a:r>
            <a:endParaRPr kumimoji="0" lang="zh-CN" altLang="en-US" sz="2400" kern="1200" cap="none" spc="0" normalizeH="0" baseline="0" noProof="0" dirty="0">
              <a:solidFill>
                <a:srgbClr val="333333"/>
              </a:solidFill>
              <a:latin typeface="楷体_GB2312" pitchFamily="49" charset="-122"/>
              <a:ea typeface="楷体_GB2312" pitchFamily="49" charset="-122"/>
              <a:cs typeface="+mn-cs"/>
            </a:endParaRPr>
          </a:p>
          <a:p>
            <a:pPr marR="0" defTabSz="914400" eaLnBrk="1" hangingPunct="1">
              <a:buClrTx/>
              <a:buSzTx/>
              <a:buFontTx/>
              <a:buNone/>
              <a:defRPr/>
            </a:pPr>
            <a:r>
              <a:rPr kumimoji="0" lang="zh-CN" altLang="en-US" sz="2400" kern="1200" cap="none" spc="0" normalizeH="0" baseline="0" noProof="0" dirty="0">
                <a:solidFill>
                  <a:srgbClr val="333333"/>
                </a:solidFill>
                <a:latin typeface="楷体_GB2312" pitchFamily="49" charset="-122"/>
                <a:ea typeface="楷体_GB2312" pitchFamily="49" charset="-122"/>
                <a:cs typeface="+mn-cs"/>
              </a:rPr>
              <a:t>⑴ </a:t>
            </a:r>
            <a:r>
              <a:rPr kumimoji="0" lang="en-US" altLang="zh-CN" sz="2400" kern="1200" cap="none" spc="0" normalizeH="0" baseline="0" noProof="0" dirty="0">
                <a:solidFill>
                  <a:srgbClr val="333333"/>
                </a:solidFill>
                <a:latin typeface="楷体_GB2312" pitchFamily="49" charset="-122"/>
                <a:ea typeface="楷体_GB2312" pitchFamily="49" charset="-122"/>
                <a:cs typeface="+mn-cs"/>
              </a:rPr>
              <a:t>[(2,0,4),(2,0,3)] ace</a:t>
            </a:r>
            <a:endParaRPr kumimoji="0" lang="en-US" altLang="zh-CN" sz="2400" kern="1200" cap="none" spc="0" normalizeH="0" baseline="0" noProof="0" dirty="0">
              <a:solidFill>
                <a:srgbClr val="333333"/>
              </a:solidFill>
              <a:latin typeface="楷体_GB2312" pitchFamily="49" charset="-122"/>
              <a:ea typeface="楷体_GB2312" pitchFamily="49" charset="-122"/>
              <a:cs typeface="+mn-cs"/>
            </a:endParaRPr>
          </a:p>
          <a:p>
            <a:pPr marR="0" defTabSz="914400" eaLnBrk="1" hangingPunct="1">
              <a:buClrTx/>
              <a:buSzTx/>
              <a:buFontTx/>
              <a:buNone/>
              <a:defRPr/>
            </a:pPr>
            <a:r>
              <a:rPr kumimoji="0" lang="en-US" altLang="zh-CN" sz="2400" kern="1200" cap="none" spc="0" normalizeH="0" baseline="0" noProof="0" dirty="0">
                <a:solidFill>
                  <a:srgbClr val="333333"/>
                </a:solidFill>
                <a:latin typeface="楷体_GB2312" pitchFamily="49" charset="-122"/>
                <a:ea typeface="楷体_GB2312" pitchFamily="49" charset="-122"/>
                <a:cs typeface="+mn-cs"/>
              </a:rPr>
              <a:t>   [(1,1,1),(1,1,1)] </a:t>
            </a:r>
            <a:r>
              <a:rPr kumimoji="0" lang="en-US" altLang="zh-CN" sz="2400" kern="1200" cap="none" spc="0" normalizeH="0" baseline="0" noProof="0" dirty="0" err="1">
                <a:solidFill>
                  <a:srgbClr val="333333"/>
                </a:solidFill>
                <a:latin typeface="楷体_GB2312" pitchFamily="49" charset="-122"/>
                <a:ea typeface="楷体_GB2312" pitchFamily="49" charset="-122"/>
                <a:cs typeface="+mn-cs"/>
              </a:rPr>
              <a:t>abd</a:t>
            </a:r>
            <a:endParaRPr kumimoji="0" lang="en-US" altLang="zh-CN" sz="2400" kern="1200" cap="none" spc="0" normalizeH="0" baseline="0" noProof="0" dirty="0">
              <a:solidFill>
                <a:srgbClr val="333333"/>
              </a:solidFill>
              <a:latin typeface="楷体_GB2312" pitchFamily="49" charset="-122"/>
              <a:ea typeface="楷体_GB2312" pitchFamily="49" charset="-122"/>
              <a:cs typeface="+mn-cs"/>
            </a:endParaRPr>
          </a:p>
          <a:p>
            <a:pPr marR="0" defTabSz="914400" eaLnBrk="1" hangingPunct="1">
              <a:buClrTx/>
              <a:buSzTx/>
              <a:buFontTx/>
              <a:buNone/>
              <a:defRPr/>
            </a:pPr>
            <a:r>
              <a:rPr kumimoji="0" lang="en-US" altLang="zh-CN" sz="2400" kern="1200" cap="none" spc="0" normalizeH="0" baseline="0" noProof="0" dirty="0">
                <a:solidFill>
                  <a:srgbClr val="333333"/>
                </a:solidFill>
                <a:latin typeface="楷体_GB2312" pitchFamily="49" charset="-122"/>
                <a:ea typeface="楷体_GB2312" pitchFamily="49" charset="-122"/>
                <a:cs typeface="+mn-cs"/>
              </a:rPr>
              <a:t>⑵ [(1,1,2),(1,1,3)] </a:t>
            </a:r>
            <a:r>
              <a:rPr kumimoji="0" lang="en-US" altLang="zh-CN" sz="2400" kern="1200" cap="none" spc="0" normalizeH="0" baseline="0" noProof="0" dirty="0" err="1">
                <a:solidFill>
                  <a:srgbClr val="333333"/>
                </a:solidFill>
                <a:latin typeface="楷体_GB2312" pitchFamily="49" charset="-122"/>
                <a:ea typeface="楷体_GB2312" pitchFamily="49" charset="-122"/>
                <a:cs typeface="+mn-cs"/>
              </a:rPr>
              <a:t>abe</a:t>
            </a:r>
            <a:endParaRPr kumimoji="0" lang="en-US" altLang="zh-CN" sz="2400" kern="1200" cap="none" spc="0" normalizeH="0" baseline="0" noProof="0" dirty="0">
              <a:solidFill>
                <a:srgbClr val="333333"/>
              </a:solidFill>
              <a:latin typeface="楷体_GB2312" pitchFamily="49" charset="-122"/>
              <a:ea typeface="楷体_GB2312" pitchFamily="49" charset="-122"/>
              <a:cs typeface="+mn-cs"/>
            </a:endParaRPr>
          </a:p>
          <a:p>
            <a:pPr marR="0" defTabSz="914400" eaLnBrk="1" hangingPunct="1">
              <a:buClrTx/>
              <a:buSzTx/>
              <a:buFontTx/>
              <a:buNone/>
              <a:defRPr/>
            </a:pPr>
            <a:r>
              <a:rPr kumimoji="0" lang="en-US" altLang="zh-CN" sz="2400" kern="1200" cap="none" spc="0" normalizeH="0" baseline="0" noProof="0" dirty="0">
                <a:solidFill>
                  <a:srgbClr val="333333"/>
                </a:solidFill>
                <a:latin typeface="楷体_GB2312" pitchFamily="49" charset="-122"/>
                <a:ea typeface="楷体_GB2312" pitchFamily="49" charset="-122"/>
                <a:cs typeface="+mn-cs"/>
              </a:rPr>
              <a:t>   [(3,0,3),(3,0,1)] </a:t>
            </a:r>
            <a:r>
              <a:rPr kumimoji="0" lang="en-US" altLang="zh-CN" sz="2400" kern="1200" cap="none" spc="0" normalizeH="0" baseline="0" noProof="0" dirty="0" err="1">
                <a:solidFill>
                  <a:srgbClr val="333333"/>
                </a:solidFill>
                <a:latin typeface="楷体_GB2312" pitchFamily="49" charset="-122"/>
                <a:ea typeface="楷体_GB2312" pitchFamily="49" charset="-122"/>
                <a:cs typeface="+mn-cs"/>
              </a:rPr>
              <a:t>acd</a:t>
            </a:r>
            <a:endParaRPr kumimoji="0" lang="en-US" altLang="zh-CN" sz="2400" kern="1200" cap="none" spc="0" normalizeH="0" baseline="0" noProof="0" dirty="0">
              <a:solidFill>
                <a:srgbClr val="333333"/>
              </a:solidFill>
              <a:latin typeface="楷体_GB2312" pitchFamily="49" charset="-122"/>
              <a:ea typeface="楷体_GB2312" pitchFamily="49" charset="-122"/>
              <a:cs typeface="+mn-cs"/>
            </a:endParaRPr>
          </a:p>
        </p:txBody>
      </p:sp>
      <p:grpSp>
        <p:nvGrpSpPr>
          <p:cNvPr id="39943" name="Group 60"/>
          <p:cNvGrpSpPr/>
          <p:nvPr/>
        </p:nvGrpSpPr>
        <p:grpSpPr>
          <a:xfrm>
            <a:off x="762000" y="2786063"/>
            <a:ext cx="2381250" cy="3571875"/>
            <a:chOff x="3360" y="867"/>
            <a:chExt cx="2035" cy="2643"/>
          </a:xfrm>
        </p:grpSpPr>
        <p:sp>
          <p:nvSpPr>
            <p:cNvPr id="39950" name="Line 9"/>
            <p:cNvSpPr/>
            <p:nvPr/>
          </p:nvSpPr>
          <p:spPr>
            <a:xfrm>
              <a:off x="3965" y="867"/>
              <a:ext cx="0" cy="240"/>
            </a:xfrm>
            <a:prstGeom prst="line">
              <a:avLst/>
            </a:prstGeom>
            <a:ln w="28575" cap="flat" cmpd="sng">
              <a:solidFill>
                <a:schemeClr val="tx1"/>
              </a:solidFill>
              <a:prstDash val="solid"/>
              <a:headEnd type="none" w="med" len="med"/>
              <a:tailEnd type="triangle" w="med" len="med"/>
            </a:ln>
            <a:effectLst>
              <a:outerShdw dist="17961" dir="2699999" algn="ctr" rotWithShape="0">
                <a:srgbClr val="DDDDDD"/>
              </a:outerShdw>
            </a:effectLst>
          </p:spPr>
        </p:sp>
        <p:sp>
          <p:nvSpPr>
            <p:cNvPr id="39951" name="AutoShape 10"/>
            <p:cNvSpPr/>
            <p:nvPr/>
          </p:nvSpPr>
          <p:spPr>
            <a:xfrm>
              <a:off x="3360" y="1104"/>
              <a:ext cx="1206" cy="546"/>
            </a:xfrm>
            <a:prstGeom prst="diamond">
              <a:avLst/>
            </a:prstGeom>
            <a:solidFill>
              <a:srgbClr val="FFFFCC"/>
            </a:solidFill>
            <a:ln w="9525" cap="flat" cmpd="sng">
              <a:solidFill>
                <a:srgbClr val="A50021"/>
              </a:solidFill>
              <a:prstDash val="solid"/>
              <a:miter/>
              <a:headEnd type="none" w="med" len="med"/>
              <a:tailEnd type="none" w="med" len="med"/>
            </a:ln>
            <a:effectLst>
              <a:outerShdw dist="53882" dir="2699999" algn="ctr" rotWithShape="0">
                <a:srgbClr val="A50021"/>
              </a:outer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lnSpc>
                  <a:spcPct val="80000"/>
                </a:lnSpc>
                <a:spcBef>
                  <a:spcPct val="0"/>
                </a:spcBef>
                <a:buClrTx/>
                <a:buFontTx/>
                <a:buNone/>
              </a:pPr>
              <a:r>
                <a:rPr lang="en-US" altLang="zh-CN" sz="1600" dirty="0">
                  <a:solidFill>
                    <a:srgbClr val="333333"/>
                  </a:solidFill>
                  <a:ea typeface="宋体" panose="02010600030101010101" pitchFamily="2" charset="-122"/>
                </a:rPr>
                <a:t>A&gt;1</a:t>
              </a:r>
              <a:endParaRPr lang="en-US" altLang="zh-CN" sz="1600" dirty="0">
                <a:solidFill>
                  <a:srgbClr val="333333"/>
                </a:solidFill>
                <a:ea typeface="宋体" panose="02010600030101010101" pitchFamily="2" charset="-122"/>
              </a:endParaRPr>
            </a:p>
            <a:p>
              <a:pPr marL="0" lvl="0" indent="0" eaLnBrk="1" hangingPunct="1">
                <a:lnSpc>
                  <a:spcPct val="80000"/>
                </a:lnSpc>
                <a:spcBef>
                  <a:spcPct val="0"/>
                </a:spcBef>
                <a:buClrTx/>
                <a:buFontTx/>
                <a:buNone/>
              </a:pPr>
              <a:r>
                <a:rPr lang="en-US" altLang="zh-CN" sz="1600" dirty="0">
                  <a:solidFill>
                    <a:srgbClr val="333333"/>
                  </a:solidFill>
                  <a:ea typeface="宋体" panose="02010600030101010101" pitchFamily="2" charset="-122"/>
                </a:rPr>
                <a:t>AND</a:t>
              </a:r>
              <a:endParaRPr lang="en-US" altLang="zh-CN" sz="1600" dirty="0">
                <a:solidFill>
                  <a:srgbClr val="333333"/>
                </a:solidFill>
                <a:ea typeface="宋体" panose="02010600030101010101" pitchFamily="2" charset="-122"/>
              </a:endParaRPr>
            </a:p>
            <a:p>
              <a:pPr marL="0" lvl="0" indent="0" eaLnBrk="1" hangingPunct="1">
                <a:lnSpc>
                  <a:spcPct val="80000"/>
                </a:lnSpc>
                <a:spcBef>
                  <a:spcPct val="0"/>
                </a:spcBef>
                <a:buClrTx/>
                <a:buFontTx/>
                <a:buNone/>
              </a:pPr>
              <a:r>
                <a:rPr lang="en-US" altLang="zh-CN" sz="1600" dirty="0">
                  <a:solidFill>
                    <a:srgbClr val="333333"/>
                  </a:solidFill>
                  <a:ea typeface="宋体" panose="02010600030101010101" pitchFamily="2" charset="-122"/>
                </a:rPr>
                <a:t>B=0</a:t>
              </a:r>
              <a:endParaRPr lang="en-US" altLang="zh-CN" sz="1600" dirty="0">
                <a:solidFill>
                  <a:srgbClr val="333333"/>
                </a:solidFill>
                <a:ea typeface="宋体" panose="02010600030101010101" pitchFamily="2" charset="-122"/>
              </a:endParaRPr>
            </a:p>
          </p:txBody>
        </p:sp>
        <p:sp>
          <p:nvSpPr>
            <p:cNvPr id="39952" name="Line 11"/>
            <p:cNvSpPr/>
            <p:nvPr/>
          </p:nvSpPr>
          <p:spPr>
            <a:xfrm>
              <a:off x="4590" y="1389"/>
              <a:ext cx="391" cy="0"/>
            </a:xfrm>
            <a:prstGeom prst="line">
              <a:avLst/>
            </a:prstGeom>
            <a:ln w="28575" cap="flat" cmpd="sng">
              <a:solidFill>
                <a:schemeClr val="tx1"/>
              </a:solidFill>
              <a:prstDash val="solid"/>
              <a:headEnd type="none" w="med" len="med"/>
              <a:tailEnd type="none" w="med" len="med"/>
            </a:ln>
            <a:effectLst>
              <a:outerShdw dist="35921" dir="2699999" algn="ctr" rotWithShape="0">
                <a:srgbClr val="DDDDDD"/>
              </a:outerShdw>
            </a:effectLst>
          </p:spPr>
        </p:sp>
        <p:sp>
          <p:nvSpPr>
            <p:cNvPr id="39953" name="Rectangle 13"/>
            <p:cNvSpPr/>
            <p:nvPr/>
          </p:nvSpPr>
          <p:spPr>
            <a:xfrm>
              <a:off x="4633" y="1641"/>
              <a:ext cx="719" cy="233"/>
            </a:xfrm>
            <a:prstGeom prst="rect">
              <a:avLst/>
            </a:prstGeom>
            <a:solidFill>
              <a:srgbClr val="FFFFCC"/>
            </a:solidFill>
            <a:ln w="9525" cap="flat" cmpd="sng">
              <a:solidFill>
                <a:srgbClr val="A50021"/>
              </a:solidFill>
              <a:prstDash val="solid"/>
              <a:miter/>
              <a:headEnd type="none" w="med" len="med"/>
              <a:tailEnd type="none" w="med" len="med"/>
            </a:ln>
            <a:effectLst>
              <a:outerShdw dist="53882" dir="2699999" algn="ctr" rotWithShape="0">
                <a:srgbClr val="A50021"/>
              </a:outer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1600" dirty="0">
                  <a:solidFill>
                    <a:srgbClr val="333333"/>
                  </a:solidFill>
                  <a:ea typeface="宋体" panose="02010600030101010101" pitchFamily="2" charset="-122"/>
                </a:rPr>
                <a:t>X:=X/A</a:t>
              </a:r>
              <a:endParaRPr lang="en-US" altLang="zh-CN" sz="1600" dirty="0">
                <a:solidFill>
                  <a:srgbClr val="333333"/>
                </a:solidFill>
                <a:ea typeface="宋体" panose="02010600030101010101" pitchFamily="2" charset="-122"/>
              </a:endParaRPr>
            </a:p>
          </p:txBody>
        </p:sp>
        <p:sp>
          <p:nvSpPr>
            <p:cNvPr id="64" name="Line 28"/>
            <p:cNvSpPr>
              <a:spLocks noChangeShapeType="1"/>
            </p:cNvSpPr>
            <p:nvPr/>
          </p:nvSpPr>
          <p:spPr bwMode="auto">
            <a:xfrm>
              <a:off x="4992" y="1929"/>
              <a:ext cx="0" cy="141"/>
            </a:xfrm>
            <a:prstGeom prst="line">
              <a:avLst/>
            </a:prstGeom>
            <a:noFill/>
            <a:ln w="28575" cap="sq">
              <a:solidFill>
                <a:schemeClr val="tx1"/>
              </a:solidFill>
              <a:round/>
              <a:tailEnd type="triangle" w="med" len="me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65" name="Line 30"/>
            <p:cNvSpPr>
              <a:spLocks noChangeShapeType="1"/>
            </p:cNvSpPr>
            <p:nvPr/>
          </p:nvSpPr>
          <p:spPr bwMode="auto">
            <a:xfrm flipH="1">
              <a:off x="3994" y="1674"/>
              <a:ext cx="0" cy="561"/>
            </a:xfrm>
            <a:prstGeom prst="line">
              <a:avLst/>
            </a:prstGeom>
            <a:noFill/>
            <a:ln w="28575" cap="sq">
              <a:solidFill>
                <a:schemeClr val="tx1"/>
              </a:solidFill>
              <a:round/>
              <a:tailEnd type="triangle" w="med" len="me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66" name="Line 31"/>
            <p:cNvSpPr>
              <a:spLocks noChangeShapeType="1"/>
            </p:cNvSpPr>
            <p:nvPr/>
          </p:nvSpPr>
          <p:spPr bwMode="auto">
            <a:xfrm flipV="1">
              <a:off x="4008" y="2044"/>
              <a:ext cx="1011" cy="1"/>
            </a:xfrm>
            <a:prstGeom prst="line">
              <a:avLst/>
            </a:prstGeom>
            <a:noFill/>
            <a:ln w="28575" cap="sq">
              <a:solidFill>
                <a:schemeClr val="tx1"/>
              </a:solidFill>
              <a:roun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67" name="Line 44"/>
            <p:cNvSpPr>
              <a:spLocks noChangeShapeType="1"/>
            </p:cNvSpPr>
            <p:nvPr/>
          </p:nvSpPr>
          <p:spPr bwMode="auto">
            <a:xfrm>
              <a:off x="4983" y="1405"/>
              <a:ext cx="0" cy="243"/>
            </a:xfrm>
            <a:prstGeom prst="line">
              <a:avLst/>
            </a:prstGeom>
            <a:noFill/>
            <a:ln w="9525" cap="sq">
              <a:solidFill>
                <a:schemeClr val="tx1"/>
              </a:solidFill>
              <a:round/>
              <a:tailEnd type="triangle" w="med" len="me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39958" name="AutoShape 45"/>
            <p:cNvSpPr/>
            <p:nvPr/>
          </p:nvSpPr>
          <p:spPr>
            <a:xfrm>
              <a:off x="3405" y="2237"/>
              <a:ext cx="1206" cy="547"/>
            </a:xfrm>
            <a:prstGeom prst="diamond">
              <a:avLst/>
            </a:prstGeom>
            <a:solidFill>
              <a:srgbClr val="FFFFCC"/>
            </a:solidFill>
            <a:ln w="9525" cap="flat" cmpd="sng">
              <a:solidFill>
                <a:srgbClr val="A50021"/>
              </a:solidFill>
              <a:prstDash val="solid"/>
              <a:miter/>
              <a:headEnd type="none" w="med" len="med"/>
              <a:tailEnd type="none" w="med" len="med"/>
            </a:ln>
            <a:effectLst>
              <a:outerShdw dist="53882" dir="2699999" algn="ctr" rotWithShape="0">
                <a:srgbClr val="A50021"/>
              </a:outer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lnSpc>
                  <a:spcPct val="80000"/>
                </a:lnSpc>
                <a:spcBef>
                  <a:spcPct val="0"/>
                </a:spcBef>
                <a:buClrTx/>
                <a:buFontTx/>
                <a:buNone/>
              </a:pPr>
              <a:r>
                <a:rPr lang="en-US" altLang="zh-CN" sz="1600" dirty="0">
                  <a:solidFill>
                    <a:srgbClr val="333333"/>
                  </a:solidFill>
                  <a:ea typeface="宋体" panose="02010600030101010101" pitchFamily="2" charset="-122"/>
                </a:rPr>
                <a:t>A=2</a:t>
              </a:r>
              <a:endParaRPr lang="en-US" altLang="zh-CN" sz="1600" dirty="0">
                <a:solidFill>
                  <a:srgbClr val="333333"/>
                </a:solidFill>
                <a:ea typeface="宋体" panose="02010600030101010101" pitchFamily="2" charset="-122"/>
              </a:endParaRPr>
            </a:p>
            <a:p>
              <a:pPr marL="0" lvl="0" indent="0" eaLnBrk="1" hangingPunct="1">
                <a:lnSpc>
                  <a:spcPct val="80000"/>
                </a:lnSpc>
                <a:spcBef>
                  <a:spcPct val="0"/>
                </a:spcBef>
                <a:buClrTx/>
                <a:buFontTx/>
                <a:buNone/>
              </a:pPr>
              <a:r>
                <a:rPr lang="en-US" altLang="zh-CN" sz="1600" dirty="0">
                  <a:solidFill>
                    <a:srgbClr val="333333"/>
                  </a:solidFill>
                  <a:ea typeface="宋体" panose="02010600030101010101" pitchFamily="2" charset="-122"/>
                </a:rPr>
                <a:t>OR </a:t>
              </a:r>
              <a:endParaRPr lang="en-US" altLang="zh-CN" sz="1600" dirty="0">
                <a:solidFill>
                  <a:srgbClr val="333333"/>
                </a:solidFill>
                <a:ea typeface="宋体" panose="02010600030101010101" pitchFamily="2" charset="-122"/>
              </a:endParaRPr>
            </a:p>
            <a:p>
              <a:pPr marL="0" lvl="0" indent="0" eaLnBrk="1" hangingPunct="1">
                <a:lnSpc>
                  <a:spcPct val="80000"/>
                </a:lnSpc>
                <a:spcBef>
                  <a:spcPct val="0"/>
                </a:spcBef>
                <a:buClrTx/>
                <a:buFontTx/>
                <a:buNone/>
              </a:pPr>
              <a:r>
                <a:rPr lang="en-US" altLang="zh-CN" sz="1600" dirty="0">
                  <a:solidFill>
                    <a:srgbClr val="333333"/>
                  </a:solidFill>
                  <a:ea typeface="宋体" panose="02010600030101010101" pitchFamily="2" charset="-122"/>
                </a:rPr>
                <a:t>X&gt;1</a:t>
              </a:r>
              <a:endParaRPr lang="en-US" altLang="zh-CN" sz="1600" dirty="0">
                <a:solidFill>
                  <a:srgbClr val="333333"/>
                </a:solidFill>
                <a:ea typeface="宋体" panose="02010600030101010101" pitchFamily="2" charset="-122"/>
              </a:endParaRPr>
            </a:p>
          </p:txBody>
        </p:sp>
        <p:sp>
          <p:nvSpPr>
            <p:cNvPr id="39959" name="Line 46"/>
            <p:cNvSpPr/>
            <p:nvPr/>
          </p:nvSpPr>
          <p:spPr>
            <a:xfrm>
              <a:off x="4635" y="2522"/>
              <a:ext cx="391" cy="0"/>
            </a:xfrm>
            <a:prstGeom prst="line">
              <a:avLst/>
            </a:prstGeom>
            <a:ln w="28575" cap="flat" cmpd="sng">
              <a:solidFill>
                <a:schemeClr val="tx1"/>
              </a:solidFill>
              <a:prstDash val="solid"/>
              <a:headEnd type="none" w="med" len="med"/>
              <a:tailEnd type="none" w="med" len="med"/>
            </a:ln>
            <a:effectLst>
              <a:outerShdw dist="35921" dir="2699999" algn="ctr" rotWithShape="0">
                <a:srgbClr val="DDDDDD"/>
              </a:outerShdw>
            </a:effectLst>
          </p:spPr>
        </p:sp>
        <p:sp>
          <p:nvSpPr>
            <p:cNvPr id="39960" name="Rectangle 47"/>
            <p:cNvSpPr/>
            <p:nvPr/>
          </p:nvSpPr>
          <p:spPr>
            <a:xfrm>
              <a:off x="4677" y="2773"/>
              <a:ext cx="718" cy="234"/>
            </a:xfrm>
            <a:prstGeom prst="rect">
              <a:avLst/>
            </a:prstGeom>
            <a:solidFill>
              <a:srgbClr val="FFFFCC"/>
            </a:solidFill>
            <a:ln w="9525" cap="flat" cmpd="sng">
              <a:solidFill>
                <a:srgbClr val="A50021"/>
              </a:solidFill>
              <a:prstDash val="solid"/>
              <a:miter/>
              <a:headEnd type="none" w="med" len="med"/>
              <a:tailEnd type="none" w="med" len="med"/>
            </a:ln>
            <a:effectLst>
              <a:outerShdw dist="53882" dir="2699999" algn="ctr" rotWithShape="0">
                <a:srgbClr val="A50021"/>
              </a:outer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1600" dirty="0">
                  <a:solidFill>
                    <a:srgbClr val="333333"/>
                  </a:solidFill>
                  <a:ea typeface="宋体" panose="02010600030101010101" pitchFamily="2" charset="-122"/>
                </a:rPr>
                <a:t>X:=X+1</a:t>
              </a:r>
              <a:endParaRPr lang="en-US" altLang="zh-CN" sz="1600" dirty="0">
                <a:solidFill>
                  <a:srgbClr val="333333"/>
                </a:solidFill>
                <a:ea typeface="宋体" panose="02010600030101010101" pitchFamily="2" charset="-122"/>
              </a:endParaRPr>
            </a:p>
          </p:txBody>
        </p:sp>
        <p:sp>
          <p:nvSpPr>
            <p:cNvPr id="71" name="Line 48"/>
            <p:cNvSpPr>
              <a:spLocks noChangeShapeType="1"/>
            </p:cNvSpPr>
            <p:nvPr/>
          </p:nvSpPr>
          <p:spPr bwMode="auto">
            <a:xfrm>
              <a:off x="5037" y="3062"/>
              <a:ext cx="0" cy="141"/>
            </a:xfrm>
            <a:prstGeom prst="line">
              <a:avLst/>
            </a:prstGeom>
            <a:noFill/>
            <a:ln w="28575" cap="sq">
              <a:solidFill>
                <a:schemeClr val="tx1"/>
              </a:solidFill>
              <a:round/>
              <a:tailEnd type="triangle" w="med" len="me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72" name="Line 50"/>
            <p:cNvSpPr>
              <a:spLocks noChangeShapeType="1"/>
            </p:cNvSpPr>
            <p:nvPr/>
          </p:nvSpPr>
          <p:spPr bwMode="auto">
            <a:xfrm>
              <a:off x="4026" y="2833"/>
              <a:ext cx="0" cy="677"/>
            </a:xfrm>
            <a:prstGeom prst="line">
              <a:avLst/>
            </a:prstGeom>
            <a:noFill/>
            <a:ln w="28575" cap="sq">
              <a:solidFill>
                <a:schemeClr val="tx1"/>
              </a:solidFill>
              <a:round/>
              <a:tailEnd type="triangle" w="med" len="me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73" name="Line 51"/>
            <p:cNvSpPr>
              <a:spLocks noChangeShapeType="1"/>
            </p:cNvSpPr>
            <p:nvPr/>
          </p:nvSpPr>
          <p:spPr bwMode="auto">
            <a:xfrm flipV="1">
              <a:off x="4027" y="3190"/>
              <a:ext cx="1035" cy="0"/>
            </a:xfrm>
            <a:prstGeom prst="line">
              <a:avLst/>
            </a:prstGeom>
            <a:noFill/>
            <a:ln w="28575" cap="sq">
              <a:solidFill>
                <a:schemeClr val="tx1"/>
              </a:solidFill>
              <a:roun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74" name="Line 53"/>
            <p:cNvSpPr>
              <a:spLocks noChangeShapeType="1"/>
            </p:cNvSpPr>
            <p:nvPr/>
          </p:nvSpPr>
          <p:spPr bwMode="auto">
            <a:xfrm>
              <a:off x="5015" y="2539"/>
              <a:ext cx="0" cy="242"/>
            </a:xfrm>
            <a:prstGeom prst="line">
              <a:avLst/>
            </a:prstGeom>
            <a:noFill/>
            <a:ln w="9525" cap="sq">
              <a:solidFill>
                <a:schemeClr val="tx1"/>
              </a:solidFill>
              <a:round/>
              <a:tailEnd type="triangle" w="med" len="me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75" name="Text Box 54"/>
            <p:cNvSpPr txBox="1">
              <a:spLocks noChangeArrowheads="1"/>
            </p:cNvSpPr>
            <p:nvPr/>
          </p:nvSpPr>
          <p:spPr bwMode="auto">
            <a:xfrm>
              <a:off x="4538" y="1041"/>
              <a:ext cx="285" cy="251"/>
            </a:xfrm>
            <a:prstGeom prst="rect">
              <a:avLst/>
            </a:prstGeom>
            <a:noFill/>
            <a:ln w="9525" cap="sq">
              <a:noFill/>
              <a:miter lim="800000"/>
            </a:ln>
            <a:effectLst>
              <a:prstShdw prst="shdw17" dist="17961" dir="2700000">
                <a:schemeClr val="tx1">
                  <a:gamma/>
                  <a:shade val="60000"/>
                  <a:invGamma/>
                </a:schemeClr>
              </a:prstShdw>
            </a:effectLst>
          </p:spPr>
          <p:txBody>
            <a:bodyPr wrap="none" anchor="ct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rPr>
                <a:t>Y</a:t>
              </a:r>
              <a:endPar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76" name="Text Box 55"/>
            <p:cNvSpPr txBox="1">
              <a:spLocks noChangeArrowheads="1"/>
            </p:cNvSpPr>
            <p:nvPr/>
          </p:nvSpPr>
          <p:spPr bwMode="auto">
            <a:xfrm>
              <a:off x="3985" y="1641"/>
              <a:ext cx="285" cy="251"/>
            </a:xfrm>
            <a:prstGeom prst="rect">
              <a:avLst/>
            </a:prstGeom>
            <a:noFill/>
            <a:ln w="9525" cap="sq">
              <a:noFill/>
              <a:miter lim="800000"/>
            </a:ln>
            <a:effectLst>
              <a:prstShdw prst="shdw17" dist="17961" dir="2700000">
                <a:schemeClr val="tx1">
                  <a:gamma/>
                  <a:shade val="60000"/>
                  <a:invGamma/>
                </a:schemeClr>
              </a:prstShdw>
            </a:effectLst>
          </p:spPr>
          <p:txBody>
            <a:bodyPr wrap="none" anchor="ct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rPr>
                <a:t>N</a:t>
              </a:r>
              <a:endPar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77" name="Text Box 56"/>
            <p:cNvSpPr txBox="1">
              <a:spLocks noChangeArrowheads="1"/>
            </p:cNvSpPr>
            <p:nvPr/>
          </p:nvSpPr>
          <p:spPr bwMode="auto">
            <a:xfrm>
              <a:off x="4490" y="2241"/>
              <a:ext cx="284" cy="250"/>
            </a:xfrm>
            <a:prstGeom prst="rect">
              <a:avLst/>
            </a:prstGeom>
            <a:noFill/>
            <a:ln w="9525" cap="sq">
              <a:noFill/>
              <a:miter lim="800000"/>
            </a:ln>
            <a:effectLst>
              <a:prstShdw prst="shdw17" dist="17961" dir="2700000">
                <a:schemeClr val="tx1">
                  <a:gamma/>
                  <a:shade val="60000"/>
                  <a:invGamma/>
                </a:schemeClr>
              </a:prstShdw>
            </a:effectLst>
          </p:spPr>
          <p:txBody>
            <a:bodyPr wrap="none" anchor="ct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rPr>
                <a:t>Y</a:t>
              </a:r>
              <a:endPar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78" name="Text Box 57"/>
            <p:cNvSpPr txBox="1">
              <a:spLocks noChangeArrowheads="1"/>
            </p:cNvSpPr>
            <p:nvPr/>
          </p:nvSpPr>
          <p:spPr bwMode="auto">
            <a:xfrm>
              <a:off x="4010" y="2817"/>
              <a:ext cx="284" cy="251"/>
            </a:xfrm>
            <a:prstGeom prst="rect">
              <a:avLst/>
            </a:prstGeom>
            <a:noFill/>
            <a:ln w="9525" cap="sq">
              <a:noFill/>
              <a:miter lim="800000"/>
            </a:ln>
            <a:effectLst>
              <a:prstShdw prst="shdw17" dist="17961" dir="2700000">
                <a:schemeClr val="tx1">
                  <a:gamma/>
                  <a:shade val="60000"/>
                  <a:invGamma/>
                </a:schemeClr>
              </a:prstShdw>
            </a:effectLst>
          </p:spPr>
          <p:txBody>
            <a:bodyPr wrap="none" anchor="ct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rPr>
                <a:t>N</a:t>
              </a:r>
              <a:endPar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grpSp>
      <p:sp>
        <p:nvSpPr>
          <p:cNvPr id="79" name="Text Box 37"/>
          <p:cNvSpPr txBox="1">
            <a:spLocks noChangeArrowheads="1"/>
          </p:cNvSpPr>
          <p:nvPr/>
        </p:nvSpPr>
        <p:spPr bwMode="auto">
          <a:xfrm>
            <a:off x="1090613" y="2487613"/>
            <a:ext cx="361950" cy="519113"/>
          </a:xfrm>
          <a:prstGeom prst="rect">
            <a:avLst/>
          </a:prstGeom>
          <a:noFill/>
          <a:ln w="9525" cap="sq">
            <a:noFill/>
            <a:miter lim="800000"/>
          </a:ln>
          <a:effectLst>
            <a:prstShdw prst="shdw17" dist="17961" dir="2700000">
              <a:schemeClr val="tx1">
                <a:gamma/>
                <a:shade val="60000"/>
                <a:invGamma/>
              </a:schemeClr>
            </a:prstShdw>
          </a:effectLst>
        </p:spPr>
        <p:txBody>
          <a:bodyPr wrap="none">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rPr>
              <a:t>a</a:t>
            </a:r>
            <a:endPar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sp>
        <p:nvSpPr>
          <p:cNvPr id="80" name="Text Box 38"/>
          <p:cNvSpPr txBox="1">
            <a:spLocks noChangeArrowheads="1"/>
          </p:cNvSpPr>
          <p:nvPr/>
        </p:nvSpPr>
        <p:spPr bwMode="auto">
          <a:xfrm>
            <a:off x="1136650" y="4071938"/>
            <a:ext cx="530225" cy="519113"/>
          </a:xfrm>
          <a:prstGeom prst="rect">
            <a:avLst/>
          </a:prstGeom>
          <a:noFill/>
          <a:ln w="9525" cap="sq">
            <a:noFill/>
            <a:miter lim="800000"/>
          </a:ln>
          <a:effectLst>
            <a:prstShdw prst="shdw17" dist="17961" dir="2700000">
              <a:schemeClr val="tx1">
                <a:gamma/>
                <a:shade val="60000"/>
                <a:invGamma/>
              </a:schemeClr>
            </a:prstShdw>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rPr>
              <a:t>b</a:t>
            </a:r>
            <a:endPar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sp>
        <p:nvSpPr>
          <p:cNvPr id="81" name="Text Box 39"/>
          <p:cNvSpPr txBox="1">
            <a:spLocks noChangeArrowheads="1"/>
          </p:cNvSpPr>
          <p:nvPr/>
        </p:nvSpPr>
        <p:spPr bwMode="auto">
          <a:xfrm>
            <a:off x="2597150" y="3090863"/>
            <a:ext cx="509588" cy="519113"/>
          </a:xfrm>
          <a:prstGeom prst="rect">
            <a:avLst/>
          </a:prstGeom>
          <a:noFill/>
          <a:ln w="9525" cap="sq">
            <a:noFill/>
            <a:miter lim="800000"/>
          </a:ln>
          <a:effectLst>
            <a:prstShdw prst="shdw17" dist="17961" dir="2700000">
              <a:schemeClr val="tx1">
                <a:gamma/>
                <a:shade val="60000"/>
                <a:invGamma/>
              </a:schemeClr>
            </a:prstShdw>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rPr>
              <a:t>c</a:t>
            </a:r>
            <a:endPar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sp>
        <p:nvSpPr>
          <p:cNvPr id="82" name="Text Box 40"/>
          <p:cNvSpPr txBox="1">
            <a:spLocks noChangeArrowheads="1"/>
          </p:cNvSpPr>
          <p:nvPr/>
        </p:nvSpPr>
        <p:spPr bwMode="auto">
          <a:xfrm>
            <a:off x="1166813" y="5695950"/>
            <a:ext cx="538163" cy="519113"/>
          </a:xfrm>
          <a:prstGeom prst="rect">
            <a:avLst/>
          </a:prstGeom>
          <a:noFill/>
          <a:ln w="9525" cap="sq">
            <a:noFill/>
            <a:miter lim="800000"/>
          </a:ln>
          <a:effectLst>
            <a:prstShdw prst="shdw17" dist="17961" dir="2700000">
              <a:schemeClr val="tx1">
                <a:gamma/>
                <a:shade val="60000"/>
                <a:invGamma/>
              </a:schemeClr>
            </a:prstShdw>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rPr>
              <a:t>d</a:t>
            </a:r>
            <a:endPar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sp>
        <p:nvSpPr>
          <p:cNvPr id="83" name="Text Box 41"/>
          <p:cNvSpPr txBox="1">
            <a:spLocks noChangeArrowheads="1"/>
          </p:cNvSpPr>
          <p:nvPr/>
        </p:nvSpPr>
        <p:spPr bwMode="auto">
          <a:xfrm>
            <a:off x="2673350" y="4643438"/>
            <a:ext cx="447675" cy="519113"/>
          </a:xfrm>
          <a:prstGeom prst="rect">
            <a:avLst/>
          </a:prstGeom>
          <a:noFill/>
          <a:ln w="9525" cap="sq">
            <a:noFill/>
            <a:miter lim="800000"/>
          </a:ln>
          <a:effectLst>
            <a:prstShdw prst="shdw17" dist="17961" dir="2700000">
              <a:schemeClr val="tx1">
                <a:gamma/>
                <a:shade val="60000"/>
                <a:invGamma/>
              </a:schemeClr>
            </a:prstShdw>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rPr>
              <a:t>e</a:t>
            </a:r>
            <a:endPar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sp>
        <p:nvSpPr>
          <p:cNvPr id="39949"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内容占位符 2"/>
          <p:cNvSpPr>
            <a:spLocks noGrp="1"/>
          </p:cNvSpPr>
          <p:nvPr>
            <p:ph idx="1"/>
          </p:nvPr>
        </p:nvSpPr>
        <p:spPr>
          <a:xfrm>
            <a:off x="428625" y="1214438"/>
            <a:ext cx="8286750" cy="5000625"/>
          </a:xfrm>
          <a:ln/>
        </p:spPr>
        <p:txBody>
          <a:bodyPr vert="horz" wrap="square" lIns="91440" tIns="45720" rIns="91440" bIns="45720" anchor="t" anchorCtr="0"/>
          <a:p>
            <a:pPr indent="0" eaLnBrk="1" hangingPunct="1">
              <a:lnSpc>
                <a:spcPct val="120000"/>
              </a:lnSpc>
              <a:buFont typeface="Wingdings" panose="05000000000000000000" pitchFamily="2" charset="2"/>
              <a:buNone/>
            </a:pPr>
            <a:r>
              <a:rPr lang="en-US" altLang="zh-CN" sz="2200" b="1" dirty="0">
                <a:latin typeface="黑体" panose="02010609060101010101" pitchFamily="49" charset="-122"/>
                <a:ea typeface="黑体" panose="02010609060101010101" pitchFamily="49" charset="-122"/>
                <a:cs typeface="+mn-cs"/>
              </a:rPr>
              <a:t>1.</a:t>
            </a:r>
            <a:r>
              <a:rPr lang="zh-CN" altLang="en-US" sz="2200" b="1" dirty="0">
                <a:latin typeface="黑体" panose="02010609060101010101" pitchFamily="49" charset="-122"/>
                <a:ea typeface="黑体" panose="02010609060101010101" pitchFamily="49" charset="-122"/>
                <a:cs typeface="+mn-cs"/>
              </a:rPr>
              <a:t>基于逻辑覆盖测试</a:t>
            </a:r>
            <a:endParaRPr lang="zh-CN" altLang="en-US" sz="2200" b="1" dirty="0">
              <a:latin typeface="黑体" panose="02010609060101010101" pitchFamily="49" charset="-122"/>
              <a:ea typeface="黑体" panose="02010609060101010101" pitchFamily="49" charset="-122"/>
              <a:cs typeface="+mn-cs"/>
            </a:endParaRPr>
          </a:p>
          <a:p>
            <a:pPr indent="0" eaLnBrk="1" hangingPunct="1">
              <a:lnSpc>
                <a:spcPct val="120000"/>
              </a:lnSpc>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a:t>
            </a:r>
            <a:r>
              <a:rPr lang="en-US" altLang="zh-CN" sz="2200" b="1" dirty="0">
                <a:latin typeface="宋体" panose="02010600030101010101" pitchFamily="2" charset="-122"/>
                <a:ea typeface="宋体" panose="02010600030101010101" pitchFamily="2" charset="-122"/>
                <a:cs typeface="+mn-cs"/>
              </a:rPr>
              <a:t>3</a:t>
            </a:r>
            <a:r>
              <a:rPr lang="zh-CN" altLang="en-US" sz="2200" b="1" dirty="0">
                <a:latin typeface="宋体" panose="02010600030101010101" pitchFamily="2" charset="-122"/>
                <a:ea typeface="宋体" panose="02010600030101010101" pitchFamily="2" charset="-122"/>
                <a:cs typeface="+mn-cs"/>
              </a:rPr>
              <a:t>）条件覆盖</a:t>
            </a:r>
            <a:endParaRPr lang="en-US" altLang="zh-CN" sz="2200" b="1" dirty="0">
              <a:latin typeface="宋体" panose="02010600030101010101" pitchFamily="2" charset="-122"/>
              <a:ea typeface="宋体" panose="02010600030101010101" pitchFamily="2" charset="-122"/>
              <a:cs typeface="+mn-cs"/>
            </a:endParaRPr>
          </a:p>
          <a:p>
            <a:pPr indent="0" eaLnBrk="1" hangingPunct="1">
              <a:lnSpc>
                <a:spcPct val="120000"/>
              </a:lnSpc>
              <a:buSzPct val="80000"/>
              <a:buFont typeface="Wingdings" panose="05000000000000000000" pitchFamily="2" charset="2"/>
              <a:buChar char="l"/>
            </a:pPr>
            <a:r>
              <a:rPr lang="zh-CN" altLang="en-US" sz="2200" b="1" dirty="0">
                <a:latin typeface="宋体" panose="02010600030101010101" pitchFamily="2" charset="-122"/>
                <a:ea typeface="宋体" panose="02010600030101010101" pitchFamily="2" charset="-122"/>
                <a:cs typeface="+mn-cs"/>
              </a:rPr>
              <a:t> 使得判定中的每个条件获得各种可能的结果。</a:t>
            </a:r>
            <a:endParaRPr lang="zh-CN" altLang="en-US" sz="2200" b="1" dirty="0">
              <a:latin typeface="宋体" panose="02010600030101010101" pitchFamily="2" charset="-122"/>
              <a:ea typeface="宋体" panose="02010600030101010101" pitchFamily="2" charset="-122"/>
              <a:cs typeface="+mn-cs"/>
            </a:endParaRPr>
          </a:p>
          <a:p>
            <a:pPr indent="0" eaLnBrk="1" hangingPunct="1">
              <a:lnSpc>
                <a:spcPct val="120000"/>
              </a:lnSpc>
              <a:buFont typeface="Wingdings" panose="05000000000000000000" pitchFamily="2" charset="2"/>
              <a:buNone/>
            </a:pPr>
            <a:endParaRPr lang="zh-CN" altLang="en-US" sz="2200" b="1" dirty="0">
              <a:latin typeface="宋体" panose="02010600030101010101" pitchFamily="2" charset="-122"/>
              <a:ea typeface="宋体" panose="02010600030101010101" pitchFamily="2" charset="-122"/>
              <a:cs typeface="+mn-cs"/>
            </a:endParaRPr>
          </a:p>
        </p:txBody>
      </p:sp>
      <p:sp>
        <p:nvSpPr>
          <p:cNvPr id="40963" name="Rectangle 24"/>
          <p:cNvSpPr/>
          <p:nvPr/>
        </p:nvSpPr>
        <p:spPr>
          <a:xfrm>
            <a:off x="7219950" y="1733550"/>
            <a:ext cx="1066800" cy="838200"/>
          </a:xfrm>
          <a:prstGeom prst="rect">
            <a:avLst/>
          </a:prstGeom>
          <a:solidFill>
            <a:srgbClr val="CCFFFF">
              <a:alpha val="50195"/>
            </a:srgbClr>
          </a:solidFill>
          <a:ln w="9525" cap="flat" cmpd="sng">
            <a:prstDash val="solid"/>
            <a:miter/>
            <a:headEnd type="none" w="med" len="med"/>
            <a:tailEnd type="none" w="med" len="med"/>
          </a:ln>
          <a:scene3d>
            <a:camera prst="legacyPerspectiveTopRight">
              <a:rot lat="0" lon="0" rev="0"/>
            </a:camera>
            <a:lightRig rig="legacyFlat4" dir="t"/>
          </a:scene3d>
          <a:sp3d extrusionH="1801800" prstMaterial="legacyMatte">
            <a:bevelT w="13500" h="13500" prst="angle"/>
            <a:bevelB w="13500" h="13500" prst="angle"/>
            <a:extrusionClr>
              <a:srgbClr val="CCFFFF"/>
            </a:extrusionClr>
          </a:sp3d>
        </p:spPr>
        <p:txBody>
          <a:bodyPr wrap="none" anchor="ctr" anchorCtr="0">
            <a:flatTx/>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en-US" sz="1600" dirty="0">
                <a:solidFill>
                  <a:srgbClr val="333333"/>
                </a:solidFill>
                <a:ea typeface="楷体_GB2312" pitchFamily="49" charset="-122"/>
              </a:rPr>
              <a:t>逻辑结构</a:t>
            </a:r>
            <a:endParaRPr lang="zh-CN" altLang="en-US" sz="1600" dirty="0">
              <a:solidFill>
                <a:srgbClr val="333333"/>
              </a:solidFill>
              <a:ea typeface="宋体" panose="02010600030101010101" pitchFamily="2" charset="-122"/>
            </a:endParaRPr>
          </a:p>
          <a:p>
            <a:pPr marL="0" lvl="0" indent="0" eaLnBrk="1" hangingPunct="1">
              <a:spcBef>
                <a:spcPct val="0"/>
              </a:spcBef>
              <a:buClrTx/>
              <a:buFontTx/>
              <a:buNone/>
            </a:pPr>
            <a:endParaRPr lang="zh-CN" altLang="en-US" sz="1600" dirty="0">
              <a:solidFill>
                <a:srgbClr val="333333"/>
              </a:solidFill>
              <a:ea typeface="宋体" panose="02010600030101010101" pitchFamily="2" charset="-122"/>
            </a:endParaRPr>
          </a:p>
        </p:txBody>
      </p:sp>
      <p:sp>
        <p:nvSpPr>
          <p:cNvPr id="40964" name="Oval 25"/>
          <p:cNvSpPr/>
          <p:nvPr/>
        </p:nvSpPr>
        <p:spPr>
          <a:xfrm>
            <a:off x="7639050" y="2219325"/>
            <a:ext cx="228600" cy="228600"/>
          </a:xfrm>
          <a:prstGeom prst="ellipse">
            <a:avLst/>
          </a:prstGeom>
          <a:gradFill rotWithShape="0">
            <a:gsLst>
              <a:gs pos="0">
                <a:srgbClr val="FFFF99"/>
              </a:gs>
              <a:gs pos="100000">
                <a:srgbClr val="767647"/>
              </a:gs>
            </a:gsLst>
            <a:path path="shape">
              <a:fillToRect l="50000" t="50000" r="50000" b="50000"/>
            </a:path>
            <a:tileRect/>
          </a:gradFill>
          <a:ln w="9525">
            <a:noFill/>
          </a:ln>
          <a:effectLst>
            <a:prstShdw prst="shdw17" dist="17961" dir="2699999">
              <a:srgbClr val="99995C"/>
            </a:prst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grpSp>
        <p:nvGrpSpPr>
          <p:cNvPr id="40965" name="Group 60"/>
          <p:cNvGrpSpPr/>
          <p:nvPr/>
        </p:nvGrpSpPr>
        <p:grpSpPr>
          <a:xfrm>
            <a:off x="762000" y="2786063"/>
            <a:ext cx="2381250" cy="3571875"/>
            <a:chOff x="3360" y="867"/>
            <a:chExt cx="2035" cy="2643"/>
          </a:xfrm>
        </p:grpSpPr>
        <p:sp>
          <p:nvSpPr>
            <p:cNvPr id="40977" name="Line 9"/>
            <p:cNvSpPr/>
            <p:nvPr/>
          </p:nvSpPr>
          <p:spPr>
            <a:xfrm>
              <a:off x="3965" y="867"/>
              <a:ext cx="0" cy="240"/>
            </a:xfrm>
            <a:prstGeom prst="line">
              <a:avLst/>
            </a:prstGeom>
            <a:ln w="28575" cap="flat" cmpd="sng">
              <a:solidFill>
                <a:schemeClr val="tx1"/>
              </a:solidFill>
              <a:prstDash val="solid"/>
              <a:headEnd type="none" w="med" len="med"/>
              <a:tailEnd type="triangle" w="med" len="med"/>
            </a:ln>
            <a:effectLst>
              <a:outerShdw dist="17961" dir="2699999" algn="ctr" rotWithShape="0">
                <a:srgbClr val="DDDDDD"/>
              </a:outerShdw>
            </a:effectLst>
          </p:spPr>
        </p:sp>
        <p:sp>
          <p:nvSpPr>
            <p:cNvPr id="40978" name="AutoShape 10"/>
            <p:cNvSpPr/>
            <p:nvPr/>
          </p:nvSpPr>
          <p:spPr>
            <a:xfrm>
              <a:off x="3360" y="1104"/>
              <a:ext cx="1206" cy="546"/>
            </a:xfrm>
            <a:prstGeom prst="diamond">
              <a:avLst/>
            </a:prstGeom>
            <a:solidFill>
              <a:srgbClr val="FFFFCC"/>
            </a:solidFill>
            <a:ln w="9525" cap="flat" cmpd="sng">
              <a:solidFill>
                <a:srgbClr val="A50021"/>
              </a:solidFill>
              <a:prstDash val="solid"/>
              <a:miter/>
              <a:headEnd type="none" w="med" len="med"/>
              <a:tailEnd type="none" w="med" len="med"/>
            </a:ln>
            <a:effectLst>
              <a:outerShdw dist="53882" dir="2699999" algn="ctr" rotWithShape="0">
                <a:srgbClr val="A50021"/>
              </a:outer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lnSpc>
                  <a:spcPct val="80000"/>
                </a:lnSpc>
                <a:spcBef>
                  <a:spcPct val="0"/>
                </a:spcBef>
                <a:buClrTx/>
                <a:buFontTx/>
                <a:buNone/>
              </a:pPr>
              <a:r>
                <a:rPr lang="en-US" altLang="zh-CN" sz="1600" dirty="0">
                  <a:solidFill>
                    <a:srgbClr val="333333"/>
                  </a:solidFill>
                  <a:ea typeface="宋体" panose="02010600030101010101" pitchFamily="2" charset="-122"/>
                </a:rPr>
                <a:t>A&gt;1</a:t>
              </a:r>
              <a:endParaRPr lang="en-US" altLang="zh-CN" sz="1600" dirty="0">
                <a:solidFill>
                  <a:srgbClr val="333333"/>
                </a:solidFill>
                <a:ea typeface="宋体" panose="02010600030101010101" pitchFamily="2" charset="-122"/>
              </a:endParaRPr>
            </a:p>
            <a:p>
              <a:pPr marL="0" lvl="0" indent="0" eaLnBrk="1" hangingPunct="1">
                <a:lnSpc>
                  <a:spcPct val="80000"/>
                </a:lnSpc>
                <a:spcBef>
                  <a:spcPct val="0"/>
                </a:spcBef>
                <a:buClrTx/>
                <a:buFontTx/>
                <a:buNone/>
              </a:pPr>
              <a:r>
                <a:rPr lang="en-US" altLang="zh-CN" sz="1600" dirty="0">
                  <a:solidFill>
                    <a:srgbClr val="333333"/>
                  </a:solidFill>
                  <a:ea typeface="宋体" panose="02010600030101010101" pitchFamily="2" charset="-122"/>
                </a:rPr>
                <a:t>AND</a:t>
              </a:r>
              <a:endParaRPr lang="en-US" altLang="zh-CN" sz="1600" dirty="0">
                <a:solidFill>
                  <a:srgbClr val="333333"/>
                </a:solidFill>
                <a:ea typeface="宋体" panose="02010600030101010101" pitchFamily="2" charset="-122"/>
              </a:endParaRPr>
            </a:p>
            <a:p>
              <a:pPr marL="0" lvl="0" indent="0" eaLnBrk="1" hangingPunct="1">
                <a:lnSpc>
                  <a:spcPct val="80000"/>
                </a:lnSpc>
                <a:spcBef>
                  <a:spcPct val="0"/>
                </a:spcBef>
                <a:buClrTx/>
                <a:buFontTx/>
                <a:buNone/>
              </a:pPr>
              <a:r>
                <a:rPr lang="en-US" altLang="zh-CN" sz="1600" dirty="0">
                  <a:solidFill>
                    <a:srgbClr val="333333"/>
                  </a:solidFill>
                  <a:ea typeface="宋体" panose="02010600030101010101" pitchFamily="2" charset="-122"/>
                </a:rPr>
                <a:t>B=0</a:t>
              </a:r>
              <a:endParaRPr lang="en-US" altLang="zh-CN" sz="1600" dirty="0">
                <a:solidFill>
                  <a:srgbClr val="333333"/>
                </a:solidFill>
                <a:ea typeface="宋体" panose="02010600030101010101" pitchFamily="2" charset="-122"/>
              </a:endParaRPr>
            </a:p>
          </p:txBody>
        </p:sp>
        <p:sp>
          <p:nvSpPr>
            <p:cNvPr id="40979" name="Line 11"/>
            <p:cNvSpPr/>
            <p:nvPr/>
          </p:nvSpPr>
          <p:spPr>
            <a:xfrm>
              <a:off x="4590" y="1389"/>
              <a:ext cx="391" cy="0"/>
            </a:xfrm>
            <a:prstGeom prst="line">
              <a:avLst/>
            </a:prstGeom>
            <a:ln w="28575" cap="flat" cmpd="sng">
              <a:solidFill>
                <a:schemeClr val="tx1"/>
              </a:solidFill>
              <a:prstDash val="solid"/>
              <a:headEnd type="none" w="med" len="med"/>
              <a:tailEnd type="none" w="med" len="med"/>
            </a:ln>
            <a:effectLst>
              <a:outerShdw dist="35921" dir="2699999" algn="ctr" rotWithShape="0">
                <a:srgbClr val="DDDDDD"/>
              </a:outerShdw>
            </a:effectLst>
          </p:spPr>
        </p:sp>
        <p:sp>
          <p:nvSpPr>
            <p:cNvPr id="40980" name="Rectangle 13"/>
            <p:cNvSpPr/>
            <p:nvPr/>
          </p:nvSpPr>
          <p:spPr>
            <a:xfrm>
              <a:off x="4633" y="1641"/>
              <a:ext cx="719" cy="233"/>
            </a:xfrm>
            <a:prstGeom prst="rect">
              <a:avLst/>
            </a:prstGeom>
            <a:solidFill>
              <a:srgbClr val="FFFFCC"/>
            </a:solidFill>
            <a:ln w="9525" cap="flat" cmpd="sng">
              <a:solidFill>
                <a:srgbClr val="A50021"/>
              </a:solidFill>
              <a:prstDash val="solid"/>
              <a:miter/>
              <a:headEnd type="none" w="med" len="med"/>
              <a:tailEnd type="none" w="med" len="med"/>
            </a:ln>
            <a:effectLst>
              <a:outerShdw dist="53882" dir="2699999" algn="ctr" rotWithShape="0">
                <a:srgbClr val="A50021"/>
              </a:outer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1600" dirty="0">
                  <a:solidFill>
                    <a:srgbClr val="333333"/>
                  </a:solidFill>
                  <a:ea typeface="宋体" panose="02010600030101010101" pitchFamily="2" charset="-122"/>
                </a:rPr>
                <a:t>X:=X/A</a:t>
              </a:r>
              <a:endParaRPr lang="en-US" altLang="zh-CN" sz="1600" dirty="0">
                <a:solidFill>
                  <a:srgbClr val="333333"/>
                </a:solidFill>
                <a:ea typeface="宋体" panose="02010600030101010101" pitchFamily="2" charset="-122"/>
              </a:endParaRPr>
            </a:p>
          </p:txBody>
        </p:sp>
        <p:sp>
          <p:nvSpPr>
            <p:cNvPr id="10" name="Line 28"/>
            <p:cNvSpPr>
              <a:spLocks noChangeShapeType="1"/>
            </p:cNvSpPr>
            <p:nvPr/>
          </p:nvSpPr>
          <p:spPr bwMode="auto">
            <a:xfrm>
              <a:off x="4992" y="1929"/>
              <a:ext cx="0" cy="141"/>
            </a:xfrm>
            <a:prstGeom prst="line">
              <a:avLst/>
            </a:prstGeom>
            <a:noFill/>
            <a:ln w="28575" cap="sq">
              <a:solidFill>
                <a:schemeClr val="tx1"/>
              </a:solidFill>
              <a:round/>
              <a:tailEnd type="triangle" w="med" len="me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11" name="Line 30"/>
            <p:cNvSpPr>
              <a:spLocks noChangeShapeType="1"/>
            </p:cNvSpPr>
            <p:nvPr/>
          </p:nvSpPr>
          <p:spPr bwMode="auto">
            <a:xfrm flipH="1">
              <a:off x="3994" y="1674"/>
              <a:ext cx="0" cy="561"/>
            </a:xfrm>
            <a:prstGeom prst="line">
              <a:avLst/>
            </a:prstGeom>
            <a:noFill/>
            <a:ln w="28575" cap="sq">
              <a:solidFill>
                <a:schemeClr val="tx1"/>
              </a:solidFill>
              <a:round/>
              <a:tailEnd type="triangle" w="med" len="me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12" name="Line 31"/>
            <p:cNvSpPr>
              <a:spLocks noChangeShapeType="1"/>
            </p:cNvSpPr>
            <p:nvPr/>
          </p:nvSpPr>
          <p:spPr bwMode="auto">
            <a:xfrm flipV="1">
              <a:off x="4008" y="2044"/>
              <a:ext cx="1011" cy="1"/>
            </a:xfrm>
            <a:prstGeom prst="line">
              <a:avLst/>
            </a:prstGeom>
            <a:noFill/>
            <a:ln w="28575" cap="sq">
              <a:solidFill>
                <a:schemeClr val="tx1"/>
              </a:solidFill>
              <a:roun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13" name="Line 44"/>
            <p:cNvSpPr>
              <a:spLocks noChangeShapeType="1"/>
            </p:cNvSpPr>
            <p:nvPr/>
          </p:nvSpPr>
          <p:spPr bwMode="auto">
            <a:xfrm>
              <a:off x="4983" y="1405"/>
              <a:ext cx="0" cy="243"/>
            </a:xfrm>
            <a:prstGeom prst="line">
              <a:avLst/>
            </a:prstGeom>
            <a:noFill/>
            <a:ln w="9525" cap="sq">
              <a:solidFill>
                <a:schemeClr val="tx1"/>
              </a:solidFill>
              <a:round/>
              <a:tailEnd type="triangle" w="med" len="me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40985" name="AutoShape 45"/>
            <p:cNvSpPr/>
            <p:nvPr/>
          </p:nvSpPr>
          <p:spPr>
            <a:xfrm>
              <a:off x="3405" y="2237"/>
              <a:ext cx="1206" cy="547"/>
            </a:xfrm>
            <a:prstGeom prst="diamond">
              <a:avLst/>
            </a:prstGeom>
            <a:solidFill>
              <a:srgbClr val="FFFFCC"/>
            </a:solidFill>
            <a:ln w="9525" cap="flat" cmpd="sng">
              <a:solidFill>
                <a:srgbClr val="A50021"/>
              </a:solidFill>
              <a:prstDash val="solid"/>
              <a:miter/>
              <a:headEnd type="none" w="med" len="med"/>
              <a:tailEnd type="none" w="med" len="med"/>
            </a:ln>
            <a:effectLst>
              <a:outerShdw dist="53882" dir="2699999" algn="ctr" rotWithShape="0">
                <a:srgbClr val="A50021"/>
              </a:outer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lnSpc>
                  <a:spcPct val="80000"/>
                </a:lnSpc>
                <a:spcBef>
                  <a:spcPct val="0"/>
                </a:spcBef>
                <a:buClrTx/>
                <a:buFontTx/>
                <a:buNone/>
              </a:pPr>
              <a:r>
                <a:rPr lang="en-US" altLang="zh-CN" sz="1600" dirty="0">
                  <a:solidFill>
                    <a:srgbClr val="333333"/>
                  </a:solidFill>
                  <a:ea typeface="宋体" panose="02010600030101010101" pitchFamily="2" charset="-122"/>
                </a:rPr>
                <a:t>A=2</a:t>
              </a:r>
              <a:endParaRPr lang="en-US" altLang="zh-CN" sz="1600" dirty="0">
                <a:solidFill>
                  <a:srgbClr val="333333"/>
                </a:solidFill>
                <a:ea typeface="宋体" panose="02010600030101010101" pitchFamily="2" charset="-122"/>
              </a:endParaRPr>
            </a:p>
            <a:p>
              <a:pPr marL="0" lvl="0" indent="0" eaLnBrk="1" hangingPunct="1">
                <a:lnSpc>
                  <a:spcPct val="80000"/>
                </a:lnSpc>
                <a:spcBef>
                  <a:spcPct val="0"/>
                </a:spcBef>
                <a:buClrTx/>
                <a:buFontTx/>
                <a:buNone/>
              </a:pPr>
              <a:r>
                <a:rPr lang="en-US" altLang="zh-CN" sz="1600" dirty="0">
                  <a:solidFill>
                    <a:srgbClr val="333333"/>
                  </a:solidFill>
                  <a:ea typeface="宋体" panose="02010600030101010101" pitchFamily="2" charset="-122"/>
                </a:rPr>
                <a:t>OR </a:t>
              </a:r>
              <a:endParaRPr lang="en-US" altLang="zh-CN" sz="1600" dirty="0">
                <a:solidFill>
                  <a:srgbClr val="333333"/>
                </a:solidFill>
                <a:ea typeface="宋体" panose="02010600030101010101" pitchFamily="2" charset="-122"/>
              </a:endParaRPr>
            </a:p>
            <a:p>
              <a:pPr marL="0" lvl="0" indent="0" eaLnBrk="1" hangingPunct="1">
                <a:lnSpc>
                  <a:spcPct val="80000"/>
                </a:lnSpc>
                <a:spcBef>
                  <a:spcPct val="0"/>
                </a:spcBef>
                <a:buClrTx/>
                <a:buFontTx/>
                <a:buNone/>
              </a:pPr>
              <a:r>
                <a:rPr lang="en-US" altLang="zh-CN" sz="1600" dirty="0">
                  <a:solidFill>
                    <a:srgbClr val="333333"/>
                  </a:solidFill>
                  <a:ea typeface="宋体" panose="02010600030101010101" pitchFamily="2" charset="-122"/>
                </a:rPr>
                <a:t>X&gt;1</a:t>
              </a:r>
              <a:endParaRPr lang="en-US" altLang="zh-CN" sz="1600" dirty="0">
                <a:solidFill>
                  <a:srgbClr val="333333"/>
                </a:solidFill>
                <a:ea typeface="宋体" panose="02010600030101010101" pitchFamily="2" charset="-122"/>
              </a:endParaRPr>
            </a:p>
          </p:txBody>
        </p:sp>
        <p:sp>
          <p:nvSpPr>
            <p:cNvPr id="40986" name="Line 46"/>
            <p:cNvSpPr/>
            <p:nvPr/>
          </p:nvSpPr>
          <p:spPr>
            <a:xfrm>
              <a:off x="4635" y="2522"/>
              <a:ext cx="391" cy="0"/>
            </a:xfrm>
            <a:prstGeom prst="line">
              <a:avLst/>
            </a:prstGeom>
            <a:ln w="28575" cap="flat" cmpd="sng">
              <a:solidFill>
                <a:schemeClr val="tx1"/>
              </a:solidFill>
              <a:prstDash val="solid"/>
              <a:headEnd type="none" w="med" len="med"/>
              <a:tailEnd type="none" w="med" len="med"/>
            </a:ln>
            <a:effectLst>
              <a:outerShdw dist="35921" dir="2699999" algn="ctr" rotWithShape="0">
                <a:srgbClr val="DDDDDD"/>
              </a:outerShdw>
            </a:effectLst>
          </p:spPr>
        </p:sp>
        <p:sp>
          <p:nvSpPr>
            <p:cNvPr id="40987" name="Rectangle 47"/>
            <p:cNvSpPr/>
            <p:nvPr/>
          </p:nvSpPr>
          <p:spPr>
            <a:xfrm>
              <a:off x="4677" y="2773"/>
              <a:ext cx="718" cy="234"/>
            </a:xfrm>
            <a:prstGeom prst="rect">
              <a:avLst/>
            </a:prstGeom>
            <a:solidFill>
              <a:srgbClr val="FFFFCC"/>
            </a:solidFill>
            <a:ln w="9525" cap="flat" cmpd="sng">
              <a:solidFill>
                <a:srgbClr val="A50021"/>
              </a:solidFill>
              <a:prstDash val="solid"/>
              <a:miter/>
              <a:headEnd type="none" w="med" len="med"/>
              <a:tailEnd type="none" w="med" len="med"/>
            </a:ln>
            <a:effectLst>
              <a:outerShdw dist="53882" dir="2699999" algn="ctr" rotWithShape="0">
                <a:srgbClr val="A50021"/>
              </a:outer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1600" dirty="0">
                  <a:solidFill>
                    <a:srgbClr val="333333"/>
                  </a:solidFill>
                  <a:ea typeface="宋体" panose="02010600030101010101" pitchFamily="2" charset="-122"/>
                </a:rPr>
                <a:t>X:=X+1</a:t>
              </a:r>
              <a:endParaRPr lang="en-US" altLang="zh-CN" sz="1600" dirty="0">
                <a:solidFill>
                  <a:srgbClr val="333333"/>
                </a:solidFill>
                <a:ea typeface="宋体" panose="02010600030101010101" pitchFamily="2" charset="-122"/>
              </a:endParaRPr>
            </a:p>
          </p:txBody>
        </p:sp>
        <p:sp>
          <p:nvSpPr>
            <p:cNvPr id="17" name="Line 48"/>
            <p:cNvSpPr>
              <a:spLocks noChangeShapeType="1"/>
            </p:cNvSpPr>
            <p:nvPr/>
          </p:nvSpPr>
          <p:spPr bwMode="auto">
            <a:xfrm>
              <a:off x="5037" y="3062"/>
              <a:ext cx="0" cy="141"/>
            </a:xfrm>
            <a:prstGeom prst="line">
              <a:avLst/>
            </a:prstGeom>
            <a:noFill/>
            <a:ln w="28575" cap="sq">
              <a:solidFill>
                <a:schemeClr val="tx1"/>
              </a:solidFill>
              <a:round/>
              <a:tailEnd type="triangle" w="med" len="me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18" name="Line 50"/>
            <p:cNvSpPr>
              <a:spLocks noChangeShapeType="1"/>
            </p:cNvSpPr>
            <p:nvPr/>
          </p:nvSpPr>
          <p:spPr bwMode="auto">
            <a:xfrm>
              <a:off x="4026" y="2833"/>
              <a:ext cx="0" cy="677"/>
            </a:xfrm>
            <a:prstGeom prst="line">
              <a:avLst/>
            </a:prstGeom>
            <a:noFill/>
            <a:ln w="28575" cap="sq">
              <a:solidFill>
                <a:schemeClr val="tx1"/>
              </a:solidFill>
              <a:round/>
              <a:tailEnd type="triangle" w="med" len="me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19" name="Line 51"/>
            <p:cNvSpPr>
              <a:spLocks noChangeShapeType="1"/>
            </p:cNvSpPr>
            <p:nvPr/>
          </p:nvSpPr>
          <p:spPr bwMode="auto">
            <a:xfrm flipV="1">
              <a:off x="4027" y="3190"/>
              <a:ext cx="1035" cy="0"/>
            </a:xfrm>
            <a:prstGeom prst="line">
              <a:avLst/>
            </a:prstGeom>
            <a:noFill/>
            <a:ln w="28575" cap="sq">
              <a:solidFill>
                <a:schemeClr val="tx1"/>
              </a:solidFill>
              <a:roun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20" name="Line 53"/>
            <p:cNvSpPr>
              <a:spLocks noChangeShapeType="1"/>
            </p:cNvSpPr>
            <p:nvPr/>
          </p:nvSpPr>
          <p:spPr bwMode="auto">
            <a:xfrm>
              <a:off x="5015" y="2539"/>
              <a:ext cx="0" cy="242"/>
            </a:xfrm>
            <a:prstGeom prst="line">
              <a:avLst/>
            </a:prstGeom>
            <a:noFill/>
            <a:ln w="9525" cap="sq">
              <a:solidFill>
                <a:schemeClr val="tx1"/>
              </a:solidFill>
              <a:round/>
              <a:tailEnd type="triangle" w="med" len="me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21" name="Text Box 54"/>
            <p:cNvSpPr txBox="1">
              <a:spLocks noChangeArrowheads="1"/>
            </p:cNvSpPr>
            <p:nvPr/>
          </p:nvSpPr>
          <p:spPr bwMode="auto">
            <a:xfrm>
              <a:off x="4538" y="1041"/>
              <a:ext cx="285" cy="251"/>
            </a:xfrm>
            <a:prstGeom prst="rect">
              <a:avLst/>
            </a:prstGeom>
            <a:noFill/>
            <a:ln w="9525" cap="sq">
              <a:noFill/>
              <a:miter lim="800000"/>
            </a:ln>
            <a:effectLst>
              <a:prstShdw prst="shdw17" dist="17961" dir="2700000">
                <a:schemeClr val="tx1">
                  <a:gamma/>
                  <a:shade val="60000"/>
                  <a:invGamma/>
                </a:schemeClr>
              </a:prstShdw>
            </a:effectLst>
          </p:spPr>
          <p:txBody>
            <a:bodyPr wrap="none" anchor="ct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rPr>
                <a:t>Y</a:t>
              </a:r>
              <a:endPar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22" name="Text Box 55"/>
            <p:cNvSpPr txBox="1">
              <a:spLocks noChangeArrowheads="1"/>
            </p:cNvSpPr>
            <p:nvPr/>
          </p:nvSpPr>
          <p:spPr bwMode="auto">
            <a:xfrm>
              <a:off x="3985" y="1641"/>
              <a:ext cx="285" cy="251"/>
            </a:xfrm>
            <a:prstGeom prst="rect">
              <a:avLst/>
            </a:prstGeom>
            <a:noFill/>
            <a:ln w="9525" cap="sq">
              <a:noFill/>
              <a:miter lim="800000"/>
            </a:ln>
            <a:effectLst>
              <a:prstShdw prst="shdw17" dist="17961" dir="2700000">
                <a:schemeClr val="tx1">
                  <a:gamma/>
                  <a:shade val="60000"/>
                  <a:invGamma/>
                </a:schemeClr>
              </a:prstShdw>
            </a:effectLst>
          </p:spPr>
          <p:txBody>
            <a:bodyPr wrap="none" anchor="ct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rPr>
                <a:t>N</a:t>
              </a:r>
              <a:endPar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23" name="Text Box 56"/>
            <p:cNvSpPr txBox="1">
              <a:spLocks noChangeArrowheads="1"/>
            </p:cNvSpPr>
            <p:nvPr/>
          </p:nvSpPr>
          <p:spPr bwMode="auto">
            <a:xfrm>
              <a:off x="4490" y="2241"/>
              <a:ext cx="284" cy="250"/>
            </a:xfrm>
            <a:prstGeom prst="rect">
              <a:avLst/>
            </a:prstGeom>
            <a:noFill/>
            <a:ln w="9525" cap="sq">
              <a:noFill/>
              <a:miter lim="800000"/>
            </a:ln>
            <a:effectLst>
              <a:prstShdw prst="shdw17" dist="17961" dir="2700000">
                <a:schemeClr val="tx1">
                  <a:gamma/>
                  <a:shade val="60000"/>
                  <a:invGamma/>
                </a:schemeClr>
              </a:prstShdw>
            </a:effectLst>
          </p:spPr>
          <p:txBody>
            <a:bodyPr wrap="none" anchor="ct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rPr>
                <a:t>Y</a:t>
              </a:r>
              <a:endPar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24" name="Text Box 57"/>
            <p:cNvSpPr txBox="1">
              <a:spLocks noChangeArrowheads="1"/>
            </p:cNvSpPr>
            <p:nvPr/>
          </p:nvSpPr>
          <p:spPr bwMode="auto">
            <a:xfrm>
              <a:off x="4010" y="2817"/>
              <a:ext cx="284" cy="251"/>
            </a:xfrm>
            <a:prstGeom prst="rect">
              <a:avLst/>
            </a:prstGeom>
            <a:noFill/>
            <a:ln w="9525" cap="sq">
              <a:noFill/>
              <a:miter lim="800000"/>
            </a:ln>
            <a:effectLst>
              <a:prstShdw prst="shdw17" dist="17961" dir="2700000">
                <a:schemeClr val="tx1">
                  <a:gamma/>
                  <a:shade val="60000"/>
                  <a:invGamma/>
                </a:schemeClr>
              </a:prstShdw>
            </a:effectLst>
          </p:spPr>
          <p:txBody>
            <a:bodyPr wrap="none" anchor="ct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rPr>
                <a:t>N</a:t>
              </a:r>
              <a:endPar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grpSp>
      <p:sp>
        <p:nvSpPr>
          <p:cNvPr id="28" name="Text Box 38"/>
          <p:cNvSpPr txBox="1">
            <a:spLocks noChangeArrowheads="1"/>
          </p:cNvSpPr>
          <p:nvPr/>
        </p:nvSpPr>
        <p:spPr bwMode="auto">
          <a:xfrm>
            <a:off x="3875088" y="2657475"/>
            <a:ext cx="4697413" cy="1200150"/>
          </a:xfrm>
          <a:prstGeom prst="rect">
            <a:avLst/>
          </a:prstGeom>
          <a:noFill/>
          <a:ln w="9525" cap="sq">
            <a:noFill/>
            <a:miter lim="800000"/>
          </a:ln>
          <a:effectLst>
            <a:prstShdw prst="shdw17" dist="17961" dir="2700000">
              <a:schemeClr val="tx1">
                <a:gamma/>
                <a:shade val="60000"/>
                <a:invGamma/>
              </a:schemeClr>
            </a:prstShdw>
          </a:effectLst>
        </p:spPr>
        <p:txBody>
          <a:bodyPr anchor="ctr">
            <a:spAutoFit/>
          </a:bodyPr>
          <a:lstStyle/>
          <a:p>
            <a:pPr marR="0" defTabSz="914400" eaLnBrk="1" hangingPunct="1">
              <a:spcBef>
                <a:spcPts val="0"/>
              </a:spcBef>
              <a:spcAft>
                <a:spcPts val="0"/>
              </a:spcAft>
              <a:buClrTx/>
              <a:buSzTx/>
              <a:buFontTx/>
              <a:buNone/>
              <a:defRPr/>
            </a:pPr>
            <a:r>
              <a:rPr kumimoji="0" lang="zh-CN" altLang="zh-CN" sz="2400" kern="1200" cap="none" spc="0" normalizeH="0" baseline="0" noProof="0" dirty="0">
                <a:solidFill>
                  <a:srgbClr val="333333"/>
                </a:solidFill>
                <a:latin typeface="Times New Roman" panose="02020603050405020304" pitchFamily="18" charset="0"/>
                <a:ea typeface="楷体_GB2312" pitchFamily="49" charset="-122"/>
                <a:cs typeface="+mn-cs"/>
              </a:rPr>
              <a:t>应满足以下覆盖情况：</a:t>
            </a:r>
            <a:endParaRPr kumimoji="0" lang="zh-CN" altLang="zh-CN" sz="2400" kern="1200" cap="none" spc="0" normalizeH="0" baseline="0" noProof="0" dirty="0">
              <a:solidFill>
                <a:srgbClr val="333333"/>
              </a:solidFill>
              <a:latin typeface="Times New Roman" panose="02020603050405020304" pitchFamily="18" charset="0"/>
              <a:ea typeface="楷体_GB2312" pitchFamily="49" charset="-122"/>
              <a:cs typeface="+mn-cs"/>
            </a:endParaRPr>
          </a:p>
          <a:p>
            <a:pPr marR="0" defTabSz="914400" eaLnBrk="1" hangingPunct="1">
              <a:spcBef>
                <a:spcPts val="0"/>
              </a:spcBef>
              <a:spcAft>
                <a:spcPts val="0"/>
              </a:spcAft>
              <a:buClrTx/>
              <a:buSzTx/>
              <a:buFontTx/>
              <a:buNone/>
              <a:defRPr/>
            </a:pPr>
            <a:r>
              <a:rPr kumimoji="0" lang="zh-CN" altLang="zh-CN" sz="2400" kern="1200" cap="none" spc="0" normalizeH="0" baseline="0" noProof="0" dirty="0">
                <a:solidFill>
                  <a:srgbClr val="333333"/>
                </a:solidFill>
                <a:latin typeface="Times New Roman" panose="02020603050405020304" pitchFamily="18" charset="0"/>
                <a:ea typeface="楷体_GB2312" pitchFamily="49" charset="-122"/>
                <a:cs typeface="+mn-cs"/>
              </a:rPr>
              <a:t>判定一: A&gt;1, </a:t>
            </a:r>
            <a:r>
              <a:rPr kumimoji="0" lang="zh-CN" altLang="en-US" sz="2400" kern="1200" cap="none" spc="0" normalizeH="0" baseline="0" noProof="0" dirty="0">
                <a:solidFill>
                  <a:srgbClr val="333333"/>
                </a:solidFill>
                <a:latin typeface="Times New Roman" panose="02020603050405020304" pitchFamily="18" charset="0"/>
                <a:ea typeface="楷体_GB2312" pitchFamily="49" charset="-122"/>
                <a:cs typeface="+mn-cs"/>
              </a:rPr>
              <a:t>  </a:t>
            </a:r>
            <a:r>
              <a:rPr kumimoji="0" lang="zh-CN" altLang="zh-CN" sz="2400" kern="1200" cap="none" spc="0" normalizeH="0" baseline="0" noProof="0" dirty="0">
                <a:solidFill>
                  <a:srgbClr val="333333"/>
                </a:solidFill>
                <a:latin typeface="Times New Roman" panose="02020603050405020304" pitchFamily="18" charset="0"/>
                <a:ea typeface="楷体_GB2312" pitchFamily="49" charset="-122"/>
                <a:cs typeface="+mn-cs"/>
              </a:rPr>
              <a:t>A</a:t>
            </a:r>
            <a:r>
              <a:rPr kumimoji="0" lang="zh-CN" altLang="zh-CN" sz="2400" kern="1200" cap="none" spc="0" normalizeH="0" baseline="0" noProof="0" dirty="0">
                <a:solidFill>
                  <a:srgbClr val="333333"/>
                </a:solidFill>
                <a:latin typeface="Times New Roman" panose="02020603050405020304" pitchFamily="18" charset="0"/>
                <a:ea typeface="宋体" panose="02010600030101010101" pitchFamily="2" charset="-122"/>
                <a:cs typeface="+mn-cs"/>
              </a:rPr>
              <a:t>≤</a:t>
            </a:r>
            <a:r>
              <a:rPr kumimoji="0" lang="zh-CN" altLang="zh-CN" sz="2400" kern="1200" cap="none" spc="0" normalizeH="0" baseline="0" noProof="0" dirty="0">
                <a:solidFill>
                  <a:srgbClr val="333333"/>
                </a:solidFill>
                <a:latin typeface="Times New Roman" panose="02020603050405020304" pitchFamily="18" charset="0"/>
                <a:ea typeface="楷体_GB2312" pitchFamily="49" charset="-122"/>
                <a:cs typeface="+mn-cs"/>
              </a:rPr>
              <a:t>1, B=0, </a:t>
            </a:r>
            <a:r>
              <a:rPr kumimoji="0" lang="zh-CN" altLang="en-US" sz="2400" kern="1200" cap="none" spc="0" normalizeH="0" baseline="0" noProof="0" dirty="0">
                <a:solidFill>
                  <a:srgbClr val="333333"/>
                </a:solidFill>
                <a:latin typeface="Times New Roman" panose="02020603050405020304" pitchFamily="18" charset="0"/>
                <a:ea typeface="楷体_GB2312" pitchFamily="49" charset="-122"/>
                <a:cs typeface="+mn-cs"/>
              </a:rPr>
              <a:t> </a:t>
            </a:r>
            <a:r>
              <a:rPr kumimoji="0" lang="zh-CN" altLang="zh-CN" sz="2400" kern="1200" cap="none" spc="0" normalizeH="0" baseline="0" noProof="0" dirty="0">
                <a:solidFill>
                  <a:srgbClr val="333333"/>
                </a:solidFill>
                <a:latin typeface="Times New Roman" panose="02020603050405020304" pitchFamily="18" charset="0"/>
                <a:ea typeface="楷体_GB2312" pitchFamily="49" charset="-122"/>
                <a:cs typeface="+mn-cs"/>
              </a:rPr>
              <a:t>B</a:t>
            </a:r>
            <a:r>
              <a:rPr kumimoji="0" lang="zh-CN" altLang="zh-CN" sz="2400" kern="1200" cap="none" spc="0" normalizeH="0" baseline="0" noProof="0" dirty="0">
                <a:solidFill>
                  <a:srgbClr val="333333"/>
                </a:solidFill>
                <a:latin typeface="Times New Roman" panose="02020603050405020304" pitchFamily="18" charset="0"/>
                <a:ea typeface="宋体" panose="02010600030101010101" pitchFamily="2" charset="-122"/>
                <a:cs typeface="+mn-cs"/>
              </a:rPr>
              <a:t>≠</a:t>
            </a:r>
            <a:r>
              <a:rPr kumimoji="0" lang="zh-CN" altLang="zh-CN" sz="2400" kern="1200" cap="none" spc="0" normalizeH="0" baseline="0" noProof="0" dirty="0">
                <a:solidFill>
                  <a:srgbClr val="333333"/>
                </a:solidFill>
                <a:latin typeface="Times New Roman" panose="02020603050405020304" pitchFamily="18" charset="0"/>
                <a:ea typeface="楷体_GB2312" pitchFamily="49" charset="-122"/>
                <a:cs typeface="+mn-cs"/>
              </a:rPr>
              <a:t>0</a:t>
            </a:r>
            <a:endParaRPr kumimoji="0" lang="zh-CN" altLang="zh-CN" sz="2400" kern="1200" cap="none" spc="0" normalizeH="0" baseline="0" noProof="0" dirty="0">
              <a:solidFill>
                <a:srgbClr val="333333"/>
              </a:solidFill>
              <a:latin typeface="Times New Roman" panose="02020603050405020304" pitchFamily="18" charset="0"/>
              <a:ea typeface="楷体_GB2312" pitchFamily="49" charset="-122"/>
              <a:cs typeface="+mn-cs"/>
            </a:endParaRPr>
          </a:p>
          <a:p>
            <a:pPr marR="0" defTabSz="914400" eaLnBrk="1" hangingPunct="1">
              <a:spcBef>
                <a:spcPts val="0"/>
              </a:spcBef>
              <a:spcAft>
                <a:spcPts val="0"/>
              </a:spcAft>
              <a:buClrTx/>
              <a:buSzTx/>
              <a:buFontTx/>
              <a:buNone/>
              <a:defRPr/>
            </a:pPr>
            <a:r>
              <a:rPr kumimoji="0" lang="zh-CN" altLang="zh-CN" sz="2400" kern="1200" cap="none" spc="0" normalizeH="0" baseline="0" noProof="0" dirty="0">
                <a:solidFill>
                  <a:srgbClr val="333333"/>
                </a:solidFill>
                <a:latin typeface="Times New Roman" panose="02020603050405020304" pitchFamily="18" charset="0"/>
                <a:ea typeface="楷体_GB2312" pitchFamily="49" charset="-122"/>
                <a:cs typeface="+mn-cs"/>
              </a:rPr>
              <a:t>判定二: A=2, </a:t>
            </a:r>
            <a:r>
              <a:rPr kumimoji="0" lang="zh-CN" altLang="en-US" sz="2400" kern="1200" cap="none" spc="0" normalizeH="0" baseline="0" noProof="0" dirty="0">
                <a:solidFill>
                  <a:srgbClr val="333333"/>
                </a:solidFill>
                <a:latin typeface="Times New Roman" panose="02020603050405020304" pitchFamily="18" charset="0"/>
                <a:ea typeface="楷体_GB2312" pitchFamily="49" charset="-122"/>
                <a:cs typeface="+mn-cs"/>
              </a:rPr>
              <a:t>  </a:t>
            </a:r>
            <a:r>
              <a:rPr kumimoji="0" lang="zh-CN" altLang="zh-CN" sz="2400" kern="1200" cap="none" spc="0" normalizeH="0" baseline="0" noProof="0" dirty="0">
                <a:solidFill>
                  <a:srgbClr val="333333"/>
                </a:solidFill>
                <a:latin typeface="Times New Roman" panose="02020603050405020304" pitchFamily="18" charset="0"/>
                <a:ea typeface="楷体_GB2312" pitchFamily="49" charset="-122"/>
                <a:cs typeface="+mn-cs"/>
              </a:rPr>
              <a:t>A</a:t>
            </a:r>
            <a:r>
              <a:rPr kumimoji="0" lang="zh-CN" altLang="zh-CN" sz="2400" kern="1200" cap="none" spc="0" normalizeH="0" baseline="0" noProof="0" dirty="0">
                <a:solidFill>
                  <a:srgbClr val="333333"/>
                </a:solidFill>
                <a:latin typeface="Times New Roman" panose="02020603050405020304" pitchFamily="18" charset="0"/>
                <a:ea typeface="宋体" panose="02010600030101010101" pitchFamily="2" charset="-122"/>
                <a:cs typeface="+mn-cs"/>
              </a:rPr>
              <a:t>≠2, X&gt;1, </a:t>
            </a:r>
            <a:r>
              <a:rPr kumimoji="0" lang="zh-CN" altLang="en-US" sz="2400" kern="1200" cap="none" spc="0" normalizeH="0" baseline="0" noProof="0" dirty="0">
                <a:solidFill>
                  <a:srgbClr val="333333"/>
                </a:solidFill>
                <a:latin typeface="Times New Roman" panose="02020603050405020304" pitchFamily="18" charset="0"/>
                <a:ea typeface="宋体" panose="02010600030101010101" pitchFamily="2" charset="-122"/>
                <a:cs typeface="+mn-cs"/>
              </a:rPr>
              <a:t> </a:t>
            </a:r>
            <a:r>
              <a:rPr kumimoji="0" lang="zh-CN" altLang="zh-CN" sz="2400" kern="1200" cap="none" spc="0" normalizeH="0" baseline="0" noProof="0" dirty="0">
                <a:solidFill>
                  <a:srgbClr val="333333"/>
                </a:solidFill>
                <a:latin typeface="Times New Roman" panose="02020603050405020304" pitchFamily="18" charset="0"/>
                <a:ea typeface="宋体" panose="02010600030101010101" pitchFamily="2" charset="-122"/>
                <a:cs typeface="+mn-cs"/>
              </a:rPr>
              <a:t>X≤1</a:t>
            </a:r>
            <a:endParaRPr kumimoji="0" lang="en-US" altLang="zh-CN" sz="2400" kern="1200" cap="none" spc="0" normalizeH="0" baseline="0" noProof="0" dirty="0">
              <a:solidFill>
                <a:srgbClr val="333333"/>
              </a:solidFill>
              <a:latin typeface="Times New Roman" panose="02020603050405020304" pitchFamily="18" charset="0"/>
              <a:ea typeface="宋体" panose="02010600030101010101" pitchFamily="2" charset="-122"/>
              <a:cs typeface="+mn-cs"/>
            </a:endParaRPr>
          </a:p>
        </p:txBody>
      </p:sp>
      <p:sp>
        <p:nvSpPr>
          <p:cNvPr id="29" name="Text Box 39"/>
          <p:cNvSpPr txBox="1">
            <a:spLocks noChangeArrowheads="1"/>
          </p:cNvSpPr>
          <p:nvPr/>
        </p:nvSpPr>
        <p:spPr bwMode="auto">
          <a:xfrm>
            <a:off x="3857625" y="3943350"/>
            <a:ext cx="4513263" cy="1200150"/>
          </a:xfrm>
          <a:prstGeom prst="rect">
            <a:avLst/>
          </a:prstGeom>
          <a:noFill/>
          <a:ln w="9525" cap="sq">
            <a:noFill/>
            <a:miter lim="800000"/>
          </a:ln>
          <a:effectLst>
            <a:prstShdw prst="shdw17" dist="17961" dir="2700000">
              <a:schemeClr val="tx1">
                <a:gamma/>
                <a:shade val="60000"/>
                <a:invGamma/>
              </a:schemeClr>
            </a:prstShdw>
          </a:effectLst>
        </p:spPr>
        <p:txBody>
          <a:bodyPr anchor="ctr">
            <a:spAutoFit/>
          </a:bodyPr>
          <a:lstStyle/>
          <a:p>
            <a:pPr marR="0" defTabSz="914400" eaLnBrk="1" hangingPunct="1">
              <a:spcBef>
                <a:spcPts val="0"/>
              </a:spcBef>
              <a:spcAft>
                <a:spcPts val="0"/>
              </a:spcAft>
              <a:buClrTx/>
              <a:buSzTx/>
              <a:buFontTx/>
              <a:buNone/>
              <a:defRPr/>
            </a:pPr>
            <a:r>
              <a:rPr kumimoji="0" lang="zh-CN" altLang="en-US" sz="2400" kern="1200" cap="none" spc="0" normalizeH="0" baseline="0" noProof="0" dirty="0">
                <a:solidFill>
                  <a:srgbClr val="333333"/>
                </a:solidFill>
                <a:latin typeface="Times New Roman" panose="02020603050405020304" pitchFamily="18" charset="0"/>
                <a:ea typeface="楷体_GB2312" pitchFamily="49" charset="-122"/>
                <a:cs typeface="+mn-cs"/>
              </a:rPr>
              <a:t>选择用例：</a:t>
            </a:r>
            <a:endParaRPr kumimoji="0" lang="zh-CN" altLang="en-US" sz="2400" kern="1200" cap="none" spc="0" normalizeH="0" baseline="0" noProof="0" dirty="0">
              <a:solidFill>
                <a:srgbClr val="333333"/>
              </a:solidFill>
              <a:latin typeface="Times New Roman" panose="02020603050405020304" pitchFamily="18" charset="0"/>
              <a:ea typeface="楷体_GB2312" pitchFamily="49" charset="-122"/>
              <a:cs typeface="+mn-cs"/>
            </a:endParaRPr>
          </a:p>
          <a:p>
            <a:pPr marR="0" defTabSz="914400" eaLnBrk="1" hangingPunct="1">
              <a:spcBef>
                <a:spcPts val="0"/>
              </a:spcBef>
              <a:spcAft>
                <a:spcPts val="0"/>
              </a:spcAft>
              <a:buClrTx/>
              <a:buSzTx/>
              <a:buFontTx/>
              <a:buNone/>
              <a:defRPr/>
            </a:pPr>
            <a:r>
              <a:rPr kumimoji="0" lang="zh-CN" altLang="zh-CN" sz="2400" kern="1200" cap="none" spc="0" normalizeH="0" baseline="0" noProof="0" dirty="0">
                <a:solidFill>
                  <a:srgbClr val="333333"/>
                </a:solidFill>
                <a:latin typeface="楷体_GB2312" pitchFamily="49" charset="-122"/>
                <a:ea typeface="楷体_GB2312" pitchFamily="49" charset="-122"/>
                <a:cs typeface="+mn-cs"/>
              </a:rPr>
              <a:t>   [(2,0,4),(2,0,3)]</a:t>
            </a:r>
            <a:r>
              <a:rPr kumimoji="0" lang="en-US" altLang="zh-CN" sz="2400" kern="1200" cap="none" spc="0" normalizeH="0" baseline="0" noProof="0" dirty="0">
                <a:solidFill>
                  <a:srgbClr val="333333"/>
                </a:solidFill>
                <a:latin typeface="楷体_GB2312" pitchFamily="49" charset="-122"/>
                <a:ea typeface="楷体_GB2312" pitchFamily="49" charset="-122"/>
                <a:cs typeface="+mn-cs"/>
              </a:rPr>
              <a:t> </a:t>
            </a:r>
            <a:r>
              <a:rPr kumimoji="0" lang="zh-CN" altLang="en-US" sz="2400" kern="1200" cap="none" spc="0" normalizeH="0" baseline="0" noProof="0" dirty="0">
                <a:solidFill>
                  <a:srgbClr val="333333"/>
                </a:solidFill>
                <a:latin typeface="楷体_GB2312" pitchFamily="49" charset="-122"/>
                <a:ea typeface="楷体_GB2312" pitchFamily="49" charset="-122"/>
                <a:cs typeface="+mn-cs"/>
              </a:rPr>
              <a:t>a</a:t>
            </a:r>
            <a:r>
              <a:rPr kumimoji="0" lang="en-US" altLang="zh-CN" sz="2400" kern="1200" cap="none" spc="0" normalizeH="0" baseline="0" noProof="0" dirty="0" err="1">
                <a:solidFill>
                  <a:srgbClr val="333333"/>
                </a:solidFill>
                <a:latin typeface="楷体_GB2312" pitchFamily="49" charset="-122"/>
                <a:ea typeface="楷体_GB2312" pitchFamily="49" charset="-122"/>
                <a:cs typeface="+mn-cs"/>
              </a:rPr>
              <a:t>ce</a:t>
            </a:r>
            <a:endParaRPr kumimoji="0" lang="zh-CN" altLang="zh-CN" sz="2400" kern="1200" cap="none" spc="0" normalizeH="0" baseline="0" noProof="0" dirty="0">
              <a:solidFill>
                <a:srgbClr val="333333"/>
              </a:solidFill>
              <a:latin typeface="楷体_GB2312" pitchFamily="49" charset="-122"/>
              <a:ea typeface="楷体_GB2312" pitchFamily="49" charset="-122"/>
              <a:cs typeface="+mn-cs"/>
            </a:endParaRPr>
          </a:p>
          <a:p>
            <a:pPr marR="0" defTabSz="914400" eaLnBrk="1" hangingPunct="1">
              <a:spcBef>
                <a:spcPts val="0"/>
              </a:spcBef>
              <a:spcAft>
                <a:spcPts val="0"/>
              </a:spcAft>
              <a:buClrTx/>
              <a:buSzTx/>
              <a:buFontTx/>
              <a:buNone/>
              <a:defRPr/>
            </a:pPr>
            <a:r>
              <a:rPr kumimoji="0" lang="zh-CN" altLang="zh-CN" sz="2400" kern="1200" cap="none" spc="0" normalizeH="0" baseline="0" noProof="0" dirty="0">
                <a:solidFill>
                  <a:srgbClr val="333333"/>
                </a:solidFill>
                <a:latin typeface="楷体_GB2312" pitchFamily="49" charset="-122"/>
                <a:ea typeface="楷体_GB2312" pitchFamily="49" charset="-122"/>
                <a:cs typeface="+mn-cs"/>
              </a:rPr>
              <a:t>   [(1,1,1),(1,1,1)]</a:t>
            </a:r>
            <a:r>
              <a:rPr kumimoji="0" lang="en-US" altLang="zh-CN" sz="2400" kern="1200" cap="none" spc="0" normalizeH="0" baseline="0" noProof="0" dirty="0">
                <a:solidFill>
                  <a:srgbClr val="333333"/>
                </a:solidFill>
                <a:latin typeface="楷体_GB2312" pitchFamily="49" charset="-122"/>
                <a:ea typeface="楷体_GB2312" pitchFamily="49" charset="-122"/>
                <a:cs typeface="+mn-cs"/>
              </a:rPr>
              <a:t> </a:t>
            </a:r>
            <a:r>
              <a:rPr kumimoji="0" lang="zh-CN" altLang="en-US" sz="2400" kern="1200" cap="none" spc="0" normalizeH="0" baseline="0" noProof="0" dirty="0">
                <a:solidFill>
                  <a:srgbClr val="333333"/>
                </a:solidFill>
                <a:latin typeface="楷体_GB2312" pitchFamily="49" charset="-122"/>
                <a:ea typeface="楷体_GB2312" pitchFamily="49" charset="-122"/>
                <a:cs typeface="+mn-cs"/>
              </a:rPr>
              <a:t>a</a:t>
            </a:r>
            <a:r>
              <a:rPr kumimoji="0" lang="en-US" altLang="zh-CN" sz="2400" kern="1200" cap="none" spc="0" normalizeH="0" baseline="0" noProof="0" dirty="0" err="1">
                <a:solidFill>
                  <a:srgbClr val="333333"/>
                </a:solidFill>
                <a:latin typeface="楷体_GB2312" pitchFamily="49" charset="-122"/>
                <a:ea typeface="楷体_GB2312" pitchFamily="49" charset="-122"/>
                <a:cs typeface="+mn-cs"/>
              </a:rPr>
              <a:t>bd</a:t>
            </a:r>
            <a:r>
              <a:rPr kumimoji="0" lang="zh-CN" altLang="zh-CN" sz="2400" kern="1200" cap="none" spc="0" normalizeH="0" baseline="0" noProof="0" dirty="0">
                <a:solidFill>
                  <a:srgbClr val="333333"/>
                </a:solidFill>
                <a:latin typeface="楷体_GB2312" pitchFamily="49" charset="-122"/>
                <a:ea typeface="楷体_GB2312" pitchFamily="49" charset="-122"/>
                <a:cs typeface="+mn-cs"/>
              </a:rPr>
              <a:t> </a:t>
            </a:r>
            <a:endParaRPr kumimoji="0" lang="zh-CN" altLang="zh-CN" sz="2400" kern="1200" cap="none" spc="0" normalizeH="0" baseline="0" noProof="0" dirty="0">
              <a:solidFill>
                <a:srgbClr val="333333"/>
              </a:solidFill>
              <a:latin typeface="楷体_GB2312" pitchFamily="49" charset="-122"/>
              <a:ea typeface="楷体_GB2312" pitchFamily="49" charset="-122"/>
              <a:cs typeface="+mn-cs"/>
            </a:endParaRPr>
          </a:p>
        </p:txBody>
      </p:sp>
      <p:sp>
        <p:nvSpPr>
          <p:cNvPr id="30" name="Text Box 61"/>
          <p:cNvSpPr txBox="1">
            <a:spLocks noChangeArrowheads="1"/>
          </p:cNvSpPr>
          <p:nvPr/>
        </p:nvSpPr>
        <p:spPr bwMode="auto">
          <a:xfrm>
            <a:off x="3913188" y="5157788"/>
            <a:ext cx="5016500" cy="830263"/>
          </a:xfrm>
          <a:prstGeom prst="rect">
            <a:avLst/>
          </a:prstGeom>
          <a:noFill/>
          <a:ln w="9525" cap="sq">
            <a:noFill/>
            <a:miter lim="800000"/>
          </a:ln>
          <a:effectLst>
            <a:prstShdw prst="shdw17" dist="17961" dir="2700000">
              <a:schemeClr val="tx1">
                <a:gamma/>
                <a:shade val="60000"/>
                <a:invGamma/>
              </a:schemeClr>
            </a:prstShdw>
          </a:effectLst>
        </p:spPr>
        <p:txBody>
          <a:bodyPr anchor="ctr">
            <a:spAutoFit/>
          </a:bodyPr>
          <a:lstStyle/>
          <a:p>
            <a:pPr marR="0" defTabSz="914400" eaLnBrk="1" hangingPunct="1">
              <a:spcBef>
                <a:spcPts val="0"/>
              </a:spcBef>
              <a:spcAft>
                <a:spcPts val="0"/>
              </a:spcAft>
              <a:buClrTx/>
              <a:buSzTx/>
              <a:buFontTx/>
              <a:buNone/>
              <a:defRPr/>
            </a:pPr>
            <a:r>
              <a:rPr kumimoji="0" lang="zh-CN" altLang="en-US" sz="2400" kern="1200" cap="none" spc="0" normalizeH="0" baseline="0" noProof="0" dirty="0">
                <a:solidFill>
                  <a:srgbClr val="333333"/>
                </a:solidFill>
                <a:latin typeface="楷体_GB2312" pitchFamily="49" charset="-122"/>
                <a:ea typeface="楷体_GB2312" pitchFamily="49" charset="-122"/>
                <a:cs typeface="+mn-cs"/>
              </a:rPr>
              <a:t>比较</a:t>
            </a:r>
            <a:r>
              <a:rPr kumimoji="0" lang="zh-CN" altLang="zh-CN" sz="2400" kern="1200" cap="none" spc="0" normalizeH="0" baseline="0" noProof="0" dirty="0">
                <a:solidFill>
                  <a:srgbClr val="333333"/>
                </a:solidFill>
                <a:latin typeface="楷体_GB2312" pitchFamily="49" charset="-122"/>
                <a:ea typeface="楷体_GB2312" pitchFamily="49" charset="-122"/>
                <a:cs typeface="+mn-cs"/>
              </a:rPr>
              <a:t>:[(1,0,3),(1,0,4)]</a:t>
            </a:r>
            <a:r>
              <a:rPr kumimoji="0" lang="en-US" altLang="zh-CN" sz="2400" kern="1200" cap="none" spc="0" normalizeH="0" baseline="0" noProof="0" dirty="0">
                <a:solidFill>
                  <a:srgbClr val="333333"/>
                </a:solidFill>
                <a:latin typeface="楷体_GB2312" pitchFamily="49" charset="-122"/>
                <a:ea typeface="楷体_GB2312" pitchFamily="49" charset="-122"/>
                <a:cs typeface="+mn-cs"/>
              </a:rPr>
              <a:t>         </a:t>
            </a:r>
            <a:endParaRPr kumimoji="0" lang="en-US" altLang="zh-CN" sz="2400" kern="1200" cap="none" spc="0" normalizeH="0" baseline="0" noProof="0" dirty="0">
              <a:solidFill>
                <a:srgbClr val="333333"/>
              </a:solidFill>
              <a:latin typeface="楷体_GB2312" pitchFamily="49" charset="-122"/>
              <a:ea typeface="楷体_GB2312" pitchFamily="49" charset="-122"/>
              <a:cs typeface="+mn-cs"/>
            </a:endParaRPr>
          </a:p>
          <a:p>
            <a:pPr marR="0" defTabSz="914400" eaLnBrk="1" hangingPunct="1">
              <a:spcBef>
                <a:spcPts val="0"/>
              </a:spcBef>
              <a:spcAft>
                <a:spcPts val="0"/>
              </a:spcAft>
              <a:buClrTx/>
              <a:buSzTx/>
              <a:buFontTx/>
              <a:buNone/>
              <a:defRPr/>
            </a:pPr>
            <a:r>
              <a:rPr kumimoji="0" lang="en-US" altLang="zh-CN" sz="2400" kern="1200" cap="none" spc="0" normalizeH="0" baseline="0" noProof="0" dirty="0">
                <a:solidFill>
                  <a:srgbClr val="333333"/>
                </a:solidFill>
                <a:latin typeface="楷体_GB2312" pitchFamily="49" charset="-122"/>
                <a:ea typeface="楷体_GB2312" pitchFamily="49" charset="-122"/>
                <a:cs typeface="+mn-cs"/>
              </a:rPr>
              <a:t>     </a:t>
            </a:r>
            <a:r>
              <a:rPr kumimoji="0" lang="zh-CN" altLang="zh-CN" sz="2400" kern="1200" cap="none" spc="0" normalizeH="0" baseline="0" noProof="0" dirty="0">
                <a:solidFill>
                  <a:srgbClr val="333333"/>
                </a:solidFill>
                <a:latin typeface="楷体_GB2312" pitchFamily="49" charset="-122"/>
                <a:ea typeface="楷体_GB2312" pitchFamily="49" charset="-122"/>
                <a:cs typeface="+mn-cs"/>
              </a:rPr>
              <a:t>[(2,1,1),(2,1,2)]</a:t>
            </a:r>
            <a:endParaRPr kumimoji="0" lang="zh-CN" altLang="zh-CN" sz="2400" kern="1200" cap="none" spc="0" normalizeH="0" baseline="0" noProof="0" dirty="0">
              <a:solidFill>
                <a:srgbClr val="333333"/>
              </a:solidFill>
              <a:latin typeface="楷体_GB2312" pitchFamily="49" charset="-122"/>
              <a:ea typeface="楷体_GB2312" pitchFamily="49" charset="-122"/>
              <a:cs typeface="+mn-cs"/>
            </a:endParaRPr>
          </a:p>
        </p:txBody>
      </p:sp>
      <p:sp>
        <p:nvSpPr>
          <p:cNvPr id="31" name="Text Box 37"/>
          <p:cNvSpPr txBox="1">
            <a:spLocks noChangeArrowheads="1"/>
          </p:cNvSpPr>
          <p:nvPr/>
        </p:nvSpPr>
        <p:spPr bwMode="auto">
          <a:xfrm>
            <a:off x="1090613" y="2487613"/>
            <a:ext cx="361950" cy="519113"/>
          </a:xfrm>
          <a:prstGeom prst="rect">
            <a:avLst/>
          </a:prstGeom>
          <a:noFill/>
          <a:ln w="9525" cap="sq">
            <a:noFill/>
            <a:miter lim="800000"/>
          </a:ln>
          <a:effectLst>
            <a:prstShdw prst="shdw17" dist="17961" dir="2700000">
              <a:schemeClr val="tx1">
                <a:gamma/>
                <a:shade val="60000"/>
                <a:invGamma/>
              </a:schemeClr>
            </a:prstShdw>
          </a:effectLst>
        </p:spPr>
        <p:txBody>
          <a:bodyPr wrap="none">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rPr>
              <a:t>a</a:t>
            </a:r>
            <a:endPar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sp>
        <p:nvSpPr>
          <p:cNvPr id="32" name="Text Box 38"/>
          <p:cNvSpPr txBox="1">
            <a:spLocks noChangeArrowheads="1"/>
          </p:cNvSpPr>
          <p:nvPr/>
        </p:nvSpPr>
        <p:spPr bwMode="auto">
          <a:xfrm>
            <a:off x="1136650" y="4071938"/>
            <a:ext cx="530225" cy="519113"/>
          </a:xfrm>
          <a:prstGeom prst="rect">
            <a:avLst/>
          </a:prstGeom>
          <a:noFill/>
          <a:ln w="9525" cap="sq">
            <a:noFill/>
            <a:miter lim="800000"/>
          </a:ln>
          <a:effectLst>
            <a:prstShdw prst="shdw17" dist="17961" dir="2700000">
              <a:schemeClr val="tx1">
                <a:gamma/>
                <a:shade val="60000"/>
                <a:invGamma/>
              </a:schemeClr>
            </a:prstShdw>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rPr>
              <a:t>b</a:t>
            </a:r>
            <a:endPar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sp>
        <p:nvSpPr>
          <p:cNvPr id="33" name="Text Box 39"/>
          <p:cNvSpPr txBox="1">
            <a:spLocks noChangeArrowheads="1"/>
          </p:cNvSpPr>
          <p:nvPr/>
        </p:nvSpPr>
        <p:spPr bwMode="auto">
          <a:xfrm>
            <a:off x="2597150" y="3090863"/>
            <a:ext cx="509588" cy="519113"/>
          </a:xfrm>
          <a:prstGeom prst="rect">
            <a:avLst/>
          </a:prstGeom>
          <a:noFill/>
          <a:ln w="9525" cap="sq">
            <a:noFill/>
            <a:miter lim="800000"/>
          </a:ln>
          <a:effectLst>
            <a:prstShdw prst="shdw17" dist="17961" dir="2700000">
              <a:schemeClr val="tx1">
                <a:gamma/>
                <a:shade val="60000"/>
                <a:invGamma/>
              </a:schemeClr>
            </a:prstShdw>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rPr>
              <a:t>c</a:t>
            </a:r>
            <a:endPar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sp>
        <p:nvSpPr>
          <p:cNvPr id="34" name="Text Box 40"/>
          <p:cNvSpPr txBox="1">
            <a:spLocks noChangeArrowheads="1"/>
          </p:cNvSpPr>
          <p:nvPr/>
        </p:nvSpPr>
        <p:spPr bwMode="auto">
          <a:xfrm>
            <a:off x="1166813" y="5695950"/>
            <a:ext cx="538163" cy="519113"/>
          </a:xfrm>
          <a:prstGeom prst="rect">
            <a:avLst/>
          </a:prstGeom>
          <a:noFill/>
          <a:ln w="9525" cap="sq">
            <a:noFill/>
            <a:miter lim="800000"/>
          </a:ln>
          <a:effectLst>
            <a:prstShdw prst="shdw17" dist="17961" dir="2700000">
              <a:schemeClr val="tx1">
                <a:gamma/>
                <a:shade val="60000"/>
                <a:invGamma/>
              </a:schemeClr>
            </a:prstShdw>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rPr>
              <a:t>d</a:t>
            </a:r>
            <a:endPar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sp>
        <p:nvSpPr>
          <p:cNvPr id="35" name="Text Box 41"/>
          <p:cNvSpPr txBox="1">
            <a:spLocks noChangeArrowheads="1"/>
          </p:cNvSpPr>
          <p:nvPr/>
        </p:nvSpPr>
        <p:spPr bwMode="auto">
          <a:xfrm>
            <a:off x="2673350" y="4643438"/>
            <a:ext cx="447675" cy="519113"/>
          </a:xfrm>
          <a:prstGeom prst="rect">
            <a:avLst/>
          </a:prstGeom>
          <a:noFill/>
          <a:ln w="9525" cap="sq">
            <a:noFill/>
            <a:miter lim="800000"/>
          </a:ln>
          <a:effectLst>
            <a:prstShdw prst="shdw17" dist="17961" dir="2700000">
              <a:schemeClr val="tx1">
                <a:gamma/>
                <a:shade val="60000"/>
                <a:invGamma/>
              </a:schemeClr>
            </a:prstShdw>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rPr>
              <a:t>e</a:t>
            </a:r>
            <a:endPar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sp>
        <p:nvSpPr>
          <p:cNvPr id="36" name="矩形 35"/>
          <p:cNvSpPr/>
          <p:nvPr/>
        </p:nvSpPr>
        <p:spPr>
          <a:xfrm>
            <a:off x="4067175" y="6092825"/>
            <a:ext cx="3878263" cy="3698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zh-CN" sz="1800" b="1" dirty="0">
                <a:solidFill>
                  <a:srgbClr val="333333"/>
                </a:solidFill>
                <a:latin typeface="楷体_GB2312" pitchFamily="49" charset="-122"/>
                <a:ea typeface="楷体_GB2312" pitchFamily="49" charset="-122"/>
              </a:rPr>
              <a:t>满足条件覆盖，但不满足判断覆盖。</a:t>
            </a:r>
            <a:endParaRPr lang="zh-CN" altLang="en-US" sz="1800" b="1" dirty="0">
              <a:solidFill>
                <a:srgbClr val="333333"/>
              </a:solidFill>
              <a:latin typeface="楷体_GB2312" pitchFamily="49" charset="-122"/>
              <a:ea typeface="楷体_GB2312" pitchFamily="49" charset="-122"/>
            </a:endParaRPr>
          </a:p>
        </p:txBody>
      </p:sp>
      <p:sp>
        <p:nvSpPr>
          <p:cNvPr id="40975"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
        <p:nvSpPr>
          <p:cNvPr id="2" name="TextBox 1"/>
          <p:cNvSpPr txBox="1"/>
          <p:nvPr/>
        </p:nvSpPr>
        <p:spPr>
          <a:xfrm>
            <a:off x="7451725" y="5157788"/>
            <a:ext cx="1198563" cy="83026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en-US" sz="2400" dirty="0">
                <a:solidFill>
                  <a:srgbClr val="333333"/>
                </a:solidFill>
                <a:latin typeface="楷体_GB2312" pitchFamily="49" charset="-122"/>
                <a:ea typeface="楷体_GB2312" pitchFamily="49" charset="-122"/>
              </a:rPr>
              <a:t>a</a:t>
            </a:r>
            <a:r>
              <a:rPr lang="en-US" altLang="zh-CN" sz="2400" dirty="0">
                <a:solidFill>
                  <a:srgbClr val="333333"/>
                </a:solidFill>
                <a:latin typeface="楷体_GB2312" pitchFamily="49" charset="-122"/>
                <a:ea typeface="楷体_GB2312" pitchFamily="49" charset="-122"/>
              </a:rPr>
              <a:t>be</a:t>
            </a:r>
            <a:endParaRPr lang="zh-CN" altLang="zh-CN" sz="2400" dirty="0">
              <a:solidFill>
                <a:srgbClr val="333333"/>
              </a:solidFill>
              <a:latin typeface="楷体_GB2312" pitchFamily="49" charset="-122"/>
              <a:ea typeface="楷体_GB2312" pitchFamily="49" charset="-122"/>
            </a:endParaRPr>
          </a:p>
          <a:p>
            <a:pPr marL="0" lvl="0" indent="0" eaLnBrk="1" hangingPunct="1">
              <a:spcBef>
                <a:spcPct val="0"/>
              </a:spcBef>
              <a:buClrTx/>
              <a:buFontTx/>
              <a:buNone/>
            </a:pPr>
            <a:r>
              <a:rPr lang="zh-CN" altLang="en-US" sz="2400" dirty="0">
                <a:solidFill>
                  <a:srgbClr val="333333"/>
                </a:solidFill>
                <a:latin typeface="楷体_GB2312" pitchFamily="49" charset="-122"/>
                <a:ea typeface="楷体_GB2312" pitchFamily="49" charset="-122"/>
              </a:rPr>
              <a:t>a</a:t>
            </a:r>
            <a:r>
              <a:rPr lang="en-US" altLang="zh-CN" sz="2400" dirty="0">
                <a:solidFill>
                  <a:srgbClr val="333333"/>
                </a:solidFill>
                <a:latin typeface="楷体_GB2312" pitchFamily="49" charset="-122"/>
                <a:ea typeface="楷体_GB2312" pitchFamily="49" charset="-122"/>
              </a:rPr>
              <a:t>be</a:t>
            </a:r>
            <a:endParaRPr lang="zh-CN" altLang="zh-CN" sz="2400" dirty="0">
              <a:solidFill>
                <a:srgbClr val="333333"/>
              </a:solidFill>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blinds(horizontal)">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blinds(horizontal)">
                                      <p:cBhvr>
                                        <p:cTn id="16"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6" grpId="0"/>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内容占位符 2"/>
          <p:cNvSpPr>
            <a:spLocks noGrp="1"/>
          </p:cNvSpPr>
          <p:nvPr>
            <p:ph idx="1"/>
          </p:nvPr>
        </p:nvSpPr>
        <p:spPr>
          <a:xfrm>
            <a:off x="428625" y="1214438"/>
            <a:ext cx="8286750" cy="5000625"/>
          </a:xfrm>
          <a:ln/>
        </p:spPr>
        <p:txBody>
          <a:bodyPr vert="horz" wrap="square" lIns="91440" tIns="45720" rIns="91440" bIns="45720" anchor="t" anchorCtr="0"/>
          <a:p>
            <a:pPr indent="0" eaLnBrk="1" hangingPunct="1">
              <a:lnSpc>
                <a:spcPct val="120000"/>
              </a:lnSpc>
              <a:buFont typeface="Wingdings" panose="05000000000000000000" pitchFamily="2" charset="2"/>
              <a:buNone/>
            </a:pPr>
            <a:r>
              <a:rPr lang="en-US" altLang="zh-CN" sz="2200" b="1" dirty="0">
                <a:latin typeface="黑体" panose="02010609060101010101" pitchFamily="49" charset="-122"/>
                <a:ea typeface="黑体" panose="02010609060101010101" pitchFamily="49" charset="-122"/>
                <a:cs typeface="+mn-cs"/>
              </a:rPr>
              <a:t>1.</a:t>
            </a:r>
            <a:r>
              <a:rPr lang="zh-CN" altLang="en-US" sz="2200" b="1" dirty="0">
                <a:latin typeface="黑体" panose="02010609060101010101" pitchFamily="49" charset="-122"/>
                <a:ea typeface="黑体" panose="02010609060101010101" pitchFamily="49" charset="-122"/>
                <a:cs typeface="+mn-cs"/>
              </a:rPr>
              <a:t>基于逻辑覆盖测试</a:t>
            </a:r>
            <a:endParaRPr lang="zh-CN" altLang="en-US" sz="2200" b="1" dirty="0">
              <a:latin typeface="黑体" panose="02010609060101010101" pitchFamily="49" charset="-122"/>
              <a:ea typeface="黑体" panose="02010609060101010101" pitchFamily="49" charset="-122"/>
              <a:cs typeface="+mn-cs"/>
            </a:endParaRPr>
          </a:p>
          <a:p>
            <a:pPr indent="0" eaLnBrk="1" hangingPunct="1">
              <a:lnSpc>
                <a:spcPct val="120000"/>
              </a:lnSpc>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a:t>
            </a:r>
            <a:r>
              <a:rPr lang="en-US" altLang="zh-CN" sz="2200" b="1" dirty="0">
                <a:latin typeface="宋体" panose="02010600030101010101" pitchFamily="2" charset="-122"/>
                <a:ea typeface="宋体" panose="02010600030101010101" pitchFamily="2" charset="-122"/>
                <a:cs typeface="+mn-cs"/>
              </a:rPr>
              <a:t>4</a:t>
            </a:r>
            <a:r>
              <a:rPr lang="zh-CN" altLang="en-US" sz="2200" b="1" dirty="0">
                <a:latin typeface="宋体" panose="02010600030101010101" pitchFamily="2" charset="-122"/>
                <a:ea typeface="宋体" panose="02010600030101010101" pitchFamily="2" charset="-122"/>
                <a:cs typeface="+mn-cs"/>
              </a:rPr>
              <a:t>）判定</a:t>
            </a:r>
            <a:r>
              <a:rPr lang="en-US" altLang="zh-CN" sz="2200" b="1" dirty="0">
                <a:latin typeface="宋体" panose="02010600030101010101" pitchFamily="2" charset="-122"/>
                <a:ea typeface="宋体" panose="02010600030101010101" pitchFamily="2" charset="-122"/>
                <a:cs typeface="+mn-cs"/>
              </a:rPr>
              <a:t>/</a:t>
            </a:r>
            <a:r>
              <a:rPr lang="zh-CN" altLang="en-US" sz="2200" b="1" dirty="0">
                <a:latin typeface="宋体" panose="02010600030101010101" pitchFamily="2" charset="-122"/>
                <a:ea typeface="宋体" panose="02010600030101010101" pitchFamily="2" charset="-122"/>
                <a:cs typeface="+mn-cs"/>
              </a:rPr>
              <a:t>条件覆盖</a:t>
            </a:r>
            <a:endParaRPr lang="en-US" altLang="zh-CN" sz="2200" b="1" dirty="0">
              <a:latin typeface="宋体" panose="02010600030101010101" pitchFamily="2" charset="-122"/>
              <a:ea typeface="宋体" panose="02010600030101010101" pitchFamily="2" charset="-122"/>
              <a:cs typeface="+mn-cs"/>
            </a:endParaRPr>
          </a:p>
          <a:p>
            <a:pPr indent="0" eaLnBrk="1" hangingPunct="1">
              <a:lnSpc>
                <a:spcPct val="120000"/>
              </a:lnSpc>
              <a:buSzPct val="80000"/>
              <a:buFont typeface="Wingdings" panose="05000000000000000000" pitchFamily="2" charset="2"/>
              <a:buChar char="l"/>
            </a:pPr>
            <a:r>
              <a:rPr lang="zh-CN" altLang="en-US" sz="2200" b="1" dirty="0">
                <a:latin typeface="宋体" panose="02010600030101010101" pitchFamily="2" charset="-122"/>
                <a:ea typeface="宋体" panose="02010600030101010101" pitchFamily="2" charset="-122"/>
                <a:cs typeface="+mn-cs"/>
              </a:rPr>
              <a:t> 同时满足判断覆盖和条件覆盖。</a:t>
            </a:r>
            <a:endParaRPr lang="zh-CN" altLang="en-US" sz="2200" b="1" dirty="0">
              <a:latin typeface="宋体" panose="02010600030101010101" pitchFamily="2" charset="-122"/>
              <a:ea typeface="宋体" panose="02010600030101010101" pitchFamily="2" charset="-122"/>
              <a:cs typeface="+mn-cs"/>
            </a:endParaRPr>
          </a:p>
          <a:p>
            <a:pPr indent="0" eaLnBrk="1" hangingPunct="1">
              <a:lnSpc>
                <a:spcPct val="120000"/>
              </a:lnSpc>
              <a:buFont typeface="Wingdings" panose="05000000000000000000" pitchFamily="2" charset="2"/>
              <a:buNone/>
            </a:pPr>
            <a:endParaRPr lang="zh-CN" altLang="en-US" sz="2200" b="1" dirty="0">
              <a:latin typeface="宋体" panose="02010600030101010101" pitchFamily="2" charset="-122"/>
              <a:ea typeface="宋体" panose="02010600030101010101" pitchFamily="2" charset="-122"/>
              <a:cs typeface="+mn-cs"/>
            </a:endParaRPr>
          </a:p>
        </p:txBody>
      </p:sp>
      <p:sp>
        <p:nvSpPr>
          <p:cNvPr id="41987" name="Rectangle 24"/>
          <p:cNvSpPr/>
          <p:nvPr/>
        </p:nvSpPr>
        <p:spPr>
          <a:xfrm>
            <a:off x="7219950" y="1733550"/>
            <a:ext cx="1066800" cy="838200"/>
          </a:xfrm>
          <a:prstGeom prst="rect">
            <a:avLst/>
          </a:prstGeom>
          <a:solidFill>
            <a:srgbClr val="CCFFFF">
              <a:alpha val="50195"/>
            </a:srgbClr>
          </a:solidFill>
          <a:ln w="9525" cap="flat" cmpd="sng">
            <a:prstDash val="solid"/>
            <a:miter/>
            <a:headEnd type="none" w="med" len="med"/>
            <a:tailEnd type="none" w="med" len="med"/>
          </a:ln>
          <a:scene3d>
            <a:camera prst="legacyPerspectiveTopRight">
              <a:rot lat="0" lon="0" rev="0"/>
            </a:camera>
            <a:lightRig rig="legacyFlat4" dir="t"/>
          </a:scene3d>
          <a:sp3d extrusionH="1801800" prstMaterial="legacyMatte">
            <a:bevelT w="13500" h="13500" prst="angle"/>
            <a:bevelB w="13500" h="13500" prst="angle"/>
            <a:extrusionClr>
              <a:srgbClr val="CCFFFF"/>
            </a:extrusionClr>
          </a:sp3d>
        </p:spPr>
        <p:txBody>
          <a:bodyPr wrap="none" anchor="ctr" anchorCtr="0">
            <a:flatTx/>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en-US" sz="1600" dirty="0">
                <a:solidFill>
                  <a:srgbClr val="333333"/>
                </a:solidFill>
                <a:ea typeface="楷体_GB2312" pitchFamily="49" charset="-122"/>
              </a:rPr>
              <a:t>逻辑结构</a:t>
            </a:r>
            <a:endParaRPr lang="zh-CN" altLang="en-US" sz="1600" dirty="0">
              <a:solidFill>
                <a:srgbClr val="333333"/>
              </a:solidFill>
              <a:ea typeface="宋体" panose="02010600030101010101" pitchFamily="2" charset="-122"/>
            </a:endParaRPr>
          </a:p>
          <a:p>
            <a:pPr marL="0" lvl="0" indent="0" eaLnBrk="1" hangingPunct="1">
              <a:spcBef>
                <a:spcPct val="0"/>
              </a:spcBef>
              <a:buClrTx/>
              <a:buFontTx/>
              <a:buNone/>
            </a:pPr>
            <a:endParaRPr lang="zh-CN" altLang="en-US" sz="1600" dirty="0">
              <a:solidFill>
                <a:srgbClr val="333333"/>
              </a:solidFill>
              <a:ea typeface="宋体" panose="02010600030101010101" pitchFamily="2" charset="-122"/>
            </a:endParaRPr>
          </a:p>
        </p:txBody>
      </p:sp>
      <p:sp>
        <p:nvSpPr>
          <p:cNvPr id="41988" name="Oval 25"/>
          <p:cNvSpPr/>
          <p:nvPr/>
        </p:nvSpPr>
        <p:spPr>
          <a:xfrm>
            <a:off x="7639050" y="2219325"/>
            <a:ext cx="228600" cy="228600"/>
          </a:xfrm>
          <a:prstGeom prst="ellipse">
            <a:avLst/>
          </a:prstGeom>
          <a:gradFill rotWithShape="0">
            <a:gsLst>
              <a:gs pos="0">
                <a:srgbClr val="FFFF99"/>
              </a:gs>
              <a:gs pos="100000">
                <a:srgbClr val="767647"/>
              </a:gs>
            </a:gsLst>
            <a:path path="shape">
              <a:fillToRect l="50000" t="50000" r="50000" b="50000"/>
            </a:path>
            <a:tileRect/>
          </a:gradFill>
          <a:ln w="9525">
            <a:noFill/>
          </a:ln>
          <a:effectLst>
            <a:prstShdw prst="shdw17" dist="17961" dir="2699999">
              <a:srgbClr val="99995C"/>
            </a:prst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grpSp>
        <p:nvGrpSpPr>
          <p:cNvPr id="41989" name="Group 60"/>
          <p:cNvGrpSpPr/>
          <p:nvPr/>
        </p:nvGrpSpPr>
        <p:grpSpPr>
          <a:xfrm>
            <a:off x="762000" y="2786063"/>
            <a:ext cx="2381250" cy="3571875"/>
            <a:chOff x="3360" y="867"/>
            <a:chExt cx="2035" cy="2643"/>
          </a:xfrm>
        </p:grpSpPr>
        <p:sp>
          <p:nvSpPr>
            <p:cNvPr id="41998" name="Line 9"/>
            <p:cNvSpPr/>
            <p:nvPr/>
          </p:nvSpPr>
          <p:spPr>
            <a:xfrm>
              <a:off x="3965" y="867"/>
              <a:ext cx="0" cy="240"/>
            </a:xfrm>
            <a:prstGeom prst="line">
              <a:avLst/>
            </a:prstGeom>
            <a:ln w="28575" cap="flat" cmpd="sng">
              <a:solidFill>
                <a:schemeClr val="tx1"/>
              </a:solidFill>
              <a:prstDash val="solid"/>
              <a:headEnd type="none" w="med" len="med"/>
              <a:tailEnd type="triangle" w="med" len="med"/>
            </a:ln>
            <a:effectLst>
              <a:outerShdw dist="17961" dir="2699999" algn="ctr" rotWithShape="0">
                <a:srgbClr val="DDDDDD"/>
              </a:outerShdw>
            </a:effectLst>
          </p:spPr>
        </p:sp>
        <p:sp>
          <p:nvSpPr>
            <p:cNvPr id="41999" name="AutoShape 10"/>
            <p:cNvSpPr/>
            <p:nvPr/>
          </p:nvSpPr>
          <p:spPr>
            <a:xfrm>
              <a:off x="3360" y="1104"/>
              <a:ext cx="1206" cy="546"/>
            </a:xfrm>
            <a:prstGeom prst="diamond">
              <a:avLst/>
            </a:prstGeom>
            <a:solidFill>
              <a:srgbClr val="FFFFCC"/>
            </a:solidFill>
            <a:ln w="9525" cap="flat" cmpd="sng">
              <a:solidFill>
                <a:srgbClr val="A50021"/>
              </a:solidFill>
              <a:prstDash val="solid"/>
              <a:miter/>
              <a:headEnd type="none" w="med" len="med"/>
              <a:tailEnd type="none" w="med" len="med"/>
            </a:ln>
            <a:effectLst>
              <a:outerShdw dist="53882" dir="2699999" algn="ctr" rotWithShape="0">
                <a:srgbClr val="A50021"/>
              </a:outer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lnSpc>
                  <a:spcPct val="80000"/>
                </a:lnSpc>
                <a:spcBef>
                  <a:spcPct val="0"/>
                </a:spcBef>
                <a:buClrTx/>
                <a:buFontTx/>
                <a:buNone/>
              </a:pPr>
              <a:r>
                <a:rPr lang="en-US" altLang="zh-CN" sz="1600" dirty="0">
                  <a:solidFill>
                    <a:srgbClr val="333333"/>
                  </a:solidFill>
                  <a:ea typeface="宋体" panose="02010600030101010101" pitchFamily="2" charset="-122"/>
                </a:rPr>
                <a:t>A&gt;1</a:t>
              </a:r>
              <a:endParaRPr lang="en-US" altLang="zh-CN" sz="1600" dirty="0">
                <a:solidFill>
                  <a:srgbClr val="333333"/>
                </a:solidFill>
                <a:ea typeface="宋体" panose="02010600030101010101" pitchFamily="2" charset="-122"/>
              </a:endParaRPr>
            </a:p>
            <a:p>
              <a:pPr marL="0" lvl="0" indent="0" eaLnBrk="1" hangingPunct="1">
                <a:lnSpc>
                  <a:spcPct val="80000"/>
                </a:lnSpc>
                <a:spcBef>
                  <a:spcPct val="0"/>
                </a:spcBef>
                <a:buClrTx/>
                <a:buFontTx/>
                <a:buNone/>
              </a:pPr>
              <a:r>
                <a:rPr lang="en-US" altLang="zh-CN" sz="1600" dirty="0">
                  <a:solidFill>
                    <a:srgbClr val="333333"/>
                  </a:solidFill>
                  <a:ea typeface="宋体" panose="02010600030101010101" pitchFamily="2" charset="-122"/>
                </a:rPr>
                <a:t>AND</a:t>
              </a:r>
              <a:endParaRPr lang="en-US" altLang="zh-CN" sz="1600" dirty="0">
                <a:solidFill>
                  <a:srgbClr val="333333"/>
                </a:solidFill>
                <a:ea typeface="宋体" panose="02010600030101010101" pitchFamily="2" charset="-122"/>
              </a:endParaRPr>
            </a:p>
            <a:p>
              <a:pPr marL="0" lvl="0" indent="0" eaLnBrk="1" hangingPunct="1">
                <a:lnSpc>
                  <a:spcPct val="80000"/>
                </a:lnSpc>
                <a:spcBef>
                  <a:spcPct val="0"/>
                </a:spcBef>
                <a:buClrTx/>
                <a:buFontTx/>
                <a:buNone/>
              </a:pPr>
              <a:r>
                <a:rPr lang="en-US" altLang="zh-CN" sz="1600" dirty="0">
                  <a:solidFill>
                    <a:srgbClr val="333333"/>
                  </a:solidFill>
                  <a:ea typeface="宋体" panose="02010600030101010101" pitchFamily="2" charset="-122"/>
                </a:rPr>
                <a:t>B=0</a:t>
              </a:r>
              <a:endParaRPr lang="en-US" altLang="zh-CN" sz="1600" dirty="0">
                <a:solidFill>
                  <a:srgbClr val="333333"/>
                </a:solidFill>
                <a:ea typeface="宋体" panose="02010600030101010101" pitchFamily="2" charset="-122"/>
              </a:endParaRPr>
            </a:p>
          </p:txBody>
        </p:sp>
        <p:sp>
          <p:nvSpPr>
            <p:cNvPr id="42000" name="Line 11"/>
            <p:cNvSpPr/>
            <p:nvPr/>
          </p:nvSpPr>
          <p:spPr>
            <a:xfrm>
              <a:off x="4590" y="1389"/>
              <a:ext cx="391" cy="0"/>
            </a:xfrm>
            <a:prstGeom prst="line">
              <a:avLst/>
            </a:prstGeom>
            <a:ln w="28575" cap="flat" cmpd="sng">
              <a:solidFill>
                <a:schemeClr val="tx1"/>
              </a:solidFill>
              <a:prstDash val="solid"/>
              <a:headEnd type="none" w="med" len="med"/>
              <a:tailEnd type="none" w="med" len="med"/>
            </a:ln>
            <a:effectLst>
              <a:outerShdw dist="35921" dir="2699999" algn="ctr" rotWithShape="0">
                <a:srgbClr val="DDDDDD"/>
              </a:outerShdw>
            </a:effectLst>
          </p:spPr>
        </p:sp>
        <p:sp>
          <p:nvSpPr>
            <p:cNvPr id="42001" name="Rectangle 13"/>
            <p:cNvSpPr/>
            <p:nvPr/>
          </p:nvSpPr>
          <p:spPr>
            <a:xfrm>
              <a:off x="4633" y="1641"/>
              <a:ext cx="719" cy="233"/>
            </a:xfrm>
            <a:prstGeom prst="rect">
              <a:avLst/>
            </a:prstGeom>
            <a:solidFill>
              <a:srgbClr val="FFFFCC"/>
            </a:solidFill>
            <a:ln w="9525" cap="flat" cmpd="sng">
              <a:solidFill>
                <a:srgbClr val="A50021"/>
              </a:solidFill>
              <a:prstDash val="solid"/>
              <a:miter/>
              <a:headEnd type="none" w="med" len="med"/>
              <a:tailEnd type="none" w="med" len="med"/>
            </a:ln>
            <a:effectLst>
              <a:outerShdw dist="53882" dir="2699999" algn="ctr" rotWithShape="0">
                <a:srgbClr val="A50021"/>
              </a:outer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1600" dirty="0">
                  <a:solidFill>
                    <a:srgbClr val="333333"/>
                  </a:solidFill>
                  <a:ea typeface="宋体" panose="02010600030101010101" pitchFamily="2" charset="-122"/>
                </a:rPr>
                <a:t>X:=X/A</a:t>
              </a:r>
              <a:endParaRPr lang="en-US" altLang="zh-CN" sz="1600" dirty="0">
                <a:solidFill>
                  <a:srgbClr val="333333"/>
                </a:solidFill>
                <a:ea typeface="宋体" panose="02010600030101010101" pitchFamily="2" charset="-122"/>
              </a:endParaRPr>
            </a:p>
          </p:txBody>
        </p:sp>
        <p:sp>
          <p:nvSpPr>
            <p:cNvPr id="10" name="Line 28"/>
            <p:cNvSpPr>
              <a:spLocks noChangeShapeType="1"/>
            </p:cNvSpPr>
            <p:nvPr/>
          </p:nvSpPr>
          <p:spPr bwMode="auto">
            <a:xfrm>
              <a:off x="4992" y="1929"/>
              <a:ext cx="0" cy="141"/>
            </a:xfrm>
            <a:prstGeom prst="line">
              <a:avLst/>
            </a:prstGeom>
            <a:noFill/>
            <a:ln w="28575" cap="sq">
              <a:solidFill>
                <a:schemeClr val="tx1"/>
              </a:solidFill>
              <a:round/>
              <a:tailEnd type="triangle" w="med" len="me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11" name="Line 30"/>
            <p:cNvSpPr>
              <a:spLocks noChangeShapeType="1"/>
            </p:cNvSpPr>
            <p:nvPr/>
          </p:nvSpPr>
          <p:spPr bwMode="auto">
            <a:xfrm flipH="1">
              <a:off x="3994" y="1674"/>
              <a:ext cx="0" cy="561"/>
            </a:xfrm>
            <a:prstGeom prst="line">
              <a:avLst/>
            </a:prstGeom>
            <a:noFill/>
            <a:ln w="28575" cap="sq">
              <a:solidFill>
                <a:schemeClr val="tx1"/>
              </a:solidFill>
              <a:round/>
              <a:tailEnd type="triangle" w="med" len="me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12" name="Line 31"/>
            <p:cNvSpPr>
              <a:spLocks noChangeShapeType="1"/>
            </p:cNvSpPr>
            <p:nvPr/>
          </p:nvSpPr>
          <p:spPr bwMode="auto">
            <a:xfrm flipV="1">
              <a:off x="4008" y="2044"/>
              <a:ext cx="1011" cy="1"/>
            </a:xfrm>
            <a:prstGeom prst="line">
              <a:avLst/>
            </a:prstGeom>
            <a:noFill/>
            <a:ln w="28575" cap="sq">
              <a:solidFill>
                <a:schemeClr val="tx1"/>
              </a:solidFill>
              <a:roun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13" name="Line 44"/>
            <p:cNvSpPr>
              <a:spLocks noChangeShapeType="1"/>
            </p:cNvSpPr>
            <p:nvPr/>
          </p:nvSpPr>
          <p:spPr bwMode="auto">
            <a:xfrm>
              <a:off x="4983" y="1405"/>
              <a:ext cx="0" cy="243"/>
            </a:xfrm>
            <a:prstGeom prst="line">
              <a:avLst/>
            </a:prstGeom>
            <a:noFill/>
            <a:ln w="9525" cap="sq">
              <a:solidFill>
                <a:schemeClr val="tx1"/>
              </a:solidFill>
              <a:round/>
              <a:tailEnd type="triangle" w="med" len="me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42006" name="AutoShape 45"/>
            <p:cNvSpPr/>
            <p:nvPr/>
          </p:nvSpPr>
          <p:spPr>
            <a:xfrm>
              <a:off x="3405" y="2237"/>
              <a:ext cx="1206" cy="547"/>
            </a:xfrm>
            <a:prstGeom prst="diamond">
              <a:avLst/>
            </a:prstGeom>
            <a:solidFill>
              <a:srgbClr val="FFFFCC"/>
            </a:solidFill>
            <a:ln w="9525" cap="flat" cmpd="sng">
              <a:solidFill>
                <a:srgbClr val="A50021"/>
              </a:solidFill>
              <a:prstDash val="solid"/>
              <a:miter/>
              <a:headEnd type="none" w="med" len="med"/>
              <a:tailEnd type="none" w="med" len="med"/>
            </a:ln>
            <a:effectLst>
              <a:outerShdw dist="53882" dir="2699999" algn="ctr" rotWithShape="0">
                <a:srgbClr val="A50021"/>
              </a:outer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lnSpc>
                  <a:spcPct val="80000"/>
                </a:lnSpc>
                <a:spcBef>
                  <a:spcPct val="0"/>
                </a:spcBef>
                <a:buClrTx/>
                <a:buFontTx/>
                <a:buNone/>
              </a:pPr>
              <a:r>
                <a:rPr lang="en-US" altLang="zh-CN" sz="1600" dirty="0">
                  <a:solidFill>
                    <a:srgbClr val="333333"/>
                  </a:solidFill>
                  <a:ea typeface="宋体" panose="02010600030101010101" pitchFamily="2" charset="-122"/>
                </a:rPr>
                <a:t>A=2</a:t>
              </a:r>
              <a:endParaRPr lang="en-US" altLang="zh-CN" sz="1600" dirty="0">
                <a:solidFill>
                  <a:srgbClr val="333333"/>
                </a:solidFill>
                <a:ea typeface="宋体" panose="02010600030101010101" pitchFamily="2" charset="-122"/>
              </a:endParaRPr>
            </a:p>
            <a:p>
              <a:pPr marL="0" lvl="0" indent="0" eaLnBrk="1" hangingPunct="1">
                <a:lnSpc>
                  <a:spcPct val="80000"/>
                </a:lnSpc>
                <a:spcBef>
                  <a:spcPct val="0"/>
                </a:spcBef>
                <a:buClrTx/>
                <a:buFontTx/>
                <a:buNone/>
              </a:pPr>
              <a:r>
                <a:rPr lang="en-US" altLang="zh-CN" sz="1600" dirty="0">
                  <a:solidFill>
                    <a:srgbClr val="333333"/>
                  </a:solidFill>
                  <a:ea typeface="宋体" panose="02010600030101010101" pitchFamily="2" charset="-122"/>
                </a:rPr>
                <a:t>OR </a:t>
              </a:r>
              <a:endParaRPr lang="en-US" altLang="zh-CN" sz="1600" dirty="0">
                <a:solidFill>
                  <a:srgbClr val="333333"/>
                </a:solidFill>
                <a:ea typeface="宋体" panose="02010600030101010101" pitchFamily="2" charset="-122"/>
              </a:endParaRPr>
            </a:p>
            <a:p>
              <a:pPr marL="0" lvl="0" indent="0" eaLnBrk="1" hangingPunct="1">
                <a:lnSpc>
                  <a:spcPct val="80000"/>
                </a:lnSpc>
                <a:spcBef>
                  <a:spcPct val="0"/>
                </a:spcBef>
                <a:buClrTx/>
                <a:buFontTx/>
                <a:buNone/>
              </a:pPr>
              <a:r>
                <a:rPr lang="en-US" altLang="zh-CN" sz="1600" dirty="0">
                  <a:solidFill>
                    <a:srgbClr val="333333"/>
                  </a:solidFill>
                  <a:ea typeface="宋体" panose="02010600030101010101" pitchFamily="2" charset="-122"/>
                </a:rPr>
                <a:t>X&gt;1</a:t>
              </a:r>
              <a:endParaRPr lang="en-US" altLang="zh-CN" sz="1600" dirty="0">
                <a:solidFill>
                  <a:srgbClr val="333333"/>
                </a:solidFill>
                <a:ea typeface="宋体" panose="02010600030101010101" pitchFamily="2" charset="-122"/>
              </a:endParaRPr>
            </a:p>
          </p:txBody>
        </p:sp>
        <p:sp>
          <p:nvSpPr>
            <p:cNvPr id="42007" name="Line 46"/>
            <p:cNvSpPr/>
            <p:nvPr/>
          </p:nvSpPr>
          <p:spPr>
            <a:xfrm>
              <a:off x="4635" y="2522"/>
              <a:ext cx="391" cy="0"/>
            </a:xfrm>
            <a:prstGeom prst="line">
              <a:avLst/>
            </a:prstGeom>
            <a:ln w="28575" cap="flat" cmpd="sng">
              <a:solidFill>
                <a:schemeClr val="tx1"/>
              </a:solidFill>
              <a:prstDash val="solid"/>
              <a:headEnd type="none" w="med" len="med"/>
              <a:tailEnd type="none" w="med" len="med"/>
            </a:ln>
            <a:effectLst>
              <a:outerShdw dist="35921" dir="2699999" algn="ctr" rotWithShape="0">
                <a:srgbClr val="DDDDDD"/>
              </a:outerShdw>
            </a:effectLst>
          </p:spPr>
        </p:sp>
        <p:sp>
          <p:nvSpPr>
            <p:cNvPr id="42008" name="Rectangle 47"/>
            <p:cNvSpPr/>
            <p:nvPr/>
          </p:nvSpPr>
          <p:spPr>
            <a:xfrm>
              <a:off x="4677" y="2773"/>
              <a:ext cx="718" cy="234"/>
            </a:xfrm>
            <a:prstGeom prst="rect">
              <a:avLst/>
            </a:prstGeom>
            <a:solidFill>
              <a:srgbClr val="FFFFCC"/>
            </a:solidFill>
            <a:ln w="9525" cap="flat" cmpd="sng">
              <a:solidFill>
                <a:srgbClr val="A50021"/>
              </a:solidFill>
              <a:prstDash val="solid"/>
              <a:miter/>
              <a:headEnd type="none" w="med" len="med"/>
              <a:tailEnd type="none" w="med" len="med"/>
            </a:ln>
            <a:effectLst>
              <a:outerShdw dist="53882" dir="2699999" algn="ctr" rotWithShape="0">
                <a:srgbClr val="A50021"/>
              </a:outer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1600" dirty="0">
                  <a:solidFill>
                    <a:srgbClr val="333333"/>
                  </a:solidFill>
                  <a:ea typeface="宋体" panose="02010600030101010101" pitchFamily="2" charset="-122"/>
                </a:rPr>
                <a:t>X:=X+1</a:t>
              </a:r>
              <a:endParaRPr lang="en-US" altLang="zh-CN" sz="1600" dirty="0">
                <a:solidFill>
                  <a:srgbClr val="333333"/>
                </a:solidFill>
                <a:ea typeface="宋体" panose="02010600030101010101" pitchFamily="2" charset="-122"/>
              </a:endParaRPr>
            </a:p>
          </p:txBody>
        </p:sp>
        <p:sp>
          <p:nvSpPr>
            <p:cNvPr id="17" name="Line 48"/>
            <p:cNvSpPr>
              <a:spLocks noChangeShapeType="1"/>
            </p:cNvSpPr>
            <p:nvPr/>
          </p:nvSpPr>
          <p:spPr bwMode="auto">
            <a:xfrm>
              <a:off x="5037" y="3062"/>
              <a:ext cx="0" cy="141"/>
            </a:xfrm>
            <a:prstGeom prst="line">
              <a:avLst/>
            </a:prstGeom>
            <a:noFill/>
            <a:ln w="28575" cap="sq">
              <a:solidFill>
                <a:schemeClr val="tx1"/>
              </a:solidFill>
              <a:round/>
              <a:tailEnd type="triangle" w="med" len="me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18" name="Line 50"/>
            <p:cNvSpPr>
              <a:spLocks noChangeShapeType="1"/>
            </p:cNvSpPr>
            <p:nvPr/>
          </p:nvSpPr>
          <p:spPr bwMode="auto">
            <a:xfrm>
              <a:off x="4026" y="2833"/>
              <a:ext cx="0" cy="677"/>
            </a:xfrm>
            <a:prstGeom prst="line">
              <a:avLst/>
            </a:prstGeom>
            <a:noFill/>
            <a:ln w="28575" cap="sq">
              <a:solidFill>
                <a:schemeClr val="tx1"/>
              </a:solidFill>
              <a:round/>
              <a:tailEnd type="triangle" w="med" len="me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19" name="Line 51"/>
            <p:cNvSpPr>
              <a:spLocks noChangeShapeType="1"/>
            </p:cNvSpPr>
            <p:nvPr/>
          </p:nvSpPr>
          <p:spPr bwMode="auto">
            <a:xfrm flipV="1">
              <a:off x="4027" y="3190"/>
              <a:ext cx="1035" cy="0"/>
            </a:xfrm>
            <a:prstGeom prst="line">
              <a:avLst/>
            </a:prstGeom>
            <a:noFill/>
            <a:ln w="28575" cap="sq">
              <a:solidFill>
                <a:schemeClr val="tx1"/>
              </a:solidFill>
              <a:roun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20" name="Line 53"/>
            <p:cNvSpPr>
              <a:spLocks noChangeShapeType="1"/>
            </p:cNvSpPr>
            <p:nvPr/>
          </p:nvSpPr>
          <p:spPr bwMode="auto">
            <a:xfrm>
              <a:off x="5015" y="2539"/>
              <a:ext cx="0" cy="242"/>
            </a:xfrm>
            <a:prstGeom prst="line">
              <a:avLst/>
            </a:prstGeom>
            <a:noFill/>
            <a:ln w="9525" cap="sq">
              <a:solidFill>
                <a:schemeClr val="tx1"/>
              </a:solidFill>
              <a:round/>
              <a:tailEnd type="triangle" w="med" len="me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21" name="Text Box 54"/>
            <p:cNvSpPr txBox="1">
              <a:spLocks noChangeArrowheads="1"/>
            </p:cNvSpPr>
            <p:nvPr/>
          </p:nvSpPr>
          <p:spPr bwMode="auto">
            <a:xfrm>
              <a:off x="4538" y="1041"/>
              <a:ext cx="285" cy="251"/>
            </a:xfrm>
            <a:prstGeom prst="rect">
              <a:avLst/>
            </a:prstGeom>
            <a:noFill/>
            <a:ln w="9525" cap="sq">
              <a:noFill/>
              <a:miter lim="800000"/>
            </a:ln>
            <a:effectLst>
              <a:prstShdw prst="shdw17" dist="17961" dir="2700000">
                <a:schemeClr val="tx1">
                  <a:gamma/>
                  <a:shade val="60000"/>
                  <a:invGamma/>
                </a:schemeClr>
              </a:prstShdw>
            </a:effectLst>
          </p:spPr>
          <p:txBody>
            <a:bodyPr wrap="none" anchor="ct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rPr>
                <a:t>Y</a:t>
              </a:r>
              <a:endPar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22" name="Text Box 55"/>
            <p:cNvSpPr txBox="1">
              <a:spLocks noChangeArrowheads="1"/>
            </p:cNvSpPr>
            <p:nvPr/>
          </p:nvSpPr>
          <p:spPr bwMode="auto">
            <a:xfrm>
              <a:off x="3985" y="1641"/>
              <a:ext cx="285" cy="251"/>
            </a:xfrm>
            <a:prstGeom prst="rect">
              <a:avLst/>
            </a:prstGeom>
            <a:noFill/>
            <a:ln w="9525" cap="sq">
              <a:noFill/>
              <a:miter lim="800000"/>
            </a:ln>
            <a:effectLst>
              <a:prstShdw prst="shdw17" dist="17961" dir="2700000">
                <a:schemeClr val="tx1">
                  <a:gamma/>
                  <a:shade val="60000"/>
                  <a:invGamma/>
                </a:schemeClr>
              </a:prstShdw>
            </a:effectLst>
          </p:spPr>
          <p:txBody>
            <a:bodyPr wrap="none" anchor="ct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rPr>
                <a:t>N</a:t>
              </a:r>
              <a:endPar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23" name="Text Box 56"/>
            <p:cNvSpPr txBox="1">
              <a:spLocks noChangeArrowheads="1"/>
            </p:cNvSpPr>
            <p:nvPr/>
          </p:nvSpPr>
          <p:spPr bwMode="auto">
            <a:xfrm>
              <a:off x="4490" y="2241"/>
              <a:ext cx="284" cy="250"/>
            </a:xfrm>
            <a:prstGeom prst="rect">
              <a:avLst/>
            </a:prstGeom>
            <a:noFill/>
            <a:ln w="9525" cap="sq">
              <a:noFill/>
              <a:miter lim="800000"/>
            </a:ln>
            <a:effectLst>
              <a:prstShdw prst="shdw17" dist="17961" dir="2700000">
                <a:schemeClr val="tx1">
                  <a:gamma/>
                  <a:shade val="60000"/>
                  <a:invGamma/>
                </a:schemeClr>
              </a:prstShdw>
            </a:effectLst>
          </p:spPr>
          <p:txBody>
            <a:bodyPr wrap="none" anchor="ct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rPr>
                <a:t>Y</a:t>
              </a:r>
              <a:endPar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24" name="Text Box 57"/>
            <p:cNvSpPr txBox="1">
              <a:spLocks noChangeArrowheads="1"/>
            </p:cNvSpPr>
            <p:nvPr/>
          </p:nvSpPr>
          <p:spPr bwMode="auto">
            <a:xfrm>
              <a:off x="4010" y="2817"/>
              <a:ext cx="284" cy="251"/>
            </a:xfrm>
            <a:prstGeom prst="rect">
              <a:avLst/>
            </a:prstGeom>
            <a:noFill/>
            <a:ln w="9525" cap="sq">
              <a:noFill/>
              <a:miter lim="800000"/>
            </a:ln>
            <a:effectLst>
              <a:prstShdw prst="shdw17" dist="17961" dir="2700000">
                <a:schemeClr val="tx1">
                  <a:gamma/>
                  <a:shade val="60000"/>
                  <a:invGamma/>
                </a:schemeClr>
              </a:prstShdw>
            </a:effectLst>
          </p:spPr>
          <p:txBody>
            <a:bodyPr wrap="none" anchor="ct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rPr>
                <a:t>N</a:t>
              </a:r>
              <a:endPar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grpSp>
      <p:sp>
        <p:nvSpPr>
          <p:cNvPr id="25" name="Text Box 42"/>
          <p:cNvSpPr txBox="1">
            <a:spLocks noChangeArrowheads="1"/>
          </p:cNvSpPr>
          <p:nvPr/>
        </p:nvSpPr>
        <p:spPr bwMode="auto">
          <a:xfrm>
            <a:off x="4143375" y="2884488"/>
            <a:ext cx="4716463" cy="1938338"/>
          </a:xfrm>
          <a:prstGeom prst="rect">
            <a:avLst/>
          </a:prstGeom>
          <a:noFill/>
          <a:ln w="9525" cap="sq">
            <a:noFill/>
            <a:miter lim="800000"/>
          </a:ln>
          <a:effectLst>
            <a:prstShdw prst="shdw17" dist="17961" dir="2700000">
              <a:schemeClr val="tx1">
                <a:gamma/>
                <a:shade val="60000"/>
                <a:invGamma/>
              </a:schemeClr>
            </a:prstShdw>
          </a:effectLst>
        </p:spPr>
        <p:txBody>
          <a:bodyPr anchor="ctr">
            <a:spAutoFit/>
          </a:bodyPr>
          <a:lstStyle/>
          <a:p>
            <a:pPr marR="0" defTabSz="914400" eaLnBrk="1" hangingPunct="1">
              <a:buClrTx/>
              <a:buSzTx/>
              <a:buFontTx/>
              <a:buNone/>
              <a:defRPr/>
            </a:pPr>
            <a:r>
              <a:rPr kumimoji="0" lang="zh-CN" altLang="en-US" sz="2400" kern="1200" cap="none" spc="0" normalizeH="0" baseline="0" noProof="0" dirty="0">
                <a:solidFill>
                  <a:srgbClr val="333333"/>
                </a:solidFill>
                <a:latin typeface="楷体_GB2312" pitchFamily="49" charset="-122"/>
                <a:ea typeface="楷体_GB2312" pitchFamily="49" charset="-122"/>
                <a:cs typeface="+mn-cs"/>
              </a:rPr>
              <a:t>应满足以下覆盖情况：</a:t>
            </a:r>
            <a:endParaRPr kumimoji="0" lang="zh-CN" altLang="en-US" sz="2400" kern="1200" cap="none" spc="0" normalizeH="0" baseline="0" noProof="0" dirty="0">
              <a:solidFill>
                <a:srgbClr val="333333"/>
              </a:solidFill>
              <a:latin typeface="楷体_GB2312" pitchFamily="49" charset="-122"/>
              <a:ea typeface="楷体_GB2312" pitchFamily="49" charset="-122"/>
              <a:cs typeface="+mn-cs"/>
            </a:endParaRPr>
          </a:p>
          <a:p>
            <a:pPr marR="0" defTabSz="914400" eaLnBrk="1" hangingPunct="1">
              <a:buClrTx/>
              <a:buSzTx/>
              <a:buFontTx/>
              <a:buNone/>
              <a:defRPr/>
            </a:pPr>
            <a:r>
              <a:rPr kumimoji="0" lang="zh-CN" altLang="en-US" sz="2400" kern="1200" cap="none" spc="0" normalizeH="0" baseline="0" noProof="0" dirty="0">
                <a:solidFill>
                  <a:srgbClr val="333333"/>
                </a:solidFill>
                <a:latin typeface="楷体_GB2312" pitchFamily="49" charset="-122"/>
                <a:ea typeface="楷体_GB2312" pitchFamily="49" charset="-122"/>
                <a:cs typeface="+mn-cs"/>
              </a:rPr>
              <a:t>条件</a:t>
            </a:r>
            <a:r>
              <a:rPr kumimoji="0" lang="en-US" altLang="zh-CN" sz="2400" kern="1200" cap="none" spc="0" normalizeH="0" baseline="0" noProof="0" dirty="0">
                <a:solidFill>
                  <a:srgbClr val="333333"/>
                </a:solidFill>
                <a:latin typeface="楷体_GB2312" pitchFamily="49" charset="-122"/>
                <a:ea typeface="楷体_GB2312" pitchFamily="49" charset="-122"/>
                <a:cs typeface="+mn-cs"/>
              </a:rPr>
              <a:t>: A&gt;1, A≤1, B=0, B≠0</a:t>
            </a:r>
            <a:endParaRPr kumimoji="0" lang="en-US" altLang="zh-CN" sz="2400" kern="1200" cap="none" spc="0" normalizeH="0" baseline="0" noProof="0" dirty="0">
              <a:solidFill>
                <a:srgbClr val="333333"/>
              </a:solidFill>
              <a:latin typeface="楷体_GB2312" pitchFamily="49" charset="-122"/>
              <a:ea typeface="楷体_GB2312" pitchFamily="49" charset="-122"/>
              <a:cs typeface="+mn-cs"/>
            </a:endParaRPr>
          </a:p>
          <a:p>
            <a:pPr marR="0" defTabSz="914400" eaLnBrk="1" hangingPunct="1">
              <a:buClrTx/>
              <a:buSzTx/>
              <a:buFontTx/>
              <a:buNone/>
              <a:defRPr/>
            </a:pPr>
            <a:r>
              <a:rPr kumimoji="0" lang="en-US" altLang="zh-CN" sz="2400" kern="1200" cap="none" spc="0" normalizeH="0" baseline="0" noProof="0" dirty="0">
                <a:solidFill>
                  <a:srgbClr val="333333"/>
                </a:solidFill>
                <a:latin typeface="楷体_GB2312" pitchFamily="49" charset="-122"/>
                <a:ea typeface="楷体_GB2312" pitchFamily="49" charset="-122"/>
                <a:cs typeface="+mn-cs"/>
              </a:rPr>
              <a:t>	A=2, A≠2, X&gt;1, X≤1</a:t>
            </a:r>
            <a:endParaRPr kumimoji="0" lang="en-US" altLang="zh-CN" sz="2400" kern="1200" cap="none" spc="0" normalizeH="0" baseline="0" noProof="0" dirty="0">
              <a:solidFill>
                <a:srgbClr val="333333"/>
              </a:solidFill>
              <a:latin typeface="楷体_GB2312" pitchFamily="49" charset="-122"/>
              <a:ea typeface="楷体_GB2312" pitchFamily="49" charset="-122"/>
              <a:cs typeface="+mn-cs"/>
            </a:endParaRPr>
          </a:p>
          <a:p>
            <a:pPr marR="0" defTabSz="914400" eaLnBrk="1" hangingPunct="1">
              <a:buClrTx/>
              <a:buSzTx/>
              <a:buFontTx/>
              <a:buNone/>
              <a:defRPr/>
            </a:pPr>
            <a:r>
              <a:rPr kumimoji="0" lang="zh-CN" altLang="en-US" sz="2400" kern="1200" cap="none" spc="0" normalizeH="0" baseline="0" noProof="0" dirty="0">
                <a:solidFill>
                  <a:srgbClr val="333333"/>
                </a:solidFill>
                <a:latin typeface="楷体_GB2312" pitchFamily="49" charset="-122"/>
                <a:ea typeface="楷体_GB2312" pitchFamily="49" charset="-122"/>
                <a:cs typeface="+mn-cs"/>
              </a:rPr>
              <a:t>应执行路径：</a:t>
            </a:r>
            <a:endParaRPr kumimoji="0" lang="zh-CN" altLang="en-US" sz="2400" kern="1200" cap="none" spc="0" normalizeH="0" baseline="0" noProof="0" dirty="0">
              <a:solidFill>
                <a:srgbClr val="333333"/>
              </a:solidFill>
              <a:latin typeface="楷体_GB2312" pitchFamily="49" charset="-122"/>
              <a:ea typeface="楷体_GB2312" pitchFamily="49" charset="-122"/>
              <a:cs typeface="+mn-cs"/>
            </a:endParaRPr>
          </a:p>
          <a:p>
            <a:pPr marR="0" defTabSz="914400" eaLnBrk="1" hangingPunct="1">
              <a:buClrTx/>
              <a:buSzTx/>
              <a:buFontTx/>
              <a:buNone/>
              <a:defRPr/>
            </a:pPr>
            <a:r>
              <a:rPr kumimoji="0" lang="en-US" altLang="zh-CN" sz="2400" kern="1200" cap="none" spc="0" normalizeH="0" baseline="0" noProof="0" dirty="0">
                <a:solidFill>
                  <a:srgbClr val="333333"/>
                </a:solidFill>
                <a:latin typeface="楷体_GB2312" pitchFamily="49" charset="-122"/>
                <a:ea typeface="楷体_GB2312" pitchFamily="49" charset="-122"/>
                <a:cs typeface="+mn-cs"/>
              </a:rPr>
              <a:t>ace ∧ </a:t>
            </a:r>
            <a:r>
              <a:rPr kumimoji="0" lang="en-US" altLang="zh-CN" sz="2400" kern="1200" cap="none" spc="0" normalizeH="0" baseline="0" noProof="0" dirty="0" err="1">
                <a:solidFill>
                  <a:srgbClr val="333333"/>
                </a:solidFill>
                <a:latin typeface="楷体_GB2312" pitchFamily="49" charset="-122"/>
                <a:ea typeface="楷体_GB2312" pitchFamily="49" charset="-122"/>
                <a:cs typeface="+mn-cs"/>
              </a:rPr>
              <a:t>abd</a:t>
            </a:r>
            <a:r>
              <a:rPr kumimoji="0" lang="en-US" altLang="zh-CN" sz="2400" kern="1200" cap="none" spc="0" normalizeH="0" baseline="0" noProof="0" dirty="0">
                <a:solidFill>
                  <a:srgbClr val="333333"/>
                </a:solidFill>
                <a:latin typeface="楷体_GB2312" pitchFamily="49" charset="-122"/>
                <a:ea typeface="楷体_GB2312" pitchFamily="49" charset="-122"/>
                <a:cs typeface="+mn-cs"/>
              </a:rPr>
              <a:t>	</a:t>
            </a:r>
            <a:r>
              <a:rPr kumimoji="0" lang="zh-CN" altLang="en-US" sz="2400" kern="1200" cap="none" spc="0" normalizeH="0" baseline="0" noProof="0" dirty="0">
                <a:solidFill>
                  <a:srgbClr val="333333"/>
                </a:solidFill>
                <a:latin typeface="楷体_GB2312" pitchFamily="49" charset="-122"/>
                <a:ea typeface="楷体_GB2312" pitchFamily="49" charset="-122"/>
                <a:cs typeface="+mn-cs"/>
              </a:rPr>
              <a:t>或： </a:t>
            </a:r>
            <a:r>
              <a:rPr kumimoji="0" lang="en-US" altLang="zh-CN" sz="2400" kern="1200" cap="none" spc="0" normalizeH="0" baseline="0" noProof="0" dirty="0" err="1">
                <a:solidFill>
                  <a:srgbClr val="333333"/>
                </a:solidFill>
                <a:latin typeface="楷体_GB2312" pitchFamily="49" charset="-122"/>
                <a:ea typeface="楷体_GB2312" pitchFamily="49" charset="-122"/>
                <a:cs typeface="+mn-cs"/>
              </a:rPr>
              <a:t>acd</a:t>
            </a:r>
            <a:r>
              <a:rPr kumimoji="0" lang="en-US" altLang="zh-CN" sz="2400" kern="1200" cap="none" spc="0" normalizeH="0" baseline="0" noProof="0" dirty="0">
                <a:solidFill>
                  <a:srgbClr val="333333"/>
                </a:solidFill>
                <a:latin typeface="楷体_GB2312" pitchFamily="49" charset="-122"/>
                <a:ea typeface="楷体_GB2312" pitchFamily="49" charset="-122"/>
                <a:cs typeface="+mn-cs"/>
              </a:rPr>
              <a:t> ∧ </a:t>
            </a:r>
            <a:r>
              <a:rPr kumimoji="0" lang="en-US" altLang="zh-CN" sz="2400" kern="1200" cap="none" spc="0" normalizeH="0" baseline="0" noProof="0" dirty="0" err="1">
                <a:solidFill>
                  <a:srgbClr val="333333"/>
                </a:solidFill>
                <a:latin typeface="楷体_GB2312" pitchFamily="49" charset="-122"/>
                <a:ea typeface="楷体_GB2312" pitchFamily="49" charset="-122"/>
                <a:cs typeface="+mn-cs"/>
              </a:rPr>
              <a:t>abe</a:t>
            </a:r>
            <a:endParaRPr kumimoji="0" lang="en-US" altLang="zh-CN" sz="2400" kern="1200" cap="none" spc="0" normalizeH="0" baseline="0" noProof="0" dirty="0">
              <a:solidFill>
                <a:srgbClr val="333333"/>
              </a:solidFill>
              <a:latin typeface="楷体_GB2312" pitchFamily="49" charset="-122"/>
              <a:ea typeface="楷体_GB2312" pitchFamily="49" charset="-122"/>
              <a:cs typeface="+mn-cs"/>
            </a:endParaRPr>
          </a:p>
        </p:txBody>
      </p:sp>
      <p:sp>
        <p:nvSpPr>
          <p:cNvPr id="27" name="Text Box 44"/>
          <p:cNvSpPr txBox="1">
            <a:spLocks noChangeArrowheads="1"/>
          </p:cNvSpPr>
          <p:nvPr/>
        </p:nvSpPr>
        <p:spPr bwMode="auto">
          <a:xfrm>
            <a:off x="4038600" y="4919663"/>
            <a:ext cx="5105400" cy="1200150"/>
          </a:xfrm>
          <a:prstGeom prst="rect">
            <a:avLst/>
          </a:prstGeom>
          <a:noFill/>
          <a:ln w="9525" cap="sq">
            <a:noFill/>
            <a:miter lim="800000"/>
          </a:ln>
          <a:effectLst>
            <a:prstShdw prst="shdw17" dist="17961" dir="2700000">
              <a:schemeClr val="tx1">
                <a:gamma/>
                <a:shade val="60000"/>
                <a:invGamma/>
              </a:schemeClr>
            </a:prstShdw>
          </a:effectLst>
        </p:spPr>
        <p:txBody>
          <a:bodyPr anchor="ctr">
            <a:spAutoFit/>
          </a:bodyPr>
          <a:lstStyle/>
          <a:p>
            <a:pPr marR="0" defTabSz="914400" eaLnBrk="1" hangingPunct="1">
              <a:buClrTx/>
              <a:buSzTx/>
              <a:buFontTx/>
              <a:buNone/>
              <a:defRPr/>
            </a:pPr>
            <a:r>
              <a:rPr kumimoji="0" lang="zh-CN" altLang="en-US" sz="2400" kern="1200" cap="none" spc="0" normalizeH="0" baseline="0" noProof="0" dirty="0">
                <a:solidFill>
                  <a:srgbClr val="333333"/>
                </a:solidFill>
                <a:latin typeface="楷体_GB2312" pitchFamily="49" charset="-122"/>
                <a:ea typeface="楷体_GB2312" pitchFamily="49" charset="-122"/>
                <a:cs typeface="+mn-cs"/>
              </a:rPr>
              <a:t>选择用例：</a:t>
            </a:r>
            <a:endParaRPr kumimoji="0" lang="zh-CN" altLang="en-US" sz="2400" kern="1200" cap="none" spc="0" normalizeH="0" baseline="0" noProof="0" dirty="0">
              <a:solidFill>
                <a:srgbClr val="333333"/>
              </a:solidFill>
              <a:latin typeface="楷体_GB2312" pitchFamily="49" charset="-122"/>
              <a:ea typeface="楷体_GB2312" pitchFamily="49" charset="-122"/>
              <a:cs typeface="+mn-cs"/>
            </a:endParaRPr>
          </a:p>
          <a:p>
            <a:pPr marR="0" defTabSz="914400" eaLnBrk="1" hangingPunct="1">
              <a:buClrTx/>
              <a:buSzTx/>
              <a:buFontTx/>
              <a:buNone/>
              <a:defRPr/>
            </a:pPr>
            <a:r>
              <a:rPr kumimoji="0" lang="zh-CN" altLang="en-US" sz="2400" kern="1200" cap="none" spc="0" normalizeH="0" baseline="0" noProof="0" dirty="0">
                <a:solidFill>
                  <a:srgbClr val="333333"/>
                </a:solidFill>
                <a:latin typeface="楷体_GB2312" pitchFamily="49" charset="-122"/>
                <a:ea typeface="楷体_GB2312" pitchFamily="49" charset="-122"/>
                <a:cs typeface="+mn-cs"/>
              </a:rPr>
              <a:t> </a:t>
            </a:r>
            <a:r>
              <a:rPr kumimoji="0" lang="en-US" altLang="zh-CN" sz="2400" kern="1200" cap="none" spc="0" normalizeH="0" baseline="0" noProof="0" dirty="0">
                <a:solidFill>
                  <a:srgbClr val="333333"/>
                </a:solidFill>
                <a:latin typeface="楷体_GB2312" pitchFamily="49" charset="-122"/>
                <a:ea typeface="楷体_GB2312" pitchFamily="49" charset="-122"/>
                <a:cs typeface="+mn-cs"/>
              </a:rPr>
              <a:t>[(2,0,4),(2,0,3)]</a:t>
            </a:r>
            <a:r>
              <a:rPr kumimoji="0" lang="zh-CN" altLang="en-US" sz="2400" kern="1200" cap="none" spc="0" normalizeH="0" baseline="0" noProof="0" dirty="0">
                <a:solidFill>
                  <a:srgbClr val="333333"/>
                </a:solidFill>
                <a:latin typeface="楷体_GB2312" pitchFamily="49" charset="-122"/>
                <a:ea typeface="楷体_GB2312" pitchFamily="49" charset="-122"/>
                <a:cs typeface="+mn-cs"/>
              </a:rPr>
              <a:t>（</a:t>
            </a:r>
            <a:r>
              <a:rPr kumimoji="0" lang="en-US" altLang="zh-CN" sz="2400" kern="1200" cap="none" spc="0" normalizeH="0" baseline="0" noProof="0" dirty="0">
                <a:solidFill>
                  <a:srgbClr val="333333"/>
                </a:solidFill>
                <a:latin typeface="楷体_GB2312" pitchFamily="49" charset="-122"/>
                <a:ea typeface="楷体_GB2312" pitchFamily="49" charset="-122"/>
                <a:cs typeface="+mn-cs"/>
              </a:rPr>
              <a:t>ace)</a:t>
            </a:r>
            <a:endParaRPr kumimoji="0" lang="en-US" altLang="zh-CN" sz="2400" kern="1200" cap="none" spc="0" normalizeH="0" baseline="0" noProof="0" dirty="0">
              <a:solidFill>
                <a:srgbClr val="333333"/>
              </a:solidFill>
              <a:latin typeface="楷体_GB2312" pitchFamily="49" charset="-122"/>
              <a:ea typeface="楷体_GB2312" pitchFamily="49" charset="-122"/>
              <a:cs typeface="+mn-cs"/>
            </a:endParaRPr>
          </a:p>
          <a:p>
            <a:pPr marR="0" defTabSz="914400" eaLnBrk="1" hangingPunct="1">
              <a:buClrTx/>
              <a:buSzTx/>
              <a:buFontTx/>
              <a:buNone/>
              <a:defRPr/>
            </a:pPr>
            <a:r>
              <a:rPr kumimoji="0" lang="en-US" altLang="zh-CN" sz="2400" kern="1200" cap="none" spc="0" normalizeH="0" baseline="0" noProof="0" dirty="0">
                <a:solidFill>
                  <a:srgbClr val="333333"/>
                </a:solidFill>
                <a:latin typeface="楷体_GB2312" pitchFamily="49" charset="-122"/>
                <a:ea typeface="楷体_GB2312" pitchFamily="49" charset="-122"/>
                <a:cs typeface="+mn-cs"/>
              </a:rPr>
              <a:t> [(1,1,1),(1,1,1)] (</a:t>
            </a:r>
            <a:r>
              <a:rPr kumimoji="0" lang="en-US" altLang="zh-CN" sz="2400" kern="1200" cap="none" spc="0" normalizeH="0" baseline="0" noProof="0" dirty="0" err="1">
                <a:solidFill>
                  <a:srgbClr val="333333"/>
                </a:solidFill>
                <a:latin typeface="楷体_GB2312" pitchFamily="49" charset="-122"/>
                <a:ea typeface="楷体_GB2312" pitchFamily="49" charset="-122"/>
                <a:cs typeface="+mn-cs"/>
              </a:rPr>
              <a:t>abd</a:t>
            </a:r>
            <a:r>
              <a:rPr kumimoji="0" lang="en-US" altLang="zh-CN" sz="2400" kern="1200" cap="none" spc="0" normalizeH="0" baseline="0" noProof="0" dirty="0">
                <a:solidFill>
                  <a:srgbClr val="333333"/>
                </a:solidFill>
                <a:latin typeface="楷体_GB2312" pitchFamily="49" charset="-122"/>
                <a:ea typeface="楷体_GB2312" pitchFamily="49" charset="-122"/>
                <a:cs typeface="+mn-cs"/>
              </a:rPr>
              <a:t>)</a:t>
            </a:r>
            <a:endParaRPr kumimoji="0" lang="en-US" altLang="zh-CN" sz="2400" kern="1200" cap="none" spc="0" normalizeH="0" baseline="0" noProof="0" dirty="0">
              <a:solidFill>
                <a:srgbClr val="333333"/>
              </a:solidFill>
              <a:latin typeface="楷体_GB2312" pitchFamily="49" charset="-122"/>
              <a:ea typeface="楷体_GB2312" pitchFamily="49" charset="-122"/>
              <a:cs typeface="+mn-cs"/>
            </a:endParaRPr>
          </a:p>
        </p:txBody>
      </p:sp>
      <p:sp>
        <p:nvSpPr>
          <p:cNvPr id="28" name="Text Box 37"/>
          <p:cNvSpPr txBox="1">
            <a:spLocks noChangeArrowheads="1"/>
          </p:cNvSpPr>
          <p:nvPr/>
        </p:nvSpPr>
        <p:spPr bwMode="auto">
          <a:xfrm>
            <a:off x="1090613" y="2487613"/>
            <a:ext cx="361950" cy="519113"/>
          </a:xfrm>
          <a:prstGeom prst="rect">
            <a:avLst/>
          </a:prstGeom>
          <a:noFill/>
          <a:ln w="9525" cap="sq">
            <a:noFill/>
            <a:miter lim="800000"/>
          </a:ln>
          <a:effectLst>
            <a:prstShdw prst="shdw17" dist="17961" dir="2700000">
              <a:schemeClr val="tx1">
                <a:gamma/>
                <a:shade val="60000"/>
                <a:invGamma/>
              </a:schemeClr>
            </a:prstShdw>
          </a:effectLst>
        </p:spPr>
        <p:txBody>
          <a:bodyPr wrap="none">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rPr>
              <a:t>a</a:t>
            </a:r>
            <a:endPar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sp>
        <p:nvSpPr>
          <p:cNvPr id="29" name="Text Box 38"/>
          <p:cNvSpPr txBox="1">
            <a:spLocks noChangeArrowheads="1"/>
          </p:cNvSpPr>
          <p:nvPr/>
        </p:nvSpPr>
        <p:spPr bwMode="auto">
          <a:xfrm>
            <a:off x="1136650" y="4071938"/>
            <a:ext cx="530225" cy="519113"/>
          </a:xfrm>
          <a:prstGeom prst="rect">
            <a:avLst/>
          </a:prstGeom>
          <a:noFill/>
          <a:ln w="9525" cap="sq">
            <a:noFill/>
            <a:miter lim="800000"/>
          </a:ln>
          <a:effectLst>
            <a:prstShdw prst="shdw17" dist="17961" dir="2700000">
              <a:schemeClr val="tx1">
                <a:gamma/>
                <a:shade val="60000"/>
                <a:invGamma/>
              </a:schemeClr>
            </a:prstShdw>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rPr>
              <a:t>b</a:t>
            </a:r>
            <a:endPar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sp>
        <p:nvSpPr>
          <p:cNvPr id="30" name="Text Box 39"/>
          <p:cNvSpPr txBox="1">
            <a:spLocks noChangeArrowheads="1"/>
          </p:cNvSpPr>
          <p:nvPr/>
        </p:nvSpPr>
        <p:spPr bwMode="auto">
          <a:xfrm>
            <a:off x="2597150" y="3090863"/>
            <a:ext cx="509588" cy="519113"/>
          </a:xfrm>
          <a:prstGeom prst="rect">
            <a:avLst/>
          </a:prstGeom>
          <a:noFill/>
          <a:ln w="9525" cap="sq">
            <a:noFill/>
            <a:miter lim="800000"/>
          </a:ln>
          <a:effectLst>
            <a:prstShdw prst="shdw17" dist="17961" dir="2700000">
              <a:schemeClr val="tx1">
                <a:gamma/>
                <a:shade val="60000"/>
                <a:invGamma/>
              </a:schemeClr>
            </a:prstShdw>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rPr>
              <a:t>c</a:t>
            </a:r>
            <a:endPar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sp>
        <p:nvSpPr>
          <p:cNvPr id="31" name="Text Box 40"/>
          <p:cNvSpPr txBox="1">
            <a:spLocks noChangeArrowheads="1"/>
          </p:cNvSpPr>
          <p:nvPr/>
        </p:nvSpPr>
        <p:spPr bwMode="auto">
          <a:xfrm>
            <a:off x="1166813" y="5695950"/>
            <a:ext cx="538163" cy="519113"/>
          </a:xfrm>
          <a:prstGeom prst="rect">
            <a:avLst/>
          </a:prstGeom>
          <a:noFill/>
          <a:ln w="9525" cap="sq">
            <a:noFill/>
            <a:miter lim="800000"/>
          </a:ln>
          <a:effectLst>
            <a:prstShdw prst="shdw17" dist="17961" dir="2700000">
              <a:schemeClr val="tx1">
                <a:gamma/>
                <a:shade val="60000"/>
                <a:invGamma/>
              </a:schemeClr>
            </a:prstShdw>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rPr>
              <a:t>d</a:t>
            </a:r>
            <a:endPar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sp>
        <p:nvSpPr>
          <p:cNvPr id="32" name="Text Box 41"/>
          <p:cNvSpPr txBox="1">
            <a:spLocks noChangeArrowheads="1"/>
          </p:cNvSpPr>
          <p:nvPr/>
        </p:nvSpPr>
        <p:spPr bwMode="auto">
          <a:xfrm>
            <a:off x="2673350" y="4643438"/>
            <a:ext cx="447675" cy="519113"/>
          </a:xfrm>
          <a:prstGeom prst="rect">
            <a:avLst/>
          </a:prstGeom>
          <a:noFill/>
          <a:ln w="9525" cap="sq">
            <a:noFill/>
            <a:miter lim="800000"/>
          </a:ln>
          <a:effectLst>
            <a:prstShdw prst="shdw17" dist="17961" dir="2700000">
              <a:schemeClr val="tx1">
                <a:gamma/>
                <a:shade val="60000"/>
                <a:invGamma/>
              </a:schemeClr>
            </a:prstShdw>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rPr>
              <a:t>e</a:t>
            </a:r>
            <a:endPar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sp>
        <p:nvSpPr>
          <p:cNvPr id="41997"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内容占位符 2"/>
          <p:cNvSpPr>
            <a:spLocks noGrp="1"/>
          </p:cNvSpPr>
          <p:nvPr>
            <p:ph idx="1"/>
          </p:nvPr>
        </p:nvSpPr>
        <p:spPr>
          <a:xfrm>
            <a:off x="428625" y="1214438"/>
            <a:ext cx="8286750" cy="5000625"/>
          </a:xfrm>
          <a:ln/>
        </p:spPr>
        <p:txBody>
          <a:bodyPr vert="horz" wrap="square" lIns="91440" tIns="45720" rIns="91440" bIns="45720" anchor="t" anchorCtr="0"/>
          <a:p>
            <a:pPr indent="0" eaLnBrk="1" hangingPunct="1">
              <a:lnSpc>
                <a:spcPct val="120000"/>
              </a:lnSpc>
              <a:buFont typeface="Wingdings" panose="05000000000000000000" pitchFamily="2" charset="2"/>
              <a:buNone/>
            </a:pPr>
            <a:r>
              <a:rPr lang="en-US" altLang="zh-CN" sz="2200" b="1" dirty="0">
                <a:latin typeface="黑体" panose="02010609060101010101" pitchFamily="49" charset="-122"/>
                <a:ea typeface="黑体" panose="02010609060101010101" pitchFamily="49" charset="-122"/>
                <a:cs typeface="+mn-cs"/>
              </a:rPr>
              <a:t>1.</a:t>
            </a:r>
            <a:r>
              <a:rPr lang="zh-CN" altLang="en-US" sz="2200" b="1" dirty="0">
                <a:latin typeface="黑体" panose="02010609060101010101" pitchFamily="49" charset="-122"/>
                <a:ea typeface="黑体" panose="02010609060101010101" pitchFamily="49" charset="-122"/>
                <a:cs typeface="+mn-cs"/>
              </a:rPr>
              <a:t>基于逻辑覆盖测试</a:t>
            </a:r>
            <a:endParaRPr lang="zh-CN" altLang="en-US" sz="2200" b="1" dirty="0">
              <a:latin typeface="黑体" panose="02010609060101010101" pitchFamily="49" charset="-122"/>
              <a:ea typeface="黑体" panose="02010609060101010101" pitchFamily="49" charset="-122"/>
              <a:cs typeface="+mn-cs"/>
            </a:endParaRPr>
          </a:p>
          <a:p>
            <a:pPr indent="0" eaLnBrk="1" hangingPunct="1">
              <a:lnSpc>
                <a:spcPct val="120000"/>
              </a:lnSpc>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a:t>
            </a:r>
            <a:r>
              <a:rPr lang="en-US" altLang="zh-CN" sz="2200" b="1" dirty="0">
                <a:latin typeface="宋体" panose="02010600030101010101" pitchFamily="2" charset="-122"/>
                <a:ea typeface="宋体" panose="02010600030101010101" pitchFamily="2" charset="-122"/>
                <a:cs typeface="+mn-cs"/>
              </a:rPr>
              <a:t>5</a:t>
            </a:r>
            <a:r>
              <a:rPr lang="zh-CN" altLang="en-US" sz="2200" b="1" dirty="0">
                <a:latin typeface="宋体" panose="02010600030101010101" pitchFamily="2" charset="-122"/>
                <a:ea typeface="宋体" panose="02010600030101010101" pitchFamily="2" charset="-122"/>
                <a:cs typeface="+mn-cs"/>
              </a:rPr>
              <a:t>）条件组合覆盖</a:t>
            </a:r>
            <a:endParaRPr lang="en-US" altLang="zh-CN" sz="2200" b="1" dirty="0">
              <a:latin typeface="宋体" panose="02010600030101010101" pitchFamily="2" charset="-122"/>
              <a:ea typeface="宋体" panose="02010600030101010101" pitchFamily="2" charset="-122"/>
              <a:cs typeface="+mn-cs"/>
            </a:endParaRPr>
          </a:p>
          <a:p>
            <a:pPr indent="0" eaLnBrk="1" hangingPunct="1">
              <a:lnSpc>
                <a:spcPct val="120000"/>
              </a:lnSpc>
              <a:buSzPct val="80000"/>
              <a:buFont typeface="Wingdings" panose="05000000000000000000" pitchFamily="2" charset="2"/>
              <a:buChar char="l"/>
            </a:pPr>
            <a:r>
              <a:rPr lang="zh-CN" altLang="en-US" sz="2200" b="1" dirty="0">
                <a:latin typeface="宋体" panose="02010600030101010101" pitchFamily="2" charset="-122"/>
                <a:ea typeface="宋体" panose="02010600030101010101" pitchFamily="2" charset="-122"/>
                <a:cs typeface="+mn-cs"/>
              </a:rPr>
              <a:t> 使得每个判定中条件的各种可能组合都至少出现一次。</a:t>
            </a:r>
            <a:endParaRPr lang="zh-CN" altLang="en-US" sz="2200" b="1" dirty="0">
              <a:latin typeface="宋体" panose="02010600030101010101" pitchFamily="2" charset="-122"/>
              <a:ea typeface="宋体" panose="02010600030101010101" pitchFamily="2" charset="-122"/>
              <a:cs typeface="+mn-cs"/>
            </a:endParaRPr>
          </a:p>
          <a:p>
            <a:pPr indent="0" eaLnBrk="1" hangingPunct="1">
              <a:lnSpc>
                <a:spcPct val="120000"/>
              </a:lnSpc>
              <a:buFont typeface="Wingdings" panose="05000000000000000000" pitchFamily="2" charset="2"/>
              <a:buNone/>
            </a:pPr>
            <a:endParaRPr lang="zh-CN" altLang="en-US" sz="2200" b="1" dirty="0">
              <a:latin typeface="宋体" panose="02010600030101010101" pitchFamily="2" charset="-122"/>
              <a:ea typeface="宋体" panose="02010600030101010101" pitchFamily="2" charset="-122"/>
              <a:cs typeface="+mn-cs"/>
            </a:endParaRPr>
          </a:p>
        </p:txBody>
      </p:sp>
      <p:sp>
        <p:nvSpPr>
          <p:cNvPr id="43011" name="Rectangle 24"/>
          <p:cNvSpPr/>
          <p:nvPr/>
        </p:nvSpPr>
        <p:spPr>
          <a:xfrm>
            <a:off x="7648575" y="1733550"/>
            <a:ext cx="1066800" cy="838200"/>
          </a:xfrm>
          <a:prstGeom prst="rect">
            <a:avLst/>
          </a:prstGeom>
          <a:solidFill>
            <a:srgbClr val="CCFFFF">
              <a:alpha val="50195"/>
            </a:srgbClr>
          </a:solidFill>
          <a:ln w="9525" cap="flat" cmpd="sng">
            <a:prstDash val="solid"/>
            <a:miter/>
            <a:headEnd type="none" w="med" len="med"/>
            <a:tailEnd type="none" w="med" len="med"/>
          </a:ln>
          <a:scene3d>
            <a:camera prst="legacyPerspectiveTopRight">
              <a:rot lat="0" lon="0" rev="0"/>
            </a:camera>
            <a:lightRig rig="legacyFlat4" dir="t"/>
          </a:scene3d>
          <a:sp3d extrusionH="1801800" prstMaterial="legacyMatte">
            <a:bevelT w="13500" h="13500" prst="angle"/>
            <a:bevelB w="13500" h="13500" prst="angle"/>
            <a:extrusionClr>
              <a:srgbClr val="CCFFFF"/>
            </a:extrusionClr>
          </a:sp3d>
        </p:spPr>
        <p:txBody>
          <a:bodyPr wrap="none" anchor="ctr" anchorCtr="0">
            <a:flatTx/>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en-US" sz="1600" dirty="0">
                <a:solidFill>
                  <a:srgbClr val="333333"/>
                </a:solidFill>
                <a:ea typeface="楷体_GB2312" pitchFamily="49" charset="-122"/>
              </a:rPr>
              <a:t>逻辑结构</a:t>
            </a:r>
            <a:endParaRPr lang="zh-CN" altLang="en-US" sz="1600" dirty="0">
              <a:solidFill>
                <a:srgbClr val="333333"/>
              </a:solidFill>
              <a:ea typeface="宋体" panose="02010600030101010101" pitchFamily="2" charset="-122"/>
            </a:endParaRPr>
          </a:p>
          <a:p>
            <a:pPr marL="0" lvl="0" indent="0" eaLnBrk="1" hangingPunct="1">
              <a:spcBef>
                <a:spcPct val="0"/>
              </a:spcBef>
              <a:buClrTx/>
              <a:buFontTx/>
              <a:buNone/>
            </a:pPr>
            <a:endParaRPr lang="zh-CN" altLang="en-US" sz="1600" dirty="0">
              <a:solidFill>
                <a:srgbClr val="333333"/>
              </a:solidFill>
              <a:ea typeface="宋体" panose="02010600030101010101" pitchFamily="2" charset="-122"/>
            </a:endParaRPr>
          </a:p>
        </p:txBody>
      </p:sp>
      <p:sp>
        <p:nvSpPr>
          <p:cNvPr id="43012" name="Oval 25"/>
          <p:cNvSpPr/>
          <p:nvPr/>
        </p:nvSpPr>
        <p:spPr>
          <a:xfrm>
            <a:off x="8067675" y="2219325"/>
            <a:ext cx="228600" cy="228600"/>
          </a:xfrm>
          <a:prstGeom prst="ellipse">
            <a:avLst/>
          </a:prstGeom>
          <a:gradFill rotWithShape="0">
            <a:gsLst>
              <a:gs pos="0">
                <a:srgbClr val="FFFF99"/>
              </a:gs>
              <a:gs pos="100000">
                <a:srgbClr val="767647"/>
              </a:gs>
            </a:gsLst>
            <a:path path="shape">
              <a:fillToRect l="50000" t="50000" r="50000" b="50000"/>
            </a:path>
            <a:tileRect/>
          </a:gradFill>
          <a:ln w="9525">
            <a:noFill/>
          </a:ln>
          <a:effectLst>
            <a:prstShdw prst="shdw17" dist="17961" dir="2699999">
              <a:srgbClr val="99995C"/>
            </a:prst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grpSp>
        <p:nvGrpSpPr>
          <p:cNvPr id="43013" name="Group 60"/>
          <p:cNvGrpSpPr/>
          <p:nvPr/>
        </p:nvGrpSpPr>
        <p:grpSpPr>
          <a:xfrm>
            <a:off x="762000" y="2786063"/>
            <a:ext cx="2381250" cy="3571875"/>
            <a:chOff x="3360" y="867"/>
            <a:chExt cx="2035" cy="2643"/>
          </a:xfrm>
        </p:grpSpPr>
        <p:sp>
          <p:nvSpPr>
            <p:cNvPr id="43022" name="Line 9"/>
            <p:cNvSpPr/>
            <p:nvPr/>
          </p:nvSpPr>
          <p:spPr>
            <a:xfrm>
              <a:off x="3965" y="867"/>
              <a:ext cx="0" cy="240"/>
            </a:xfrm>
            <a:prstGeom prst="line">
              <a:avLst/>
            </a:prstGeom>
            <a:ln w="28575" cap="flat" cmpd="sng">
              <a:solidFill>
                <a:schemeClr val="tx1"/>
              </a:solidFill>
              <a:prstDash val="solid"/>
              <a:headEnd type="none" w="med" len="med"/>
              <a:tailEnd type="triangle" w="med" len="med"/>
            </a:ln>
            <a:effectLst>
              <a:outerShdw dist="17961" dir="2699999" algn="ctr" rotWithShape="0">
                <a:srgbClr val="DDDDDD"/>
              </a:outerShdw>
            </a:effectLst>
          </p:spPr>
        </p:sp>
        <p:sp>
          <p:nvSpPr>
            <p:cNvPr id="43023" name="AutoShape 10"/>
            <p:cNvSpPr/>
            <p:nvPr/>
          </p:nvSpPr>
          <p:spPr>
            <a:xfrm>
              <a:off x="3360" y="1104"/>
              <a:ext cx="1206" cy="546"/>
            </a:xfrm>
            <a:prstGeom prst="diamond">
              <a:avLst/>
            </a:prstGeom>
            <a:solidFill>
              <a:srgbClr val="FFFFCC"/>
            </a:solidFill>
            <a:ln w="9525" cap="flat" cmpd="sng">
              <a:solidFill>
                <a:srgbClr val="A50021"/>
              </a:solidFill>
              <a:prstDash val="solid"/>
              <a:miter/>
              <a:headEnd type="none" w="med" len="med"/>
              <a:tailEnd type="none" w="med" len="med"/>
            </a:ln>
            <a:effectLst>
              <a:outerShdw dist="53882" dir="2699999" algn="ctr" rotWithShape="0">
                <a:srgbClr val="A50021"/>
              </a:outer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lnSpc>
                  <a:spcPct val="80000"/>
                </a:lnSpc>
                <a:spcBef>
                  <a:spcPct val="0"/>
                </a:spcBef>
                <a:buClrTx/>
                <a:buFontTx/>
                <a:buNone/>
              </a:pPr>
              <a:r>
                <a:rPr lang="en-US" altLang="zh-CN" sz="1600" dirty="0">
                  <a:solidFill>
                    <a:srgbClr val="333333"/>
                  </a:solidFill>
                  <a:ea typeface="宋体" panose="02010600030101010101" pitchFamily="2" charset="-122"/>
                </a:rPr>
                <a:t>A&gt;1</a:t>
              </a:r>
              <a:endParaRPr lang="en-US" altLang="zh-CN" sz="1600" dirty="0">
                <a:solidFill>
                  <a:srgbClr val="333333"/>
                </a:solidFill>
                <a:ea typeface="宋体" panose="02010600030101010101" pitchFamily="2" charset="-122"/>
              </a:endParaRPr>
            </a:p>
            <a:p>
              <a:pPr marL="0" lvl="0" indent="0" eaLnBrk="1" hangingPunct="1">
                <a:lnSpc>
                  <a:spcPct val="80000"/>
                </a:lnSpc>
                <a:spcBef>
                  <a:spcPct val="0"/>
                </a:spcBef>
                <a:buClrTx/>
                <a:buFontTx/>
                <a:buNone/>
              </a:pPr>
              <a:r>
                <a:rPr lang="en-US" altLang="zh-CN" sz="1600" dirty="0">
                  <a:solidFill>
                    <a:srgbClr val="333333"/>
                  </a:solidFill>
                  <a:ea typeface="宋体" panose="02010600030101010101" pitchFamily="2" charset="-122"/>
                </a:rPr>
                <a:t>AND</a:t>
              </a:r>
              <a:endParaRPr lang="en-US" altLang="zh-CN" sz="1600" dirty="0">
                <a:solidFill>
                  <a:srgbClr val="333333"/>
                </a:solidFill>
                <a:ea typeface="宋体" panose="02010600030101010101" pitchFamily="2" charset="-122"/>
              </a:endParaRPr>
            </a:p>
            <a:p>
              <a:pPr marL="0" lvl="0" indent="0" eaLnBrk="1" hangingPunct="1">
                <a:lnSpc>
                  <a:spcPct val="80000"/>
                </a:lnSpc>
                <a:spcBef>
                  <a:spcPct val="0"/>
                </a:spcBef>
                <a:buClrTx/>
                <a:buFontTx/>
                <a:buNone/>
              </a:pPr>
              <a:r>
                <a:rPr lang="en-US" altLang="zh-CN" sz="1600" dirty="0">
                  <a:solidFill>
                    <a:srgbClr val="333333"/>
                  </a:solidFill>
                  <a:ea typeface="宋体" panose="02010600030101010101" pitchFamily="2" charset="-122"/>
                </a:rPr>
                <a:t>B=0</a:t>
              </a:r>
              <a:endParaRPr lang="en-US" altLang="zh-CN" sz="1600" dirty="0">
                <a:solidFill>
                  <a:srgbClr val="333333"/>
                </a:solidFill>
                <a:ea typeface="宋体" panose="02010600030101010101" pitchFamily="2" charset="-122"/>
              </a:endParaRPr>
            </a:p>
          </p:txBody>
        </p:sp>
        <p:sp>
          <p:nvSpPr>
            <p:cNvPr id="43024" name="Line 11"/>
            <p:cNvSpPr/>
            <p:nvPr/>
          </p:nvSpPr>
          <p:spPr>
            <a:xfrm>
              <a:off x="4590" y="1389"/>
              <a:ext cx="391" cy="0"/>
            </a:xfrm>
            <a:prstGeom prst="line">
              <a:avLst/>
            </a:prstGeom>
            <a:ln w="28575" cap="flat" cmpd="sng">
              <a:solidFill>
                <a:schemeClr val="tx1"/>
              </a:solidFill>
              <a:prstDash val="solid"/>
              <a:headEnd type="none" w="med" len="med"/>
              <a:tailEnd type="none" w="med" len="med"/>
            </a:ln>
            <a:effectLst>
              <a:outerShdw dist="35921" dir="2699999" algn="ctr" rotWithShape="0">
                <a:srgbClr val="DDDDDD"/>
              </a:outerShdw>
            </a:effectLst>
          </p:spPr>
        </p:sp>
        <p:sp>
          <p:nvSpPr>
            <p:cNvPr id="43025" name="Rectangle 13"/>
            <p:cNvSpPr/>
            <p:nvPr/>
          </p:nvSpPr>
          <p:spPr>
            <a:xfrm>
              <a:off x="4633" y="1641"/>
              <a:ext cx="719" cy="233"/>
            </a:xfrm>
            <a:prstGeom prst="rect">
              <a:avLst/>
            </a:prstGeom>
            <a:solidFill>
              <a:srgbClr val="FFFFCC"/>
            </a:solidFill>
            <a:ln w="9525" cap="flat" cmpd="sng">
              <a:solidFill>
                <a:srgbClr val="A50021"/>
              </a:solidFill>
              <a:prstDash val="solid"/>
              <a:miter/>
              <a:headEnd type="none" w="med" len="med"/>
              <a:tailEnd type="none" w="med" len="med"/>
            </a:ln>
            <a:effectLst>
              <a:outerShdw dist="53882" dir="2699999" algn="ctr" rotWithShape="0">
                <a:srgbClr val="A50021"/>
              </a:outer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1600" dirty="0">
                  <a:solidFill>
                    <a:srgbClr val="333333"/>
                  </a:solidFill>
                  <a:ea typeface="宋体" panose="02010600030101010101" pitchFamily="2" charset="-122"/>
                </a:rPr>
                <a:t>X:=X/A</a:t>
              </a:r>
              <a:endParaRPr lang="en-US" altLang="zh-CN" sz="1600" dirty="0">
                <a:solidFill>
                  <a:srgbClr val="333333"/>
                </a:solidFill>
                <a:ea typeface="宋体" panose="02010600030101010101" pitchFamily="2" charset="-122"/>
              </a:endParaRPr>
            </a:p>
          </p:txBody>
        </p:sp>
        <p:sp>
          <p:nvSpPr>
            <p:cNvPr id="10" name="Line 28"/>
            <p:cNvSpPr>
              <a:spLocks noChangeShapeType="1"/>
            </p:cNvSpPr>
            <p:nvPr/>
          </p:nvSpPr>
          <p:spPr bwMode="auto">
            <a:xfrm>
              <a:off x="4992" y="1929"/>
              <a:ext cx="0" cy="141"/>
            </a:xfrm>
            <a:prstGeom prst="line">
              <a:avLst/>
            </a:prstGeom>
            <a:noFill/>
            <a:ln w="28575" cap="sq">
              <a:solidFill>
                <a:schemeClr val="tx1"/>
              </a:solidFill>
              <a:round/>
              <a:tailEnd type="triangle" w="med" len="me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11" name="Line 30"/>
            <p:cNvSpPr>
              <a:spLocks noChangeShapeType="1"/>
            </p:cNvSpPr>
            <p:nvPr/>
          </p:nvSpPr>
          <p:spPr bwMode="auto">
            <a:xfrm flipH="1">
              <a:off x="3994" y="1674"/>
              <a:ext cx="0" cy="561"/>
            </a:xfrm>
            <a:prstGeom prst="line">
              <a:avLst/>
            </a:prstGeom>
            <a:noFill/>
            <a:ln w="28575" cap="sq">
              <a:solidFill>
                <a:schemeClr val="tx1"/>
              </a:solidFill>
              <a:round/>
              <a:tailEnd type="triangle" w="med" len="me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12" name="Line 31"/>
            <p:cNvSpPr>
              <a:spLocks noChangeShapeType="1"/>
            </p:cNvSpPr>
            <p:nvPr/>
          </p:nvSpPr>
          <p:spPr bwMode="auto">
            <a:xfrm flipV="1">
              <a:off x="4008" y="2044"/>
              <a:ext cx="1011" cy="1"/>
            </a:xfrm>
            <a:prstGeom prst="line">
              <a:avLst/>
            </a:prstGeom>
            <a:noFill/>
            <a:ln w="28575" cap="sq">
              <a:solidFill>
                <a:schemeClr val="tx1"/>
              </a:solidFill>
              <a:roun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13" name="Line 44"/>
            <p:cNvSpPr>
              <a:spLocks noChangeShapeType="1"/>
            </p:cNvSpPr>
            <p:nvPr/>
          </p:nvSpPr>
          <p:spPr bwMode="auto">
            <a:xfrm>
              <a:off x="4983" y="1405"/>
              <a:ext cx="0" cy="243"/>
            </a:xfrm>
            <a:prstGeom prst="line">
              <a:avLst/>
            </a:prstGeom>
            <a:noFill/>
            <a:ln w="9525" cap="sq">
              <a:solidFill>
                <a:schemeClr val="tx1"/>
              </a:solidFill>
              <a:round/>
              <a:tailEnd type="triangle" w="med" len="me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43030" name="AutoShape 45"/>
            <p:cNvSpPr/>
            <p:nvPr/>
          </p:nvSpPr>
          <p:spPr>
            <a:xfrm>
              <a:off x="3405" y="2237"/>
              <a:ext cx="1206" cy="547"/>
            </a:xfrm>
            <a:prstGeom prst="diamond">
              <a:avLst/>
            </a:prstGeom>
            <a:solidFill>
              <a:srgbClr val="FFFFCC"/>
            </a:solidFill>
            <a:ln w="9525" cap="flat" cmpd="sng">
              <a:solidFill>
                <a:srgbClr val="A50021"/>
              </a:solidFill>
              <a:prstDash val="solid"/>
              <a:miter/>
              <a:headEnd type="none" w="med" len="med"/>
              <a:tailEnd type="none" w="med" len="med"/>
            </a:ln>
            <a:effectLst>
              <a:outerShdw dist="53882" dir="2699999" algn="ctr" rotWithShape="0">
                <a:srgbClr val="A50021"/>
              </a:outer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lnSpc>
                  <a:spcPct val="80000"/>
                </a:lnSpc>
                <a:spcBef>
                  <a:spcPct val="0"/>
                </a:spcBef>
                <a:buClrTx/>
                <a:buFontTx/>
                <a:buNone/>
              </a:pPr>
              <a:r>
                <a:rPr lang="en-US" altLang="zh-CN" sz="1600" dirty="0">
                  <a:solidFill>
                    <a:srgbClr val="333333"/>
                  </a:solidFill>
                  <a:ea typeface="宋体" panose="02010600030101010101" pitchFamily="2" charset="-122"/>
                </a:rPr>
                <a:t>A=2</a:t>
              </a:r>
              <a:endParaRPr lang="en-US" altLang="zh-CN" sz="1600" dirty="0">
                <a:solidFill>
                  <a:srgbClr val="333333"/>
                </a:solidFill>
                <a:ea typeface="宋体" panose="02010600030101010101" pitchFamily="2" charset="-122"/>
              </a:endParaRPr>
            </a:p>
            <a:p>
              <a:pPr marL="0" lvl="0" indent="0" eaLnBrk="1" hangingPunct="1">
                <a:lnSpc>
                  <a:spcPct val="80000"/>
                </a:lnSpc>
                <a:spcBef>
                  <a:spcPct val="0"/>
                </a:spcBef>
                <a:buClrTx/>
                <a:buFontTx/>
                <a:buNone/>
              </a:pPr>
              <a:r>
                <a:rPr lang="en-US" altLang="zh-CN" sz="1600" dirty="0">
                  <a:solidFill>
                    <a:srgbClr val="333333"/>
                  </a:solidFill>
                  <a:ea typeface="宋体" panose="02010600030101010101" pitchFamily="2" charset="-122"/>
                </a:rPr>
                <a:t>OR </a:t>
              </a:r>
              <a:endParaRPr lang="en-US" altLang="zh-CN" sz="1600" dirty="0">
                <a:solidFill>
                  <a:srgbClr val="333333"/>
                </a:solidFill>
                <a:ea typeface="宋体" panose="02010600030101010101" pitchFamily="2" charset="-122"/>
              </a:endParaRPr>
            </a:p>
            <a:p>
              <a:pPr marL="0" lvl="0" indent="0" eaLnBrk="1" hangingPunct="1">
                <a:lnSpc>
                  <a:spcPct val="80000"/>
                </a:lnSpc>
                <a:spcBef>
                  <a:spcPct val="0"/>
                </a:spcBef>
                <a:buClrTx/>
                <a:buFontTx/>
                <a:buNone/>
              </a:pPr>
              <a:r>
                <a:rPr lang="en-US" altLang="zh-CN" sz="1600" dirty="0">
                  <a:solidFill>
                    <a:srgbClr val="333333"/>
                  </a:solidFill>
                  <a:ea typeface="宋体" panose="02010600030101010101" pitchFamily="2" charset="-122"/>
                </a:rPr>
                <a:t>X&gt;1</a:t>
              </a:r>
              <a:endParaRPr lang="en-US" altLang="zh-CN" sz="1600" dirty="0">
                <a:solidFill>
                  <a:srgbClr val="333333"/>
                </a:solidFill>
                <a:ea typeface="宋体" panose="02010600030101010101" pitchFamily="2" charset="-122"/>
              </a:endParaRPr>
            </a:p>
          </p:txBody>
        </p:sp>
        <p:sp>
          <p:nvSpPr>
            <p:cNvPr id="43031" name="Line 46"/>
            <p:cNvSpPr/>
            <p:nvPr/>
          </p:nvSpPr>
          <p:spPr>
            <a:xfrm>
              <a:off x="4635" y="2522"/>
              <a:ext cx="391" cy="0"/>
            </a:xfrm>
            <a:prstGeom prst="line">
              <a:avLst/>
            </a:prstGeom>
            <a:ln w="28575" cap="flat" cmpd="sng">
              <a:solidFill>
                <a:schemeClr val="tx1"/>
              </a:solidFill>
              <a:prstDash val="solid"/>
              <a:headEnd type="none" w="med" len="med"/>
              <a:tailEnd type="none" w="med" len="med"/>
            </a:ln>
            <a:effectLst>
              <a:outerShdw dist="35921" dir="2699999" algn="ctr" rotWithShape="0">
                <a:srgbClr val="DDDDDD"/>
              </a:outerShdw>
            </a:effectLst>
          </p:spPr>
        </p:sp>
        <p:sp>
          <p:nvSpPr>
            <p:cNvPr id="43032" name="Rectangle 47"/>
            <p:cNvSpPr/>
            <p:nvPr/>
          </p:nvSpPr>
          <p:spPr>
            <a:xfrm>
              <a:off x="4677" y="2773"/>
              <a:ext cx="718" cy="234"/>
            </a:xfrm>
            <a:prstGeom prst="rect">
              <a:avLst/>
            </a:prstGeom>
            <a:solidFill>
              <a:srgbClr val="FFFFCC"/>
            </a:solidFill>
            <a:ln w="9525" cap="flat" cmpd="sng">
              <a:solidFill>
                <a:srgbClr val="A50021"/>
              </a:solidFill>
              <a:prstDash val="solid"/>
              <a:miter/>
              <a:headEnd type="none" w="med" len="med"/>
              <a:tailEnd type="none" w="med" len="med"/>
            </a:ln>
            <a:effectLst>
              <a:outerShdw dist="53882" dir="2699999" algn="ctr" rotWithShape="0">
                <a:srgbClr val="A50021"/>
              </a:outer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1600" dirty="0">
                  <a:solidFill>
                    <a:srgbClr val="333333"/>
                  </a:solidFill>
                  <a:ea typeface="宋体" panose="02010600030101010101" pitchFamily="2" charset="-122"/>
                </a:rPr>
                <a:t>X:=X+1</a:t>
              </a:r>
              <a:endParaRPr lang="en-US" altLang="zh-CN" sz="1600" dirty="0">
                <a:solidFill>
                  <a:srgbClr val="333333"/>
                </a:solidFill>
                <a:ea typeface="宋体" panose="02010600030101010101" pitchFamily="2" charset="-122"/>
              </a:endParaRPr>
            </a:p>
          </p:txBody>
        </p:sp>
        <p:sp>
          <p:nvSpPr>
            <p:cNvPr id="17" name="Line 48"/>
            <p:cNvSpPr>
              <a:spLocks noChangeShapeType="1"/>
            </p:cNvSpPr>
            <p:nvPr/>
          </p:nvSpPr>
          <p:spPr bwMode="auto">
            <a:xfrm>
              <a:off x="5037" y="3062"/>
              <a:ext cx="0" cy="141"/>
            </a:xfrm>
            <a:prstGeom prst="line">
              <a:avLst/>
            </a:prstGeom>
            <a:noFill/>
            <a:ln w="28575" cap="sq">
              <a:solidFill>
                <a:schemeClr val="tx1"/>
              </a:solidFill>
              <a:round/>
              <a:tailEnd type="triangle" w="med" len="me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18" name="Line 50"/>
            <p:cNvSpPr>
              <a:spLocks noChangeShapeType="1"/>
            </p:cNvSpPr>
            <p:nvPr/>
          </p:nvSpPr>
          <p:spPr bwMode="auto">
            <a:xfrm>
              <a:off x="4026" y="2833"/>
              <a:ext cx="0" cy="677"/>
            </a:xfrm>
            <a:prstGeom prst="line">
              <a:avLst/>
            </a:prstGeom>
            <a:noFill/>
            <a:ln w="28575" cap="sq">
              <a:solidFill>
                <a:schemeClr val="tx1"/>
              </a:solidFill>
              <a:round/>
              <a:tailEnd type="triangle" w="med" len="me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19" name="Line 51"/>
            <p:cNvSpPr>
              <a:spLocks noChangeShapeType="1"/>
            </p:cNvSpPr>
            <p:nvPr/>
          </p:nvSpPr>
          <p:spPr bwMode="auto">
            <a:xfrm flipV="1">
              <a:off x="4027" y="3190"/>
              <a:ext cx="1035" cy="0"/>
            </a:xfrm>
            <a:prstGeom prst="line">
              <a:avLst/>
            </a:prstGeom>
            <a:noFill/>
            <a:ln w="28575" cap="sq">
              <a:solidFill>
                <a:schemeClr val="tx1"/>
              </a:solidFill>
              <a:roun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20" name="Line 53"/>
            <p:cNvSpPr>
              <a:spLocks noChangeShapeType="1"/>
            </p:cNvSpPr>
            <p:nvPr/>
          </p:nvSpPr>
          <p:spPr bwMode="auto">
            <a:xfrm>
              <a:off x="5015" y="2539"/>
              <a:ext cx="0" cy="242"/>
            </a:xfrm>
            <a:prstGeom prst="line">
              <a:avLst/>
            </a:prstGeom>
            <a:noFill/>
            <a:ln w="9525" cap="sq">
              <a:solidFill>
                <a:schemeClr val="tx1"/>
              </a:solidFill>
              <a:round/>
              <a:tailEnd type="triangle" w="med" len="med"/>
            </a:ln>
            <a:effectLst>
              <a:prstShdw prst="shdw17" dist="17961" dir="2700000">
                <a:schemeClr val="tx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21" name="Text Box 54"/>
            <p:cNvSpPr txBox="1">
              <a:spLocks noChangeArrowheads="1"/>
            </p:cNvSpPr>
            <p:nvPr/>
          </p:nvSpPr>
          <p:spPr bwMode="auto">
            <a:xfrm>
              <a:off x="4538" y="1041"/>
              <a:ext cx="285" cy="251"/>
            </a:xfrm>
            <a:prstGeom prst="rect">
              <a:avLst/>
            </a:prstGeom>
            <a:noFill/>
            <a:ln w="9525" cap="sq">
              <a:noFill/>
              <a:miter lim="800000"/>
            </a:ln>
            <a:effectLst>
              <a:prstShdw prst="shdw17" dist="17961" dir="2700000">
                <a:schemeClr val="tx1">
                  <a:gamma/>
                  <a:shade val="60000"/>
                  <a:invGamma/>
                </a:schemeClr>
              </a:prstShdw>
            </a:effectLst>
          </p:spPr>
          <p:txBody>
            <a:bodyPr wrap="none" anchor="ct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rPr>
                <a:t>Y</a:t>
              </a:r>
              <a:endPar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22" name="Text Box 55"/>
            <p:cNvSpPr txBox="1">
              <a:spLocks noChangeArrowheads="1"/>
            </p:cNvSpPr>
            <p:nvPr/>
          </p:nvSpPr>
          <p:spPr bwMode="auto">
            <a:xfrm>
              <a:off x="3985" y="1641"/>
              <a:ext cx="285" cy="251"/>
            </a:xfrm>
            <a:prstGeom prst="rect">
              <a:avLst/>
            </a:prstGeom>
            <a:noFill/>
            <a:ln w="9525" cap="sq">
              <a:noFill/>
              <a:miter lim="800000"/>
            </a:ln>
            <a:effectLst>
              <a:prstShdw prst="shdw17" dist="17961" dir="2700000">
                <a:schemeClr val="tx1">
                  <a:gamma/>
                  <a:shade val="60000"/>
                  <a:invGamma/>
                </a:schemeClr>
              </a:prstShdw>
            </a:effectLst>
          </p:spPr>
          <p:txBody>
            <a:bodyPr wrap="none" anchor="ct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rPr>
                <a:t>N</a:t>
              </a:r>
              <a:endPar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23" name="Text Box 56"/>
            <p:cNvSpPr txBox="1">
              <a:spLocks noChangeArrowheads="1"/>
            </p:cNvSpPr>
            <p:nvPr/>
          </p:nvSpPr>
          <p:spPr bwMode="auto">
            <a:xfrm>
              <a:off x="4490" y="2241"/>
              <a:ext cx="284" cy="250"/>
            </a:xfrm>
            <a:prstGeom prst="rect">
              <a:avLst/>
            </a:prstGeom>
            <a:noFill/>
            <a:ln w="9525" cap="sq">
              <a:noFill/>
              <a:miter lim="800000"/>
            </a:ln>
            <a:effectLst>
              <a:prstShdw prst="shdw17" dist="17961" dir="2700000">
                <a:schemeClr val="tx1">
                  <a:gamma/>
                  <a:shade val="60000"/>
                  <a:invGamma/>
                </a:schemeClr>
              </a:prstShdw>
            </a:effectLst>
          </p:spPr>
          <p:txBody>
            <a:bodyPr wrap="none" anchor="ct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rPr>
                <a:t>Y</a:t>
              </a:r>
              <a:endPar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24" name="Text Box 57"/>
            <p:cNvSpPr txBox="1">
              <a:spLocks noChangeArrowheads="1"/>
            </p:cNvSpPr>
            <p:nvPr/>
          </p:nvSpPr>
          <p:spPr bwMode="auto">
            <a:xfrm>
              <a:off x="4010" y="2817"/>
              <a:ext cx="284" cy="251"/>
            </a:xfrm>
            <a:prstGeom prst="rect">
              <a:avLst/>
            </a:prstGeom>
            <a:noFill/>
            <a:ln w="9525" cap="sq">
              <a:noFill/>
              <a:miter lim="800000"/>
            </a:ln>
            <a:effectLst>
              <a:prstShdw prst="shdw17" dist="17961" dir="2700000">
                <a:schemeClr val="tx1">
                  <a:gamma/>
                  <a:shade val="60000"/>
                  <a:invGamma/>
                </a:schemeClr>
              </a:prstShdw>
            </a:effectLst>
          </p:spPr>
          <p:txBody>
            <a:bodyPr wrap="none" anchor="ct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rPr>
                <a:t>N</a:t>
              </a:r>
              <a:endParaRPr kumimoji="0" lang="en-US" altLang="zh-CN" sz="16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grpSp>
      <p:sp>
        <p:nvSpPr>
          <p:cNvPr id="25" name="Text Box 42"/>
          <p:cNvSpPr txBox="1">
            <a:spLocks noChangeArrowheads="1"/>
          </p:cNvSpPr>
          <p:nvPr/>
        </p:nvSpPr>
        <p:spPr bwMode="auto">
          <a:xfrm>
            <a:off x="4143375" y="2643188"/>
            <a:ext cx="4716463" cy="1938338"/>
          </a:xfrm>
          <a:prstGeom prst="rect">
            <a:avLst/>
          </a:prstGeom>
          <a:noFill/>
          <a:ln w="9525" cap="sq">
            <a:noFill/>
            <a:miter lim="800000"/>
          </a:ln>
          <a:effectLst>
            <a:prstShdw prst="shdw17" dist="17961" dir="2700000">
              <a:schemeClr val="tx1">
                <a:gamma/>
                <a:shade val="60000"/>
                <a:invGamma/>
              </a:schemeClr>
            </a:prstShdw>
          </a:effectLst>
        </p:spPr>
        <p:txBody>
          <a:bodyPr anchor="ctr">
            <a:spAutoFit/>
          </a:bodyPr>
          <a:lstStyle/>
          <a:p>
            <a:pPr marR="0" defTabSz="914400" eaLnBrk="1" hangingPunct="1">
              <a:buClrTx/>
              <a:buSzTx/>
              <a:buFontTx/>
              <a:buNone/>
              <a:defRPr/>
            </a:pPr>
            <a:r>
              <a:rPr kumimoji="0" lang="zh-CN" altLang="en-US" sz="2400" kern="1200" cap="none" spc="0" normalizeH="0" baseline="0" noProof="0" dirty="0">
                <a:solidFill>
                  <a:srgbClr val="333333"/>
                </a:solidFill>
                <a:latin typeface="楷体_GB2312" pitchFamily="49" charset="-122"/>
                <a:ea typeface="楷体_GB2312" pitchFamily="49" charset="-122"/>
                <a:cs typeface="+mn-cs"/>
              </a:rPr>
              <a:t>满足以下覆盖情况：</a:t>
            </a:r>
            <a:endParaRPr kumimoji="0" lang="zh-CN" altLang="en-US" sz="2400" kern="1200" cap="none" spc="0" normalizeH="0" baseline="0" noProof="0" dirty="0">
              <a:solidFill>
                <a:srgbClr val="333333"/>
              </a:solidFill>
              <a:latin typeface="楷体_GB2312" pitchFamily="49" charset="-122"/>
              <a:ea typeface="楷体_GB2312" pitchFamily="49" charset="-122"/>
              <a:cs typeface="+mn-cs"/>
            </a:endParaRPr>
          </a:p>
          <a:p>
            <a:pPr marR="0" defTabSz="914400" eaLnBrk="1" hangingPunct="1">
              <a:buClrTx/>
              <a:buSzTx/>
              <a:buFontTx/>
              <a:buNone/>
              <a:defRPr/>
            </a:pPr>
            <a:r>
              <a:rPr kumimoji="0" lang="zh-CN" altLang="en-US" sz="2400" kern="1200" cap="none" spc="0" normalizeH="0" baseline="0" noProof="0" dirty="0">
                <a:solidFill>
                  <a:srgbClr val="333333"/>
                </a:solidFill>
                <a:latin typeface="楷体_GB2312" pitchFamily="49" charset="-122"/>
                <a:ea typeface="楷体_GB2312" pitchFamily="49" charset="-122"/>
                <a:cs typeface="+mn-cs"/>
              </a:rPr>
              <a:t>① </a:t>
            </a:r>
            <a:r>
              <a:rPr kumimoji="0" lang="en-US" altLang="zh-CN" sz="2400" kern="1200" cap="none" spc="0" normalizeH="0" baseline="0" noProof="0" dirty="0">
                <a:solidFill>
                  <a:srgbClr val="333333"/>
                </a:solidFill>
                <a:latin typeface="楷体_GB2312" pitchFamily="49" charset="-122"/>
                <a:ea typeface="楷体_GB2312" pitchFamily="49" charset="-122"/>
                <a:cs typeface="+mn-cs"/>
              </a:rPr>
              <a:t>A&gt;1, B =0  ② A&gt;1, B≠0</a:t>
            </a:r>
            <a:endParaRPr kumimoji="0" lang="en-US" altLang="zh-CN" sz="2400" kern="1200" cap="none" spc="0" normalizeH="0" baseline="0" noProof="0" dirty="0">
              <a:solidFill>
                <a:srgbClr val="333333"/>
              </a:solidFill>
              <a:latin typeface="楷体_GB2312" pitchFamily="49" charset="-122"/>
              <a:ea typeface="楷体_GB2312" pitchFamily="49" charset="-122"/>
              <a:cs typeface="+mn-cs"/>
            </a:endParaRPr>
          </a:p>
          <a:p>
            <a:pPr marR="0" defTabSz="914400" eaLnBrk="1" hangingPunct="1">
              <a:buClrTx/>
              <a:buSzTx/>
              <a:buFontTx/>
              <a:buNone/>
              <a:defRPr/>
            </a:pPr>
            <a:r>
              <a:rPr kumimoji="0" lang="en-US" altLang="zh-CN" sz="2400" kern="1200" cap="none" spc="0" normalizeH="0" baseline="0" noProof="0" dirty="0">
                <a:solidFill>
                  <a:srgbClr val="333333"/>
                </a:solidFill>
                <a:latin typeface="楷体_GB2312" pitchFamily="49" charset="-122"/>
                <a:ea typeface="楷体_GB2312" pitchFamily="49" charset="-122"/>
                <a:cs typeface="+mn-cs"/>
              </a:rPr>
              <a:t>③ A≤1, B =0 ④ A≤1, B≠0 </a:t>
            </a:r>
            <a:endParaRPr kumimoji="0" lang="en-US" altLang="zh-CN" sz="2400" kern="1200" cap="none" spc="0" normalizeH="0" baseline="0" noProof="0" dirty="0">
              <a:solidFill>
                <a:srgbClr val="333333"/>
              </a:solidFill>
              <a:latin typeface="楷体_GB2312" pitchFamily="49" charset="-122"/>
              <a:ea typeface="楷体_GB2312" pitchFamily="49" charset="-122"/>
              <a:cs typeface="+mn-cs"/>
            </a:endParaRPr>
          </a:p>
          <a:p>
            <a:pPr marR="0" defTabSz="914400" eaLnBrk="1" hangingPunct="1">
              <a:buClrTx/>
              <a:buSzTx/>
              <a:buFontTx/>
              <a:buNone/>
              <a:defRPr/>
            </a:pPr>
            <a:r>
              <a:rPr kumimoji="0" lang="en-US" altLang="zh-CN" sz="2400" kern="1200" cap="none" spc="0" normalizeH="0" baseline="0" noProof="0" dirty="0">
                <a:solidFill>
                  <a:srgbClr val="333333"/>
                </a:solidFill>
                <a:latin typeface="楷体_GB2312" pitchFamily="49" charset="-122"/>
                <a:ea typeface="楷体_GB2312" pitchFamily="49" charset="-122"/>
                <a:cs typeface="+mn-cs"/>
              </a:rPr>
              <a:t>⑤ A=2, X&gt;1   ⑥ A=2,  X≤1 </a:t>
            </a:r>
            <a:endParaRPr kumimoji="0" lang="en-US" altLang="zh-CN" sz="2400" kern="1200" cap="none" spc="0" normalizeH="0" baseline="0" noProof="0" dirty="0">
              <a:solidFill>
                <a:srgbClr val="333333"/>
              </a:solidFill>
              <a:latin typeface="楷体_GB2312" pitchFamily="49" charset="-122"/>
              <a:ea typeface="楷体_GB2312" pitchFamily="49" charset="-122"/>
              <a:cs typeface="+mn-cs"/>
            </a:endParaRPr>
          </a:p>
          <a:p>
            <a:pPr marR="0" defTabSz="914400" eaLnBrk="1" hangingPunct="1">
              <a:buClrTx/>
              <a:buSzTx/>
              <a:buFontTx/>
              <a:buNone/>
              <a:defRPr/>
            </a:pPr>
            <a:r>
              <a:rPr kumimoji="0" lang="en-US" altLang="zh-CN" sz="2400" kern="1200" cap="none" spc="0" normalizeH="0" baseline="0" noProof="0" dirty="0">
                <a:solidFill>
                  <a:srgbClr val="333333"/>
                </a:solidFill>
                <a:latin typeface="楷体_GB2312" pitchFamily="49" charset="-122"/>
                <a:ea typeface="楷体_GB2312" pitchFamily="49" charset="-122"/>
                <a:cs typeface="+mn-cs"/>
              </a:rPr>
              <a:t>⑦ A≠2, X&gt;1  ⑧ A≠2, X≤1</a:t>
            </a:r>
            <a:endParaRPr kumimoji="0" lang="en-US" altLang="zh-CN" sz="2400" kern="1200" cap="none" spc="0" normalizeH="0" baseline="0" noProof="0" dirty="0">
              <a:solidFill>
                <a:srgbClr val="333333"/>
              </a:solidFill>
              <a:latin typeface="楷体_GB2312" pitchFamily="49" charset="-122"/>
              <a:ea typeface="楷体_GB2312" pitchFamily="49" charset="-122"/>
              <a:cs typeface="+mn-cs"/>
            </a:endParaRPr>
          </a:p>
        </p:txBody>
      </p:sp>
      <p:sp>
        <p:nvSpPr>
          <p:cNvPr id="27" name="Text Box 44"/>
          <p:cNvSpPr txBox="1">
            <a:spLocks noChangeArrowheads="1"/>
          </p:cNvSpPr>
          <p:nvPr/>
        </p:nvSpPr>
        <p:spPr bwMode="auto">
          <a:xfrm>
            <a:off x="4143375" y="4572000"/>
            <a:ext cx="4176713" cy="1938338"/>
          </a:xfrm>
          <a:prstGeom prst="rect">
            <a:avLst/>
          </a:prstGeom>
          <a:noFill/>
          <a:ln w="9525" cap="sq">
            <a:noFill/>
            <a:miter lim="800000"/>
          </a:ln>
          <a:effectLst>
            <a:prstShdw prst="shdw17" dist="17961" dir="2700000">
              <a:schemeClr val="tx1">
                <a:gamma/>
                <a:shade val="60000"/>
                <a:invGamma/>
              </a:schemeClr>
            </a:prstShdw>
          </a:effectLst>
        </p:spPr>
        <p:txBody>
          <a:bodyPr anchor="ctr">
            <a:spAutoFit/>
          </a:bodyPr>
          <a:lstStyle/>
          <a:p>
            <a:pPr marR="0" defTabSz="914400" eaLnBrk="1" hangingPunct="1">
              <a:buClrTx/>
              <a:buSzTx/>
              <a:buFontTx/>
              <a:buNone/>
              <a:defRPr/>
            </a:pPr>
            <a:r>
              <a:rPr kumimoji="0" lang="zh-CN" altLang="en-US" sz="2400" kern="1200" cap="none" spc="0" normalizeH="0" baseline="0" noProof="0" dirty="0">
                <a:solidFill>
                  <a:srgbClr val="333333"/>
                </a:solidFill>
                <a:latin typeface="楷体_GB2312" pitchFamily="49" charset="-122"/>
                <a:ea typeface="楷体_GB2312" pitchFamily="49" charset="-122"/>
                <a:cs typeface="+mn-cs"/>
              </a:rPr>
              <a:t>选择用例：</a:t>
            </a:r>
            <a:endParaRPr kumimoji="0" lang="zh-CN" altLang="en-US" sz="2400" kern="1200" cap="none" spc="0" normalizeH="0" baseline="0" noProof="0" dirty="0">
              <a:solidFill>
                <a:srgbClr val="333333"/>
              </a:solidFill>
              <a:latin typeface="楷体_GB2312" pitchFamily="49" charset="-122"/>
              <a:ea typeface="楷体_GB2312" pitchFamily="49" charset="-122"/>
              <a:cs typeface="+mn-cs"/>
            </a:endParaRPr>
          </a:p>
          <a:p>
            <a:pPr marR="0" defTabSz="914400" eaLnBrk="1" hangingPunct="1">
              <a:buClrTx/>
              <a:buSzTx/>
              <a:buFontTx/>
              <a:buNone/>
              <a:defRPr/>
            </a:pPr>
            <a:r>
              <a:rPr kumimoji="0" lang="en-US" altLang="zh-CN" sz="2400" kern="1200" cap="none" spc="0" normalizeH="0" baseline="0" noProof="0" dirty="0">
                <a:solidFill>
                  <a:srgbClr val="333333"/>
                </a:solidFill>
                <a:latin typeface="楷体_GB2312" pitchFamily="49" charset="-122"/>
                <a:ea typeface="楷体_GB2312" pitchFamily="49" charset="-122"/>
                <a:cs typeface="+mn-cs"/>
              </a:rPr>
              <a:t>[(2,0,4),(2,0,3)] ① ⑤</a:t>
            </a:r>
            <a:endParaRPr kumimoji="0" lang="en-US" altLang="zh-CN" sz="2400" kern="1200" cap="none" spc="0" normalizeH="0" baseline="0" noProof="0" dirty="0">
              <a:solidFill>
                <a:srgbClr val="333333"/>
              </a:solidFill>
              <a:latin typeface="楷体_GB2312" pitchFamily="49" charset="-122"/>
              <a:ea typeface="楷体_GB2312" pitchFamily="49" charset="-122"/>
              <a:cs typeface="+mn-cs"/>
            </a:endParaRPr>
          </a:p>
          <a:p>
            <a:pPr marR="0" defTabSz="914400" eaLnBrk="1" hangingPunct="1">
              <a:buClrTx/>
              <a:buSzTx/>
              <a:buFontTx/>
              <a:buNone/>
              <a:defRPr/>
            </a:pPr>
            <a:r>
              <a:rPr kumimoji="0" lang="en-US" altLang="zh-CN" sz="2400" kern="1200" cap="none" spc="0" normalizeH="0" baseline="0" noProof="0" dirty="0">
                <a:solidFill>
                  <a:srgbClr val="333333"/>
                </a:solidFill>
                <a:latin typeface="楷体_GB2312" pitchFamily="49" charset="-122"/>
                <a:ea typeface="楷体_GB2312" pitchFamily="49" charset="-122"/>
                <a:cs typeface="+mn-cs"/>
              </a:rPr>
              <a:t>[(2,1,1),(2,1,2)] ② ⑥ [(1,0,3),(1,0,4)] ③ ⑦</a:t>
            </a:r>
            <a:endParaRPr kumimoji="0" lang="en-US" altLang="zh-CN" sz="2400" kern="1200" cap="none" spc="0" normalizeH="0" baseline="0" noProof="0" dirty="0">
              <a:solidFill>
                <a:srgbClr val="333333"/>
              </a:solidFill>
              <a:latin typeface="楷体_GB2312" pitchFamily="49" charset="-122"/>
              <a:ea typeface="楷体_GB2312" pitchFamily="49" charset="-122"/>
              <a:cs typeface="+mn-cs"/>
            </a:endParaRPr>
          </a:p>
          <a:p>
            <a:pPr marR="0" defTabSz="914400" eaLnBrk="1" hangingPunct="1">
              <a:buClrTx/>
              <a:buSzTx/>
              <a:buFontTx/>
              <a:buNone/>
              <a:defRPr/>
            </a:pPr>
            <a:r>
              <a:rPr kumimoji="0" lang="en-US" altLang="zh-CN" sz="2400" kern="1200" cap="none" spc="0" normalizeH="0" baseline="0" noProof="0" dirty="0">
                <a:solidFill>
                  <a:srgbClr val="333333"/>
                </a:solidFill>
                <a:latin typeface="楷体_GB2312" pitchFamily="49" charset="-122"/>
                <a:ea typeface="楷体_GB2312" pitchFamily="49" charset="-122"/>
                <a:cs typeface="+mn-cs"/>
              </a:rPr>
              <a:t>[(1,1,1),(1,1,1)] ④ ⑧</a:t>
            </a:r>
            <a:endParaRPr kumimoji="0" lang="en-US" altLang="zh-CN" sz="2400" kern="1200" cap="none" spc="0" normalizeH="0" baseline="0" noProof="0" dirty="0">
              <a:solidFill>
                <a:srgbClr val="333333"/>
              </a:solidFill>
              <a:latin typeface="楷体_GB2312" pitchFamily="49" charset="-122"/>
              <a:ea typeface="楷体_GB2312" pitchFamily="49" charset="-122"/>
              <a:cs typeface="+mn-cs"/>
            </a:endParaRPr>
          </a:p>
        </p:txBody>
      </p:sp>
      <p:sp>
        <p:nvSpPr>
          <p:cNvPr id="28" name="Text Box 37"/>
          <p:cNvSpPr txBox="1">
            <a:spLocks noChangeArrowheads="1"/>
          </p:cNvSpPr>
          <p:nvPr/>
        </p:nvSpPr>
        <p:spPr bwMode="auto">
          <a:xfrm>
            <a:off x="1090613" y="2487613"/>
            <a:ext cx="361950" cy="519113"/>
          </a:xfrm>
          <a:prstGeom prst="rect">
            <a:avLst/>
          </a:prstGeom>
          <a:noFill/>
          <a:ln w="9525" cap="sq">
            <a:noFill/>
            <a:miter lim="800000"/>
          </a:ln>
          <a:effectLst>
            <a:prstShdw prst="shdw17" dist="17961" dir="2700000">
              <a:schemeClr val="tx1">
                <a:gamma/>
                <a:shade val="60000"/>
                <a:invGamma/>
              </a:schemeClr>
            </a:prstShdw>
          </a:effectLst>
        </p:spPr>
        <p:txBody>
          <a:bodyPr wrap="none">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rPr>
              <a:t>a</a:t>
            </a:r>
            <a:endPar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sp>
        <p:nvSpPr>
          <p:cNvPr id="29" name="Text Box 38"/>
          <p:cNvSpPr txBox="1">
            <a:spLocks noChangeArrowheads="1"/>
          </p:cNvSpPr>
          <p:nvPr/>
        </p:nvSpPr>
        <p:spPr bwMode="auto">
          <a:xfrm>
            <a:off x="1136650" y="4071938"/>
            <a:ext cx="530225" cy="519113"/>
          </a:xfrm>
          <a:prstGeom prst="rect">
            <a:avLst/>
          </a:prstGeom>
          <a:noFill/>
          <a:ln w="9525" cap="sq">
            <a:noFill/>
            <a:miter lim="800000"/>
          </a:ln>
          <a:effectLst>
            <a:prstShdw prst="shdw17" dist="17961" dir="2700000">
              <a:schemeClr val="tx1">
                <a:gamma/>
                <a:shade val="60000"/>
                <a:invGamma/>
              </a:schemeClr>
            </a:prstShdw>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rPr>
              <a:t>b</a:t>
            </a:r>
            <a:endPar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sp>
        <p:nvSpPr>
          <p:cNvPr id="30" name="Text Box 39"/>
          <p:cNvSpPr txBox="1">
            <a:spLocks noChangeArrowheads="1"/>
          </p:cNvSpPr>
          <p:nvPr/>
        </p:nvSpPr>
        <p:spPr bwMode="auto">
          <a:xfrm>
            <a:off x="2597150" y="3090863"/>
            <a:ext cx="509588" cy="519113"/>
          </a:xfrm>
          <a:prstGeom prst="rect">
            <a:avLst/>
          </a:prstGeom>
          <a:noFill/>
          <a:ln w="9525" cap="sq">
            <a:noFill/>
            <a:miter lim="800000"/>
          </a:ln>
          <a:effectLst>
            <a:prstShdw prst="shdw17" dist="17961" dir="2700000">
              <a:schemeClr val="tx1">
                <a:gamma/>
                <a:shade val="60000"/>
                <a:invGamma/>
              </a:schemeClr>
            </a:prstShdw>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rPr>
              <a:t>c</a:t>
            </a:r>
            <a:endPar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sp>
        <p:nvSpPr>
          <p:cNvPr id="31" name="Text Box 40"/>
          <p:cNvSpPr txBox="1">
            <a:spLocks noChangeArrowheads="1"/>
          </p:cNvSpPr>
          <p:nvPr/>
        </p:nvSpPr>
        <p:spPr bwMode="auto">
          <a:xfrm>
            <a:off x="1166813" y="5695950"/>
            <a:ext cx="538163" cy="519113"/>
          </a:xfrm>
          <a:prstGeom prst="rect">
            <a:avLst/>
          </a:prstGeom>
          <a:noFill/>
          <a:ln w="9525" cap="sq">
            <a:noFill/>
            <a:miter lim="800000"/>
          </a:ln>
          <a:effectLst>
            <a:prstShdw prst="shdw17" dist="17961" dir="2700000">
              <a:schemeClr val="tx1">
                <a:gamma/>
                <a:shade val="60000"/>
                <a:invGamma/>
              </a:schemeClr>
            </a:prstShdw>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rPr>
              <a:t>d</a:t>
            </a:r>
            <a:endPar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sp>
        <p:nvSpPr>
          <p:cNvPr id="32" name="Text Box 41"/>
          <p:cNvSpPr txBox="1">
            <a:spLocks noChangeArrowheads="1"/>
          </p:cNvSpPr>
          <p:nvPr/>
        </p:nvSpPr>
        <p:spPr bwMode="auto">
          <a:xfrm>
            <a:off x="2673350" y="4643438"/>
            <a:ext cx="447675" cy="519113"/>
          </a:xfrm>
          <a:prstGeom prst="rect">
            <a:avLst/>
          </a:prstGeom>
          <a:noFill/>
          <a:ln w="9525" cap="sq">
            <a:noFill/>
            <a:miter lim="800000"/>
          </a:ln>
          <a:effectLst>
            <a:prstShdw prst="shdw17" dist="17961" dir="2700000">
              <a:schemeClr val="tx1">
                <a:gamma/>
                <a:shade val="60000"/>
                <a:invGamma/>
              </a:schemeClr>
            </a:prstShdw>
          </a:effec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rPr>
              <a:t>e</a:t>
            </a:r>
            <a:endParaRPr kumimoji="0" lang="en-US" altLang="zh-CN" sz="2800" b="0" i="0" u="none" strike="noStrike" kern="1200" cap="none" spc="0" normalizeH="0" baseline="0" noProof="0">
              <a:ln>
                <a:noFill/>
              </a:ln>
              <a:solidFill>
                <a:schemeClr val="folHlink"/>
              </a:solidFill>
              <a:effectLst/>
              <a:uLnTx/>
              <a:uFillTx/>
              <a:latin typeface="Times New Roman" panose="02020603050405020304" pitchFamily="18" charset="0"/>
              <a:ea typeface="宋体" panose="02010600030101010101" pitchFamily="2" charset="-122"/>
              <a:cs typeface="+mn-cs"/>
            </a:endParaRPr>
          </a:p>
        </p:txBody>
      </p:sp>
      <p:sp>
        <p:nvSpPr>
          <p:cNvPr id="43021"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内容占位符 2"/>
          <p:cNvSpPr>
            <a:spLocks noGrp="1"/>
          </p:cNvSpPr>
          <p:nvPr>
            <p:ph idx="1"/>
          </p:nvPr>
        </p:nvSpPr>
        <p:spPr>
          <a:xfrm>
            <a:off x="428625" y="1214438"/>
            <a:ext cx="8286750"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2.</a:t>
            </a:r>
            <a:r>
              <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基于控制结构测试</a:t>
            </a:r>
            <a:endPar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1</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）基于路径测试</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是在流图的基础上，通过计算环形复杂度，导出基本路径集合，从而设计测试用例， 保证这些路径至少通过一次。</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基本路径测试的步骤为： </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1</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）根据过程设计的结果画出相应的流图</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2</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）计算流图</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G</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的环形复杂度</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V(G)</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3</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）确定线性独立路径的基本集合</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4</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）设计基本集合中每条路经的测试用例</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sp>
        <p:nvSpPr>
          <p:cNvPr id="44035"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内容占位符 2"/>
          <p:cNvSpPr>
            <a:spLocks noGrp="1"/>
          </p:cNvSpPr>
          <p:nvPr>
            <p:ph idx="1"/>
          </p:nvPr>
        </p:nvSpPr>
        <p:spPr>
          <a:xfrm>
            <a:off x="428625" y="1214438"/>
            <a:ext cx="8286750"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2.</a:t>
            </a:r>
            <a:r>
              <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基于控制结构测试</a:t>
            </a:r>
            <a:endPar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1</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）基于路径测试</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是在流图的基础上，通过计算环形复杂度，导出基本路径集合，从而设计测试用例， 保证这些路径至少通过一次。</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基本路径测试的步骤为： </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1</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）根据过程设计的结果画出相应的流图</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2</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）计算流图</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G</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的环形复杂度</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V(G)</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3</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）确定线性独立路径的基本集合</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4</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）设计基本集合中每条路经的测试用例</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sp>
        <p:nvSpPr>
          <p:cNvPr id="45059"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内容占位符 2"/>
          <p:cNvSpPr>
            <a:spLocks noGrp="1"/>
          </p:cNvSpPr>
          <p:nvPr>
            <p:ph idx="1"/>
          </p:nvPr>
        </p:nvSpPr>
        <p:spPr>
          <a:xfrm>
            <a:off x="428625" y="1214438"/>
            <a:ext cx="8286750"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2.</a:t>
            </a:r>
            <a:r>
              <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基于控制结构测试</a:t>
            </a:r>
            <a:endPar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1</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）基于路径测试</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独立路径是指包括一组以前没有处理的语句或条件的一条路径。用流图术语描述，一条独立路径是至少包含有一条在定义该路径之前不曾用过的边。</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基本路径集不是唯一的，对于给定的程序图，可以得到不同的基本路径集。</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pic>
        <p:nvPicPr>
          <p:cNvPr id="37890" name="Picture 2"/>
          <p:cNvPicPr>
            <a:picLocks noChangeAspect="1" noChangeArrowheads="1"/>
          </p:cNvPicPr>
          <p:nvPr/>
        </p:nvPicPr>
        <p:blipFill>
          <a:blip r:embed="rId1"/>
          <a:srcRect/>
          <a:stretch>
            <a:fillRect/>
          </a:stretch>
        </p:blipFill>
        <p:spPr bwMode="auto">
          <a:xfrm>
            <a:off x="1143000" y="3429000"/>
            <a:ext cx="6588125" cy="2305050"/>
          </a:xfrm>
          <a:prstGeom prst="rect">
            <a:avLst/>
          </a:prstGeom>
          <a:noFill/>
          <a:ln w="9525">
            <a:noFill/>
            <a:miter lim="800000"/>
            <a:headEnd/>
            <a:tailEnd/>
          </a:ln>
          <a:effectLst>
            <a:prstShdw prst="shdw17" dist="17961" dir="2700000">
              <a:schemeClr val="accent1">
                <a:gamma/>
                <a:shade val="60000"/>
                <a:invGamma/>
              </a:schemeClr>
            </a:prstShdw>
          </a:effectLst>
        </p:spPr>
      </p:pic>
      <p:sp>
        <p:nvSpPr>
          <p:cNvPr id="46084"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内容占位符 2"/>
          <p:cNvSpPr>
            <a:spLocks noGrp="1"/>
          </p:cNvSpPr>
          <p:nvPr>
            <p:ph idx="1"/>
          </p:nvPr>
        </p:nvSpPr>
        <p:spPr>
          <a:xfrm>
            <a:off x="428625" y="1571625"/>
            <a:ext cx="8286750" cy="5000625"/>
          </a:xfrm>
        </p:spPr>
        <p:txBody>
          <a:bodyPr vert="horz" wrap="square" lIns="91440" tIns="45720" rIns="91440" bIns="45720" numCol="1" anchor="t" anchorCtr="0" compatLnSpc="1"/>
          <a:lstStyle/>
          <a:p>
            <a:pPr marL="0" marR="0" lvl="0" indent="0" algn="l" defTabSz="914400" rtl="0" eaLnBrk="1" fontAlgn="base" latinLnBrk="0" hangingPunct="1">
              <a:lnSpc>
                <a:spcPct val="92000"/>
              </a:lnSpc>
              <a:spcBef>
                <a:spcPct val="2000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Procedure average</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2000"/>
              </a:lnSpc>
              <a:spcBef>
                <a:spcPts val="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1:   </a:t>
            </a:r>
            <a:r>
              <a:rPr kumimoji="0" lang="en-US" altLang="zh-CN" sz="2200" b="1" i="0" u="none" strike="noStrike" kern="0" cap="none" spc="0" normalizeH="0" baseline="0" noProof="0" dirty="0" err="1">
                <a:ln>
                  <a:noFill/>
                </a:ln>
                <a:solidFill>
                  <a:schemeClr val="bg2"/>
                </a:solidFill>
                <a:effectLst/>
                <a:uLnTx/>
                <a:uFillTx/>
                <a:latin typeface="宋体" panose="02010600030101010101" pitchFamily="2" charset="-122"/>
                <a:ea typeface="宋体" panose="02010600030101010101" pitchFamily="2" charset="-122"/>
                <a:cs typeface="+mn-cs"/>
              </a:rPr>
              <a:t>i</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=1; </a:t>
            </a:r>
            <a:r>
              <a:rPr kumimoji="0" lang="en-US" altLang="zh-CN" sz="2200" b="1" i="0" u="none" strike="noStrike" kern="0" cap="none" spc="0" normalizeH="0" baseline="0" noProof="0" dirty="0" err="1">
                <a:ln>
                  <a:noFill/>
                </a:ln>
                <a:solidFill>
                  <a:schemeClr val="bg2"/>
                </a:solidFill>
                <a:effectLst/>
                <a:uLnTx/>
                <a:uFillTx/>
                <a:latin typeface="宋体" panose="02010600030101010101" pitchFamily="2" charset="-122"/>
                <a:ea typeface="宋体" panose="02010600030101010101" pitchFamily="2" charset="-122"/>
                <a:cs typeface="+mn-cs"/>
              </a:rPr>
              <a:t>total.input</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en-US" altLang="zh-CN" sz="2200" b="1" i="0" u="none" strike="noStrike" kern="0" cap="none" spc="0" normalizeH="0" baseline="0" noProof="0" dirty="0" err="1">
                <a:ln>
                  <a:noFill/>
                </a:ln>
                <a:solidFill>
                  <a:schemeClr val="bg2"/>
                </a:solidFill>
                <a:effectLst/>
                <a:uLnTx/>
                <a:uFillTx/>
                <a:latin typeface="宋体" panose="02010600030101010101" pitchFamily="2" charset="-122"/>
                <a:ea typeface="宋体" panose="02010600030101010101" pitchFamily="2" charset="-122"/>
                <a:cs typeface="+mn-cs"/>
              </a:rPr>
              <a:t>total.valid</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=0; sum=0;</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2000"/>
              </a:lnSpc>
              <a:spcBef>
                <a:spcPts val="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2:   do while value[</a:t>
            </a:r>
            <a:r>
              <a:rPr kumimoji="0" lang="en-US" altLang="zh-CN" sz="2200" b="1" i="0" u="none" strike="noStrike" kern="0" cap="none" spc="0" normalizeH="0" baseline="0" noProof="0" dirty="0" err="1">
                <a:ln>
                  <a:noFill/>
                </a:ln>
                <a:solidFill>
                  <a:schemeClr val="bg2"/>
                </a:solidFill>
                <a:effectLst/>
                <a:uLnTx/>
                <a:uFillTx/>
                <a:latin typeface="宋体" panose="02010600030101010101" pitchFamily="2" charset="-122"/>
                <a:ea typeface="宋体" panose="02010600030101010101" pitchFamily="2" charset="-122"/>
                <a:cs typeface="+mn-cs"/>
              </a:rPr>
              <a:t>i</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&lt;&gt;-999</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2000"/>
              </a:lnSpc>
              <a:spcBef>
                <a:spcPts val="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3:     and </a:t>
            </a:r>
            <a:r>
              <a:rPr kumimoji="0" lang="en-US" altLang="zh-CN" sz="2200" b="1" i="0" u="none" strike="noStrike" kern="0" cap="none" spc="0" normalizeH="0" baseline="0" noProof="0" dirty="0" err="1">
                <a:ln>
                  <a:noFill/>
                </a:ln>
                <a:solidFill>
                  <a:schemeClr val="bg2"/>
                </a:solidFill>
                <a:effectLst/>
                <a:uLnTx/>
                <a:uFillTx/>
                <a:latin typeface="宋体" panose="02010600030101010101" pitchFamily="2" charset="-122"/>
                <a:ea typeface="宋体" panose="02010600030101010101" pitchFamily="2" charset="-122"/>
                <a:cs typeface="+mn-cs"/>
              </a:rPr>
              <a:t>total.input</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&lt;=100</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2000"/>
              </a:lnSpc>
              <a:spcBef>
                <a:spcPts val="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4:   increment </a:t>
            </a:r>
            <a:r>
              <a:rPr kumimoji="0" lang="en-US" altLang="zh-CN" sz="2200" b="1" i="0" u="none" strike="noStrike" kern="0" cap="none" spc="0" normalizeH="0" baseline="0" noProof="0" dirty="0" err="1">
                <a:ln>
                  <a:noFill/>
                </a:ln>
                <a:solidFill>
                  <a:schemeClr val="bg2"/>
                </a:solidFill>
                <a:effectLst/>
                <a:uLnTx/>
                <a:uFillTx/>
                <a:latin typeface="宋体" panose="02010600030101010101" pitchFamily="2" charset="-122"/>
                <a:ea typeface="宋体" panose="02010600030101010101" pitchFamily="2" charset="-122"/>
                <a:cs typeface="+mn-cs"/>
              </a:rPr>
              <a:t>total.input</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by 1;</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2000"/>
              </a:lnSpc>
              <a:spcBef>
                <a:spcPts val="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5:   if value[</a:t>
            </a:r>
            <a:r>
              <a:rPr kumimoji="0" lang="en-US" altLang="zh-CN" sz="2200" b="1" i="0" u="none" strike="noStrike" kern="0" cap="none" spc="0" normalizeH="0" baseline="0" noProof="0" dirty="0" err="1">
                <a:ln>
                  <a:noFill/>
                </a:ln>
                <a:solidFill>
                  <a:schemeClr val="bg2"/>
                </a:solidFill>
                <a:effectLst/>
                <a:uLnTx/>
                <a:uFillTx/>
                <a:latin typeface="宋体" panose="02010600030101010101" pitchFamily="2" charset="-122"/>
                <a:ea typeface="宋体" panose="02010600030101010101" pitchFamily="2" charset="-122"/>
                <a:cs typeface="+mn-cs"/>
              </a:rPr>
              <a:t>i</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]&gt;=minimum</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2000"/>
              </a:lnSpc>
              <a:spcBef>
                <a:spcPts val="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6:      and value[</a:t>
            </a:r>
            <a:r>
              <a:rPr kumimoji="0" lang="en-US" altLang="zh-CN" sz="2200" b="1" i="0" u="none" strike="noStrike" kern="0" cap="none" spc="0" normalizeH="0" baseline="0" noProof="0" dirty="0" err="1">
                <a:ln>
                  <a:noFill/>
                </a:ln>
                <a:solidFill>
                  <a:schemeClr val="bg2"/>
                </a:solidFill>
                <a:effectLst/>
                <a:uLnTx/>
                <a:uFillTx/>
                <a:latin typeface="宋体" panose="02010600030101010101" pitchFamily="2" charset="-122"/>
                <a:ea typeface="宋体" panose="02010600030101010101" pitchFamily="2" charset="-122"/>
                <a:cs typeface="+mn-cs"/>
              </a:rPr>
              <a:t>i</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]&lt;=maximum</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2000"/>
              </a:lnSpc>
              <a:spcBef>
                <a:spcPts val="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7:   then increment </a:t>
            </a:r>
            <a:r>
              <a:rPr kumimoji="0" lang="en-US" altLang="zh-CN" sz="2200" b="1" i="0" u="none" strike="noStrike" kern="0" cap="none" spc="0" normalizeH="0" baseline="0" noProof="0" dirty="0" err="1">
                <a:ln>
                  <a:noFill/>
                </a:ln>
                <a:solidFill>
                  <a:schemeClr val="bg2"/>
                </a:solidFill>
                <a:effectLst/>
                <a:uLnTx/>
                <a:uFillTx/>
                <a:latin typeface="宋体" panose="02010600030101010101" pitchFamily="2" charset="-122"/>
                <a:ea typeface="宋体" panose="02010600030101010101" pitchFamily="2" charset="-122"/>
                <a:cs typeface="+mn-cs"/>
              </a:rPr>
              <a:t>total.valid</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by 1;</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2000"/>
              </a:lnSpc>
              <a:spcBef>
                <a:spcPts val="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sum=</a:t>
            </a:r>
            <a:r>
              <a:rPr kumimoji="0" lang="en-US" altLang="zh-CN" sz="2200" b="1" i="0" u="none" strike="noStrike" kern="0" cap="none" spc="0" normalizeH="0" baseline="0" noProof="0" dirty="0" err="1">
                <a:ln>
                  <a:noFill/>
                </a:ln>
                <a:solidFill>
                  <a:schemeClr val="bg2"/>
                </a:solidFill>
                <a:effectLst/>
                <a:uLnTx/>
                <a:uFillTx/>
                <a:latin typeface="宋体" panose="02010600030101010101" pitchFamily="2" charset="-122"/>
                <a:ea typeface="宋体" panose="02010600030101010101" pitchFamily="2" charset="-122"/>
                <a:cs typeface="+mn-cs"/>
              </a:rPr>
              <a:t>sum+value</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en-US" altLang="zh-CN" sz="2200" b="1" i="0" u="none" strike="noStrike" kern="0" cap="none" spc="0" normalizeH="0" baseline="0" noProof="0" dirty="0" err="1">
                <a:ln>
                  <a:noFill/>
                </a:ln>
                <a:solidFill>
                  <a:schemeClr val="bg2"/>
                </a:solidFill>
                <a:effectLst/>
                <a:uLnTx/>
                <a:uFillTx/>
                <a:latin typeface="宋体" panose="02010600030101010101" pitchFamily="2" charset="-122"/>
                <a:ea typeface="宋体" panose="02010600030101010101" pitchFamily="2" charset="-122"/>
                <a:cs typeface="+mn-cs"/>
              </a:rPr>
              <a:t>i</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2000"/>
              </a:lnSpc>
              <a:spcBef>
                <a:spcPts val="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8:   </a:t>
            </a:r>
            <a:r>
              <a:rPr kumimoji="0" lang="en-US" altLang="zh-CN" sz="2200" b="1" i="0" u="none" strike="noStrike" kern="0" cap="none" spc="0" normalizeH="0" baseline="0" noProof="0" dirty="0" err="1">
                <a:ln>
                  <a:noFill/>
                </a:ln>
                <a:solidFill>
                  <a:schemeClr val="bg2"/>
                </a:solidFill>
                <a:effectLst/>
                <a:uLnTx/>
                <a:uFillTx/>
                <a:latin typeface="宋体" panose="02010600030101010101" pitchFamily="2" charset="-122"/>
                <a:ea typeface="宋体" panose="02010600030101010101" pitchFamily="2" charset="-122"/>
                <a:cs typeface="+mn-cs"/>
              </a:rPr>
              <a:t>endif</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2000"/>
              </a:lnSpc>
              <a:spcBef>
                <a:spcPts val="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increment </a:t>
            </a:r>
            <a:r>
              <a:rPr kumimoji="0" lang="en-US" altLang="zh-CN" sz="2200" b="1" i="0" u="none" strike="noStrike" kern="0" cap="none" spc="0" normalizeH="0" baseline="0" noProof="0" dirty="0" err="1">
                <a:ln>
                  <a:noFill/>
                </a:ln>
                <a:solidFill>
                  <a:schemeClr val="bg2"/>
                </a:solidFill>
                <a:effectLst/>
                <a:uLnTx/>
                <a:uFillTx/>
                <a:latin typeface="宋体" panose="02010600030101010101" pitchFamily="2" charset="-122"/>
                <a:ea typeface="宋体" panose="02010600030101010101" pitchFamily="2" charset="-122"/>
                <a:cs typeface="+mn-cs"/>
              </a:rPr>
              <a:t>i</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by 1;</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2000"/>
              </a:lnSpc>
              <a:spcBef>
                <a:spcPts val="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9:   </a:t>
            </a:r>
            <a:r>
              <a:rPr kumimoji="0" lang="en-US" altLang="zh-CN" sz="2200" b="1" i="0" u="none" strike="noStrike" kern="0" cap="none" spc="0" normalizeH="0" baseline="0" noProof="0" dirty="0" err="1">
                <a:ln>
                  <a:noFill/>
                </a:ln>
                <a:solidFill>
                  <a:schemeClr val="bg2"/>
                </a:solidFill>
                <a:effectLst/>
                <a:uLnTx/>
                <a:uFillTx/>
                <a:latin typeface="宋体" panose="02010600030101010101" pitchFamily="2" charset="-122"/>
                <a:ea typeface="宋体" panose="02010600030101010101" pitchFamily="2" charset="-122"/>
                <a:cs typeface="+mn-cs"/>
              </a:rPr>
              <a:t>enddo</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2000"/>
              </a:lnSpc>
              <a:spcBef>
                <a:spcPts val="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10:  if </a:t>
            </a:r>
            <a:r>
              <a:rPr kumimoji="0" lang="en-US" altLang="zh-CN" sz="2200" b="1" i="0" u="none" strike="noStrike" kern="0" cap="none" spc="0" normalizeH="0" baseline="0" noProof="0" dirty="0" err="1">
                <a:ln>
                  <a:noFill/>
                </a:ln>
                <a:solidFill>
                  <a:schemeClr val="bg2"/>
                </a:solidFill>
                <a:effectLst/>
                <a:uLnTx/>
                <a:uFillTx/>
                <a:latin typeface="宋体" panose="02010600030101010101" pitchFamily="2" charset="-122"/>
                <a:ea typeface="宋体" panose="02010600030101010101" pitchFamily="2" charset="-122"/>
                <a:cs typeface="+mn-cs"/>
              </a:rPr>
              <a:t>total.valid</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&gt;0</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2000"/>
              </a:lnSpc>
              <a:spcBef>
                <a:spcPts val="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11:  then average=sum/</a:t>
            </a:r>
            <a:r>
              <a:rPr kumimoji="0" lang="en-US" altLang="zh-CN" sz="2200" b="1" i="0" u="none" strike="noStrike" kern="0" cap="none" spc="0" normalizeH="0" baseline="0" noProof="0" dirty="0" err="1">
                <a:ln>
                  <a:noFill/>
                </a:ln>
                <a:solidFill>
                  <a:schemeClr val="bg2"/>
                </a:solidFill>
                <a:effectLst/>
                <a:uLnTx/>
                <a:uFillTx/>
                <a:latin typeface="宋体" panose="02010600030101010101" pitchFamily="2" charset="-122"/>
                <a:ea typeface="宋体" panose="02010600030101010101" pitchFamily="2" charset="-122"/>
                <a:cs typeface="+mn-cs"/>
              </a:rPr>
              <a:t>total.valid</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2000"/>
              </a:lnSpc>
              <a:spcBef>
                <a:spcPts val="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12:  else average=-999</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2000"/>
              </a:lnSpc>
              <a:spcBef>
                <a:spcPts val="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13:  end average</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sp>
        <p:nvSpPr>
          <p:cNvPr id="44035" name="Text Box 4"/>
          <p:cNvSpPr txBox="1"/>
          <p:nvPr/>
        </p:nvSpPr>
        <p:spPr>
          <a:xfrm>
            <a:off x="357188" y="1216025"/>
            <a:ext cx="7143750" cy="4984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lnSpc>
                <a:spcPct val="120000"/>
              </a:lnSpc>
              <a:buSzPct val="80000"/>
              <a:buFontTx/>
              <a:buNone/>
            </a:pPr>
            <a:r>
              <a:rPr lang="zh-CN" altLang="en-US" sz="2200" b="1" dirty="0">
                <a:latin typeface="宋体" panose="02010600030101010101" pitchFamily="2" charset="-122"/>
                <a:ea typeface="宋体" panose="02010600030101010101" pitchFamily="2" charset="-122"/>
              </a:rPr>
              <a:t>例：计算不超过</a:t>
            </a:r>
            <a:r>
              <a:rPr lang="en-US" altLang="zh-CN" sz="2200" b="1" dirty="0">
                <a:latin typeface="宋体" panose="02010600030101010101" pitchFamily="2" charset="-122"/>
                <a:ea typeface="宋体" panose="02010600030101010101" pitchFamily="2" charset="-122"/>
              </a:rPr>
              <a:t>100</a:t>
            </a:r>
            <a:r>
              <a:rPr lang="zh-CN" altLang="en-US" sz="2200" b="1" dirty="0">
                <a:latin typeface="宋体" panose="02010600030101010101" pitchFamily="2" charset="-122"/>
                <a:ea typeface="宋体" panose="02010600030101010101" pitchFamily="2" charset="-122"/>
              </a:rPr>
              <a:t>个在规定值域内的有效数字的平均值</a:t>
            </a:r>
            <a:endParaRPr lang="zh-CN" altLang="en-US" sz="2200" b="1" dirty="0">
              <a:latin typeface="宋体" panose="02010600030101010101" pitchFamily="2" charset="-122"/>
              <a:ea typeface="宋体" panose="02010600030101010101" pitchFamily="2" charset="-122"/>
            </a:endParaRPr>
          </a:p>
        </p:txBody>
      </p:sp>
      <p:sp>
        <p:nvSpPr>
          <p:cNvPr id="47108"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035">
                                            <p:txEl>
                                              <p:charRg st="0" end="2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内容占位符 2"/>
          <p:cNvSpPr>
            <a:spLocks noGrp="1"/>
          </p:cNvSpPr>
          <p:nvPr>
            <p:ph idx="1"/>
          </p:nvPr>
        </p:nvSpPr>
        <p:spPr>
          <a:xfrm>
            <a:off x="428625" y="1714500"/>
            <a:ext cx="8286750" cy="4286250"/>
          </a:xfrm>
        </p:spPr>
        <p:txBody>
          <a:bodyPr vert="horz" wrap="square" lIns="91440" tIns="45720" rIns="91440" bIns="45720" numCol="1" anchor="t" anchorCtr="0" compatLnSpc="1"/>
          <a:lstStyle/>
          <a:p>
            <a:pPr marL="0" marR="0" lvl="0" indent="0" algn="l" defTabSz="914400" rtl="0" eaLnBrk="1" fontAlgn="base" latinLnBrk="0" hangingPunct="1">
              <a:lnSpc>
                <a:spcPct val="92000"/>
              </a:lnSpc>
              <a:spcBef>
                <a:spcPct val="20000"/>
              </a:spcBef>
              <a:spcAft>
                <a:spcPct val="0"/>
              </a:spcAft>
              <a:buClr>
                <a:srgbClr val="A50021"/>
              </a:buClr>
              <a:buSzTx/>
              <a:buFont typeface="Wingdings" panose="05000000000000000000" pitchFamily="2" charset="2"/>
              <a:buNone/>
              <a:defRPr/>
            </a:pPr>
            <a:r>
              <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Procedure average</a:t>
            </a:r>
            <a:endPar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2000"/>
              </a:lnSpc>
              <a:spcBef>
                <a:spcPts val="0"/>
              </a:spcBef>
              <a:spcAft>
                <a:spcPct val="0"/>
              </a:spcAft>
              <a:buClr>
                <a:srgbClr val="A50021"/>
              </a:buClr>
              <a:buSzTx/>
              <a:buFont typeface="Wingdings" panose="05000000000000000000" pitchFamily="2" charset="2"/>
              <a:buNone/>
              <a:defRPr/>
            </a:pPr>
            <a:r>
              <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1:   </a:t>
            </a:r>
            <a:r>
              <a:rPr kumimoji="0" lang="en-US" altLang="zh-CN" sz="1800" b="1" i="0" u="none" strike="noStrike" kern="0" cap="none" spc="0" normalizeH="0" baseline="0" noProof="0" dirty="0" err="1">
                <a:ln>
                  <a:noFill/>
                </a:ln>
                <a:solidFill>
                  <a:schemeClr val="bg2"/>
                </a:solidFill>
                <a:effectLst/>
                <a:uLnTx/>
                <a:uFillTx/>
                <a:latin typeface="宋体" panose="02010600030101010101" pitchFamily="2" charset="-122"/>
                <a:ea typeface="宋体" panose="02010600030101010101" pitchFamily="2" charset="-122"/>
                <a:cs typeface="+mn-cs"/>
              </a:rPr>
              <a:t>i</a:t>
            </a:r>
            <a:r>
              <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=1; </a:t>
            </a:r>
            <a:r>
              <a:rPr kumimoji="0" lang="en-US" altLang="zh-CN" sz="1800" b="1" i="0" u="none" strike="noStrike" kern="0" cap="none" spc="0" normalizeH="0" baseline="0" noProof="0" dirty="0" err="1">
                <a:ln>
                  <a:noFill/>
                </a:ln>
                <a:solidFill>
                  <a:schemeClr val="bg2"/>
                </a:solidFill>
                <a:effectLst/>
                <a:uLnTx/>
                <a:uFillTx/>
                <a:latin typeface="宋体" panose="02010600030101010101" pitchFamily="2" charset="-122"/>
                <a:ea typeface="宋体" panose="02010600030101010101" pitchFamily="2" charset="-122"/>
                <a:cs typeface="+mn-cs"/>
              </a:rPr>
              <a:t>total.input</a:t>
            </a:r>
            <a:r>
              <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en-US" altLang="zh-CN" sz="1800" b="1" i="0" u="none" strike="noStrike" kern="0" cap="none" spc="0" normalizeH="0" baseline="0" noProof="0" dirty="0" err="1">
                <a:ln>
                  <a:noFill/>
                </a:ln>
                <a:solidFill>
                  <a:schemeClr val="bg2"/>
                </a:solidFill>
                <a:effectLst/>
                <a:uLnTx/>
                <a:uFillTx/>
                <a:latin typeface="宋体" panose="02010600030101010101" pitchFamily="2" charset="-122"/>
                <a:ea typeface="宋体" panose="02010600030101010101" pitchFamily="2" charset="-122"/>
                <a:cs typeface="+mn-cs"/>
              </a:rPr>
              <a:t>total.valid</a:t>
            </a:r>
            <a:r>
              <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=0; sum=0;</a:t>
            </a:r>
            <a:endPar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2000"/>
              </a:lnSpc>
              <a:spcBef>
                <a:spcPts val="0"/>
              </a:spcBef>
              <a:spcAft>
                <a:spcPct val="0"/>
              </a:spcAft>
              <a:buClr>
                <a:srgbClr val="A50021"/>
              </a:buClr>
              <a:buSzTx/>
              <a:buFont typeface="Wingdings" panose="05000000000000000000" pitchFamily="2" charset="2"/>
              <a:buNone/>
              <a:defRPr/>
            </a:pPr>
            <a:r>
              <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2:   do while value[</a:t>
            </a:r>
            <a:r>
              <a:rPr kumimoji="0" lang="en-US" altLang="zh-CN" sz="1800" b="1" i="0" u="none" strike="noStrike" kern="0" cap="none" spc="0" normalizeH="0" baseline="0" noProof="0" dirty="0" err="1">
                <a:ln>
                  <a:noFill/>
                </a:ln>
                <a:solidFill>
                  <a:schemeClr val="bg2"/>
                </a:solidFill>
                <a:effectLst/>
                <a:uLnTx/>
                <a:uFillTx/>
                <a:latin typeface="宋体" panose="02010600030101010101" pitchFamily="2" charset="-122"/>
                <a:ea typeface="宋体" panose="02010600030101010101" pitchFamily="2" charset="-122"/>
                <a:cs typeface="+mn-cs"/>
              </a:rPr>
              <a:t>i</a:t>
            </a:r>
            <a:r>
              <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&lt;&gt;-999</a:t>
            </a:r>
            <a:endPar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2000"/>
              </a:lnSpc>
              <a:spcBef>
                <a:spcPts val="0"/>
              </a:spcBef>
              <a:spcAft>
                <a:spcPct val="0"/>
              </a:spcAft>
              <a:buClr>
                <a:srgbClr val="A50021"/>
              </a:buClr>
              <a:buSzTx/>
              <a:buFont typeface="Wingdings" panose="05000000000000000000" pitchFamily="2" charset="2"/>
              <a:buNone/>
              <a:defRPr/>
            </a:pPr>
            <a:r>
              <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3:     and </a:t>
            </a:r>
            <a:r>
              <a:rPr kumimoji="0" lang="en-US" altLang="zh-CN" sz="1800" b="1" i="0" u="none" strike="noStrike" kern="0" cap="none" spc="0" normalizeH="0" baseline="0" noProof="0" dirty="0" err="1">
                <a:ln>
                  <a:noFill/>
                </a:ln>
                <a:solidFill>
                  <a:schemeClr val="bg2"/>
                </a:solidFill>
                <a:effectLst/>
                <a:uLnTx/>
                <a:uFillTx/>
                <a:latin typeface="宋体" panose="02010600030101010101" pitchFamily="2" charset="-122"/>
                <a:ea typeface="宋体" panose="02010600030101010101" pitchFamily="2" charset="-122"/>
                <a:cs typeface="+mn-cs"/>
              </a:rPr>
              <a:t>total.input</a:t>
            </a:r>
            <a:r>
              <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&lt;=100</a:t>
            </a:r>
            <a:endPar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2000"/>
              </a:lnSpc>
              <a:spcBef>
                <a:spcPts val="0"/>
              </a:spcBef>
              <a:spcAft>
                <a:spcPct val="0"/>
              </a:spcAft>
              <a:buClr>
                <a:srgbClr val="A50021"/>
              </a:buClr>
              <a:buSzTx/>
              <a:buFont typeface="Wingdings" panose="05000000000000000000" pitchFamily="2" charset="2"/>
              <a:buNone/>
              <a:defRPr/>
            </a:pPr>
            <a:r>
              <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4:   increment </a:t>
            </a:r>
            <a:r>
              <a:rPr kumimoji="0" lang="en-US" altLang="zh-CN" sz="1800" b="1" i="0" u="none" strike="noStrike" kern="0" cap="none" spc="0" normalizeH="0" baseline="0" noProof="0" dirty="0" err="1">
                <a:ln>
                  <a:noFill/>
                </a:ln>
                <a:solidFill>
                  <a:schemeClr val="bg2"/>
                </a:solidFill>
                <a:effectLst/>
                <a:uLnTx/>
                <a:uFillTx/>
                <a:latin typeface="宋体" panose="02010600030101010101" pitchFamily="2" charset="-122"/>
                <a:ea typeface="宋体" panose="02010600030101010101" pitchFamily="2" charset="-122"/>
                <a:cs typeface="+mn-cs"/>
              </a:rPr>
              <a:t>total.input</a:t>
            </a:r>
            <a:r>
              <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by 1;</a:t>
            </a:r>
            <a:endPar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2000"/>
              </a:lnSpc>
              <a:spcBef>
                <a:spcPts val="0"/>
              </a:spcBef>
              <a:spcAft>
                <a:spcPct val="0"/>
              </a:spcAft>
              <a:buClr>
                <a:srgbClr val="A50021"/>
              </a:buClr>
              <a:buSzTx/>
              <a:buFont typeface="Wingdings" panose="05000000000000000000" pitchFamily="2" charset="2"/>
              <a:buNone/>
              <a:defRPr/>
            </a:pPr>
            <a:r>
              <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5:   if value[</a:t>
            </a:r>
            <a:r>
              <a:rPr kumimoji="0" lang="en-US" altLang="zh-CN" sz="1800" b="1" i="0" u="none" strike="noStrike" kern="0" cap="none" spc="0" normalizeH="0" baseline="0" noProof="0" dirty="0" err="1">
                <a:ln>
                  <a:noFill/>
                </a:ln>
                <a:solidFill>
                  <a:schemeClr val="bg2"/>
                </a:solidFill>
                <a:effectLst/>
                <a:uLnTx/>
                <a:uFillTx/>
                <a:latin typeface="宋体" panose="02010600030101010101" pitchFamily="2" charset="-122"/>
                <a:ea typeface="宋体" panose="02010600030101010101" pitchFamily="2" charset="-122"/>
                <a:cs typeface="+mn-cs"/>
              </a:rPr>
              <a:t>i</a:t>
            </a:r>
            <a:r>
              <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]&gt;=minimum</a:t>
            </a:r>
            <a:endPar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2000"/>
              </a:lnSpc>
              <a:spcBef>
                <a:spcPts val="0"/>
              </a:spcBef>
              <a:spcAft>
                <a:spcPct val="0"/>
              </a:spcAft>
              <a:buClr>
                <a:srgbClr val="A50021"/>
              </a:buClr>
              <a:buSzTx/>
              <a:buFont typeface="Wingdings" panose="05000000000000000000" pitchFamily="2" charset="2"/>
              <a:buNone/>
              <a:defRPr/>
            </a:pPr>
            <a:r>
              <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6:      and value[</a:t>
            </a:r>
            <a:r>
              <a:rPr kumimoji="0" lang="en-US" altLang="zh-CN" sz="1800" b="1" i="0" u="none" strike="noStrike" kern="0" cap="none" spc="0" normalizeH="0" baseline="0" noProof="0" dirty="0" err="1">
                <a:ln>
                  <a:noFill/>
                </a:ln>
                <a:solidFill>
                  <a:schemeClr val="bg2"/>
                </a:solidFill>
                <a:effectLst/>
                <a:uLnTx/>
                <a:uFillTx/>
                <a:latin typeface="宋体" panose="02010600030101010101" pitchFamily="2" charset="-122"/>
                <a:ea typeface="宋体" panose="02010600030101010101" pitchFamily="2" charset="-122"/>
                <a:cs typeface="+mn-cs"/>
              </a:rPr>
              <a:t>i</a:t>
            </a:r>
            <a:r>
              <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]&lt;=maximum</a:t>
            </a:r>
            <a:endPar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2000"/>
              </a:lnSpc>
              <a:spcBef>
                <a:spcPts val="0"/>
              </a:spcBef>
              <a:spcAft>
                <a:spcPct val="0"/>
              </a:spcAft>
              <a:buClr>
                <a:srgbClr val="A50021"/>
              </a:buClr>
              <a:buSzTx/>
              <a:buFont typeface="Wingdings" panose="05000000000000000000" pitchFamily="2" charset="2"/>
              <a:buNone/>
              <a:defRPr/>
            </a:pPr>
            <a:r>
              <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7:   then increment </a:t>
            </a:r>
            <a:r>
              <a:rPr kumimoji="0" lang="en-US" altLang="zh-CN" sz="1800" b="1" i="0" u="none" strike="noStrike" kern="0" cap="none" spc="0" normalizeH="0" baseline="0" noProof="0" dirty="0" err="1">
                <a:ln>
                  <a:noFill/>
                </a:ln>
                <a:solidFill>
                  <a:schemeClr val="bg2"/>
                </a:solidFill>
                <a:effectLst/>
                <a:uLnTx/>
                <a:uFillTx/>
                <a:latin typeface="宋体" panose="02010600030101010101" pitchFamily="2" charset="-122"/>
                <a:ea typeface="宋体" panose="02010600030101010101" pitchFamily="2" charset="-122"/>
                <a:cs typeface="+mn-cs"/>
              </a:rPr>
              <a:t>total.valid</a:t>
            </a:r>
            <a:r>
              <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by 1;</a:t>
            </a:r>
            <a:endPar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2000"/>
              </a:lnSpc>
              <a:spcBef>
                <a:spcPts val="0"/>
              </a:spcBef>
              <a:spcAft>
                <a:spcPct val="0"/>
              </a:spcAft>
              <a:buClr>
                <a:srgbClr val="A50021"/>
              </a:buClr>
              <a:buSzTx/>
              <a:buFont typeface="Wingdings" panose="05000000000000000000" pitchFamily="2" charset="2"/>
              <a:buNone/>
              <a:defRPr/>
            </a:pPr>
            <a:r>
              <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sum=</a:t>
            </a:r>
            <a:r>
              <a:rPr kumimoji="0" lang="en-US" altLang="zh-CN" sz="1800" b="1" i="0" u="none" strike="noStrike" kern="0" cap="none" spc="0" normalizeH="0" baseline="0" noProof="0" dirty="0" err="1">
                <a:ln>
                  <a:noFill/>
                </a:ln>
                <a:solidFill>
                  <a:schemeClr val="bg2"/>
                </a:solidFill>
                <a:effectLst/>
                <a:uLnTx/>
                <a:uFillTx/>
                <a:latin typeface="宋体" panose="02010600030101010101" pitchFamily="2" charset="-122"/>
                <a:ea typeface="宋体" panose="02010600030101010101" pitchFamily="2" charset="-122"/>
                <a:cs typeface="+mn-cs"/>
              </a:rPr>
              <a:t>sum+value</a:t>
            </a:r>
            <a:r>
              <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en-US" altLang="zh-CN" sz="1800" b="1" i="0" u="none" strike="noStrike" kern="0" cap="none" spc="0" normalizeH="0" baseline="0" noProof="0" dirty="0" err="1">
                <a:ln>
                  <a:noFill/>
                </a:ln>
                <a:solidFill>
                  <a:schemeClr val="bg2"/>
                </a:solidFill>
                <a:effectLst/>
                <a:uLnTx/>
                <a:uFillTx/>
                <a:latin typeface="宋体" panose="02010600030101010101" pitchFamily="2" charset="-122"/>
                <a:ea typeface="宋体" panose="02010600030101010101" pitchFamily="2" charset="-122"/>
                <a:cs typeface="+mn-cs"/>
              </a:rPr>
              <a:t>i</a:t>
            </a:r>
            <a:r>
              <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a:t>
            </a:r>
            <a:endPar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2000"/>
              </a:lnSpc>
              <a:spcBef>
                <a:spcPts val="0"/>
              </a:spcBef>
              <a:spcAft>
                <a:spcPct val="0"/>
              </a:spcAft>
              <a:buClr>
                <a:srgbClr val="A50021"/>
              </a:buClr>
              <a:buSzTx/>
              <a:buFont typeface="Wingdings" panose="05000000000000000000" pitchFamily="2" charset="2"/>
              <a:buNone/>
              <a:defRPr/>
            </a:pPr>
            <a:r>
              <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8:   </a:t>
            </a:r>
            <a:r>
              <a:rPr kumimoji="0" lang="en-US" altLang="zh-CN" sz="1800" b="1" i="0" u="none" strike="noStrike" kern="0" cap="none" spc="0" normalizeH="0" baseline="0" noProof="0" dirty="0" err="1">
                <a:ln>
                  <a:noFill/>
                </a:ln>
                <a:solidFill>
                  <a:schemeClr val="bg2"/>
                </a:solidFill>
                <a:effectLst/>
                <a:uLnTx/>
                <a:uFillTx/>
                <a:latin typeface="宋体" panose="02010600030101010101" pitchFamily="2" charset="-122"/>
                <a:ea typeface="宋体" panose="02010600030101010101" pitchFamily="2" charset="-122"/>
                <a:cs typeface="+mn-cs"/>
              </a:rPr>
              <a:t>endif</a:t>
            </a:r>
            <a:endPar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2000"/>
              </a:lnSpc>
              <a:spcBef>
                <a:spcPts val="0"/>
              </a:spcBef>
              <a:spcAft>
                <a:spcPct val="0"/>
              </a:spcAft>
              <a:buClr>
                <a:srgbClr val="A50021"/>
              </a:buClr>
              <a:buSzTx/>
              <a:buFont typeface="Wingdings" panose="05000000000000000000" pitchFamily="2" charset="2"/>
              <a:buNone/>
              <a:defRPr/>
            </a:pPr>
            <a:r>
              <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increment </a:t>
            </a:r>
            <a:r>
              <a:rPr kumimoji="0" lang="en-US" altLang="zh-CN" sz="1800" b="1" i="0" u="none" strike="noStrike" kern="0" cap="none" spc="0" normalizeH="0" baseline="0" noProof="0" dirty="0" err="1">
                <a:ln>
                  <a:noFill/>
                </a:ln>
                <a:solidFill>
                  <a:schemeClr val="bg2"/>
                </a:solidFill>
                <a:effectLst/>
                <a:uLnTx/>
                <a:uFillTx/>
                <a:latin typeface="宋体" panose="02010600030101010101" pitchFamily="2" charset="-122"/>
                <a:ea typeface="宋体" panose="02010600030101010101" pitchFamily="2" charset="-122"/>
                <a:cs typeface="+mn-cs"/>
              </a:rPr>
              <a:t>i</a:t>
            </a:r>
            <a:r>
              <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by 1;</a:t>
            </a:r>
            <a:endPar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2000"/>
              </a:lnSpc>
              <a:spcBef>
                <a:spcPts val="0"/>
              </a:spcBef>
              <a:spcAft>
                <a:spcPct val="0"/>
              </a:spcAft>
              <a:buClr>
                <a:srgbClr val="A50021"/>
              </a:buClr>
              <a:buSzTx/>
              <a:buFont typeface="Wingdings" panose="05000000000000000000" pitchFamily="2" charset="2"/>
              <a:buNone/>
              <a:defRPr/>
            </a:pPr>
            <a:r>
              <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9:   </a:t>
            </a:r>
            <a:r>
              <a:rPr kumimoji="0" lang="en-US" altLang="zh-CN" sz="1800" b="1" i="0" u="none" strike="noStrike" kern="0" cap="none" spc="0" normalizeH="0" baseline="0" noProof="0" dirty="0" err="1">
                <a:ln>
                  <a:noFill/>
                </a:ln>
                <a:solidFill>
                  <a:schemeClr val="bg2"/>
                </a:solidFill>
                <a:effectLst/>
                <a:uLnTx/>
                <a:uFillTx/>
                <a:latin typeface="宋体" panose="02010600030101010101" pitchFamily="2" charset="-122"/>
                <a:ea typeface="宋体" panose="02010600030101010101" pitchFamily="2" charset="-122"/>
                <a:cs typeface="+mn-cs"/>
              </a:rPr>
              <a:t>enddo</a:t>
            </a:r>
            <a:endPar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2000"/>
              </a:lnSpc>
              <a:spcBef>
                <a:spcPts val="0"/>
              </a:spcBef>
              <a:spcAft>
                <a:spcPct val="0"/>
              </a:spcAft>
              <a:buClr>
                <a:srgbClr val="A50021"/>
              </a:buClr>
              <a:buSzTx/>
              <a:buFont typeface="Wingdings" panose="05000000000000000000" pitchFamily="2" charset="2"/>
              <a:buNone/>
              <a:defRPr/>
            </a:pPr>
            <a:r>
              <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10:  if </a:t>
            </a:r>
            <a:r>
              <a:rPr kumimoji="0" lang="en-US" altLang="zh-CN" sz="1800" b="1" i="0" u="none" strike="noStrike" kern="0" cap="none" spc="0" normalizeH="0" baseline="0" noProof="0" dirty="0" err="1">
                <a:ln>
                  <a:noFill/>
                </a:ln>
                <a:solidFill>
                  <a:schemeClr val="bg2"/>
                </a:solidFill>
                <a:effectLst/>
                <a:uLnTx/>
                <a:uFillTx/>
                <a:latin typeface="宋体" panose="02010600030101010101" pitchFamily="2" charset="-122"/>
                <a:ea typeface="宋体" panose="02010600030101010101" pitchFamily="2" charset="-122"/>
                <a:cs typeface="+mn-cs"/>
              </a:rPr>
              <a:t>total.valid</a:t>
            </a:r>
            <a:r>
              <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&gt;0</a:t>
            </a:r>
            <a:endPar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2000"/>
              </a:lnSpc>
              <a:spcBef>
                <a:spcPts val="0"/>
              </a:spcBef>
              <a:spcAft>
                <a:spcPct val="0"/>
              </a:spcAft>
              <a:buClr>
                <a:srgbClr val="A50021"/>
              </a:buClr>
              <a:buSzTx/>
              <a:buFont typeface="Wingdings" panose="05000000000000000000" pitchFamily="2" charset="2"/>
              <a:buNone/>
              <a:defRPr/>
            </a:pPr>
            <a:r>
              <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11:  then average=sum/</a:t>
            </a:r>
            <a:r>
              <a:rPr kumimoji="0" lang="en-US" altLang="zh-CN" sz="1800" b="1" i="0" u="none" strike="noStrike" kern="0" cap="none" spc="0" normalizeH="0" baseline="0" noProof="0" dirty="0" err="1">
                <a:ln>
                  <a:noFill/>
                </a:ln>
                <a:solidFill>
                  <a:schemeClr val="bg2"/>
                </a:solidFill>
                <a:effectLst/>
                <a:uLnTx/>
                <a:uFillTx/>
                <a:latin typeface="宋体" panose="02010600030101010101" pitchFamily="2" charset="-122"/>
                <a:ea typeface="宋体" panose="02010600030101010101" pitchFamily="2" charset="-122"/>
                <a:cs typeface="+mn-cs"/>
              </a:rPr>
              <a:t>total.valid</a:t>
            </a:r>
            <a:r>
              <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a:t>
            </a:r>
            <a:endPar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2000"/>
              </a:lnSpc>
              <a:spcBef>
                <a:spcPts val="0"/>
              </a:spcBef>
              <a:spcAft>
                <a:spcPct val="0"/>
              </a:spcAft>
              <a:buClr>
                <a:srgbClr val="A50021"/>
              </a:buClr>
              <a:buSzTx/>
              <a:buFont typeface="Wingdings" panose="05000000000000000000" pitchFamily="2" charset="2"/>
              <a:buNone/>
              <a:defRPr/>
            </a:pPr>
            <a:r>
              <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12:  else average=-999</a:t>
            </a:r>
            <a:endPar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92000"/>
              </a:lnSpc>
              <a:spcBef>
                <a:spcPts val="0"/>
              </a:spcBef>
              <a:spcAft>
                <a:spcPct val="0"/>
              </a:spcAft>
              <a:buClr>
                <a:srgbClr val="A50021"/>
              </a:buClr>
              <a:buSzTx/>
              <a:buFont typeface="Wingdings" panose="05000000000000000000" pitchFamily="2" charset="2"/>
              <a:buNone/>
              <a:defRPr/>
            </a:pPr>
            <a:r>
              <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13:  end average</a:t>
            </a:r>
            <a:endParaRPr kumimoji="0" lang="en-US" altLang="zh-CN" sz="18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sp>
        <p:nvSpPr>
          <p:cNvPr id="48131" name="Text Box 4"/>
          <p:cNvSpPr txBox="1"/>
          <p:nvPr/>
        </p:nvSpPr>
        <p:spPr>
          <a:xfrm>
            <a:off x="357188" y="1216025"/>
            <a:ext cx="7143750" cy="4984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lnSpc>
                <a:spcPct val="120000"/>
              </a:lnSpc>
              <a:buSzPct val="80000"/>
              <a:buFontTx/>
              <a:buNone/>
            </a:pPr>
            <a:r>
              <a:rPr lang="zh-CN" altLang="en-US" sz="2200" b="1" dirty="0">
                <a:latin typeface="宋体" panose="02010600030101010101" pitchFamily="2" charset="-122"/>
                <a:ea typeface="宋体" panose="02010600030101010101" pitchFamily="2" charset="-122"/>
              </a:rPr>
              <a:t>第一步画流图，如右图所示</a:t>
            </a:r>
            <a:endParaRPr lang="zh-CN" altLang="en-US" sz="2200" b="1" dirty="0">
              <a:latin typeface="宋体" panose="02010600030101010101" pitchFamily="2" charset="-122"/>
              <a:ea typeface="宋体" panose="02010600030101010101" pitchFamily="2" charset="-122"/>
            </a:endParaRPr>
          </a:p>
        </p:txBody>
      </p:sp>
      <p:sp>
        <p:nvSpPr>
          <p:cNvPr id="48132" name="Text Box 4"/>
          <p:cNvSpPr txBox="1"/>
          <p:nvPr/>
        </p:nvSpPr>
        <p:spPr>
          <a:xfrm>
            <a:off x="428625" y="5857875"/>
            <a:ext cx="7143750" cy="4984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lnSpc>
                <a:spcPct val="120000"/>
              </a:lnSpc>
              <a:buSzPct val="80000"/>
              <a:buFontTx/>
              <a:buNone/>
            </a:pPr>
            <a:r>
              <a:rPr lang="zh-CN" altLang="en-US" sz="2200" b="1" dirty="0">
                <a:latin typeface="宋体" panose="02010600030101010101" pitchFamily="2" charset="-122"/>
                <a:ea typeface="宋体" panose="02010600030101010101" pitchFamily="2" charset="-122"/>
              </a:rPr>
              <a:t>第二步计算环形复杂度：</a:t>
            </a:r>
            <a:r>
              <a:rPr lang="en-US" altLang="zh-CN" sz="2200" b="1" dirty="0">
                <a:latin typeface="宋体" panose="02010600030101010101" pitchFamily="2" charset="-122"/>
                <a:ea typeface="宋体" panose="02010600030101010101" pitchFamily="2" charset="-122"/>
              </a:rPr>
              <a:t>V(G)=6</a:t>
            </a:r>
            <a:endParaRPr lang="zh-CN" altLang="en-US" sz="2200" b="1" dirty="0">
              <a:latin typeface="宋体" panose="02010600030101010101" pitchFamily="2" charset="-122"/>
              <a:ea typeface="宋体" panose="02010600030101010101" pitchFamily="2" charset="-122"/>
            </a:endParaRPr>
          </a:p>
        </p:txBody>
      </p:sp>
      <p:pic>
        <p:nvPicPr>
          <p:cNvPr id="48133" name="Picture 6"/>
          <p:cNvPicPr>
            <a:picLocks noChangeAspect="1"/>
          </p:cNvPicPr>
          <p:nvPr/>
        </p:nvPicPr>
        <p:blipFill>
          <a:blip r:embed="rId1"/>
          <a:stretch>
            <a:fillRect/>
          </a:stretch>
        </p:blipFill>
        <p:spPr>
          <a:xfrm>
            <a:off x="5643563" y="1785938"/>
            <a:ext cx="3059112" cy="4643437"/>
          </a:xfrm>
          <a:prstGeom prst="rect">
            <a:avLst/>
          </a:prstGeom>
          <a:noFill/>
          <a:ln w="9525">
            <a:noFill/>
          </a:ln>
        </p:spPr>
      </p:pic>
      <p:sp>
        <p:nvSpPr>
          <p:cNvPr id="48134"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Text Box 4"/>
          <p:cNvSpPr txBox="1"/>
          <p:nvPr/>
        </p:nvSpPr>
        <p:spPr>
          <a:xfrm>
            <a:off x="357188" y="1216025"/>
            <a:ext cx="7143750" cy="4445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lnSpc>
                <a:spcPct val="120000"/>
              </a:lnSpc>
              <a:buSzPct val="80000"/>
              <a:buFontTx/>
              <a:buNone/>
            </a:pPr>
            <a:r>
              <a:rPr lang="zh-CN" altLang="en-US" sz="2200" b="1" dirty="0">
                <a:latin typeface="宋体" panose="02010600030101010101" pitchFamily="2" charset="-122"/>
                <a:ea typeface="宋体" panose="02010600030101010101" pitchFamily="2" charset="-122"/>
              </a:rPr>
              <a:t>第三步确定独立路径集</a:t>
            </a:r>
            <a:endParaRPr lang="zh-CN" altLang="en-US" sz="2200" b="1" dirty="0">
              <a:latin typeface="宋体" panose="02010600030101010101" pitchFamily="2" charset="-122"/>
              <a:ea typeface="宋体" panose="02010600030101010101" pitchFamily="2" charset="-122"/>
            </a:endParaRPr>
          </a:p>
        </p:txBody>
      </p:sp>
      <p:sp>
        <p:nvSpPr>
          <p:cNvPr id="49155" name="Text Box 2"/>
          <p:cNvSpPr txBox="1"/>
          <p:nvPr/>
        </p:nvSpPr>
        <p:spPr>
          <a:xfrm>
            <a:off x="500063" y="1874838"/>
            <a:ext cx="5105400" cy="43402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spcBef>
                <a:spcPct val="50000"/>
              </a:spcBef>
              <a:buClrTx/>
              <a:buFontTx/>
              <a:buNone/>
            </a:pPr>
            <a:r>
              <a:rPr lang="zh-CN" altLang="en-US" sz="2400" dirty="0">
                <a:solidFill>
                  <a:srgbClr val="333333"/>
                </a:solidFill>
                <a:latin typeface="Arial" panose="020B0604020202020204" pitchFamily="34" charset="0"/>
                <a:ea typeface="楷体_GB2312" pitchFamily="49" charset="-122"/>
              </a:rPr>
              <a:t>  路径</a:t>
            </a:r>
            <a:endParaRPr lang="zh-CN" altLang="en-US" sz="2400" dirty="0">
              <a:solidFill>
                <a:srgbClr val="333333"/>
              </a:solidFill>
              <a:latin typeface="Arial" panose="020B0604020202020204" pitchFamily="34" charset="0"/>
              <a:ea typeface="楷体_GB2312" pitchFamily="49" charset="-122"/>
            </a:endParaRPr>
          </a:p>
          <a:p>
            <a:pPr marL="0" lvl="0" indent="0">
              <a:spcBef>
                <a:spcPct val="50000"/>
              </a:spcBef>
              <a:buClrTx/>
              <a:buFontTx/>
              <a:buNone/>
            </a:pPr>
            <a:r>
              <a:rPr lang="zh-CN" altLang="en-US" sz="2400" dirty="0">
                <a:solidFill>
                  <a:srgbClr val="333333"/>
                </a:solidFill>
                <a:latin typeface="Arial" panose="020B0604020202020204" pitchFamily="34" charset="0"/>
                <a:ea typeface="楷体_GB2312" pitchFamily="49" charset="-122"/>
              </a:rPr>
              <a:t>  </a:t>
            </a:r>
            <a:r>
              <a:rPr lang="en-US" altLang="zh-CN" sz="2400" dirty="0">
                <a:solidFill>
                  <a:srgbClr val="333333"/>
                </a:solidFill>
                <a:latin typeface="Arial" panose="020B0604020202020204" pitchFamily="34" charset="0"/>
                <a:ea typeface="楷体_GB2312" pitchFamily="49" charset="-122"/>
              </a:rPr>
              <a:t>1</a:t>
            </a:r>
            <a:r>
              <a:rPr lang="zh-CN" altLang="en-US" sz="2400" dirty="0">
                <a:solidFill>
                  <a:srgbClr val="333333"/>
                </a:solidFill>
                <a:latin typeface="Arial" panose="020B0604020202020204" pitchFamily="34" charset="0"/>
                <a:ea typeface="楷体_GB2312" pitchFamily="49" charset="-122"/>
              </a:rPr>
              <a:t>：</a:t>
            </a:r>
            <a:r>
              <a:rPr lang="en-US" altLang="zh-CN" sz="2400" dirty="0">
                <a:solidFill>
                  <a:srgbClr val="333333"/>
                </a:solidFill>
                <a:latin typeface="Arial" panose="020B0604020202020204" pitchFamily="34" charset="0"/>
                <a:ea typeface="楷体_GB2312" pitchFamily="49" charset="-122"/>
              </a:rPr>
              <a:t>1-2-10-11-13</a:t>
            </a:r>
            <a:endParaRPr lang="en-US" altLang="zh-CN" sz="2400" dirty="0">
              <a:solidFill>
                <a:srgbClr val="333333"/>
              </a:solidFill>
              <a:latin typeface="Arial" panose="020B0604020202020204" pitchFamily="34" charset="0"/>
              <a:ea typeface="楷体_GB2312" pitchFamily="49" charset="-122"/>
            </a:endParaRPr>
          </a:p>
          <a:p>
            <a:pPr marL="0" lvl="0" indent="0">
              <a:spcBef>
                <a:spcPct val="50000"/>
              </a:spcBef>
              <a:buClrTx/>
              <a:buFontTx/>
              <a:buNone/>
            </a:pPr>
            <a:r>
              <a:rPr lang="en-US" altLang="zh-CN" sz="2400" dirty="0">
                <a:solidFill>
                  <a:srgbClr val="333333"/>
                </a:solidFill>
                <a:latin typeface="Arial" panose="020B0604020202020204" pitchFamily="34" charset="0"/>
                <a:ea typeface="楷体_GB2312" pitchFamily="49" charset="-122"/>
              </a:rPr>
              <a:t>  2</a:t>
            </a:r>
            <a:r>
              <a:rPr lang="zh-CN" altLang="en-US" sz="2400" dirty="0">
                <a:solidFill>
                  <a:srgbClr val="333333"/>
                </a:solidFill>
                <a:latin typeface="Arial" panose="020B0604020202020204" pitchFamily="34" charset="0"/>
                <a:ea typeface="楷体_GB2312" pitchFamily="49" charset="-122"/>
              </a:rPr>
              <a:t>：</a:t>
            </a:r>
            <a:r>
              <a:rPr lang="en-US" altLang="zh-CN" sz="2400" dirty="0">
                <a:solidFill>
                  <a:srgbClr val="333333"/>
                </a:solidFill>
                <a:latin typeface="Arial" panose="020B0604020202020204" pitchFamily="34" charset="0"/>
                <a:ea typeface="楷体_GB2312" pitchFamily="49" charset="-122"/>
              </a:rPr>
              <a:t>1-2-10-12-13</a:t>
            </a:r>
            <a:endParaRPr lang="en-US" altLang="zh-CN" sz="2400" dirty="0">
              <a:solidFill>
                <a:srgbClr val="333333"/>
              </a:solidFill>
              <a:latin typeface="Arial" panose="020B0604020202020204" pitchFamily="34" charset="0"/>
              <a:ea typeface="楷体_GB2312" pitchFamily="49" charset="-122"/>
            </a:endParaRPr>
          </a:p>
          <a:p>
            <a:pPr marL="0" lvl="0" indent="0">
              <a:spcBef>
                <a:spcPct val="50000"/>
              </a:spcBef>
              <a:buClrTx/>
              <a:buFontTx/>
              <a:buNone/>
            </a:pPr>
            <a:r>
              <a:rPr lang="en-US" altLang="zh-CN" sz="2400" dirty="0">
                <a:solidFill>
                  <a:srgbClr val="333333"/>
                </a:solidFill>
                <a:latin typeface="Arial" panose="020B0604020202020204" pitchFamily="34" charset="0"/>
                <a:ea typeface="楷体_GB2312" pitchFamily="49" charset="-122"/>
              </a:rPr>
              <a:t>  3</a:t>
            </a:r>
            <a:r>
              <a:rPr lang="zh-CN" altLang="en-US" sz="2400" dirty="0">
                <a:solidFill>
                  <a:srgbClr val="333333"/>
                </a:solidFill>
                <a:latin typeface="Arial" panose="020B0604020202020204" pitchFamily="34" charset="0"/>
                <a:ea typeface="楷体_GB2312" pitchFamily="49" charset="-122"/>
              </a:rPr>
              <a:t>：</a:t>
            </a:r>
            <a:r>
              <a:rPr lang="en-US" altLang="zh-CN" sz="2400" dirty="0">
                <a:solidFill>
                  <a:srgbClr val="333333"/>
                </a:solidFill>
                <a:latin typeface="Arial" panose="020B0604020202020204" pitchFamily="34" charset="0"/>
                <a:ea typeface="楷体_GB2312" pitchFamily="49" charset="-122"/>
              </a:rPr>
              <a:t>1-2-3-10-11-13</a:t>
            </a:r>
            <a:endParaRPr lang="en-US" altLang="zh-CN" sz="2400" dirty="0">
              <a:solidFill>
                <a:srgbClr val="333333"/>
              </a:solidFill>
              <a:latin typeface="Arial" panose="020B0604020202020204" pitchFamily="34" charset="0"/>
              <a:ea typeface="楷体_GB2312" pitchFamily="49" charset="-122"/>
            </a:endParaRPr>
          </a:p>
          <a:p>
            <a:pPr marL="0" lvl="0" indent="0">
              <a:spcBef>
                <a:spcPct val="50000"/>
              </a:spcBef>
              <a:buClrTx/>
              <a:buFontTx/>
              <a:buNone/>
            </a:pPr>
            <a:r>
              <a:rPr lang="en-US" altLang="zh-CN" sz="2400" dirty="0">
                <a:solidFill>
                  <a:srgbClr val="333333"/>
                </a:solidFill>
                <a:latin typeface="Arial" panose="020B0604020202020204" pitchFamily="34" charset="0"/>
                <a:ea typeface="楷体_GB2312" pitchFamily="49" charset="-122"/>
              </a:rPr>
              <a:t>  4</a:t>
            </a:r>
            <a:r>
              <a:rPr lang="zh-CN" altLang="en-US" sz="2400" dirty="0">
                <a:solidFill>
                  <a:srgbClr val="333333"/>
                </a:solidFill>
                <a:latin typeface="Arial" panose="020B0604020202020204" pitchFamily="34" charset="0"/>
                <a:ea typeface="楷体_GB2312" pitchFamily="49" charset="-122"/>
              </a:rPr>
              <a:t>：</a:t>
            </a:r>
            <a:r>
              <a:rPr lang="en-US" altLang="zh-CN" sz="2400" dirty="0">
                <a:solidFill>
                  <a:srgbClr val="333333"/>
                </a:solidFill>
                <a:latin typeface="Arial" panose="020B0604020202020204" pitchFamily="34" charset="0"/>
                <a:ea typeface="楷体_GB2312" pitchFamily="49" charset="-122"/>
              </a:rPr>
              <a:t>1-2-3-4-5-8-9-2-</a:t>
            </a:r>
            <a:r>
              <a:rPr lang="en-US" altLang="zh-CN" sz="2400" dirty="0">
                <a:solidFill>
                  <a:srgbClr val="333333"/>
                </a:solidFill>
                <a:ea typeface="宋体" panose="02010600030101010101" pitchFamily="2" charset="-122"/>
              </a:rPr>
              <a:t>•••</a:t>
            </a:r>
            <a:endParaRPr lang="en-US" altLang="zh-CN" sz="2400" dirty="0">
              <a:solidFill>
                <a:srgbClr val="333333"/>
              </a:solidFill>
              <a:latin typeface="Arial" panose="020B0604020202020204" pitchFamily="34" charset="0"/>
              <a:ea typeface="楷体_GB2312" pitchFamily="49" charset="-122"/>
            </a:endParaRPr>
          </a:p>
          <a:p>
            <a:pPr marL="0" lvl="0" indent="0">
              <a:spcBef>
                <a:spcPct val="50000"/>
              </a:spcBef>
              <a:buClrTx/>
              <a:buFontTx/>
              <a:buNone/>
            </a:pPr>
            <a:r>
              <a:rPr lang="en-US" altLang="zh-CN" sz="2400" dirty="0">
                <a:solidFill>
                  <a:srgbClr val="333333"/>
                </a:solidFill>
                <a:latin typeface="Arial" panose="020B0604020202020204" pitchFamily="34" charset="0"/>
                <a:ea typeface="楷体_GB2312" pitchFamily="49" charset="-122"/>
              </a:rPr>
              <a:t>  5</a:t>
            </a:r>
            <a:r>
              <a:rPr lang="zh-CN" altLang="en-US" sz="2400" dirty="0">
                <a:solidFill>
                  <a:srgbClr val="333333"/>
                </a:solidFill>
                <a:latin typeface="Arial" panose="020B0604020202020204" pitchFamily="34" charset="0"/>
                <a:ea typeface="楷体_GB2312" pitchFamily="49" charset="-122"/>
              </a:rPr>
              <a:t>：</a:t>
            </a:r>
            <a:r>
              <a:rPr lang="en-US" altLang="zh-CN" sz="2400" dirty="0">
                <a:solidFill>
                  <a:srgbClr val="333333"/>
                </a:solidFill>
                <a:latin typeface="Arial" panose="020B0604020202020204" pitchFamily="34" charset="0"/>
                <a:ea typeface="楷体_GB2312" pitchFamily="49" charset="-122"/>
              </a:rPr>
              <a:t>1-2-3-4-5-6-8-9-2-</a:t>
            </a:r>
            <a:r>
              <a:rPr lang="en-US" altLang="zh-CN" sz="2400" dirty="0">
                <a:solidFill>
                  <a:srgbClr val="333333"/>
                </a:solidFill>
                <a:ea typeface="宋体" panose="02010600030101010101" pitchFamily="2" charset="-122"/>
              </a:rPr>
              <a:t>•••</a:t>
            </a:r>
            <a:endParaRPr lang="en-US" altLang="zh-CN" sz="2400" dirty="0">
              <a:solidFill>
                <a:srgbClr val="333333"/>
              </a:solidFill>
              <a:latin typeface="Arial" panose="020B0604020202020204" pitchFamily="34" charset="0"/>
              <a:ea typeface="楷体_GB2312" pitchFamily="49" charset="-122"/>
            </a:endParaRPr>
          </a:p>
          <a:p>
            <a:pPr marL="0" lvl="0" indent="0">
              <a:spcBef>
                <a:spcPct val="50000"/>
              </a:spcBef>
              <a:buClrTx/>
              <a:buFontTx/>
              <a:buNone/>
            </a:pPr>
            <a:r>
              <a:rPr lang="en-US" altLang="zh-CN" sz="2400" dirty="0">
                <a:solidFill>
                  <a:srgbClr val="333333"/>
                </a:solidFill>
                <a:latin typeface="Arial" panose="020B0604020202020204" pitchFamily="34" charset="0"/>
                <a:ea typeface="楷体_GB2312" pitchFamily="49" charset="-122"/>
              </a:rPr>
              <a:t>  6</a:t>
            </a:r>
            <a:r>
              <a:rPr lang="zh-CN" altLang="en-US" sz="2400" dirty="0">
                <a:solidFill>
                  <a:srgbClr val="333333"/>
                </a:solidFill>
                <a:latin typeface="Arial" panose="020B0604020202020204" pitchFamily="34" charset="0"/>
                <a:ea typeface="楷体_GB2312" pitchFamily="49" charset="-122"/>
              </a:rPr>
              <a:t>：</a:t>
            </a:r>
            <a:r>
              <a:rPr lang="en-US" altLang="zh-CN" sz="2400" dirty="0">
                <a:solidFill>
                  <a:srgbClr val="333333"/>
                </a:solidFill>
                <a:latin typeface="Arial" panose="020B0604020202020204" pitchFamily="34" charset="0"/>
                <a:ea typeface="楷体_GB2312" pitchFamily="49" charset="-122"/>
              </a:rPr>
              <a:t>1-2-3-4-5-6-7-8-9-2-</a:t>
            </a:r>
            <a:r>
              <a:rPr lang="en-US" altLang="zh-CN" sz="2400" dirty="0">
                <a:solidFill>
                  <a:srgbClr val="333333"/>
                </a:solidFill>
                <a:ea typeface="宋体" panose="02010600030101010101" pitchFamily="2" charset="-122"/>
              </a:rPr>
              <a:t>•••</a:t>
            </a:r>
            <a:endParaRPr lang="en-US" altLang="zh-CN" sz="2400" dirty="0">
              <a:solidFill>
                <a:srgbClr val="333333"/>
              </a:solidFill>
              <a:latin typeface="Arial" panose="020B0604020202020204" pitchFamily="34" charset="0"/>
              <a:ea typeface="楷体_GB2312" pitchFamily="49" charset="-122"/>
            </a:endParaRPr>
          </a:p>
          <a:p>
            <a:pPr marL="0" lvl="0" indent="0">
              <a:spcBef>
                <a:spcPct val="50000"/>
              </a:spcBef>
              <a:buClrTx/>
              <a:buFontTx/>
              <a:buNone/>
            </a:pPr>
            <a:endParaRPr lang="zh-CN" altLang="en-US" sz="2400" dirty="0">
              <a:solidFill>
                <a:srgbClr val="333333"/>
              </a:solidFill>
              <a:latin typeface="Arial" panose="020B0604020202020204" pitchFamily="34" charset="0"/>
              <a:ea typeface="楷体_GB2312" pitchFamily="49" charset="-122"/>
            </a:endParaRPr>
          </a:p>
        </p:txBody>
      </p:sp>
      <p:pic>
        <p:nvPicPr>
          <p:cNvPr id="49156" name="Picture 6"/>
          <p:cNvPicPr>
            <a:picLocks noChangeAspect="1"/>
          </p:cNvPicPr>
          <p:nvPr/>
        </p:nvPicPr>
        <p:blipFill>
          <a:blip r:embed="rId1"/>
          <a:stretch>
            <a:fillRect/>
          </a:stretch>
        </p:blipFill>
        <p:spPr>
          <a:xfrm>
            <a:off x="5643563" y="1785938"/>
            <a:ext cx="3059112" cy="4643437"/>
          </a:xfrm>
          <a:prstGeom prst="rect">
            <a:avLst/>
          </a:prstGeom>
          <a:noFill/>
          <a:ln w="9525">
            <a:noFill/>
          </a:ln>
        </p:spPr>
      </p:pic>
      <p:sp>
        <p:nvSpPr>
          <p:cNvPr id="49157"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Text Box 4"/>
          <p:cNvSpPr txBox="1"/>
          <p:nvPr/>
        </p:nvSpPr>
        <p:spPr>
          <a:xfrm>
            <a:off x="357188" y="1216025"/>
            <a:ext cx="8358187" cy="97313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lnSpc>
                <a:spcPct val="120000"/>
              </a:lnSpc>
              <a:buSzPct val="80000"/>
              <a:buFontTx/>
              <a:buNone/>
            </a:pPr>
            <a:r>
              <a:rPr lang="zh-CN" altLang="en-US" sz="2200" b="1" dirty="0">
                <a:latin typeface="宋体" panose="02010600030101010101" pitchFamily="2" charset="-122"/>
                <a:ea typeface="宋体" panose="02010600030101010101" pitchFamily="2" charset="-122"/>
              </a:rPr>
              <a:t>第四步 设计测试用例</a:t>
            </a:r>
            <a:endParaRPr lang="en-US" altLang="zh-CN" sz="2200" b="1" dirty="0">
              <a:latin typeface="宋体" panose="02010600030101010101" pitchFamily="2" charset="-122"/>
              <a:ea typeface="宋体" panose="02010600030101010101" pitchFamily="2" charset="-122"/>
            </a:endParaRPr>
          </a:p>
          <a:p>
            <a:pPr marL="0" lvl="0" indent="0" eaLnBrk="1" hangingPunct="1">
              <a:lnSpc>
                <a:spcPct val="120000"/>
              </a:lnSpc>
              <a:buSzPct val="80000"/>
              <a:buFontTx/>
              <a:buNone/>
            </a:pPr>
            <a:r>
              <a:rPr lang="en-US" altLang="zh-CN" sz="2200" b="1" dirty="0">
                <a:latin typeface="宋体" panose="02010600030101010101" pitchFamily="2" charset="-122"/>
                <a:ea typeface="宋体" panose="02010600030101010101" pitchFamily="2" charset="-122"/>
              </a:rPr>
              <a:t>       </a:t>
            </a:r>
            <a:r>
              <a:rPr lang="zh-CN" altLang="en-US" sz="2200" dirty="0">
                <a:latin typeface="宋体" panose="02010600030101010101" pitchFamily="2" charset="-122"/>
                <a:ea typeface="宋体" panose="02010600030101010101" pitchFamily="2" charset="-122"/>
              </a:rPr>
              <a:t>输入                           预期输出</a:t>
            </a:r>
            <a:endParaRPr lang="zh-CN" altLang="en-US" sz="2200" dirty="0">
              <a:latin typeface="宋体" panose="02010600030101010101" pitchFamily="2" charset="-122"/>
              <a:ea typeface="宋体" panose="02010600030101010101" pitchFamily="2" charset="-122"/>
            </a:endParaRPr>
          </a:p>
        </p:txBody>
      </p:sp>
      <p:sp>
        <p:nvSpPr>
          <p:cNvPr id="50179" name="Rectangle 3"/>
          <p:cNvSpPr/>
          <p:nvPr/>
        </p:nvSpPr>
        <p:spPr>
          <a:xfrm>
            <a:off x="327025" y="2214563"/>
            <a:ext cx="8531225" cy="4186237"/>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nSpc>
                <a:spcPct val="115000"/>
              </a:lnSpc>
              <a:buClrTx/>
              <a:buFontTx/>
              <a:buNone/>
            </a:pPr>
            <a:r>
              <a:rPr lang="en-US" altLang="zh-CN" sz="2000" dirty="0">
                <a:solidFill>
                  <a:srgbClr val="333333"/>
                </a:solidFill>
                <a:latin typeface="仿宋_GB2312" pitchFamily="49" charset="-122"/>
                <a:ea typeface="仿宋_GB2312" pitchFamily="49" charset="-122"/>
              </a:rPr>
              <a:t>1</a:t>
            </a:r>
            <a:r>
              <a:rPr lang="zh-CN" altLang="en-US" sz="2000" dirty="0">
                <a:solidFill>
                  <a:srgbClr val="333333"/>
                </a:solidFill>
                <a:latin typeface="仿宋_GB2312" pitchFamily="49" charset="-122"/>
                <a:ea typeface="仿宋_GB2312" pitchFamily="49" charset="-122"/>
              </a:rPr>
              <a:t>：</a:t>
            </a:r>
            <a:r>
              <a:rPr lang="en-US" altLang="zh-CN" sz="2000" dirty="0">
                <a:solidFill>
                  <a:srgbClr val="333333"/>
                </a:solidFill>
                <a:latin typeface="仿宋_GB2312" pitchFamily="49" charset="-122"/>
                <a:ea typeface="仿宋_GB2312" pitchFamily="49" charset="-122"/>
              </a:rPr>
              <a:t>k</a:t>
            </a:r>
            <a:r>
              <a:rPr lang="zh-CN" altLang="en-US" sz="2000" dirty="0">
                <a:solidFill>
                  <a:srgbClr val="333333"/>
                </a:solidFill>
                <a:latin typeface="仿宋_GB2312" pitchFamily="49" charset="-122"/>
                <a:ea typeface="仿宋_GB2312" pitchFamily="49" charset="-122"/>
              </a:rPr>
              <a:t>个有</a:t>
            </a:r>
            <a:r>
              <a:rPr lang="zh-CN" altLang="en-US" sz="2000" dirty="0">
                <a:solidFill>
                  <a:srgbClr val="333333"/>
                </a:solidFill>
                <a:latin typeface="Arial" panose="020B0604020202020204" pitchFamily="34" charset="0"/>
                <a:ea typeface="楷体_GB2312" pitchFamily="49" charset="-122"/>
              </a:rPr>
              <a:t>效输入 </a:t>
            </a:r>
            <a:r>
              <a:rPr lang="en-US" altLang="zh-CN" sz="2000" dirty="0">
                <a:solidFill>
                  <a:srgbClr val="333333"/>
                </a:solidFill>
                <a:latin typeface="仿宋_GB2312" pitchFamily="49" charset="-122"/>
                <a:ea typeface="仿宋_GB2312" pitchFamily="49" charset="-122"/>
              </a:rPr>
              <a:t>k&lt;i                </a:t>
            </a:r>
            <a:r>
              <a:rPr lang="zh-CN" altLang="en-US" sz="2000" dirty="0">
                <a:solidFill>
                  <a:srgbClr val="333333"/>
                </a:solidFill>
                <a:latin typeface="仿宋_GB2312" pitchFamily="49" charset="-122"/>
                <a:ea typeface="仿宋_GB2312" pitchFamily="49" charset="-122"/>
              </a:rPr>
              <a:t>基于</a:t>
            </a:r>
            <a:r>
              <a:rPr lang="en-US" altLang="zh-CN" sz="2000" dirty="0">
                <a:solidFill>
                  <a:srgbClr val="333333"/>
                </a:solidFill>
                <a:latin typeface="仿宋_GB2312" pitchFamily="49" charset="-122"/>
                <a:ea typeface="仿宋_GB2312" pitchFamily="49" charset="-122"/>
              </a:rPr>
              <a:t>k</a:t>
            </a:r>
            <a:r>
              <a:rPr lang="zh-CN" altLang="en-US" sz="2000" dirty="0">
                <a:solidFill>
                  <a:srgbClr val="333333"/>
                </a:solidFill>
                <a:latin typeface="仿宋_GB2312" pitchFamily="49" charset="-122"/>
                <a:ea typeface="仿宋_GB2312" pitchFamily="49" charset="-122"/>
              </a:rPr>
              <a:t>的正确</a:t>
            </a:r>
            <a:r>
              <a:rPr lang="zh-CN" altLang="en-US" sz="2000" dirty="0">
                <a:solidFill>
                  <a:srgbClr val="333333"/>
                </a:solidFill>
                <a:latin typeface="Arial" panose="020B0604020202020204" pitchFamily="34" charset="0"/>
                <a:ea typeface="楷体_GB2312" pitchFamily="49" charset="-122"/>
              </a:rPr>
              <a:t>平均值</a:t>
            </a:r>
            <a:r>
              <a:rPr lang="zh-CN" altLang="en-US" sz="2000" dirty="0">
                <a:solidFill>
                  <a:srgbClr val="333333"/>
                </a:solidFill>
                <a:latin typeface="仿宋_GB2312" pitchFamily="49" charset="-122"/>
                <a:ea typeface="仿宋_GB2312" pitchFamily="49" charset="-122"/>
              </a:rPr>
              <a:t>和总数</a:t>
            </a:r>
            <a:endParaRPr lang="zh-CN" altLang="en-US" sz="2000" dirty="0">
              <a:solidFill>
                <a:srgbClr val="333333"/>
              </a:solidFill>
              <a:latin typeface="仿宋_GB2312" pitchFamily="49" charset="-122"/>
              <a:ea typeface="仿宋_GB2312" pitchFamily="49" charset="-122"/>
            </a:endParaRPr>
          </a:p>
          <a:p>
            <a:pPr marL="0" lvl="0" indent="0">
              <a:lnSpc>
                <a:spcPct val="115000"/>
              </a:lnSpc>
              <a:buClrTx/>
              <a:buFontTx/>
              <a:buNone/>
            </a:pPr>
            <a:r>
              <a:rPr lang="zh-CN" altLang="en-US" sz="2000" dirty="0">
                <a:solidFill>
                  <a:srgbClr val="333333"/>
                </a:solidFill>
                <a:latin typeface="仿宋_GB2312" pitchFamily="49" charset="-122"/>
                <a:ea typeface="仿宋_GB2312" pitchFamily="49" charset="-122"/>
              </a:rPr>
              <a:t>   第</a:t>
            </a:r>
            <a:r>
              <a:rPr lang="en-US" altLang="zh-CN" sz="2000" dirty="0">
                <a:solidFill>
                  <a:srgbClr val="333333"/>
                </a:solidFill>
                <a:latin typeface="仿宋_GB2312" pitchFamily="49" charset="-122"/>
                <a:ea typeface="仿宋_GB2312" pitchFamily="49" charset="-122"/>
              </a:rPr>
              <a:t>i</a:t>
            </a:r>
            <a:r>
              <a:rPr lang="zh-CN" altLang="en-US" sz="2000" dirty="0">
                <a:solidFill>
                  <a:srgbClr val="333333"/>
                </a:solidFill>
                <a:latin typeface="仿宋_GB2312" pitchFamily="49" charset="-122"/>
                <a:ea typeface="仿宋_GB2312" pitchFamily="49" charset="-122"/>
              </a:rPr>
              <a:t>个</a:t>
            </a:r>
            <a:r>
              <a:rPr lang="en-US" altLang="zh-CN" sz="2000" dirty="0">
                <a:solidFill>
                  <a:srgbClr val="333333"/>
                </a:solidFill>
                <a:latin typeface="仿宋_GB2312" pitchFamily="49" charset="-122"/>
                <a:ea typeface="仿宋_GB2312" pitchFamily="49" charset="-122"/>
              </a:rPr>
              <a:t>=-999 2≤i≤100           </a:t>
            </a:r>
            <a:r>
              <a:rPr lang="zh-CN" altLang="en-US" sz="2000" dirty="0">
                <a:solidFill>
                  <a:srgbClr val="333333"/>
                </a:solidFill>
                <a:latin typeface="仿宋_GB2312" pitchFamily="49" charset="-122"/>
                <a:ea typeface="仿宋_GB2312" pitchFamily="49" charset="-122"/>
              </a:rPr>
              <a:t>不能独立测试</a:t>
            </a:r>
            <a:endParaRPr lang="zh-CN" altLang="en-US" sz="2000" dirty="0">
              <a:solidFill>
                <a:srgbClr val="333333"/>
              </a:solidFill>
              <a:latin typeface="仿宋_GB2312" pitchFamily="49" charset="-122"/>
              <a:ea typeface="仿宋_GB2312" pitchFamily="49" charset="-122"/>
            </a:endParaRPr>
          </a:p>
          <a:p>
            <a:pPr marL="0" lvl="0" indent="0">
              <a:lnSpc>
                <a:spcPct val="115000"/>
              </a:lnSpc>
              <a:buClrTx/>
              <a:buFontTx/>
              <a:buNone/>
            </a:pPr>
            <a:r>
              <a:rPr lang="en-US" altLang="zh-CN" sz="2000" dirty="0">
                <a:solidFill>
                  <a:srgbClr val="333333"/>
                </a:solidFill>
                <a:latin typeface="仿宋_GB2312" pitchFamily="49" charset="-122"/>
                <a:ea typeface="仿宋_GB2312" pitchFamily="49" charset="-122"/>
              </a:rPr>
              <a:t>2</a:t>
            </a:r>
            <a:r>
              <a:rPr lang="zh-CN" altLang="en-US" sz="2000" dirty="0">
                <a:solidFill>
                  <a:srgbClr val="333333"/>
                </a:solidFill>
                <a:latin typeface="仿宋_GB2312" pitchFamily="49" charset="-122"/>
                <a:ea typeface="仿宋_GB2312" pitchFamily="49" charset="-122"/>
              </a:rPr>
              <a:t>：</a:t>
            </a:r>
            <a:r>
              <a:rPr lang="en-US" altLang="zh-CN" sz="2000" dirty="0">
                <a:solidFill>
                  <a:srgbClr val="333333"/>
                </a:solidFill>
                <a:latin typeface="仿宋_GB2312" pitchFamily="49" charset="-122"/>
                <a:ea typeface="仿宋_GB2312" pitchFamily="49" charset="-122"/>
              </a:rPr>
              <a:t>Value(1)=-999                   average=-999</a:t>
            </a:r>
            <a:endParaRPr lang="en-US" altLang="zh-CN" sz="2000" dirty="0">
              <a:solidFill>
                <a:srgbClr val="333333"/>
              </a:solidFill>
              <a:latin typeface="仿宋_GB2312" pitchFamily="49" charset="-122"/>
              <a:ea typeface="仿宋_GB2312" pitchFamily="49" charset="-122"/>
            </a:endParaRPr>
          </a:p>
          <a:p>
            <a:pPr marL="0" lvl="0" indent="0">
              <a:lnSpc>
                <a:spcPct val="115000"/>
              </a:lnSpc>
              <a:buClrTx/>
              <a:buFontTx/>
              <a:buNone/>
            </a:pPr>
            <a:r>
              <a:rPr lang="en-US" altLang="zh-CN" sz="2000" dirty="0">
                <a:solidFill>
                  <a:srgbClr val="333333"/>
                </a:solidFill>
                <a:latin typeface="仿宋_GB2312" pitchFamily="49" charset="-122"/>
                <a:ea typeface="仿宋_GB2312" pitchFamily="49" charset="-122"/>
              </a:rPr>
              <a:t>3</a:t>
            </a:r>
            <a:r>
              <a:rPr lang="zh-CN" altLang="en-US" sz="2000" dirty="0">
                <a:solidFill>
                  <a:srgbClr val="333333"/>
                </a:solidFill>
                <a:latin typeface="仿宋_GB2312" pitchFamily="49" charset="-122"/>
                <a:ea typeface="仿宋_GB2312" pitchFamily="49" charset="-122"/>
              </a:rPr>
              <a:t>：</a:t>
            </a:r>
            <a:r>
              <a:rPr lang="en-US" altLang="zh-CN" sz="2000" dirty="0">
                <a:solidFill>
                  <a:srgbClr val="333333"/>
                </a:solidFill>
                <a:latin typeface="仿宋_GB2312" pitchFamily="49" charset="-122"/>
                <a:ea typeface="仿宋_GB2312" pitchFamily="49" charset="-122"/>
              </a:rPr>
              <a:t>100</a:t>
            </a:r>
            <a:r>
              <a:rPr lang="zh-CN" altLang="en-US" sz="2000" dirty="0">
                <a:solidFill>
                  <a:srgbClr val="333333"/>
                </a:solidFill>
                <a:latin typeface="仿宋_GB2312" pitchFamily="49" charset="-122"/>
                <a:ea typeface="仿宋_GB2312" pitchFamily="49" charset="-122"/>
              </a:rPr>
              <a:t>个有</a:t>
            </a:r>
            <a:r>
              <a:rPr lang="zh-CN" altLang="en-US" sz="2000" dirty="0">
                <a:solidFill>
                  <a:srgbClr val="333333"/>
                </a:solidFill>
                <a:latin typeface="Arial" panose="020B0604020202020204" pitchFamily="34" charset="0"/>
                <a:ea typeface="楷体_GB2312" pitchFamily="49" charset="-122"/>
              </a:rPr>
              <a:t>效输入 </a:t>
            </a:r>
            <a:r>
              <a:rPr lang="en-US" altLang="zh-CN" sz="2000" dirty="0">
                <a:solidFill>
                  <a:srgbClr val="333333"/>
                </a:solidFill>
                <a:latin typeface="仿宋_GB2312" pitchFamily="49" charset="-122"/>
                <a:ea typeface="仿宋_GB2312" pitchFamily="49" charset="-122"/>
              </a:rPr>
              <a:t>i=100            </a:t>
            </a:r>
            <a:r>
              <a:rPr lang="zh-CN" altLang="en-US" sz="2000" dirty="0">
                <a:solidFill>
                  <a:srgbClr val="333333"/>
                </a:solidFill>
                <a:latin typeface="仿宋_GB2312" pitchFamily="49" charset="-122"/>
                <a:ea typeface="仿宋_GB2312" pitchFamily="49" charset="-122"/>
              </a:rPr>
              <a:t>前</a:t>
            </a:r>
            <a:r>
              <a:rPr lang="en-US" altLang="zh-CN" sz="2000" dirty="0">
                <a:solidFill>
                  <a:srgbClr val="333333"/>
                </a:solidFill>
                <a:latin typeface="仿宋_GB2312" pitchFamily="49" charset="-122"/>
                <a:ea typeface="仿宋_GB2312" pitchFamily="49" charset="-122"/>
              </a:rPr>
              <a:t>100</a:t>
            </a:r>
            <a:r>
              <a:rPr lang="zh-CN" altLang="en-US" sz="2000" dirty="0">
                <a:solidFill>
                  <a:srgbClr val="333333"/>
                </a:solidFill>
                <a:latin typeface="仿宋_GB2312" pitchFamily="49" charset="-122"/>
                <a:ea typeface="仿宋_GB2312" pitchFamily="49" charset="-122"/>
              </a:rPr>
              <a:t>个数的正确</a:t>
            </a:r>
            <a:r>
              <a:rPr lang="zh-CN" altLang="en-US" sz="2000" dirty="0">
                <a:solidFill>
                  <a:srgbClr val="333333"/>
                </a:solidFill>
                <a:latin typeface="Arial" panose="020B0604020202020204" pitchFamily="34" charset="0"/>
                <a:ea typeface="楷体_GB2312" pitchFamily="49" charset="-122"/>
              </a:rPr>
              <a:t>平均值</a:t>
            </a:r>
            <a:endParaRPr lang="zh-CN" altLang="en-US" sz="2000" dirty="0">
              <a:solidFill>
                <a:srgbClr val="333333"/>
              </a:solidFill>
              <a:latin typeface="Arial" panose="020B0604020202020204" pitchFamily="34" charset="0"/>
              <a:ea typeface="楷体_GB2312" pitchFamily="49" charset="-122"/>
            </a:endParaRPr>
          </a:p>
          <a:p>
            <a:pPr marL="0" lvl="0" indent="0">
              <a:lnSpc>
                <a:spcPct val="115000"/>
              </a:lnSpc>
              <a:buClrTx/>
              <a:buFontTx/>
              <a:buNone/>
            </a:pPr>
            <a:r>
              <a:rPr lang="zh-CN" altLang="en-US" sz="2000" dirty="0">
                <a:solidFill>
                  <a:srgbClr val="333333"/>
                </a:solidFill>
                <a:latin typeface="Arial" panose="020B0604020202020204" pitchFamily="34" charset="0"/>
                <a:ea typeface="楷体_GB2312" pitchFamily="49" charset="-122"/>
              </a:rPr>
              <a:t>                                                             </a:t>
            </a:r>
            <a:r>
              <a:rPr lang="zh-CN" altLang="en-US" sz="2000" dirty="0">
                <a:solidFill>
                  <a:srgbClr val="333333"/>
                </a:solidFill>
                <a:latin typeface="仿宋_GB2312" pitchFamily="49" charset="-122"/>
                <a:ea typeface="仿宋_GB2312" pitchFamily="49" charset="-122"/>
              </a:rPr>
              <a:t>总数为</a:t>
            </a:r>
            <a:r>
              <a:rPr lang="en-US" altLang="zh-CN" sz="2000" dirty="0">
                <a:solidFill>
                  <a:srgbClr val="333333"/>
                </a:solidFill>
                <a:latin typeface="仿宋_GB2312" pitchFamily="49" charset="-122"/>
                <a:ea typeface="仿宋_GB2312" pitchFamily="49" charset="-122"/>
              </a:rPr>
              <a:t>100</a:t>
            </a:r>
            <a:r>
              <a:rPr lang="zh-CN" altLang="en-US" sz="2000" dirty="0">
                <a:solidFill>
                  <a:srgbClr val="333333"/>
                </a:solidFill>
                <a:latin typeface="仿宋_GB2312" pitchFamily="49" charset="-122"/>
                <a:ea typeface="仿宋_GB2312" pitchFamily="49" charset="-122"/>
              </a:rPr>
              <a:t>，不能独立测试</a:t>
            </a:r>
            <a:endParaRPr lang="zh-CN" altLang="en-US" sz="2000" dirty="0">
              <a:solidFill>
                <a:srgbClr val="333333"/>
              </a:solidFill>
              <a:latin typeface="仿宋_GB2312" pitchFamily="49" charset="-122"/>
              <a:ea typeface="仿宋_GB2312" pitchFamily="49" charset="-122"/>
            </a:endParaRPr>
          </a:p>
          <a:p>
            <a:pPr marL="0" lvl="0" indent="0">
              <a:lnSpc>
                <a:spcPct val="115000"/>
              </a:lnSpc>
              <a:buClrTx/>
              <a:buFontTx/>
              <a:buNone/>
            </a:pPr>
            <a:r>
              <a:rPr lang="en-US" altLang="zh-CN" sz="2000" dirty="0">
                <a:solidFill>
                  <a:srgbClr val="333333"/>
                </a:solidFill>
                <a:latin typeface="仿宋_GB2312" pitchFamily="49" charset="-122"/>
                <a:ea typeface="仿宋_GB2312" pitchFamily="49" charset="-122"/>
              </a:rPr>
              <a:t>4: i</a:t>
            </a:r>
            <a:r>
              <a:rPr lang="zh-CN" altLang="en-US" sz="2000" dirty="0">
                <a:solidFill>
                  <a:srgbClr val="333333"/>
                </a:solidFill>
                <a:latin typeface="仿宋_GB2312" pitchFamily="49" charset="-122"/>
                <a:ea typeface="仿宋_GB2312" pitchFamily="49" charset="-122"/>
              </a:rPr>
              <a:t>个</a:t>
            </a:r>
            <a:r>
              <a:rPr lang="en-US" altLang="zh-CN" sz="2000" dirty="0">
                <a:solidFill>
                  <a:srgbClr val="333333"/>
                </a:solidFill>
                <a:latin typeface="仿宋_GB2312" pitchFamily="49" charset="-122"/>
                <a:ea typeface="仿宋_GB2312" pitchFamily="49" charset="-122"/>
              </a:rPr>
              <a:t>&lt;</a:t>
            </a:r>
            <a:r>
              <a:rPr lang="zh-CN" altLang="en-US" sz="2000" dirty="0">
                <a:solidFill>
                  <a:srgbClr val="333333"/>
                </a:solidFill>
                <a:latin typeface="仿宋_GB2312" pitchFamily="49" charset="-122"/>
                <a:ea typeface="仿宋_GB2312" pitchFamily="49" charset="-122"/>
              </a:rPr>
              <a:t>最大值的</a:t>
            </a:r>
            <a:r>
              <a:rPr lang="zh-CN" altLang="en-US" sz="2000" dirty="0">
                <a:solidFill>
                  <a:srgbClr val="333333"/>
                </a:solidFill>
                <a:latin typeface="Arial" panose="020B0604020202020204" pitchFamily="34" charset="0"/>
                <a:ea typeface="楷体_GB2312" pitchFamily="49" charset="-122"/>
              </a:rPr>
              <a:t>输入， </a:t>
            </a:r>
            <a:r>
              <a:rPr lang="en-US" altLang="zh-CN" sz="2000" dirty="0">
                <a:solidFill>
                  <a:srgbClr val="333333"/>
                </a:solidFill>
                <a:latin typeface="仿宋_GB2312" pitchFamily="49" charset="-122"/>
                <a:ea typeface="仿宋_GB2312" pitchFamily="49" charset="-122"/>
              </a:rPr>
              <a:t>i&lt;100       </a:t>
            </a:r>
            <a:r>
              <a:rPr lang="zh-CN" altLang="en-US" sz="2000" dirty="0">
                <a:solidFill>
                  <a:srgbClr val="333333"/>
                </a:solidFill>
                <a:latin typeface="仿宋_GB2312" pitchFamily="49" charset="-122"/>
                <a:ea typeface="仿宋_GB2312" pitchFamily="49" charset="-122"/>
              </a:rPr>
              <a:t>基于</a:t>
            </a:r>
            <a:r>
              <a:rPr lang="en-US" altLang="zh-CN" sz="2000" dirty="0">
                <a:solidFill>
                  <a:srgbClr val="333333"/>
                </a:solidFill>
                <a:latin typeface="仿宋_GB2312" pitchFamily="49" charset="-122"/>
                <a:ea typeface="仿宋_GB2312" pitchFamily="49" charset="-122"/>
              </a:rPr>
              <a:t>k</a:t>
            </a:r>
            <a:r>
              <a:rPr lang="zh-CN" altLang="en-US" sz="2000" dirty="0">
                <a:solidFill>
                  <a:srgbClr val="333333"/>
                </a:solidFill>
                <a:latin typeface="仿宋_GB2312" pitchFamily="49" charset="-122"/>
                <a:ea typeface="仿宋_GB2312" pitchFamily="49" charset="-122"/>
              </a:rPr>
              <a:t>的正确</a:t>
            </a:r>
            <a:r>
              <a:rPr lang="zh-CN" altLang="en-US" sz="2000" dirty="0">
                <a:solidFill>
                  <a:srgbClr val="333333"/>
                </a:solidFill>
                <a:latin typeface="Arial" panose="020B0604020202020204" pitchFamily="34" charset="0"/>
                <a:ea typeface="楷体_GB2312" pitchFamily="49" charset="-122"/>
              </a:rPr>
              <a:t>平均值</a:t>
            </a:r>
            <a:r>
              <a:rPr lang="zh-CN" altLang="en-US" sz="2000" dirty="0">
                <a:solidFill>
                  <a:srgbClr val="333333"/>
                </a:solidFill>
                <a:latin typeface="仿宋_GB2312" pitchFamily="49" charset="-122"/>
                <a:ea typeface="仿宋_GB2312" pitchFamily="49" charset="-122"/>
              </a:rPr>
              <a:t>和总数</a:t>
            </a:r>
            <a:endParaRPr lang="en-US" altLang="zh-CN" sz="2000" dirty="0">
              <a:solidFill>
                <a:srgbClr val="333333"/>
              </a:solidFill>
              <a:latin typeface="仿宋_GB2312" pitchFamily="49" charset="-122"/>
              <a:ea typeface="仿宋_GB2312" pitchFamily="49" charset="-122"/>
            </a:endParaRPr>
          </a:p>
          <a:p>
            <a:pPr marL="0" lvl="0" indent="0">
              <a:lnSpc>
                <a:spcPct val="115000"/>
              </a:lnSpc>
              <a:buClrTx/>
              <a:buFontTx/>
              <a:buNone/>
            </a:pPr>
            <a:r>
              <a:rPr lang="zh-CN" altLang="en-US" sz="2000" dirty="0">
                <a:solidFill>
                  <a:srgbClr val="333333"/>
                </a:solidFill>
                <a:latin typeface="仿宋_GB2312" pitchFamily="49" charset="-122"/>
                <a:ea typeface="仿宋_GB2312" pitchFamily="49" charset="-122"/>
              </a:rPr>
              <a:t>   其中有</a:t>
            </a:r>
            <a:r>
              <a:rPr lang="en-US" altLang="zh-CN" sz="2000" dirty="0">
                <a:solidFill>
                  <a:srgbClr val="333333"/>
                </a:solidFill>
                <a:latin typeface="仿宋_GB2312" pitchFamily="49" charset="-122"/>
                <a:ea typeface="仿宋_GB2312" pitchFamily="49" charset="-122"/>
              </a:rPr>
              <a:t>k</a:t>
            </a:r>
            <a:r>
              <a:rPr lang="zh-CN" altLang="en-US" sz="2000" dirty="0">
                <a:solidFill>
                  <a:srgbClr val="333333"/>
                </a:solidFill>
                <a:latin typeface="仿宋_GB2312" pitchFamily="49" charset="-122"/>
                <a:ea typeface="仿宋_GB2312" pitchFamily="49" charset="-122"/>
              </a:rPr>
              <a:t>个</a:t>
            </a:r>
            <a:r>
              <a:rPr lang="en-US" altLang="zh-CN" sz="2000" dirty="0">
                <a:solidFill>
                  <a:srgbClr val="333333"/>
                </a:solidFill>
                <a:latin typeface="仿宋_GB2312" pitchFamily="49" charset="-122"/>
                <a:ea typeface="仿宋_GB2312" pitchFamily="49" charset="-122"/>
              </a:rPr>
              <a:t>&gt;</a:t>
            </a:r>
            <a:r>
              <a:rPr lang="zh-CN" altLang="en-US" sz="2000" dirty="0">
                <a:solidFill>
                  <a:srgbClr val="333333"/>
                </a:solidFill>
                <a:latin typeface="仿宋_GB2312" pitchFamily="49" charset="-122"/>
                <a:ea typeface="仿宋_GB2312" pitchFamily="49" charset="-122"/>
              </a:rPr>
              <a:t>最小值 </a:t>
            </a:r>
            <a:r>
              <a:rPr lang="en-US" altLang="zh-CN" sz="2000" dirty="0">
                <a:solidFill>
                  <a:srgbClr val="333333"/>
                </a:solidFill>
                <a:latin typeface="仿宋_GB2312" pitchFamily="49" charset="-122"/>
                <a:ea typeface="仿宋_GB2312" pitchFamily="49" charset="-122"/>
              </a:rPr>
              <a:t>0&lt;k&lt;i</a:t>
            </a:r>
            <a:endParaRPr lang="zh-CN" altLang="en-US" sz="2000" dirty="0">
              <a:solidFill>
                <a:srgbClr val="333333"/>
              </a:solidFill>
              <a:latin typeface="仿宋_GB2312" pitchFamily="49" charset="-122"/>
              <a:ea typeface="仿宋_GB2312" pitchFamily="49" charset="-122"/>
            </a:endParaRPr>
          </a:p>
          <a:p>
            <a:pPr marL="0" lvl="0" indent="0">
              <a:lnSpc>
                <a:spcPct val="115000"/>
              </a:lnSpc>
              <a:buClrTx/>
              <a:buFontTx/>
              <a:buNone/>
            </a:pPr>
            <a:r>
              <a:rPr lang="en-US" altLang="zh-CN" sz="2000" dirty="0">
                <a:solidFill>
                  <a:srgbClr val="333333"/>
                </a:solidFill>
                <a:latin typeface="仿宋_GB2312" pitchFamily="49" charset="-122"/>
                <a:ea typeface="仿宋_GB2312" pitchFamily="49" charset="-122"/>
              </a:rPr>
              <a:t>5: i</a:t>
            </a:r>
            <a:r>
              <a:rPr lang="zh-CN" altLang="en-US" sz="2000" dirty="0">
                <a:solidFill>
                  <a:srgbClr val="333333"/>
                </a:solidFill>
                <a:latin typeface="仿宋_GB2312" pitchFamily="49" charset="-122"/>
                <a:ea typeface="仿宋_GB2312" pitchFamily="49" charset="-122"/>
              </a:rPr>
              <a:t>个</a:t>
            </a:r>
            <a:r>
              <a:rPr lang="en-US" altLang="zh-CN" sz="2000" dirty="0">
                <a:solidFill>
                  <a:srgbClr val="333333"/>
                </a:solidFill>
                <a:latin typeface="仿宋_GB2312" pitchFamily="49" charset="-122"/>
                <a:ea typeface="仿宋_GB2312" pitchFamily="49" charset="-122"/>
              </a:rPr>
              <a:t>&gt;</a:t>
            </a:r>
            <a:r>
              <a:rPr lang="zh-CN" altLang="en-US" sz="2000" dirty="0">
                <a:solidFill>
                  <a:srgbClr val="333333"/>
                </a:solidFill>
                <a:latin typeface="仿宋_GB2312" pitchFamily="49" charset="-122"/>
                <a:ea typeface="仿宋_GB2312" pitchFamily="49" charset="-122"/>
              </a:rPr>
              <a:t>最小值的</a:t>
            </a:r>
            <a:r>
              <a:rPr lang="zh-CN" altLang="en-US" sz="2000" dirty="0">
                <a:solidFill>
                  <a:srgbClr val="333333"/>
                </a:solidFill>
                <a:latin typeface="Arial" panose="020B0604020202020204" pitchFamily="34" charset="0"/>
                <a:ea typeface="楷体_GB2312" pitchFamily="49" charset="-122"/>
              </a:rPr>
              <a:t>输入， </a:t>
            </a:r>
            <a:r>
              <a:rPr lang="en-US" altLang="zh-CN" sz="2000" dirty="0">
                <a:solidFill>
                  <a:srgbClr val="333333"/>
                </a:solidFill>
                <a:latin typeface="仿宋_GB2312" pitchFamily="49" charset="-122"/>
                <a:ea typeface="仿宋_GB2312" pitchFamily="49" charset="-122"/>
              </a:rPr>
              <a:t>i&lt;100       </a:t>
            </a:r>
            <a:r>
              <a:rPr lang="zh-CN" altLang="en-US" sz="2000" dirty="0">
                <a:solidFill>
                  <a:srgbClr val="333333"/>
                </a:solidFill>
                <a:latin typeface="仿宋_GB2312" pitchFamily="49" charset="-122"/>
                <a:ea typeface="仿宋_GB2312" pitchFamily="49" charset="-122"/>
              </a:rPr>
              <a:t>基于</a:t>
            </a:r>
            <a:r>
              <a:rPr lang="en-US" altLang="zh-CN" sz="2000" dirty="0">
                <a:solidFill>
                  <a:srgbClr val="333333"/>
                </a:solidFill>
                <a:latin typeface="仿宋_GB2312" pitchFamily="49" charset="-122"/>
                <a:ea typeface="仿宋_GB2312" pitchFamily="49" charset="-122"/>
              </a:rPr>
              <a:t>k</a:t>
            </a:r>
            <a:r>
              <a:rPr lang="zh-CN" altLang="en-US" sz="2000" dirty="0">
                <a:solidFill>
                  <a:srgbClr val="333333"/>
                </a:solidFill>
                <a:latin typeface="仿宋_GB2312" pitchFamily="49" charset="-122"/>
                <a:ea typeface="仿宋_GB2312" pitchFamily="49" charset="-122"/>
              </a:rPr>
              <a:t>的正确</a:t>
            </a:r>
            <a:r>
              <a:rPr lang="zh-CN" altLang="en-US" sz="2000" dirty="0">
                <a:solidFill>
                  <a:srgbClr val="333333"/>
                </a:solidFill>
                <a:latin typeface="Arial" panose="020B0604020202020204" pitchFamily="34" charset="0"/>
                <a:ea typeface="楷体_GB2312" pitchFamily="49" charset="-122"/>
              </a:rPr>
              <a:t>平均值</a:t>
            </a:r>
            <a:r>
              <a:rPr lang="zh-CN" altLang="en-US" sz="2000" dirty="0">
                <a:solidFill>
                  <a:srgbClr val="333333"/>
                </a:solidFill>
                <a:latin typeface="仿宋_GB2312" pitchFamily="49" charset="-122"/>
                <a:ea typeface="仿宋_GB2312" pitchFamily="49" charset="-122"/>
              </a:rPr>
              <a:t>和总数</a:t>
            </a:r>
            <a:endParaRPr lang="en-US" altLang="zh-CN" sz="2000" dirty="0">
              <a:solidFill>
                <a:srgbClr val="333333"/>
              </a:solidFill>
              <a:latin typeface="仿宋_GB2312" pitchFamily="49" charset="-122"/>
              <a:ea typeface="仿宋_GB2312" pitchFamily="49" charset="-122"/>
            </a:endParaRPr>
          </a:p>
          <a:p>
            <a:pPr marL="0" lvl="0" indent="0">
              <a:lnSpc>
                <a:spcPct val="115000"/>
              </a:lnSpc>
              <a:buClrTx/>
              <a:buFontTx/>
              <a:buNone/>
            </a:pPr>
            <a:r>
              <a:rPr lang="en-US" altLang="zh-CN" sz="2000" dirty="0">
                <a:solidFill>
                  <a:srgbClr val="333333"/>
                </a:solidFill>
                <a:latin typeface="仿宋_GB2312" pitchFamily="49" charset="-122"/>
                <a:ea typeface="仿宋_GB2312" pitchFamily="49" charset="-122"/>
              </a:rPr>
              <a:t>   </a:t>
            </a:r>
            <a:r>
              <a:rPr lang="zh-CN" altLang="en-US" sz="2000" dirty="0">
                <a:solidFill>
                  <a:srgbClr val="333333"/>
                </a:solidFill>
                <a:latin typeface="仿宋_GB2312" pitchFamily="49" charset="-122"/>
                <a:ea typeface="仿宋_GB2312" pitchFamily="49" charset="-122"/>
              </a:rPr>
              <a:t>其中有</a:t>
            </a:r>
            <a:r>
              <a:rPr lang="en-US" altLang="zh-CN" sz="2000" dirty="0">
                <a:solidFill>
                  <a:srgbClr val="333333"/>
                </a:solidFill>
                <a:latin typeface="仿宋_GB2312" pitchFamily="49" charset="-122"/>
                <a:ea typeface="仿宋_GB2312" pitchFamily="49" charset="-122"/>
              </a:rPr>
              <a:t>k</a:t>
            </a:r>
            <a:r>
              <a:rPr lang="zh-CN" altLang="en-US" sz="2000" dirty="0">
                <a:solidFill>
                  <a:srgbClr val="333333"/>
                </a:solidFill>
                <a:latin typeface="仿宋_GB2312" pitchFamily="49" charset="-122"/>
                <a:ea typeface="仿宋_GB2312" pitchFamily="49" charset="-122"/>
              </a:rPr>
              <a:t>个</a:t>
            </a:r>
            <a:r>
              <a:rPr lang="en-US" altLang="zh-CN" sz="2000" dirty="0">
                <a:solidFill>
                  <a:srgbClr val="333333"/>
                </a:solidFill>
                <a:latin typeface="仿宋_GB2312" pitchFamily="49" charset="-122"/>
                <a:ea typeface="仿宋_GB2312" pitchFamily="49" charset="-122"/>
              </a:rPr>
              <a:t>&lt;</a:t>
            </a:r>
            <a:r>
              <a:rPr lang="zh-CN" altLang="en-US" sz="2000" dirty="0">
                <a:solidFill>
                  <a:srgbClr val="333333"/>
                </a:solidFill>
                <a:latin typeface="仿宋_GB2312" pitchFamily="49" charset="-122"/>
                <a:ea typeface="仿宋_GB2312" pitchFamily="49" charset="-122"/>
              </a:rPr>
              <a:t>最大值 </a:t>
            </a:r>
            <a:r>
              <a:rPr lang="en-US" altLang="zh-CN" sz="2000" dirty="0">
                <a:solidFill>
                  <a:srgbClr val="333333"/>
                </a:solidFill>
                <a:latin typeface="仿宋_GB2312" pitchFamily="49" charset="-122"/>
                <a:ea typeface="仿宋_GB2312" pitchFamily="49" charset="-122"/>
              </a:rPr>
              <a:t>0&lt;k&lt;i</a:t>
            </a:r>
            <a:endParaRPr lang="zh-CN" altLang="en-US" sz="2000" dirty="0">
              <a:solidFill>
                <a:srgbClr val="333333"/>
              </a:solidFill>
              <a:latin typeface="仿宋_GB2312" pitchFamily="49" charset="-122"/>
              <a:ea typeface="仿宋_GB2312" pitchFamily="49" charset="-122"/>
            </a:endParaRPr>
          </a:p>
          <a:p>
            <a:pPr marL="0" lvl="0" indent="0">
              <a:lnSpc>
                <a:spcPct val="115000"/>
              </a:lnSpc>
              <a:buClrTx/>
              <a:buFontTx/>
              <a:buNone/>
            </a:pPr>
            <a:r>
              <a:rPr lang="en-US" altLang="zh-CN" sz="2000" dirty="0">
                <a:solidFill>
                  <a:srgbClr val="333333"/>
                </a:solidFill>
                <a:latin typeface="仿宋_GB2312" pitchFamily="49" charset="-122"/>
                <a:ea typeface="仿宋_GB2312" pitchFamily="49" charset="-122"/>
              </a:rPr>
              <a:t>6: i</a:t>
            </a:r>
            <a:r>
              <a:rPr lang="zh-CN" altLang="en-US" sz="2000" dirty="0">
                <a:solidFill>
                  <a:srgbClr val="333333"/>
                </a:solidFill>
                <a:latin typeface="仿宋_GB2312" pitchFamily="49" charset="-122"/>
                <a:ea typeface="仿宋_GB2312" pitchFamily="49" charset="-122"/>
              </a:rPr>
              <a:t>个有</a:t>
            </a:r>
            <a:r>
              <a:rPr lang="zh-CN" altLang="en-US" sz="2000" dirty="0">
                <a:solidFill>
                  <a:srgbClr val="333333"/>
                </a:solidFill>
                <a:latin typeface="Arial" panose="020B0604020202020204" pitchFamily="34" charset="0"/>
                <a:ea typeface="楷体_GB2312" pitchFamily="49" charset="-122"/>
              </a:rPr>
              <a:t>效输入 </a:t>
            </a:r>
            <a:r>
              <a:rPr lang="en-US" altLang="zh-CN" sz="2000" dirty="0">
                <a:solidFill>
                  <a:srgbClr val="333333"/>
                </a:solidFill>
                <a:latin typeface="仿宋_GB2312" pitchFamily="49" charset="-122"/>
                <a:ea typeface="仿宋_GB2312" pitchFamily="49" charset="-122"/>
              </a:rPr>
              <a:t>0&lt;i&lt;100            </a:t>
            </a:r>
            <a:r>
              <a:rPr lang="zh-CN" altLang="en-US" sz="2000" dirty="0">
                <a:solidFill>
                  <a:srgbClr val="333333"/>
                </a:solidFill>
                <a:latin typeface="仿宋_GB2312" pitchFamily="49" charset="-122"/>
                <a:ea typeface="仿宋_GB2312" pitchFamily="49" charset="-122"/>
              </a:rPr>
              <a:t>正确的平均值和总数  </a:t>
            </a:r>
            <a:endParaRPr lang="zh-CN" altLang="en-US" sz="2000" dirty="0">
              <a:solidFill>
                <a:srgbClr val="333333"/>
              </a:solidFill>
              <a:latin typeface="仿宋_GB2312" pitchFamily="49" charset="-122"/>
              <a:ea typeface="仿宋_GB2312" pitchFamily="49" charset="-122"/>
            </a:endParaRPr>
          </a:p>
        </p:txBody>
      </p:sp>
      <p:sp>
        <p:nvSpPr>
          <p:cNvPr id="50180"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内容占位符 2"/>
          <p:cNvSpPr>
            <a:spLocks noGrp="1"/>
          </p:cNvSpPr>
          <p:nvPr>
            <p:ph idx="1"/>
          </p:nvPr>
        </p:nvSpPr>
        <p:spPr>
          <a:xfrm>
            <a:off x="428625" y="1214438"/>
            <a:ext cx="8286750"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2.</a:t>
            </a:r>
            <a:r>
              <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基于控制结构测试</a:t>
            </a:r>
            <a:endPar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2</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）循环测试 </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用于测试循环结构的有效性。在结构化程序中，循环通常有三类：简单循环、嵌套循环和串接循环。</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363855"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简单循环</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363855"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使用下列测试集，其中</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n</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为允许通过循环的最大次数。</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71120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ü"/>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跳过循环</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71120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ü"/>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只通过循环一次</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71120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ü"/>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通过循环两次</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71120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ü"/>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通过循环</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m</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次，其中</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m&lt;n-1</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71120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ü"/>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通过循环</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n-1,n,n+1</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次</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363855"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grpSp>
        <p:nvGrpSpPr>
          <p:cNvPr id="51203" name="Group 3"/>
          <p:cNvGrpSpPr/>
          <p:nvPr/>
        </p:nvGrpSpPr>
        <p:grpSpPr>
          <a:xfrm>
            <a:off x="6572250" y="4000500"/>
            <a:ext cx="1944688" cy="792163"/>
            <a:chOff x="1008" y="3312"/>
            <a:chExt cx="1440" cy="672"/>
          </a:xfrm>
        </p:grpSpPr>
        <p:sp>
          <p:nvSpPr>
            <p:cNvPr id="51214" name="Line 4"/>
            <p:cNvSpPr/>
            <p:nvPr/>
          </p:nvSpPr>
          <p:spPr>
            <a:xfrm>
              <a:off x="1344" y="3312"/>
              <a:ext cx="0" cy="192"/>
            </a:xfrm>
            <a:prstGeom prst="line">
              <a:avLst/>
            </a:prstGeom>
            <a:ln w="38100" cap="flat" cmpd="sng">
              <a:solidFill>
                <a:schemeClr val="accent1"/>
              </a:solidFill>
              <a:prstDash val="solid"/>
              <a:headEnd type="none" w="med" len="med"/>
              <a:tailEnd type="triangle" w="med" len="med"/>
            </a:ln>
          </p:spPr>
        </p:sp>
        <p:grpSp>
          <p:nvGrpSpPr>
            <p:cNvPr id="51215" name="Group 5"/>
            <p:cNvGrpSpPr/>
            <p:nvPr/>
          </p:nvGrpSpPr>
          <p:grpSpPr>
            <a:xfrm>
              <a:off x="1008" y="3408"/>
              <a:ext cx="1440" cy="576"/>
              <a:chOff x="2496" y="1920"/>
              <a:chExt cx="1440" cy="576"/>
            </a:xfrm>
          </p:grpSpPr>
          <p:sp>
            <p:nvSpPr>
              <p:cNvPr id="51216" name="Rectangle 6"/>
              <p:cNvSpPr/>
              <p:nvPr/>
            </p:nvSpPr>
            <p:spPr>
              <a:xfrm>
                <a:off x="3312" y="2064"/>
                <a:ext cx="624" cy="192"/>
              </a:xfrm>
              <a:prstGeom prst="rect">
                <a:avLst/>
              </a:prstGeom>
              <a:noFill/>
              <a:ln w="38100" cap="flat" cmpd="sng">
                <a:solidFill>
                  <a:schemeClr val="accent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51217" name="AutoShape 7"/>
              <p:cNvSpPr/>
              <p:nvPr/>
            </p:nvSpPr>
            <p:spPr>
              <a:xfrm>
                <a:off x="2496" y="2016"/>
                <a:ext cx="720" cy="288"/>
              </a:xfrm>
              <a:prstGeom prst="flowChartDecision">
                <a:avLst/>
              </a:prstGeom>
              <a:noFill/>
              <a:ln w="38100" cap="flat" cmpd="sng">
                <a:solidFill>
                  <a:schemeClr val="accent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51218" name="Line 8"/>
              <p:cNvSpPr/>
              <p:nvPr/>
            </p:nvSpPr>
            <p:spPr>
              <a:xfrm>
                <a:off x="2832" y="2304"/>
                <a:ext cx="0" cy="192"/>
              </a:xfrm>
              <a:prstGeom prst="line">
                <a:avLst/>
              </a:prstGeom>
              <a:ln w="38100" cap="flat" cmpd="sng">
                <a:solidFill>
                  <a:schemeClr val="accent1"/>
                </a:solidFill>
                <a:prstDash val="solid"/>
                <a:headEnd type="none" w="med" len="med"/>
                <a:tailEnd type="triangle" w="med" len="med"/>
              </a:ln>
            </p:spPr>
          </p:sp>
          <p:sp>
            <p:nvSpPr>
              <p:cNvPr id="51219" name="Line 9"/>
              <p:cNvSpPr/>
              <p:nvPr/>
            </p:nvSpPr>
            <p:spPr>
              <a:xfrm>
                <a:off x="3216" y="2160"/>
                <a:ext cx="96" cy="0"/>
              </a:xfrm>
              <a:prstGeom prst="line">
                <a:avLst/>
              </a:prstGeom>
              <a:ln w="38100" cap="flat" cmpd="sng">
                <a:solidFill>
                  <a:schemeClr val="accent1"/>
                </a:solidFill>
                <a:prstDash val="solid"/>
                <a:headEnd type="none" w="med" len="med"/>
                <a:tailEnd type="triangle" w="med" len="med"/>
              </a:ln>
            </p:spPr>
          </p:sp>
          <p:sp>
            <p:nvSpPr>
              <p:cNvPr id="51220" name="Line 10"/>
              <p:cNvSpPr/>
              <p:nvPr/>
            </p:nvSpPr>
            <p:spPr>
              <a:xfrm flipV="1">
                <a:off x="3648" y="1920"/>
                <a:ext cx="0" cy="144"/>
              </a:xfrm>
              <a:prstGeom prst="line">
                <a:avLst/>
              </a:prstGeom>
              <a:ln w="38100" cap="flat" cmpd="sng">
                <a:solidFill>
                  <a:schemeClr val="accent1"/>
                </a:solidFill>
                <a:prstDash val="solid"/>
                <a:headEnd type="none" w="med" len="med"/>
                <a:tailEnd type="none" w="med" len="med"/>
              </a:ln>
            </p:spPr>
          </p:sp>
          <p:sp>
            <p:nvSpPr>
              <p:cNvPr id="51221" name="Line 11"/>
              <p:cNvSpPr/>
              <p:nvPr/>
            </p:nvSpPr>
            <p:spPr>
              <a:xfrm flipH="1">
                <a:off x="2832" y="1920"/>
                <a:ext cx="816" cy="0"/>
              </a:xfrm>
              <a:prstGeom prst="line">
                <a:avLst/>
              </a:prstGeom>
              <a:ln w="38100" cap="flat" cmpd="sng">
                <a:solidFill>
                  <a:schemeClr val="accent1"/>
                </a:solidFill>
                <a:prstDash val="solid"/>
                <a:headEnd type="none" w="med" len="med"/>
                <a:tailEnd type="triangle" w="med" len="med"/>
              </a:ln>
            </p:spPr>
          </p:sp>
        </p:grpSp>
      </p:grpSp>
      <p:grpSp>
        <p:nvGrpSpPr>
          <p:cNvPr id="51204" name="Group 12"/>
          <p:cNvGrpSpPr/>
          <p:nvPr/>
        </p:nvGrpSpPr>
        <p:grpSpPr>
          <a:xfrm>
            <a:off x="5715000" y="5143500"/>
            <a:ext cx="1425575" cy="1219200"/>
            <a:chOff x="2496" y="2592"/>
            <a:chExt cx="1056" cy="960"/>
          </a:xfrm>
        </p:grpSpPr>
        <p:sp>
          <p:nvSpPr>
            <p:cNvPr id="51206" name="Rectangle 13"/>
            <p:cNvSpPr/>
            <p:nvPr/>
          </p:nvSpPr>
          <p:spPr>
            <a:xfrm>
              <a:off x="2544" y="2736"/>
              <a:ext cx="624" cy="192"/>
            </a:xfrm>
            <a:prstGeom prst="rect">
              <a:avLst/>
            </a:prstGeom>
            <a:noFill/>
            <a:ln w="38100" cap="flat" cmpd="sng">
              <a:solidFill>
                <a:schemeClr val="accent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51207" name="AutoShape 14"/>
            <p:cNvSpPr/>
            <p:nvPr/>
          </p:nvSpPr>
          <p:spPr>
            <a:xfrm>
              <a:off x="2496" y="3120"/>
              <a:ext cx="720" cy="288"/>
            </a:xfrm>
            <a:prstGeom prst="flowChartDecision">
              <a:avLst/>
            </a:prstGeom>
            <a:noFill/>
            <a:ln w="38100" cap="flat" cmpd="sng">
              <a:solidFill>
                <a:schemeClr val="accent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51208" name="Line 15"/>
            <p:cNvSpPr/>
            <p:nvPr/>
          </p:nvSpPr>
          <p:spPr>
            <a:xfrm>
              <a:off x="2832" y="2592"/>
              <a:ext cx="0" cy="144"/>
            </a:xfrm>
            <a:prstGeom prst="line">
              <a:avLst/>
            </a:prstGeom>
            <a:ln w="38100" cap="flat" cmpd="sng">
              <a:solidFill>
                <a:schemeClr val="accent1"/>
              </a:solidFill>
              <a:prstDash val="solid"/>
              <a:headEnd type="none" w="med" len="med"/>
              <a:tailEnd type="triangle" w="med" len="med"/>
            </a:ln>
          </p:spPr>
        </p:sp>
        <p:sp>
          <p:nvSpPr>
            <p:cNvPr id="51209" name="Line 16"/>
            <p:cNvSpPr/>
            <p:nvPr/>
          </p:nvSpPr>
          <p:spPr>
            <a:xfrm>
              <a:off x="2832" y="2928"/>
              <a:ext cx="0" cy="192"/>
            </a:xfrm>
            <a:prstGeom prst="line">
              <a:avLst/>
            </a:prstGeom>
            <a:ln w="38100" cap="flat" cmpd="sng">
              <a:solidFill>
                <a:schemeClr val="accent1"/>
              </a:solidFill>
              <a:prstDash val="solid"/>
              <a:headEnd type="none" w="med" len="med"/>
              <a:tailEnd type="triangle" w="med" len="med"/>
            </a:ln>
          </p:spPr>
        </p:sp>
        <p:sp>
          <p:nvSpPr>
            <p:cNvPr id="51210" name="Line 17"/>
            <p:cNvSpPr/>
            <p:nvPr/>
          </p:nvSpPr>
          <p:spPr>
            <a:xfrm>
              <a:off x="2832" y="3408"/>
              <a:ext cx="0" cy="144"/>
            </a:xfrm>
            <a:prstGeom prst="line">
              <a:avLst/>
            </a:prstGeom>
            <a:ln w="38100" cap="flat" cmpd="sng">
              <a:solidFill>
                <a:schemeClr val="accent1"/>
              </a:solidFill>
              <a:prstDash val="solid"/>
              <a:headEnd type="none" w="med" len="med"/>
              <a:tailEnd type="triangle" w="med" len="med"/>
            </a:ln>
          </p:spPr>
        </p:sp>
        <p:sp>
          <p:nvSpPr>
            <p:cNvPr id="51211" name="Line 18"/>
            <p:cNvSpPr/>
            <p:nvPr/>
          </p:nvSpPr>
          <p:spPr>
            <a:xfrm>
              <a:off x="3216" y="3264"/>
              <a:ext cx="336" cy="0"/>
            </a:xfrm>
            <a:prstGeom prst="line">
              <a:avLst/>
            </a:prstGeom>
            <a:ln w="38100" cap="flat" cmpd="sng">
              <a:solidFill>
                <a:schemeClr val="accent1"/>
              </a:solidFill>
              <a:prstDash val="solid"/>
              <a:headEnd type="none" w="med" len="med"/>
              <a:tailEnd type="none" w="med" len="med"/>
            </a:ln>
          </p:spPr>
        </p:sp>
        <p:sp>
          <p:nvSpPr>
            <p:cNvPr id="51212" name="Line 19"/>
            <p:cNvSpPr/>
            <p:nvPr/>
          </p:nvSpPr>
          <p:spPr>
            <a:xfrm flipV="1">
              <a:off x="3552" y="2640"/>
              <a:ext cx="0" cy="624"/>
            </a:xfrm>
            <a:prstGeom prst="line">
              <a:avLst/>
            </a:prstGeom>
            <a:ln w="38100" cap="flat" cmpd="sng">
              <a:solidFill>
                <a:schemeClr val="accent1"/>
              </a:solidFill>
              <a:prstDash val="solid"/>
              <a:headEnd type="none" w="med" len="med"/>
              <a:tailEnd type="none" w="med" len="med"/>
            </a:ln>
          </p:spPr>
        </p:sp>
        <p:sp>
          <p:nvSpPr>
            <p:cNvPr id="51213" name="Line 20"/>
            <p:cNvSpPr/>
            <p:nvPr/>
          </p:nvSpPr>
          <p:spPr>
            <a:xfrm flipH="1">
              <a:off x="2832" y="2640"/>
              <a:ext cx="720" cy="0"/>
            </a:xfrm>
            <a:prstGeom prst="line">
              <a:avLst/>
            </a:prstGeom>
            <a:ln w="38100" cap="flat" cmpd="sng">
              <a:solidFill>
                <a:schemeClr val="accent1"/>
              </a:solidFill>
              <a:prstDash val="solid"/>
              <a:headEnd type="none" w="med" len="med"/>
              <a:tailEnd type="triangle" w="med" len="med"/>
            </a:ln>
          </p:spPr>
        </p:sp>
      </p:grpSp>
      <p:sp>
        <p:nvSpPr>
          <p:cNvPr id="51205"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内容占位符 2"/>
          <p:cNvSpPr>
            <a:spLocks noGrp="1"/>
          </p:cNvSpPr>
          <p:nvPr>
            <p:ph idx="1"/>
          </p:nvPr>
        </p:nvSpPr>
        <p:spPr>
          <a:xfrm>
            <a:off x="428625" y="1214438"/>
            <a:ext cx="8286750" cy="5000625"/>
          </a:xfrm>
        </p:spPr>
        <p:txBody>
          <a:bodyPr vert="horz" wrap="square" lIns="91440" tIns="45720" rIns="91440" bIns="45720" numCol="1" anchor="t" anchorCtr="0" compatLnSpc="1"/>
          <a:lstStyle/>
          <a:p>
            <a:pPr marL="363855"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嵌套循环</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71120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ü"/>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从内层循环开始测试，其它循环设为最小值。</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71120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ü"/>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对内层循环使用简单循环测试方法，使外层循环的迭代参数取最小值，并为越界值或非法值增加一些额外测试。</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71120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ü"/>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由内向外，对下一个循环进行测试，但保持所有外层循环为最小值，其他嵌套循环为“典型”值。</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71120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ü"/>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继续进行下去，直到测试完所有循环。</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grpSp>
        <p:nvGrpSpPr>
          <p:cNvPr id="52227" name="Group 3"/>
          <p:cNvGrpSpPr/>
          <p:nvPr/>
        </p:nvGrpSpPr>
        <p:grpSpPr>
          <a:xfrm>
            <a:off x="6643688" y="3786188"/>
            <a:ext cx="1574800" cy="2286000"/>
            <a:chOff x="3888" y="1920"/>
            <a:chExt cx="1008" cy="1632"/>
          </a:xfrm>
        </p:grpSpPr>
        <p:sp>
          <p:nvSpPr>
            <p:cNvPr id="52229" name="Rectangle 4"/>
            <p:cNvSpPr/>
            <p:nvPr/>
          </p:nvSpPr>
          <p:spPr>
            <a:xfrm>
              <a:off x="3936" y="2112"/>
              <a:ext cx="624" cy="192"/>
            </a:xfrm>
            <a:prstGeom prst="rect">
              <a:avLst/>
            </a:prstGeom>
            <a:noFill/>
            <a:ln w="38100" cap="flat" cmpd="sng">
              <a:solidFill>
                <a:schemeClr val="accent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52230" name="AutoShape 5"/>
            <p:cNvSpPr/>
            <p:nvPr/>
          </p:nvSpPr>
          <p:spPr>
            <a:xfrm>
              <a:off x="3888" y="3024"/>
              <a:ext cx="720" cy="288"/>
            </a:xfrm>
            <a:prstGeom prst="flowChartDecision">
              <a:avLst/>
            </a:prstGeom>
            <a:noFill/>
            <a:ln w="38100" cap="flat" cmpd="sng">
              <a:solidFill>
                <a:schemeClr val="accent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52231" name="AutoShape 6"/>
            <p:cNvSpPr/>
            <p:nvPr/>
          </p:nvSpPr>
          <p:spPr>
            <a:xfrm>
              <a:off x="3888" y="2496"/>
              <a:ext cx="720" cy="288"/>
            </a:xfrm>
            <a:prstGeom prst="flowChartDecision">
              <a:avLst/>
            </a:prstGeom>
            <a:noFill/>
            <a:ln w="38100" cap="flat" cmpd="sng">
              <a:solidFill>
                <a:schemeClr val="accent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52232" name="Line 7"/>
            <p:cNvSpPr/>
            <p:nvPr/>
          </p:nvSpPr>
          <p:spPr>
            <a:xfrm>
              <a:off x="4224" y="1920"/>
              <a:ext cx="0" cy="192"/>
            </a:xfrm>
            <a:prstGeom prst="line">
              <a:avLst/>
            </a:prstGeom>
            <a:ln w="38100" cap="flat" cmpd="sng">
              <a:solidFill>
                <a:schemeClr val="accent1"/>
              </a:solidFill>
              <a:prstDash val="solid"/>
              <a:headEnd type="none" w="med" len="med"/>
              <a:tailEnd type="none" w="med" len="med"/>
            </a:ln>
          </p:spPr>
        </p:sp>
        <p:sp>
          <p:nvSpPr>
            <p:cNvPr id="52233" name="Line 8"/>
            <p:cNvSpPr/>
            <p:nvPr/>
          </p:nvSpPr>
          <p:spPr>
            <a:xfrm>
              <a:off x="4224" y="2304"/>
              <a:ext cx="0" cy="192"/>
            </a:xfrm>
            <a:prstGeom prst="line">
              <a:avLst/>
            </a:prstGeom>
            <a:ln w="38100" cap="flat" cmpd="sng">
              <a:solidFill>
                <a:schemeClr val="accent1"/>
              </a:solidFill>
              <a:prstDash val="solid"/>
              <a:headEnd type="none" w="med" len="med"/>
              <a:tailEnd type="triangle" w="med" len="med"/>
            </a:ln>
          </p:spPr>
        </p:sp>
        <p:sp>
          <p:nvSpPr>
            <p:cNvPr id="52234" name="Line 9"/>
            <p:cNvSpPr/>
            <p:nvPr/>
          </p:nvSpPr>
          <p:spPr>
            <a:xfrm>
              <a:off x="4224" y="2784"/>
              <a:ext cx="0" cy="240"/>
            </a:xfrm>
            <a:prstGeom prst="line">
              <a:avLst/>
            </a:prstGeom>
            <a:ln w="38100" cap="flat" cmpd="sng">
              <a:solidFill>
                <a:schemeClr val="accent1"/>
              </a:solidFill>
              <a:prstDash val="solid"/>
              <a:headEnd type="none" w="med" len="med"/>
              <a:tailEnd type="triangle" w="med" len="med"/>
            </a:ln>
          </p:spPr>
        </p:sp>
        <p:sp>
          <p:nvSpPr>
            <p:cNvPr id="52235" name="Line 10"/>
            <p:cNvSpPr/>
            <p:nvPr/>
          </p:nvSpPr>
          <p:spPr>
            <a:xfrm>
              <a:off x="4224" y="3312"/>
              <a:ext cx="0" cy="240"/>
            </a:xfrm>
            <a:prstGeom prst="line">
              <a:avLst/>
            </a:prstGeom>
            <a:ln w="38100" cap="flat" cmpd="sng">
              <a:solidFill>
                <a:schemeClr val="accent1"/>
              </a:solidFill>
              <a:prstDash val="solid"/>
              <a:headEnd type="none" w="med" len="med"/>
              <a:tailEnd type="triangle" w="med" len="med"/>
            </a:ln>
          </p:spPr>
        </p:sp>
        <p:sp>
          <p:nvSpPr>
            <p:cNvPr id="52236" name="Line 11"/>
            <p:cNvSpPr/>
            <p:nvPr/>
          </p:nvSpPr>
          <p:spPr>
            <a:xfrm>
              <a:off x="4608" y="2640"/>
              <a:ext cx="144" cy="0"/>
            </a:xfrm>
            <a:prstGeom prst="line">
              <a:avLst/>
            </a:prstGeom>
            <a:ln w="38100" cap="flat" cmpd="sng">
              <a:solidFill>
                <a:schemeClr val="accent1"/>
              </a:solidFill>
              <a:prstDash val="solid"/>
              <a:headEnd type="none" w="med" len="med"/>
              <a:tailEnd type="none" w="med" len="med"/>
            </a:ln>
          </p:spPr>
        </p:sp>
        <p:sp>
          <p:nvSpPr>
            <p:cNvPr id="52237" name="Line 12"/>
            <p:cNvSpPr/>
            <p:nvPr/>
          </p:nvSpPr>
          <p:spPr>
            <a:xfrm flipV="1">
              <a:off x="4752" y="2016"/>
              <a:ext cx="0" cy="624"/>
            </a:xfrm>
            <a:prstGeom prst="line">
              <a:avLst/>
            </a:prstGeom>
            <a:ln w="38100" cap="flat" cmpd="sng">
              <a:solidFill>
                <a:schemeClr val="accent1"/>
              </a:solidFill>
              <a:prstDash val="solid"/>
              <a:headEnd type="none" w="med" len="med"/>
              <a:tailEnd type="none" w="med" len="med"/>
            </a:ln>
          </p:spPr>
        </p:sp>
        <p:sp>
          <p:nvSpPr>
            <p:cNvPr id="52238" name="Line 13"/>
            <p:cNvSpPr/>
            <p:nvPr/>
          </p:nvSpPr>
          <p:spPr>
            <a:xfrm flipH="1">
              <a:off x="4224" y="2016"/>
              <a:ext cx="528" cy="0"/>
            </a:xfrm>
            <a:prstGeom prst="line">
              <a:avLst/>
            </a:prstGeom>
            <a:ln w="38100" cap="flat" cmpd="sng">
              <a:solidFill>
                <a:schemeClr val="accent1"/>
              </a:solidFill>
              <a:prstDash val="solid"/>
              <a:headEnd type="none" w="med" len="med"/>
              <a:tailEnd type="triangle" w="med" len="med"/>
            </a:ln>
          </p:spPr>
        </p:sp>
        <p:sp>
          <p:nvSpPr>
            <p:cNvPr id="52239" name="Line 14"/>
            <p:cNvSpPr/>
            <p:nvPr/>
          </p:nvSpPr>
          <p:spPr>
            <a:xfrm>
              <a:off x="4608" y="3168"/>
              <a:ext cx="288" cy="0"/>
            </a:xfrm>
            <a:prstGeom prst="line">
              <a:avLst/>
            </a:prstGeom>
            <a:ln w="38100" cap="flat" cmpd="sng">
              <a:solidFill>
                <a:schemeClr val="accent1"/>
              </a:solidFill>
              <a:prstDash val="solid"/>
              <a:headEnd type="none" w="med" len="med"/>
              <a:tailEnd type="none" w="med" len="med"/>
            </a:ln>
          </p:spPr>
        </p:sp>
        <p:sp>
          <p:nvSpPr>
            <p:cNvPr id="52240" name="Line 15"/>
            <p:cNvSpPr/>
            <p:nvPr/>
          </p:nvSpPr>
          <p:spPr>
            <a:xfrm flipV="1">
              <a:off x="4896" y="1968"/>
              <a:ext cx="0" cy="1200"/>
            </a:xfrm>
            <a:prstGeom prst="line">
              <a:avLst/>
            </a:prstGeom>
            <a:ln w="38100" cap="flat" cmpd="sng">
              <a:solidFill>
                <a:schemeClr val="accent1"/>
              </a:solidFill>
              <a:prstDash val="solid"/>
              <a:headEnd type="none" w="med" len="med"/>
              <a:tailEnd type="none" w="med" len="med"/>
            </a:ln>
          </p:spPr>
        </p:sp>
        <p:sp>
          <p:nvSpPr>
            <p:cNvPr id="52241" name="Line 16"/>
            <p:cNvSpPr/>
            <p:nvPr/>
          </p:nvSpPr>
          <p:spPr>
            <a:xfrm flipH="1">
              <a:off x="4224" y="1968"/>
              <a:ext cx="672" cy="0"/>
            </a:xfrm>
            <a:prstGeom prst="line">
              <a:avLst/>
            </a:prstGeom>
            <a:ln w="38100" cap="flat" cmpd="sng">
              <a:solidFill>
                <a:schemeClr val="accent1"/>
              </a:solidFill>
              <a:prstDash val="solid"/>
              <a:headEnd type="none" w="med" len="med"/>
              <a:tailEnd type="triangle" w="med" len="med"/>
            </a:ln>
          </p:spPr>
        </p:sp>
      </p:grpSp>
      <p:sp>
        <p:nvSpPr>
          <p:cNvPr id="52228"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内容占位符 2"/>
          <p:cNvSpPr>
            <a:spLocks noGrp="1"/>
          </p:cNvSpPr>
          <p:nvPr>
            <p:ph idx="1"/>
          </p:nvPr>
        </p:nvSpPr>
        <p:spPr>
          <a:xfrm>
            <a:off x="428625" y="1214438"/>
            <a:ext cx="8286750" cy="5000625"/>
          </a:xfrm>
        </p:spPr>
        <p:txBody>
          <a:bodyPr vert="horz" wrap="square" lIns="91440" tIns="45720" rIns="91440" bIns="45720" numCol="1" anchor="t" anchorCtr="0" compatLnSpc="1"/>
          <a:lstStyle/>
          <a:p>
            <a:pPr marL="363855"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串接循环</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71120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ü"/>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串接循环的各个循环彼此独立，可采用简单循环测试方法。</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71120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ü"/>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若前一个循环的计数器值是后一个循环的初始值，可采用嵌套循环测试方法。</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363855"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grpSp>
        <p:nvGrpSpPr>
          <p:cNvPr id="53251" name="Group 3"/>
          <p:cNvGrpSpPr/>
          <p:nvPr/>
        </p:nvGrpSpPr>
        <p:grpSpPr>
          <a:xfrm>
            <a:off x="6715125" y="2857500"/>
            <a:ext cx="1652588" cy="2671763"/>
            <a:chOff x="2208" y="1920"/>
            <a:chExt cx="816" cy="1776"/>
          </a:xfrm>
        </p:grpSpPr>
        <p:sp>
          <p:nvSpPr>
            <p:cNvPr id="53253" name="Rectangle 4"/>
            <p:cNvSpPr/>
            <p:nvPr/>
          </p:nvSpPr>
          <p:spPr>
            <a:xfrm>
              <a:off x="2256" y="2112"/>
              <a:ext cx="624" cy="192"/>
            </a:xfrm>
            <a:prstGeom prst="rect">
              <a:avLst/>
            </a:prstGeom>
            <a:noFill/>
            <a:ln w="38100" cap="flat" cmpd="sng">
              <a:solidFill>
                <a:schemeClr val="accent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53254" name="Rectangle 5"/>
            <p:cNvSpPr/>
            <p:nvPr/>
          </p:nvSpPr>
          <p:spPr>
            <a:xfrm>
              <a:off x="2256" y="2928"/>
              <a:ext cx="624" cy="192"/>
            </a:xfrm>
            <a:prstGeom prst="rect">
              <a:avLst/>
            </a:prstGeom>
            <a:noFill/>
            <a:ln w="38100" cap="flat" cmpd="sng">
              <a:solidFill>
                <a:schemeClr val="accent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53255" name="AutoShape 6"/>
            <p:cNvSpPr/>
            <p:nvPr/>
          </p:nvSpPr>
          <p:spPr>
            <a:xfrm>
              <a:off x="2208" y="3264"/>
              <a:ext cx="720" cy="288"/>
            </a:xfrm>
            <a:prstGeom prst="flowChartDecision">
              <a:avLst/>
            </a:prstGeom>
            <a:noFill/>
            <a:ln w="38100" cap="flat" cmpd="sng">
              <a:solidFill>
                <a:schemeClr val="accent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53256" name="AutoShape 7"/>
            <p:cNvSpPr/>
            <p:nvPr/>
          </p:nvSpPr>
          <p:spPr>
            <a:xfrm>
              <a:off x="2208" y="2496"/>
              <a:ext cx="720" cy="288"/>
            </a:xfrm>
            <a:prstGeom prst="flowChartDecision">
              <a:avLst/>
            </a:prstGeom>
            <a:noFill/>
            <a:ln w="38100" cap="flat" cmpd="sng">
              <a:solidFill>
                <a:schemeClr val="accent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53257" name="Line 8"/>
            <p:cNvSpPr/>
            <p:nvPr/>
          </p:nvSpPr>
          <p:spPr>
            <a:xfrm>
              <a:off x="2544" y="1920"/>
              <a:ext cx="0" cy="192"/>
            </a:xfrm>
            <a:prstGeom prst="line">
              <a:avLst/>
            </a:prstGeom>
            <a:ln w="38100" cap="flat" cmpd="sng">
              <a:solidFill>
                <a:schemeClr val="accent1"/>
              </a:solidFill>
              <a:prstDash val="solid"/>
              <a:headEnd type="none" w="med" len="med"/>
              <a:tailEnd type="triangle" w="med" len="med"/>
            </a:ln>
          </p:spPr>
        </p:sp>
        <p:sp>
          <p:nvSpPr>
            <p:cNvPr id="53258" name="Line 9"/>
            <p:cNvSpPr/>
            <p:nvPr/>
          </p:nvSpPr>
          <p:spPr>
            <a:xfrm>
              <a:off x="2544" y="2304"/>
              <a:ext cx="0" cy="192"/>
            </a:xfrm>
            <a:prstGeom prst="line">
              <a:avLst/>
            </a:prstGeom>
            <a:ln w="38100" cap="flat" cmpd="sng">
              <a:solidFill>
                <a:schemeClr val="accent1"/>
              </a:solidFill>
              <a:prstDash val="solid"/>
              <a:headEnd type="none" w="med" len="med"/>
              <a:tailEnd type="triangle" w="med" len="med"/>
            </a:ln>
          </p:spPr>
        </p:sp>
        <p:sp>
          <p:nvSpPr>
            <p:cNvPr id="53259" name="Line 10"/>
            <p:cNvSpPr/>
            <p:nvPr/>
          </p:nvSpPr>
          <p:spPr>
            <a:xfrm>
              <a:off x="2544" y="2784"/>
              <a:ext cx="0" cy="144"/>
            </a:xfrm>
            <a:prstGeom prst="line">
              <a:avLst/>
            </a:prstGeom>
            <a:ln w="38100" cap="flat" cmpd="sng">
              <a:solidFill>
                <a:schemeClr val="accent1"/>
              </a:solidFill>
              <a:prstDash val="solid"/>
              <a:headEnd type="none" w="med" len="med"/>
              <a:tailEnd type="triangle" w="med" len="med"/>
            </a:ln>
          </p:spPr>
        </p:sp>
        <p:sp>
          <p:nvSpPr>
            <p:cNvPr id="53260" name="Line 11"/>
            <p:cNvSpPr/>
            <p:nvPr/>
          </p:nvSpPr>
          <p:spPr>
            <a:xfrm>
              <a:off x="2544" y="3120"/>
              <a:ext cx="0" cy="144"/>
            </a:xfrm>
            <a:prstGeom prst="line">
              <a:avLst/>
            </a:prstGeom>
            <a:ln w="38100" cap="flat" cmpd="sng">
              <a:solidFill>
                <a:schemeClr val="accent1"/>
              </a:solidFill>
              <a:prstDash val="solid"/>
              <a:headEnd type="none" w="med" len="med"/>
              <a:tailEnd type="triangle" w="med" len="med"/>
            </a:ln>
          </p:spPr>
        </p:sp>
        <p:sp>
          <p:nvSpPr>
            <p:cNvPr id="53261" name="Line 12"/>
            <p:cNvSpPr/>
            <p:nvPr/>
          </p:nvSpPr>
          <p:spPr>
            <a:xfrm>
              <a:off x="2544" y="3552"/>
              <a:ext cx="0" cy="144"/>
            </a:xfrm>
            <a:prstGeom prst="line">
              <a:avLst/>
            </a:prstGeom>
            <a:ln w="38100" cap="flat" cmpd="sng">
              <a:solidFill>
                <a:schemeClr val="accent1"/>
              </a:solidFill>
              <a:prstDash val="solid"/>
              <a:headEnd type="none" w="med" len="med"/>
              <a:tailEnd type="triangle" w="med" len="med"/>
            </a:ln>
          </p:spPr>
        </p:sp>
        <p:sp>
          <p:nvSpPr>
            <p:cNvPr id="53262" name="Line 13"/>
            <p:cNvSpPr/>
            <p:nvPr/>
          </p:nvSpPr>
          <p:spPr>
            <a:xfrm>
              <a:off x="2928" y="2640"/>
              <a:ext cx="96" cy="0"/>
            </a:xfrm>
            <a:prstGeom prst="line">
              <a:avLst/>
            </a:prstGeom>
            <a:ln w="38100" cap="flat" cmpd="sng">
              <a:solidFill>
                <a:schemeClr val="accent1"/>
              </a:solidFill>
              <a:prstDash val="solid"/>
              <a:headEnd type="none" w="med" len="med"/>
              <a:tailEnd type="none" w="med" len="med"/>
            </a:ln>
          </p:spPr>
        </p:sp>
        <p:sp>
          <p:nvSpPr>
            <p:cNvPr id="53263" name="Line 14"/>
            <p:cNvSpPr/>
            <p:nvPr/>
          </p:nvSpPr>
          <p:spPr>
            <a:xfrm flipV="1">
              <a:off x="3024" y="2016"/>
              <a:ext cx="0" cy="624"/>
            </a:xfrm>
            <a:prstGeom prst="line">
              <a:avLst/>
            </a:prstGeom>
            <a:ln w="38100" cap="flat" cmpd="sng">
              <a:solidFill>
                <a:schemeClr val="accent1"/>
              </a:solidFill>
              <a:prstDash val="solid"/>
              <a:headEnd type="none" w="med" len="med"/>
              <a:tailEnd type="none" w="med" len="med"/>
            </a:ln>
          </p:spPr>
        </p:sp>
        <p:sp>
          <p:nvSpPr>
            <p:cNvPr id="53264" name="Line 15"/>
            <p:cNvSpPr/>
            <p:nvPr/>
          </p:nvSpPr>
          <p:spPr>
            <a:xfrm flipH="1">
              <a:off x="2544" y="2016"/>
              <a:ext cx="480" cy="0"/>
            </a:xfrm>
            <a:prstGeom prst="line">
              <a:avLst/>
            </a:prstGeom>
            <a:ln w="38100" cap="flat" cmpd="sng">
              <a:solidFill>
                <a:schemeClr val="accent1"/>
              </a:solidFill>
              <a:prstDash val="solid"/>
              <a:headEnd type="none" w="med" len="med"/>
              <a:tailEnd type="triangle" w="med" len="med"/>
            </a:ln>
          </p:spPr>
        </p:sp>
        <p:sp>
          <p:nvSpPr>
            <p:cNvPr id="53265" name="Line 16"/>
            <p:cNvSpPr/>
            <p:nvPr/>
          </p:nvSpPr>
          <p:spPr>
            <a:xfrm>
              <a:off x="2928" y="3408"/>
              <a:ext cx="96" cy="0"/>
            </a:xfrm>
            <a:prstGeom prst="line">
              <a:avLst/>
            </a:prstGeom>
            <a:ln w="38100" cap="flat" cmpd="sng">
              <a:solidFill>
                <a:schemeClr val="accent1"/>
              </a:solidFill>
              <a:prstDash val="solid"/>
              <a:headEnd type="none" w="med" len="med"/>
              <a:tailEnd type="none" w="med" len="med"/>
            </a:ln>
          </p:spPr>
        </p:sp>
        <p:sp>
          <p:nvSpPr>
            <p:cNvPr id="53266" name="Line 17"/>
            <p:cNvSpPr/>
            <p:nvPr/>
          </p:nvSpPr>
          <p:spPr>
            <a:xfrm flipV="1">
              <a:off x="3024" y="2832"/>
              <a:ext cx="0" cy="576"/>
            </a:xfrm>
            <a:prstGeom prst="line">
              <a:avLst/>
            </a:prstGeom>
            <a:ln w="38100" cap="flat" cmpd="sng">
              <a:solidFill>
                <a:schemeClr val="accent1"/>
              </a:solidFill>
              <a:prstDash val="solid"/>
              <a:headEnd type="none" w="med" len="med"/>
              <a:tailEnd type="none" w="med" len="med"/>
            </a:ln>
          </p:spPr>
        </p:sp>
        <p:sp>
          <p:nvSpPr>
            <p:cNvPr id="53267" name="Line 18"/>
            <p:cNvSpPr/>
            <p:nvPr/>
          </p:nvSpPr>
          <p:spPr>
            <a:xfrm flipH="1">
              <a:off x="2544" y="2832"/>
              <a:ext cx="480" cy="0"/>
            </a:xfrm>
            <a:prstGeom prst="line">
              <a:avLst/>
            </a:prstGeom>
            <a:ln w="38100" cap="flat" cmpd="sng">
              <a:solidFill>
                <a:schemeClr val="accent1"/>
              </a:solidFill>
              <a:prstDash val="solid"/>
              <a:headEnd type="none" w="med" len="med"/>
              <a:tailEnd type="triangle" w="med" len="med"/>
            </a:ln>
          </p:spPr>
        </p:sp>
      </p:grpSp>
      <p:sp>
        <p:nvSpPr>
          <p:cNvPr id="53252"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内容占位符 2"/>
          <p:cNvSpPr>
            <a:spLocks noGrp="1"/>
          </p:cNvSpPr>
          <p:nvPr>
            <p:ph idx="1"/>
          </p:nvPr>
        </p:nvSpPr>
        <p:spPr>
          <a:xfrm>
            <a:off x="428625" y="1214438"/>
            <a:ext cx="8286750" cy="5143500"/>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rPr>
              <a:t>二、黑盒测试技术</a:t>
            </a:r>
            <a:endParaRPr kumimoji="0" lang="zh-CN" altLang="en-US"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不考虑程序的内部结构与特性，只根据程序功能或程序的外部特性设计测试用例。</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sp>
        <p:nvSpPr>
          <p:cNvPr id="54275" name="Rectangle 34"/>
          <p:cNvSpPr/>
          <p:nvPr/>
        </p:nvSpPr>
        <p:spPr>
          <a:xfrm>
            <a:off x="7027863" y="2992438"/>
            <a:ext cx="917575" cy="793750"/>
          </a:xfrm>
          <a:prstGeom prst="rect">
            <a:avLst/>
          </a:prstGeom>
          <a:solidFill>
            <a:srgbClr val="4D4D4D"/>
          </a:solidFill>
          <a:ln w="9525" cap="flat" cmpd="sng">
            <a:prstDash val="solid"/>
            <a:miter/>
            <a:headEnd type="none" w="med" len="med"/>
            <a:tailEnd type="none" w="med" len="med"/>
          </a:ln>
          <a:scene3d>
            <a:camera prst="legacyPerspectiveTopRight">
              <a:rot lat="0" lon="0" rev="0"/>
            </a:camera>
            <a:lightRig rig="legacyFlat2" dir="t"/>
          </a:scene3d>
          <a:sp3d extrusionH="1801800" prstMaterial="legacyMatte">
            <a:bevelT w="13500" h="13500" prst="angle"/>
            <a:bevelB w="13500" h="13500" prst="angle"/>
            <a:extrusionClr>
              <a:srgbClr val="808080"/>
            </a:extrusionClr>
          </a:sp3d>
        </p:spPr>
        <p:txBody>
          <a:bodyPr wrap="none" anchor="ctr" anchorCtr="0">
            <a:flatTx/>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54276" name="Line 37"/>
          <p:cNvSpPr/>
          <p:nvPr/>
        </p:nvSpPr>
        <p:spPr>
          <a:xfrm flipV="1">
            <a:off x="7769225" y="2446338"/>
            <a:ext cx="388938" cy="387350"/>
          </a:xfrm>
          <a:prstGeom prst="line">
            <a:avLst/>
          </a:prstGeom>
          <a:ln w="57150" cap="sq" cmpd="sng">
            <a:solidFill>
              <a:schemeClr val="tx1"/>
            </a:solidFill>
            <a:prstDash val="solid"/>
            <a:headEnd type="none" w="med" len="med"/>
            <a:tailEnd type="triangle" w="med" len="med"/>
          </a:ln>
        </p:spPr>
      </p:sp>
      <p:sp>
        <p:nvSpPr>
          <p:cNvPr id="54277" name="Line 35"/>
          <p:cNvSpPr/>
          <p:nvPr/>
        </p:nvSpPr>
        <p:spPr>
          <a:xfrm>
            <a:off x="7010400" y="2465388"/>
            <a:ext cx="565150" cy="422275"/>
          </a:xfrm>
          <a:prstGeom prst="line">
            <a:avLst/>
          </a:prstGeom>
          <a:ln w="57150" cap="sq" cmpd="sng">
            <a:solidFill>
              <a:schemeClr val="tx1"/>
            </a:solidFill>
            <a:prstDash val="solid"/>
            <a:headEnd type="none" w="med" len="med"/>
            <a:tailEnd type="triangle" w="med" len="med"/>
          </a:ln>
        </p:spPr>
      </p:sp>
      <p:sp>
        <p:nvSpPr>
          <p:cNvPr id="54278" name="Rectangle 27"/>
          <p:cNvSpPr/>
          <p:nvPr/>
        </p:nvSpPr>
        <p:spPr>
          <a:xfrm>
            <a:off x="1246188" y="3727450"/>
            <a:ext cx="631825" cy="1905000"/>
          </a:xfrm>
          <a:prstGeom prst="rect">
            <a:avLst/>
          </a:prstGeom>
          <a:solidFill>
            <a:srgbClr val="92D050"/>
          </a:solidFill>
          <a:ln w="9525" cap="flat" cmpd="sng">
            <a:solidFill>
              <a:schemeClr val="tx1"/>
            </a:solidFill>
            <a:prstDash val="solid"/>
            <a:miter/>
            <a:headEnd type="none" w="med" len="med"/>
            <a:tailEnd type="none" w="med" len="med"/>
          </a:ln>
          <a:effectLst>
            <a:outerShdw dist="107763" dir="13499999" algn="ctr" rotWithShape="0">
              <a:schemeClr val="hlink"/>
            </a:outer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en-US" sz="2000" dirty="0">
                <a:solidFill>
                  <a:srgbClr val="333333"/>
                </a:solidFill>
                <a:ea typeface="宋体" panose="02010600030101010101" pitchFamily="2" charset="-122"/>
              </a:rPr>
              <a:t>等</a:t>
            </a:r>
            <a:endParaRPr lang="zh-CN" altLang="en-US" sz="2000" dirty="0">
              <a:solidFill>
                <a:srgbClr val="333333"/>
              </a:solidFill>
              <a:ea typeface="宋体" panose="02010600030101010101" pitchFamily="2" charset="-122"/>
            </a:endParaRPr>
          </a:p>
          <a:p>
            <a:pPr marL="0" lvl="0" indent="0" eaLnBrk="1" hangingPunct="1">
              <a:spcBef>
                <a:spcPct val="0"/>
              </a:spcBef>
              <a:buClrTx/>
              <a:buFontTx/>
              <a:buNone/>
            </a:pPr>
            <a:r>
              <a:rPr lang="zh-CN" altLang="en-US" sz="2000" dirty="0">
                <a:solidFill>
                  <a:srgbClr val="333333"/>
                </a:solidFill>
                <a:ea typeface="宋体" panose="02010600030101010101" pitchFamily="2" charset="-122"/>
              </a:rPr>
              <a:t>价</a:t>
            </a:r>
            <a:endParaRPr lang="zh-CN" altLang="en-US" sz="2000" dirty="0">
              <a:solidFill>
                <a:srgbClr val="333333"/>
              </a:solidFill>
              <a:ea typeface="宋体" panose="02010600030101010101" pitchFamily="2" charset="-122"/>
            </a:endParaRPr>
          </a:p>
          <a:p>
            <a:pPr marL="0" lvl="0" indent="0" eaLnBrk="1" hangingPunct="1">
              <a:spcBef>
                <a:spcPct val="0"/>
              </a:spcBef>
              <a:buClrTx/>
              <a:buFontTx/>
              <a:buNone/>
            </a:pPr>
            <a:r>
              <a:rPr lang="zh-CN" altLang="en-US" sz="2000" dirty="0">
                <a:solidFill>
                  <a:srgbClr val="333333"/>
                </a:solidFill>
                <a:ea typeface="宋体" panose="02010600030101010101" pitchFamily="2" charset="-122"/>
              </a:rPr>
              <a:t>分</a:t>
            </a:r>
            <a:endParaRPr lang="zh-CN" altLang="en-US" sz="2000" dirty="0">
              <a:solidFill>
                <a:srgbClr val="333333"/>
              </a:solidFill>
              <a:ea typeface="宋体" panose="02010600030101010101" pitchFamily="2" charset="-122"/>
            </a:endParaRPr>
          </a:p>
          <a:p>
            <a:pPr marL="0" lvl="0" indent="0" eaLnBrk="1" hangingPunct="1">
              <a:spcBef>
                <a:spcPct val="0"/>
              </a:spcBef>
              <a:buClrTx/>
              <a:buFontTx/>
              <a:buNone/>
            </a:pPr>
            <a:r>
              <a:rPr lang="zh-CN" altLang="en-US" sz="2000" dirty="0">
                <a:solidFill>
                  <a:srgbClr val="333333"/>
                </a:solidFill>
                <a:ea typeface="宋体" panose="02010600030101010101" pitchFamily="2" charset="-122"/>
              </a:rPr>
              <a:t>类</a:t>
            </a:r>
            <a:endParaRPr lang="zh-CN" altLang="en-US" sz="2000" dirty="0">
              <a:solidFill>
                <a:srgbClr val="333333"/>
              </a:solidFill>
              <a:ea typeface="宋体" panose="02010600030101010101" pitchFamily="2" charset="-122"/>
            </a:endParaRPr>
          </a:p>
          <a:p>
            <a:pPr marL="0" lvl="0" indent="0" eaLnBrk="1" hangingPunct="1">
              <a:spcBef>
                <a:spcPct val="0"/>
              </a:spcBef>
              <a:buClrTx/>
              <a:buFontTx/>
              <a:buNone/>
            </a:pPr>
            <a:r>
              <a:rPr lang="zh-CN" altLang="en-US" sz="2000" dirty="0">
                <a:solidFill>
                  <a:srgbClr val="333333"/>
                </a:solidFill>
                <a:ea typeface="宋体" panose="02010600030101010101" pitchFamily="2" charset="-122"/>
              </a:rPr>
              <a:t>法</a:t>
            </a:r>
            <a:endParaRPr lang="zh-CN" altLang="en-US" sz="1800" dirty="0">
              <a:solidFill>
                <a:srgbClr val="333333"/>
              </a:solidFill>
              <a:ea typeface="宋体" panose="02010600030101010101" pitchFamily="2" charset="-122"/>
            </a:endParaRPr>
          </a:p>
        </p:txBody>
      </p:sp>
      <p:sp>
        <p:nvSpPr>
          <p:cNvPr id="54279" name="Rectangle 28"/>
          <p:cNvSpPr/>
          <p:nvPr/>
        </p:nvSpPr>
        <p:spPr>
          <a:xfrm>
            <a:off x="2536825" y="3727450"/>
            <a:ext cx="581025" cy="1905000"/>
          </a:xfrm>
          <a:prstGeom prst="rect">
            <a:avLst/>
          </a:prstGeom>
          <a:solidFill>
            <a:srgbClr val="92D050"/>
          </a:solidFill>
          <a:ln w="9525" cap="flat" cmpd="sng">
            <a:solidFill>
              <a:schemeClr val="tx1"/>
            </a:solidFill>
            <a:prstDash val="solid"/>
            <a:miter/>
            <a:headEnd type="none" w="med" len="med"/>
            <a:tailEnd type="none" w="med" len="med"/>
          </a:ln>
          <a:effectLst>
            <a:outerShdw dist="107763" dir="13499999" algn="ctr" rotWithShape="0">
              <a:schemeClr val="hlink"/>
            </a:outer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en-US" sz="2000" dirty="0">
                <a:solidFill>
                  <a:srgbClr val="333333"/>
                </a:solidFill>
                <a:ea typeface="宋体" panose="02010600030101010101" pitchFamily="2" charset="-122"/>
              </a:rPr>
              <a:t>边</a:t>
            </a:r>
            <a:endParaRPr lang="zh-CN" altLang="en-US" sz="2000" dirty="0">
              <a:solidFill>
                <a:srgbClr val="333333"/>
              </a:solidFill>
              <a:ea typeface="宋体" panose="02010600030101010101" pitchFamily="2" charset="-122"/>
            </a:endParaRPr>
          </a:p>
          <a:p>
            <a:pPr marL="0" lvl="0" indent="0" eaLnBrk="1" hangingPunct="1">
              <a:spcBef>
                <a:spcPct val="0"/>
              </a:spcBef>
              <a:buClrTx/>
              <a:buFontTx/>
              <a:buNone/>
            </a:pPr>
            <a:r>
              <a:rPr lang="zh-CN" altLang="en-US" sz="2000" dirty="0">
                <a:solidFill>
                  <a:srgbClr val="333333"/>
                </a:solidFill>
                <a:ea typeface="宋体" panose="02010600030101010101" pitchFamily="2" charset="-122"/>
              </a:rPr>
              <a:t>值</a:t>
            </a:r>
            <a:endParaRPr lang="zh-CN" altLang="en-US" sz="2000" dirty="0">
              <a:solidFill>
                <a:srgbClr val="333333"/>
              </a:solidFill>
              <a:ea typeface="宋体" panose="02010600030101010101" pitchFamily="2" charset="-122"/>
            </a:endParaRPr>
          </a:p>
          <a:p>
            <a:pPr marL="0" lvl="0" indent="0" eaLnBrk="1" hangingPunct="1">
              <a:spcBef>
                <a:spcPct val="0"/>
              </a:spcBef>
              <a:buClrTx/>
              <a:buFontTx/>
              <a:buNone/>
            </a:pPr>
            <a:r>
              <a:rPr lang="zh-CN" altLang="en-US" sz="2000" dirty="0">
                <a:solidFill>
                  <a:srgbClr val="333333"/>
                </a:solidFill>
                <a:ea typeface="宋体" panose="02010600030101010101" pitchFamily="2" charset="-122"/>
              </a:rPr>
              <a:t>分</a:t>
            </a:r>
            <a:endParaRPr lang="zh-CN" altLang="en-US" sz="2000" dirty="0">
              <a:solidFill>
                <a:srgbClr val="333333"/>
              </a:solidFill>
              <a:ea typeface="宋体" panose="02010600030101010101" pitchFamily="2" charset="-122"/>
            </a:endParaRPr>
          </a:p>
          <a:p>
            <a:pPr marL="0" lvl="0" indent="0" eaLnBrk="1" hangingPunct="1">
              <a:spcBef>
                <a:spcPct val="0"/>
              </a:spcBef>
              <a:buClrTx/>
              <a:buFontTx/>
              <a:buNone/>
            </a:pPr>
            <a:r>
              <a:rPr lang="zh-CN" altLang="en-US" sz="2000" dirty="0">
                <a:solidFill>
                  <a:srgbClr val="333333"/>
                </a:solidFill>
                <a:ea typeface="宋体" panose="02010600030101010101" pitchFamily="2" charset="-122"/>
              </a:rPr>
              <a:t>析</a:t>
            </a:r>
            <a:endParaRPr lang="zh-CN" altLang="en-US" sz="2000" dirty="0">
              <a:solidFill>
                <a:srgbClr val="333333"/>
              </a:solidFill>
              <a:ea typeface="宋体" panose="02010600030101010101" pitchFamily="2" charset="-122"/>
            </a:endParaRPr>
          </a:p>
          <a:p>
            <a:pPr marL="0" lvl="0" indent="0" eaLnBrk="1" hangingPunct="1">
              <a:spcBef>
                <a:spcPct val="0"/>
              </a:spcBef>
              <a:buClrTx/>
              <a:buFontTx/>
              <a:buNone/>
            </a:pPr>
            <a:r>
              <a:rPr lang="zh-CN" altLang="en-US" sz="2000" dirty="0">
                <a:solidFill>
                  <a:srgbClr val="333333"/>
                </a:solidFill>
                <a:ea typeface="宋体" panose="02010600030101010101" pitchFamily="2" charset="-122"/>
              </a:rPr>
              <a:t>法</a:t>
            </a:r>
            <a:endParaRPr lang="zh-CN" altLang="en-US" sz="1800" dirty="0">
              <a:solidFill>
                <a:srgbClr val="333333"/>
              </a:solidFill>
              <a:ea typeface="宋体" panose="02010600030101010101" pitchFamily="2" charset="-122"/>
            </a:endParaRPr>
          </a:p>
        </p:txBody>
      </p:sp>
      <p:sp>
        <p:nvSpPr>
          <p:cNvPr id="54280" name="Rectangle 29"/>
          <p:cNvSpPr/>
          <p:nvPr/>
        </p:nvSpPr>
        <p:spPr>
          <a:xfrm>
            <a:off x="3789363" y="3727450"/>
            <a:ext cx="581025" cy="1905000"/>
          </a:xfrm>
          <a:prstGeom prst="rect">
            <a:avLst/>
          </a:prstGeom>
          <a:solidFill>
            <a:srgbClr val="92D050"/>
          </a:solidFill>
          <a:ln w="9525" cap="flat" cmpd="sng">
            <a:solidFill>
              <a:schemeClr val="tx1"/>
            </a:solidFill>
            <a:prstDash val="solid"/>
            <a:miter/>
            <a:headEnd type="none" w="med" len="med"/>
            <a:tailEnd type="none" w="med" len="med"/>
          </a:ln>
          <a:effectLst>
            <a:outerShdw dist="107763" dir="13499999" algn="ctr" rotWithShape="0">
              <a:schemeClr val="hlink"/>
            </a:outer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en-US" sz="2000" dirty="0">
                <a:solidFill>
                  <a:srgbClr val="333333"/>
                </a:solidFill>
                <a:ea typeface="宋体" panose="02010600030101010101" pitchFamily="2" charset="-122"/>
              </a:rPr>
              <a:t>错</a:t>
            </a:r>
            <a:endParaRPr lang="zh-CN" altLang="en-US" sz="2000" dirty="0">
              <a:solidFill>
                <a:srgbClr val="333333"/>
              </a:solidFill>
              <a:ea typeface="宋体" panose="02010600030101010101" pitchFamily="2" charset="-122"/>
            </a:endParaRPr>
          </a:p>
          <a:p>
            <a:pPr marL="0" lvl="0" indent="0" eaLnBrk="1" hangingPunct="1">
              <a:spcBef>
                <a:spcPct val="0"/>
              </a:spcBef>
              <a:buClrTx/>
              <a:buFontTx/>
              <a:buNone/>
            </a:pPr>
            <a:r>
              <a:rPr lang="zh-CN" altLang="en-US" sz="2000" dirty="0">
                <a:solidFill>
                  <a:srgbClr val="333333"/>
                </a:solidFill>
                <a:ea typeface="宋体" panose="02010600030101010101" pitchFamily="2" charset="-122"/>
              </a:rPr>
              <a:t>误</a:t>
            </a:r>
            <a:endParaRPr lang="zh-CN" altLang="en-US" sz="2000" dirty="0">
              <a:solidFill>
                <a:srgbClr val="333333"/>
              </a:solidFill>
              <a:ea typeface="宋体" panose="02010600030101010101" pitchFamily="2" charset="-122"/>
            </a:endParaRPr>
          </a:p>
          <a:p>
            <a:pPr marL="0" lvl="0" indent="0" eaLnBrk="1" hangingPunct="1">
              <a:spcBef>
                <a:spcPct val="0"/>
              </a:spcBef>
              <a:buClrTx/>
              <a:buFontTx/>
              <a:buNone/>
            </a:pPr>
            <a:r>
              <a:rPr lang="zh-CN" altLang="en-US" sz="2000" dirty="0">
                <a:solidFill>
                  <a:srgbClr val="333333"/>
                </a:solidFill>
                <a:ea typeface="宋体" panose="02010600030101010101" pitchFamily="2" charset="-122"/>
              </a:rPr>
              <a:t>推</a:t>
            </a:r>
            <a:endParaRPr lang="zh-CN" altLang="en-US" sz="2000" dirty="0">
              <a:solidFill>
                <a:srgbClr val="333333"/>
              </a:solidFill>
              <a:ea typeface="宋体" panose="02010600030101010101" pitchFamily="2" charset="-122"/>
            </a:endParaRPr>
          </a:p>
          <a:p>
            <a:pPr marL="0" lvl="0" indent="0" eaLnBrk="1" hangingPunct="1">
              <a:spcBef>
                <a:spcPct val="0"/>
              </a:spcBef>
              <a:buClrTx/>
              <a:buFontTx/>
              <a:buNone/>
            </a:pPr>
            <a:r>
              <a:rPr lang="zh-CN" altLang="en-US" sz="2000" dirty="0">
                <a:solidFill>
                  <a:srgbClr val="333333"/>
                </a:solidFill>
                <a:ea typeface="宋体" panose="02010600030101010101" pitchFamily="2" charset="-122"/>
              </a:rPr>
              <a:t>测</a:t>
            </a:r>
            <a:endParaRPr lang="zh-CN" altLang="en-US" sz="2000" dirty="0">
              <a:solidFill>
                <a:srgbClr val="333333"/>
              </a:solidFill>
              <a:ea typeface="宋体" panose="02010600030101010101" pitchFamily="2" charset="-122"/>
            </a:endParaRPr>
          </a:p>
          <a:p>
            <a:pPr marL="0" lvl="0" indent="0" eaLnBrk="1" hangingPunct="1">
              <a:spcBef>
                <a:spcPct val="0"/>
              </a:spcBef>
              <a:buClrTx/>
              <a:buFontTx/>
              <a:buNone/>
            </a:pPr>
            <a:r>
              <a:rPr lang="zh-CN" altLang="en-US" sz="2000" dirty="0">
                <a:solidFill>
                  <a:srgbClr val="333333"/>
                </a:solidFill>
                <a:ea typeface="宋体" panose="02010600030101010101" pitchFamily="2" charset="-122"/>
              </a:rPr>
              <a:t>法</a:t>
            </a:r>
            <a:endParaRPr lang="zh-CN" altLang="en-US" sz="1800" dirty="0">
              <a:solidFill>
                <a:srgbClr val="333333"/>
              </a:solidFill>
              <a:ea typeface="宋体" panose="02010600030101010101" pitchFamily="2" charset="-122"/>
            </a:endParaRPr>
          </a:p>
        </p:txBody>
      </p:sp>
      <p:sp>
        <p:nvSpPr>
          <p:cNvPr id="54281" name="Rectangle 30"/>
          <p:cNvSpPr/>
          <p:nvPr/>
        </p:nvSpPr>
        <p:spPr>
          <a:xfrm>
            <a:off x="5008563" y="3727450"/>
            <a:ext cx="563562" cy="1905000"/>
          </a:xfrm>
          <a:prstGeom prst="rect">
            <a:avLst/>
          </a:prstGeom>
          <a:solidFill>
            <a:srgbClr val="92D050"/>
          </a:solidFill>
          <a:ln w="9525" cap="flat" cmpd="sng">
            <a:solidFill>
              <a:schemeClr val="tx1"/>
            </a:solidFill>
            <a:prstDash val="solid"/>
            <a:miter/>
            <a:headEnd type="none" w="med" len="med"/>
            <a:tailEnd type="none" w="med" len="med"/>
          </a:ln>
          <a:effectLst>
            <a:outerShdw dist="107763" dir="13499999" algn="ctr" rotWithShape="0">
              <a:schemeClr val="hlink"/>
            </a:outerShdw>
          </a:effectLst>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lnSpc>
                <a:spcPct val="110000"/>
              </a:lnSpc>
              <a:spcBef>
                <a:spcPct val="5000"/>
              </a:spcBef>
              <a:buClrTx/>
              <a:buFontTx/>
              <a:buNone/>
            </a:pPr>
            <a:r>
              <a:rPr lang="zh-CN" altLang="en-US" sz="2000" dirty="0">
                <a:solidFill>
                  <a:srgbClr val="333333"/>
                </a:solidFill>
                <a:ea typeface="宋体" panose="02010600030101010101" pitchFamily="2" charset="-122"/>
              </a:rPr>
              <a:t>因</a:t>
            </a:r>
            <a:endParaRPr lang="zh-CN" altLang="en-US" sz="2000" dirty="0">
              <a:solidFill>
                <a:srgbClr val="333333"/>
              </a:solidFill>
              <a:ea typeface="宋体" panose="02010600030101010101" pitchFamily="2" charset="-122"/>
            </a:endParaRPr>
          </a:p>
          <a:p>
            <a:pPr marL="0" lvl="0" indent="0" eaLnBrk="1" hangingPunct="1">
              <a:lnSpc>
                <a:spcPct val="110000"/>
              </a:lnSpc>
              <a:spcBef>
                <a:spcPct val="5000"/>
              </a:spcBef>
              <a:buClrTx/>
              <a:buFontTx/>
              <a:buNone/>
            </a:pPr>
            <a:r>
              <a:rPr lang="zh-CN" altLang="en-US" sz="2000" dirty="0">
                <a:solidFill>
                  <a:srgbClr val="333333"/>
                </a:solidFill>
                <a:ea typeface="宋体" panose="02010600030101010101" pitchFamily="2" charset="-122"/>
              </a:rPr>
              <a:t>果</a:t>
            </a:r>
            <a:endParaRPr lang="zh-CN" altLang="en-US" sz="2000" dirty="0">
              <a:solidFill>
                <a:srgbClr val="333333"/>
              </a:solidFill>
              <a:ea typeface="宋体" panose="02010600030101010101" pitchFamily="2" charset="-122"/>
            </a:endParaRPr>
          </a:p>
          <a:p>
            <a:pPr marL="0" lvl="0" indent="0" eaLnBrk="1" hangingPunct="1">
              <a:lnSpc>
                <a:spcPct val="110000"/>
              </a:lnSpc>
              <a:spcBef>
                <a:spcPct val="5000"/>
              </a:spcBef>
              <a:buClrTx/>
              <a:buFontTx/>
              <a:buNone/>
            </a:pPr>
            <a:r>
              <a:rPr lang="zh-CN" altLang="en-US" sz="2000" dirty="0">
                <a:solidFill>
                  <a:srgbClr val="333333"/>
                </a:solidFill>
                <a:ea typeface="宋体" panose="02010600030101010101" pitchFamily="2" charset="-122"/>
              </a:rPr>
              <a:t>图</a:t>
            </a:r>
            <a:endParaRPr lang="zh-CN" altLang="en-US" sz="2000" dirty="0">
              <a:solidFill>
                <a:srgbClr val="333333"/>
              </a:solidFill>
              <a:ea typeface="宋体" panose="02010600030101010101" pitchFamily="2" charset="-122"/>
            </a:endParaRPr>
          </a:p>
          <a:p>
            <a:pPr marL="0" lvl="0" indent="0" eaLnBrk="1" hangingPunct="1">
              <a:lnSpc>
                <a:spcPct val="110000"/>
              </a:lnSpc>
              <a:spcBef>
                <a:spcPct val="5000"/>
              </a:spcBef>
              <a:buClrTx/>
              <a:buFontTx/>
              <a:buNone/>
            </a:pPr>
            <a:r>
              <a:rPr lang="zh-CN" altLang="en-US" sz="2000" dirty="0">
                <a:solidFill>
                  <a:srgbClr val="333333"/>
                </a:solidFill>
                <a:ea typeface="宋体" panose="02010600030101010101" pitchFamily="2" charset="-122"/>
              </a:rPr>
              <a:t>法</a:t>
            </a:r>
            <a:endParaRPr lang="zh-CN" altLang="en-US" sz="2000" dirty="0">
              <a:solidFill>
                <a:srgbClr val="333333"/>
              </a:solidFill>
              <a:ea typeface="宋体" panose="02010600030101010101" pitchFamily="2" charset="-122"/>
            </a:endParaRPr>
          </a:p>
        </p:txBody>
      </p:sp>
      <p:sp>
        <p:nvSpPr>
          <p:cNvPr id="54282"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内容占位符 2"/>
          <p:cNvSpPr>
            <a:spLocks noGrp="1"/>
          </p:cNvSpPr>
          <p:nvPr>
            <p:ph idx="1"/>
          </p:nvPr>
        </p:nvSpPr>
        <p:spPr>
          <a:xfrm>
            <a:off x="428625" y="1214438"/>
            <a:ext cx="8286750" cy="5143500"/>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rPr>
              <a:t>二、黑盒测试技术</a:t>
            </a:r>
            <a:endParaRPr kumimoji="0" lang="zh-CN" altLang="en-US"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1.</a:t>
            </a:r>
            <a:r>
              <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等价类划分</a:t>
            </a:r>
            <a:endPar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基本思想：将被测程序所有可能的输入数据（有效、无效）划分为若干等价类，测试每个等价类的代表值，也就等于测试了该类的其它值。</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分两步进行：</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363855"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ü"/>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划分等价类</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363855"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ü"/>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设计测试用例</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sp>
        <p:nvSpPr>
          <p:cNvPr id="55299"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内容占位符 2"/>
          <p:cNvSpPr>
            <a:spLocks noGrp="1"/>
          </p:cNvSpPr>
          <p:nvPr>
            <p:ph idx="1"/>
          </p:nvPr>
        </p:nvSpPr>
        <p:spPr>
          <a:xfrm>
            <a:off x="428625" y="1214438"/>
            <a:ext cx="8286750" cy="5143500"/>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1</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）划分等价类</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363855"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首先从程序的功能说明中找出一个个输入条件，然后为每个条件划分合理等价类和不合理等价类，构造如下表格。</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grpSp>
        <p:nvGrpSpPr>
          <p:cNvPr id="56323" name="Group 3"/>
          <p:cNvGrpSpPr/>
          <p:nvPr/>
        </p:nvGrpSpPr>
        <p:grpSpPr>
          <a:xfrm>
            <a:off x="1149350" y="3005138"/>
            <a:ext cx="7285038" cy="2598737"/>
            <a:chOff x="816" y="2234"/>
            <a:chExt cx="3789" cy="1701"/>
          </a:xfrm>
        </p:grpSpPr>
        <p:sp>
          <p:nvSpPr>
            <p:cNvPr id="56325" name="Text Box 4"/>
            <p:cNvSpPr txBox="1"/>
            <p:nvPr/>
          </p:nvSpPr>
          <p:spPr>
            <a:xfrm>
              <a:off x="816" y="2595"/>
              <a:ext cx="3789" cy="1340"/>
            </a:xfrm>
            <a:prstGeom prst="rect">
              <a:avLst/>
            </a:prstGeom>
            <a:noFill/>
            <a:ln w="9525" cap="flat" cmpd="sng">
              <a:solidFill>
                <a:srgbClr val="333333"/>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en-US" sz="2000" dirty="0">
                  <a:latin typeface="仿宋_GB2312" pitchFamily="49" charset="-122"/>
                  <a:ea typeface="仿宋_GB2312" pitchFamily="49" charset="-122"/>
                </a:rPr>
                <a:t>    输入条件                  有效等价类                 无效等价类</a:t>
              </a:r>
              <a:endParaRPr lang="zh-CN" altLang="en-US" sz="2000" dirty="0">
                <a:latin typeface="仿宋_GB2312" pitchFamily="49" charset="-122"/>
                <a:ea typeface="仿宋_GB2312" pitchFamily="49" charset="-122"/>
              </a:endParaRPr>
            </a:p>
          </p:txBody>
        </p:sp>
        <p:sp>
          <p:nvSpPr>
            <p:cNvPr id="56326" name="Line 5"/>
            <p:cNvSpPr/>
            <p:nvPr/>
          </p:nvSpPr>
          <p:spPr>
            <a:xfrm flipV="1">
              <a:off x="816" y="2945"/>
              <a:ext cx="3785" cy="25"/>
            </a:xfrm>
            <a:prstGeom prst="line">
              <a:avLst/>
            </a:prstGeom>
            <a:ln w="9525" cap="flat" cmpd="sng">
              <a:solidFill>
                <a:srgbClr val="333333"/>
              </a:solidFill>
              <a:prstDash val="solid"/>
              <a:headEnd type="none" w="med" len="med"/>
              <a:tailEnd type="none" w="med" len="med"/>
            </a:ln>
          </p:spPr>
        </p:sp>
        <p:sp>
          <p:nvSpPr>
            <p:cNvPr id="56327" name="Line 6"/>
            <p:cNvSpPr/>
            <p:nvPr/>
          </p:nvSpPr>
          <p:spPr>
            <a:xfrm>
              <a:off x="2016" y="2592"/>
              <a:ext cx="24" cy="1343"/>
            </a:xfrm>
            <a:prstGeom prst="line">
              <a:avLst/>
            </a:prstGeom>
            <a:ln w="9525" cap="flat" cmpd="sng">
              <a:solidFill>
                <a:srgbClr val="333333"/>
              </a:solidFill>
              <a:prstDash val="solid"/>
              <a:headEnd type="none" w="med" len="med"/>
              <a:tailEnd type="none" w="med" len="med"/>
            </a:ln>
          </p:spPr>
        </p:sp>
        <p:sp>
          <p:nvSpPr>
            <p:cNvPr id="56328" name="Line 7"/>
            <p:cNvSpPr/>
            <p:nvPr/>
          </p:nvSpPr>
          <p:spPr>
            <a:xfrm>
              <a:off x="3193" y="2592"/>
              <a:ext cx="24" cy="1343"/>
            </a:xfrm>
            <a:prstGeom prst="line">
              <a:avLst/>
            </a:prstGeom>
            <a:ln w="9525" cap="flat" cmpd="sng">
              <a:solidFill>
                <a:srgbClr val="333333"/>
              </a:solidFill>
              <a:prstDash val="solid"/>
              <a:headEnd type="none" w="med" len="med"/>
              <a:tailEnd type="none" w="med" len="med"/>
            </a:ln>
          </p:spPr>
        </p:sp>
        <p:sp>
          <p:nvSpPr>
            <p:cNvPr id="56329" name="Line 8"/>
            <p:cNvSpPr/>
            <p:nvPr/>
          </p:nvSpPr>
          <p:spPr>
            <a:xfrm>
              <a:off x="1182" y="3179"/>
              <a:ext cx="365" cy="0"/>
            </a:xfrm>
            <a:prstGeom prst="line">
              <a:avLst/>
            </a:prstGeom>
            <a:ln w="9525" cap="rnd" cmpd="sng">
              <a:solidFill>
                <a:srgbClr val="333333"/>
              </a:solidFill>
              <a:prstDash val="sysDot"/>
              <a:headEnd type="none" w="med" len="med"/>
              <a:tailEnd type="none" w="med" len="med"/>
            </a:ln>
          </p:spPr>
        </p:sp>
        <p:sp>
          <p:nvSpPr>
            <p:cNvPr id="56330" name="Line 9"/>
            <p:cNvSpPr/>
            <p:nvPr/>
          </p:nvSpPr>
          <p:spPr>
            <a:xfrm>
              <a:off x="1182" y="3473"/>
              <a:ext cx="365" cy="0"/>
            </a:xfrm>
            <a:prstGeom prst="line">
              <a:avLst/>
            </a:prstGeom>
            <a:ln w="9525" cap="rnd" cmpd="sng">
              <a:solidFill>
                <a:srgbClr val="333333"/>
              </a:solidFill>
              <a:prstDash val="sysDot"/>
              <a:headEnd type="none" w="med" len="med"/>
              <a:tailEnd type="none" w="med" len="med"/>
            </a:ln>
          </p:spPr>
        </p:sp>
        <p:sp>
          <p:nvSpPr>
            <p:cNvPr id="56331" name="Line 10"/>
            <p:cNvSpPr/>
            <p:nvPr/>
          </p:nvSpPr>
          <p:spPr>
            <a:xfrm>
              <a:off x="1182" y="3767"/>
              <a:ext cx="365" cy="0"/>
            </a:xfrm>
            <a:prstGeom prst="line">
              <a:avLst/>
            </a:prstGeom>
            <a:ln w="9525" cap="rnd" cmpd="sng">
              <a:solidFill>
                <a:srgbClr val="333333"/>
              </a:solidFill>
              <a:prstDash val="sysDot"/>
              <a:headEnd type="none" w="med" len="med"/>
              <a:tailEnd type="none" w="med" len="med"/>
            </a:ln>
          </p:spPr>
        </p:sp>
        <p:sp>
          <p:nvSpPr>
            <p:cNvPr id="56332" name="Line 11"/>
            <p:cNvSpPr/>
            <p:nvPr/>
          </p:nvSpPr>
          <p:spPr>
            <a:xfrm>
              <a:off x="2279" y="3179"/>
              <a:ext cx="548" cy="0"/>
            </a:xfrm>
            <a:prstGeom prst="line">
              <a:avLst/>
            </a:prstGeom>
            <a:ln w="9525" cap="rnd" cmpd="sng">
              <a:solidFill>
                <a:srgbClr val="333333"/>
              </a:solidFill>
              <a:prstDash val="sysDot"/>
              <a:headEnd type="none" w="med" len="med"/>
              <a:tailEnd type="none" w="med" len="med"/>
            </a:ln>
          </p:spPr>
        </p:sp>
        <p:sp>
          <p:nvSpPr>
            <p:cNvPr id="56333" name="Line 12"/>
            <p:cNvSpPr/>
            <p:nvPr/>
          </p:nvSpPr>
          <p:spPr>
            <a:xfrm>
              <a:off x="3559" y="3179"/>
              <a:ext cx="731" cy="0"/>
            </a:xfrm>
            <a:prstGeom prst="line">
              <a:avLst/>
            </a:prstGeom>
            <a:ln w="9525" cap="rnd" cmpd="sng">
              <a:solidFill>
                <a:srgbClr val="333333"/>
              </a:solidFill>
              <a:prstDash val="sysDot"/>
              <a:headEnd type="none" w="med" len="med"/>
              <a:tailEnd type="none" w="med" len="med"/>
            </a:ln>
          </p:spPr>
        </p:sp>
        <p:sp>
          <p:nvSpPr>
            <p:cNvPr id="56334" name="Line 13"/>
            <p:cNvSpPr/>
            <p:nvPr/>
          </p:nvSpPr>
          <p:spPr>
            <a:xfrm>
              <a:off x="2279" y="3473"/>
              <a:ext cx="548" cy="0"/>
            </a:xfrm>
            <a:prstGeom prst="line">
              <a:avLst/>
            </a:prstGeom>
            <a:ln w="9525" cap="rnd" cmpd="sng">
              <a:solidFill>
                <a:srgbClr val="333333"/>
              </a:solidFill>
              <a:prstDash val="sysDot"/>
              <a:headEnd type="none" w="med" len="med"/>
              <a:tailEnd type="none" w="med" len="med"/>
            </a:ln>
          </p:spPr>
        </p:sp>
        <p:sp>
          <p:nvSpPr>
            <p:cNvPr id="56335" name="Line 14"/>
            <p:cNvSpPr/>
            <p:nvPr/>
          </p:nvSpPr>
          <p:spPr>
            <a:xfrm>
              <a:off x="3559" y="3473"/>
              <a:ext cx="731" cy="0"/>
            </a:xfrm>
            <a:prstGeom prst="line">
              <a:avLst/>
            </a:prstGeom>
            <a:ln w="9525" cap="rnd" cmpd="sng">
              <a:solidFill>
                <a:srgbClr val="333333"/>
              </a:solidFill>
              <a:prstDash val="sysDot"/>
              <a:headEnd type="none" w="med" len="med"/>
              <a:tailEnd type="none" w="med" len="med"/>
            </a:ln>
          </p:spPr>
        </p:sp>
        <p:sp>
          <p:nvSpPr>
            <p:cNvPr id="56336" name="Line 15"/>
            <p:cNvSpPr/>
            <p:nvPr/>
          </p:nvSpPr>
          <p:spPr>
            <a:xfrm>
              <a:off x="2279" y="3767"/>
              <a:ext cx="548" cy="0"/>
            </a:xfrm>
            <a:prstGeom prst="line">
              <a:avLst/>
            </a:prstGeom>
            <a:ln w="9525" cap="rnd" cmpd="sng">
              <a:solidFill>
                <a:srgbClr val="333333"/>
              </a:solidFill>
              <a:prstDash val="sysDot"/>
              <a:headEnd type="none" w="med" len="med"/>
              <a:tailEnd type="none" w="med" len="med"/>
            </a:ln>
          </p:spPr>
        </p:sp>
        <p:sp>
          <p:nvSpPr>
            <p:cNvPr id="56337" name="Line 16"/>
            <p:cNvSpPr/>
            <p:nvPr/>
          </p:nvSpPr>
          <p:spPr>
            <a:xfrm>
              <a:off x="3559" y="3767"/>
              <a:ext cx="731" cy="0"/>
            </a:xfrm>
            <a:prstGeom prst="line">
              <a:avLst/>
            </a:prstGeom>
            <a:ln w="9525" cap="rnd" cmpd="sng">
              <a:solidFill>
                <a:srgbClr val="333333"/>
              </a:solidFill>
              <a:prstDash val="sysDot"/>
              <a:headEnd type="none" w="med" len="med"/>
              <a:tailEnd type="none" w="med" len="med"/>
            </a:ln>
          </p:spPr>
        </p:sp>
        <p:sp>
          <p:nvSpPr>
            <p:cNvPr id="56338" name="Rectangle 17"/>
            <p:cNvSpPr/>
            <p:nvPr/>
          </p:nvSpPr>
          <p:spPr>
            <a:xfrm>
              <a:off x="2252" y="2234"/>
              <a:ext cx="630" cy="26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spcBef>
                  <a:spcPct val="0"/>
                </a:spcBef>
                <a:buClrTx/>
                <a:buFontTx/>
                <a:buNone/>
              </a:pPr>
              <a:r>
                <a:rPr lang="zh-CN" altLang="en-US" sz="2000" dirty="0">
                  <a:latin typeface="仿宋_GB2312" pitchFamily="49" charset="-122"/>
                  <a:ea typeface="仿宋_GB2312" pitchFamily="49" charset="-122"/>
                </a:rPr>
                <a:t>等价类表</a:t>
              </a:r>
              <a:endParaRPr lang="zh-CN" altLang="en-US" sz="2000" dirty="0">
                <a:latin typeface="仿宋_GB2312" pitchFamily="49" charset="-122"/>
                <a:ea typeface="仿宋_GB2312" pitchFamily="49" charset="-122"/>
              </a:endParaRPr>
            </a:p>
          </p:txBody>
        </p:sp>
      </p:grpSp>
      <p:sp>
        <p:nvSpPr>
          <p:cNvPr id="56324"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内容占位符 2"/>
          <p:cNvSpPr>
            <a:spLocks noGrp="1"/>
          </p:cNvSpPr>
          <p:nvPr>
            <p:ph idx="1"/>
          </p:nvPr>
        </p:nvSpPr>
        <p:spPr>
          <a:xfrm>
            <a:off x="428625" y="1214438"/>
            <a:ext cx="8286750" cy="5143500"/>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1</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）划分等价类</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363855"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等价类划分规则：</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363855"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① 如果规定了输入值的范围，如在编职工的年龄为</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18-60</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岁，则可划分出</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71120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ü"/>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一个有效等价类：</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18</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岁</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-60</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岁之间</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71120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ü"/>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两个无效等价类：小于</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18</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岁，大于</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60</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岁</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363855"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② 如果规定了输入数据的个数，如标识符由</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2-6</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个字符组成，则可划分出</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71120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ü"/>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一个有效等价类：</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2-6</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之间</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71120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ü"/>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两个无效等价类：小于</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2</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，大于</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6</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363855"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sp>
        <p:nvSpPr>
          <p:cNvPr id="57347"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内容占位符 2"/>
          <p:cNvSpPr>
            <a:spLocks noGrp="1"/>
          </p:cNvSpPr>
          <p:nvPr>
            <p:ph idx="1"/>
          </p:nvPr>
        </p:nvSpPr>
        <p:spPr>
          <a:xfrm>
            <a:off x="428625" y="1214438"/>
            <a:ext cx="8286750" cy="5143500"/>
          </a:xfrm>
          <a:ln/>
        </p:spPr>
        <p:txBody>
          <a:bodyPr vert="horz" wrap="square" lIns="91440" tIns="45720" rIns="91440" bIns="45720" anchor="t" anchorCtr="0"/>
          <a:p>
            <a:pPr marL="363855" indent="363220" eaLnBrk="1" hangingPunct="1">
              <a:lnSpc>
                <a:spcPct val="120000"/>
              </a:lnSpc>
              <a:buSzPct val="80000"/>
              <a:buFont typeface="Wingdings" panose="05000000000000000000" pitchFamily="2" charset="2"/>
              <a:buChar char="l"/>
            </a:pPr>
            <a:r>
              <a:rPr lang="zh-CN" altLang="en-US" sz="2200" b="1" dirty="0">
                <a:latin typeface="宋体" panose="02010600030101010101" pitchFamily="2" charset="-122"/>
                <a:ea typeface="宋体" panose="02010600030101010101" pitchFamily="2" charset="-122"/>
                <a:cs typeface="+mn-cs"/>
              </a:rPr>
              <a:t>等价类划分规则：</a:t>
            </a:r>
            <a:endParaRPr lang="en-US" altLang="zh-CN" sz="2200" b="1" dirty="0">
              <a:latin typeface="宋体" panose="02010600030101010101" pitchFamily="2" charset="-122"/>
              <a:ea typeface="宋体" panose="02010600030101010101" pitchFamily="2" charset="-122"/>
              <a:cs typeface="+mn-cs"/>
            </a:endParaRPr>
          </a:p>
          <a:p>
            <a:pPr marL="363855" indent="363220"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③ 如果规定了输入数据的一组值，而且程序对不同输入值做不同处理，则每个允许的输入值是一个有效的等价类，此外还有一个无效等价类（任一个不允许的输入值）。</a:t>
            </a:r>
            <a:endParaRPr lang="zh-CN" altLang="en-US" sz="2200" b="1" dirty="0">
              <a:latin typeface="宋体" panose="02010600030101010101" pitchFamily="2" charset="-122"/>
              <a:ea typeface="宋体" panose="02010600030101010101" pitchFamily="2" charset="-122"/>
              <a:cs typeface="+mn-cs"/>
            </a:endParaRPr>
          </a:p>
          <a:p>
            <a:pPr marL="363855" indent="363220"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④ 如果规定了输入数据的类型，则可以设置一个有效等价类和其它类型数据的若干无效等价类。</a:t>
            </a:r>
            <a:endParaRPr lang="en-US" altLang="zh-CN" sz="2200" b="1" dirty="0">
              <a:latin typeface="宋体" panose="02010600030101010101" pitchFamily="2" charset="-122"/>
              <a:ea typeface="宋体" panose="02010600030101010101" pitchFamily="2" charset="-122"/>
              <a:cs typeface="+mn-cs"/>
            </a:endParaRPr>
          </a:p>
          <a:p>
            <a:pPr marL="363855" indent="363220"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⑤ 如果规定了输入数据必须遵循的规则，可划分出一个符合规则的有效等价类，和若干个不满足各条规则的无效等价类（从各个不同角度违反规则）。</a:t>
            </a:r>
            <a:endParaRPr lang="en-US" altLang="zh-CN" sz="2200" b="1" dirty="0">
              <a:latin typeface="宋体" panose="02010600030101010101" pitchFamily="2" charset="-122"/>
              <a:ea typeface="宋体" panose="02010600030101010101" pitchFamily="2" charset="-122"/>
              <a:cs typeface="+mn-cs"/>
            </a:endParaRPr>
          </a:p>
          <a:p>
            <a:pPr marL="363855" indent="363220"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⑥ 如果程序的处理对象是表格，则应该考虑使用空表，以及含一项或多项的表的情况。</a:t>
            </a:r>
            <a:endParaRPr lang="zh-CN" altLang="en-US" sz="2200" b="1" dirty="0">
              <a:latin typeface="宋体" panose="02010600030101010101" pitchFamily="2" charset="-122"/>
              <a:ea typeface="宋体" panose="02010600030101010101" pitchFamily="2" charset="-122"/>
              <a:cs typeface="+mn-cs"/>
            </a:endParaRPr>
          </a:p>
        </p:txBody>
      </p:sp>
      <p:sp>
        <p:nvSpPr>
          <p:cNvPr id="58371"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内容占位符 2"/>
          <p:cNvSpPr>
            <a:spLocks noGrp="1"/>
          </p:cNvSpPr>
          <p:nvPr>
            <p:ph idx="1"/>
          </p:nvPr>
        </p:nvSpPr>
        <p:spPr>
          <a:xfrm>
            <a:off x="428625" y="1214438"/>
            <a:ext cx="8286750" cy="5143500"/>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2</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）设计测试用例</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363855"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为每个等价类编号（唯一的编号）；</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363855"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设计一个测试用例，使其</a:t>
            </a:r>
            <a:r>
              <a:rPr kumimoji="0" lang="zh-CN" altLang="en-US" sz="22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尽可能多</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的覆盖尚未覆盖的多个有效等价类，重复这一步骤，直到所有有效等价类被覆盖为止；</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363855"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设计一个新的测试用例，使其</a:t>
            </a:r>
            <a:r>
              <a:rPr kumimoji="0" lang="zh-CN" altLang="en-US" sz="22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只覆盖一个尚未覆盖</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的无效等价类，重复这一步骤，直到所有无效等价类均被覆盖为止。</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sp>
        <p:nvSpPr>
          <p:cNvPr id="59395"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内容占位符 2"/>
          <p:cNvSpPr>
            <a:spLocks noGrp="1"/>
          </p:cNvSpPr>
          <p:nvPr>
            <p:ph idx="1"/>
          </p:nvPr>
        </p:nvSpPr>
        <p:spPr>
          <a:xfrm>
            <a:off x="428625" y="1214438"/>
            <a:ext cx="8286750" cy="5143500"/>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等价类划分举例：</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363855"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用</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PASCAL</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语言编写的一个把数字串转换成整数的函数。运行程序的计算机字长</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16</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位，用二进制补码表示整数。该例被处理的数字串是右对齐的，即输入测试的数字串时，若少于六个字符左边补空格（“  </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123”</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）；若为负，负号在最高位左边一位（“</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-00123”</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sp>
        <p:nvSpPr>
          <p:cNvPr id="61443" name="Rectangle 4"/>
          <p:cNvSpPr>
            <a:spLocks noChangeArrowheads="1"/>
          </p:cNvSpPr>
          <p:nvPr/>
        </p:nvSpPr>
        <p:spPr bwMode="auto">
          <a:xfrm>
            <a:off x="5003800" y="5715000"/>
            <a:ext cx="3603625" cy="476250"/>
          </a:xfrm>
          <a:prstGeom prst="rect">
            <a:avLst/>
          </a:prstGeom>
          <a:solidFill>
            <a:schemeClr val="tx1">
              <a:lumMod val="25000"/>
            </a:schemeClr>
          </a:solidFill>
          <a:ln w="9525">
            <a:noFill/>
            <a:miter lim="800000"/>
          </a:ln>
        </p:spPr>
        <p:txBody>
          <a:bodyPr>
            <a:spAutoFit/>
          </a:bodyPr>
          <a:lstStyle/>
          <a:p>
            <a:pPr marL="0" marR="0" lvl="0" indent="0" algn="l" defTabSz="914400" rtl="0" eaLnBrk="0" fontAlgn="base" latinLnBrk="0" hangingPunct="0">
              <a:lnSpc>
                <a:spcPct val="140000"/>
              </a:lnSpc>
              <a:spcBef>
                <a:spcPct val="0"/>
              </a:spcBef>
              <a:spcAft>
                <a:spcPct val="0"/>
              </a:spcAft>
              <a:buClrTx/>
              <a:buSzTx/>
              <a:buFontTx/>
              <a:buNone/>
              <a:defRPr/>
            </a:pPr>
            <a:r>
              <a:rPr kumimoji="0" lang="en-US" altLang="zh-CN" sz="2000" b="1" i="0" u="none" strike="noStrike" kern="1200" cap="none" spc="0" normalizeH="0" baseline="0" noProof="0" dirty="0">
                <a:ln>
                  <a:noFill/>
                </a:ln>
                <a:solidFill>
                  <a:srgbClr val="FFFFFF"/>
                </a:solidFill>
                <a:effectLst/>
                <a:uLnTx/>
                <a:uFillTx/>
                <a:latin typeface="仿宋_GB2312" pitchFamily="49" charset="-122"/>
                <a:ea typeface="仿宋_GB2312" pitchFamily="49" charset="-122"/>
                <a:cs typeface="+mn-cs"/>
              </a:rPr>
              <a:t>-32768</a:t>
            </a:r>
            <a:r>
              <a:rPr kumimoji="0" lang="zh-CN" altLang="en-US" sz="2000" b="1" i="0" u="none" strike="noStrike" kern="1200" cap="none" spc="0" normalizeH="0" baseline="0" noProof="0" dirty="0">
                <a:ln>
                  <a:noFill/>
                </a:ln>
                <a:solidFill>
                  <a:srgbClr val="FFFFFF"/>
                </a:solidFill>
                <a:effectLst/>
                <a:uLnTx/>
                <a:uFillTx/>
                <a:latin typeface="仿宋_GB2312" pitchFamily="49" charset="-122"/>
                <a:ea typeface="仿宋_GB2312" pitchFamily="49" charset="-122"/>
                <a:cs typeface="+mn-cs"/>
              </a:rPr>
              <a:t>＜数字串＜</a:t>
            </a:r>
            <a:r>
              <a:rPr kumimoji="0" lang="en-US" altLang="zh-CN" sz="2000" b="1" i="0" u="none" strike="noStrike" kern="1200" cap="none" spc="0" normalizeH="0" baseline="0" noProof="0" dirty="0">
                <a:ln>
                  <a:noFill/>
                </a:ln>
                <a:solidFill>
                  <a:srgbClr val="FFFFFF"/>
                </a:solidFill>
                <a:effectLst/>
                <a:uLnTx/>
                <a:uFillTx/>
                <a:latin typeface="仿宋_GB2312" pitchFamily="49" charset="-122"/>
                <a:ea typeface="仿宋_GB2312" pitchFamily="49" charset="-122"/>
                <a:cs typeface="+mn-cs"/>
              </a:rPr>
              <a:t>32767</a:t>
            </a:r>
            <a:endParaRPr kumimoji="0" lang="en-US" altLang="zh-CN" sz="2000" b="1" i="0" u="none" strike="noStrike" kern="1200" cap="none" spc="0" normalizeH="0" baseline="0" noProof="0" dirty="0">
              <a:ln>
                <a:noFill/>
              </a:ln>
              <a:solidFill>
                <a:srgbClr val="FFFFFF"/>
              </a:solidFill>
              <a:effectLst/>
              <a:uLnTx/>
              <a:uFillTx/>
              <a:latin typeface="仿宋_GB2312" pitchFamily="49" charset="-122"/>
              <a:ea typeface="仿宋_GB2312" pitchFamily="49" charset="-122"/>
              <a:cs typeface="+mn-cs"/>
            </a:endParaRPr>
          </a:p>
        </p:txBody>
      </p:sp>
      <p:sp>
        <p:nvSpPr>
          <p:cNvPr id="60420"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内容占位符 2"/>
          <p:cNvSpPr>
            <a:spLocks noGrp="1"/>
          </p:cNvSpPr>
          <p:nvPr>
            <p:ph idx="1"/>
          </p:nvPr>
        </p:nvSpPr>
        <p:spPr>
          <a:xfrm>
            <a:off x="428625" y="1285875"/>
            <a:ext cx="8286750" cy="5143500"/>
          </a:xfrm>
          <a:ln/>
        </p:spPr>
        <p:txBody>
          <a:bodyPr vert="horz" wrap="square" lIns="91440" tIns="45720" rIns="91440" bIns="45720" anchor="t" anchorCtr="0"/>
          <a:p>
            <a:pPr marL="363855" indent="0" eaLnBrk="1" hangingPunct="1">
              <a:lnSpc>
                <a:spcPct val="120000"/>
              </a:lnSpc>
              <a:buSzPct val="80000"/>
              <a:buFont typeface="Wingdings" panose="05000000000000000000" pitchFamily="2" charset="2"/>
              <a:buChar char="l"/>
            </a:pPr>
            <a:r>
              <a:rPr lang="zh-CN" altLang="en-US" sz="2200" b="1" dirty="0">
                <a:latin typeface="宋体" panose="02010600030101010101" pitchFamily="2" charset="-122"/>
                <a:ea typeface="宋体" panose="02010600030101010101" pitchFamily="2" charset="-122"/>
                <a:cs typeface="+mn-cs"/>
              </a:rPr>
              <a:t> 划分等价类：</a:t>
            </a:r>
            <a:endParaRPr lang="zh-CN" altLang="en-US" sz="2200" b="1" dirty="0">
              <a:latin typeface="宋体" panose="02010600030101010101" pitchFamily="2" charset="-122"/>
              <a:ea typeface="宋体" panose="02010600030101010101" pitchFamily="2" charset="-122"/>
              <a:cs typeface="+mn-cs"/>
            </a:endParaRPr>
          </a:p>
        </p:txBody>
      </p:sp>
      <p:pic>
        <p:nvPicPr>
          <p:cNvPr id="61443" name="Picture 4" descr="C:\Users\lenovo\Pictures\图片1.png"/>
          <p:cNvPicPr>
            <a:picLocks noChangeAspect="1"/>
          </p:cNvPicPr>
          <p:nvPr/>
        </p:nvPicPr>
        <p:blipFill>
          <a:blip r:embed="rId1"/>
          <a:stretch>
            <a:fillRect/>
          </a:stretch>
        </p:blipFill>
        <p:spPr>
          <a:xfrm>
            <a:off x="779463" y="1979613"/>
            <a:ext cx="7935912" cy="3163887"/>
          </a:xfrm>
          <a:prstGeom prst="rect">
            <a:avLst/>
          </a:prstGeom>
          <a:noFill/>
          <a:ln w="9525">
            <a:noFill/>
          </a:ln>
        </p:spPr>
      </p:pic>
      <p:sp>
        <p:nvSpPr>
          <p:cNvPr id="61444"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内容占位符 2"/>
          <p:cNvSpPr>
            <a:spLocks noGrp="1"/>
          </p:cNvSpPr>
          <p:nvPr>
            <p:ph idx="1"/>
          </p:nvPr>
        </p:nvSpPr>
        <p:spPr>
          <a:xfrm>
            <a:off x="428625" y="1285875"/>
            <a:ext cx="8286750" cy="5143500"/>
          </a:xfrm>
          <a:ln/>
        </p:spPr>
        <p:txBody>
          <a:bodyPr vert="horz" wrap="square" lIns="91440" tIns="45720" rIns="91440" bIns="45720" anchor="t" anchorCtr="0"/>
          <a:p>
            <a:pPr marL="363855" indent="0" eaLnBrk="1" hangingPunct="1">
              <a:lnSpc>
                <a:spcPct val="120000"/>
              </a:lnSpc>
              <a:buSzPct val="80000"/>
              <a:buFont typeface="Wingdings" panose="05000000000000000000" pitchFamily="2" charset="2"/>
              <a:buChar char="l"/>
            </a:pPr>
            <a:r>
              <a:rPr lang="zh-CN" altLang="en-US" sz="2200" b="1" dirty="0">
                <a:latin typeface="宋体" panose="02010600030101010101" pitchFamily="2" charset="-122"/>
                <a:ea typeface="宋体" panose="02010600030101010101" pitchFamily="2" charset="-122"/>
                <a:cs typeface="+mn-cs"/>
              </a:rPr>
              <a:t> 为有效等价类设计测试用例：</a:t>
            </a:r>
            <a:endParaRPr lang="zh-CN" altLang="en-US" sz="2200" b="1" dirty="0">
              <a:latin typeface="宋体" panose="02010600030101010101" pitchFamily="2" charset="-122"/>
              <a:ea typeface="宋体" panose="02010600030101010101" pitchFamily="2" charset="-122"/>
              <a:cs typeface="+mn-cs"/>
            </a:endParaRPr>
          </a:p>
        </p:txBody>
      </p:sp>
      <p:pic>
        <p:nvPicPr>
          <p:cNvPr id="62467" name="Picture 4"/>
          <p:cNvPicPr>
            <a:picLocks noChangeAspect="1"/>
          </p:cNvPicPr>
          <p:nvPr/>
        </p:nvPicPr>
        <p:blipFill>
          <a:blip r:embed="rId1"/>
          <a:stretch>
            <a:fillRect/>
          </a:stretch>
        </p:blipFill>
        <p:spPr>
          <a:xfrm>
            <a:off x="684213" y="2060575"/>
            <a:ext cx="7991475" cy="3224213"/>
          </a:xfrm>
          <a:prstGeom prst="rect">
            <a:avLst/>
          </a:prstGeom>
          <a:noFill/>
          <a:ln w="9525">
            <a:noFill/>
          </a:ln>
        </p:spPr>
      </p:pic>
      <p:sp>
        <p:nvSpPr>
          <p:cNvPr id="62468"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内容占位符 2"/>
          <p:cNvSpPr>
            <a:spLocks noGrp="1"/>
          </p:cNvSpPr>
          <p:nvPr>
            <p:ph idx="1"/>
          </p:nvPr>
        </p:nvSpPr>
        <p:spPr>
          <a:xfrm>
            <a:off x="428625" y="1285875"/>
            <a:ext cx="8286750" cy="5143500"/>
          </a:xfrm>
          <a:ln/>
        </p:spPr>
        <p:txBody>
          <a:bodyPr vert="horz" wrap="square" lIns="91440" tIns="45720" rIns="91440" bIns="45720" anchor="t" anchorCtr="0"/>
          <a:p>
            <a:pPr marL="363855" indent="0" eaLnBrk="1" hangingPunct="1">
              <a:lnSpc>
                <a:spcPct val="120000"/>
              </a:lnSpc>
              <a:buSzPct val="80000"/>
              <a:buFont typeface="Wingdings" panose="05000000000000000000" pitchFamily="2" charset="2"/>
              <a:buChar char="l"/>
            </a:pPr>
            <a:r>
              <a:rPr lang="zh-CN" altLang="en-US" sz="2200" b="1" dirty="0">
                <a:latin typeface="宋体" panose="02010600030101010101" pitchFamily="2" charset="-122"/>
                <a:ea typeface="宋体" panose="02010600030101010101" pitchFamily="2" charset="-122"/>
                <a:cs typeface="+mn-cs"/>
              </a:rPr>
              <a:t> 为每个无效等价类至少设计一个测试用例：</a:t>
            </a:r>
            <a:endParaRPr lang="zh-CN" altLang="en-US" sz="2200" b="1" dirty="0">
              <a:latin typeface="宋体" panose="02010600030101010101" pitchFamily="2" charset="-122"/>
              <a:ea typeface="宋体" panose="02010600030101010101" pitchFamily="2" charset="-122"/>
              <a:cs typeface="+mn-cs"/>
            </a:endParaRPr>
          </a:p>
        </p:txBody>
      </p:sp>
      <p:pic>
        <p:nvPicPr>
          <p:cNvPr id="63491" name="Picture 4" descr="C:\Users\lenovo\Pictures\图片3.png"/>
          <p:cNvPicPr>
            <a:picLocks noChangeAspect="1"/>
          </p:cNvPicPr>
          <p:nvPr/>
        </p:nvPicPr>
        <p:blipFill>
          <a:blip r:embed="rId1"/>
          <a:stretch>
            <a:fillRect/>
          </a:stretch>
        </p:blipFill>
        <p:spPr>
          <a:xfrm>
            <a:off x="857250" y="1935163"/>
            <a:ext cx="7786688" cy="3779837"/>
          </a:xfrm>
          <a:prstGeom prst="rect">
            <a:avLst/>
          </a:prstGeom>
          <a:noFill/>
          <a:ln w="9525">
            <a:noFill/>
          </a:ln>
        </p:spPr>
      </p:pic>
      <p:sp>
        <p:nvSpPr>
          <p:cNvPr id="63492"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内容占位符 2"/>
          <p:cNvSpPr>
            <a:spLocks noGrp="1"/>
          </p:cNvSpPr>
          <p:nvPr>
            <p:ph idx="1"/>
          </p:nvPr>
        </p:nvSpPr>
        <p:spPr>
          <a:xfrm>
            <a:off x="428625" y="1214438"/>
            <a:ext cx="8286750" cy="5143500"/>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rPr>
              <a:t>二、黑盒测试技术</a:t>
            </a:r>
            <a:endParaRPr kumimoji="0" lang="zh-CN" altLang="en-US"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2.</a:t>
            </a:r>
            <a:r>
              <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边界值分析</a:t>
            </a:r>
            <a:endPar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a:p>
            <a:pPr marL="363855"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基本思想：选取刚好等于、稍小于、稍大于等价类边界值的数据作为测试数据，而不是选取每个等价类内的典型值或任意值作为测试数据。</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如上例：  输入‘</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-32768’     </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预期输出： </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-32768</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输入‘</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32767’      </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预期输出：  </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32767</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sp>
        <p:nvSpPr>
          <p:cNvPr id="64515"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内容占位符 2"/>
          <p:cNvSpPr>
            <a:spLocks noGrp="1"/>
          </p:cNvSpPr>
          <p:nvPr>
            <p:ph idx="1"/>
          </p:nvPr>
        </p:nvSpPr>
        <p:spPr>
          <a:xfrm>
            <a:off x="428625" y="1214438"/>
            <a:ext cx="8286750" cy="5143500"/>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rPr>
              <a:t>二、黑盒测试技术</a:t>
            </a:r>
            <a:endParaRPr kumimoji="0" lang="zh-CN" altLang="en-US"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3.</a:t>
            </a:r>
            <a:r>
              <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错误推测</a:t>
            </a:r>
            <a:endPar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a:p>
            <a:pPr marL="363855"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基本思想：列出程序中可能有的错误和容易发生错误的特殊情况，根据它们选择测试用例。</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根据：直觉、经验</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工具：常见错误清单、判定表等。</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sp>
        <p:nvSpPr>
          <p:cNvPr id="65539"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内容占位符 2"/>
          <p:cNvSpPr>
            <a:spLocks noGrp="1"/>
          </p:cNvSpPr>
          <p:nvPr>
            <p:ph idx="1"/>
          </p:nvPr>
        </p:nvSpPr>
        <p:spPr>
          <a:xfrm>
            <a:off x="428625" y="1214438"/>
            <a:ext cx="8286750" cy="5143500"/>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rPr>
              <a:t>三、实用测试策略</a:t>
            </a:r>
            <a:endParaRPr kumimoji="0" lang="zh-CN" altLang="en-US"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黑盒</a:t>
            </a:r>
            <a:r>
              <a:rPr kumimoji="0" lang="en-US" altLang="zh-CN"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a:t>
            </a:r>
            <a:r>
              <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白盒</a:t>
            </a:r>
            <a:endParaRPr kumimoji="0" lang="en-US" altLang="zh-CN"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在任何情况下，都应使用边界值分析方法；</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必要时用等价划分法补充测试用例；</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必要时再用错误推测法补充测试用例；</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对照组件的逻辑，检查已设计出的测试用例。</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sp>
        <p:nvSpPr>
          <p:cNvPr id="66563"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内容占位符 2"/>
          <p:cNvSpPr>
            <a:spLocks noGrp="1"/>
          </p:cNvSpPr>
          <p:nvPr>
            <p:ph idx="1"/>
          </p:nvPr>
        </p:nvSpPr>
        <p:spPr>
          <a:xfrm>
            <a:off x="428625" y="1214438"/>
            <a:ext cx="8286750" cy="5143500"/>
          </a:xfrm>
          <a:ln/>
        </p:spPr>
        <p:txBody>
          <a:bodyPr vert="horz" wrap="square" lIns="91440" tIns="45720" rIns="91440" bIns="45720" anchor="t" anchorCtr="0"/>
          <a:p>
            <a:pPr indent="0" eaLnBrk="1" hangingPunct="1">
              <a:lnSpc>
                <a:spcPct val="120000"/>
              </a:lnSpc>
              <a:buFont typeface="Wingdings" panose="05000000000000000000" pitchFamily="2" charset="2"/>
              <a:buNone/>
            </a:pPr>
            <a:r>
              <a:rPr lang="zh-CN" altLang="en-US" sz="2400" b="1" dirty="0">
                <a:solidFill>
                  <a:srgbClr val="1E587C"/>
                </a:solidFill>
                <a:latin typeface="黑体" panose="02010609060101010101" pitchFamily="49" charset="-122"/>
                <a:ea typeface="黑体" panose="02010609060101010101" pitchFamily="49" charset="-122"/>
                <a:cs typeface="+mn-cs"/>
              </a:rPr>
              <a:t>四、白盒测试与黑盒测试对比</a:t>
            </a:r>
            <a:endParaRPr lang="zh-CN" altLang="en-US" sz="2400" b="1" dirty="0">
              <a:solidFill>
                <a:srgbClr val="1E587C"/>
              </a:solidFill>
              <a:latin typeface="黑体" panose="02010609060101010101" pitchFamily="49" charset="-122"/>
              <a:ea typeface="黑体" panose="02010609060101010101" pitchFamily="49" charset="-122"/>
              <a:cs typeface="+mn-cs"/>
            </a:endParaRPr>
          </a:p>
        </p:txBody>
      </p:sp>
      <p:graphicFrame>
        <p:nvGraphicFramePr>
          <p:cNvPr id="3" name="Group 3"/>
          <p:cNvGraphicFramePr>
            <a:graphicFrameLocks noGrp="1"/>
          </p:cNvGraphicFramePr>
          <p:nvPr/>
        </p:nvGraphicFramePr>
        <p:xfrm>
          <a:off x="714375" y="1857375"/>
          <a:ext cx="7874000" cy="4518025"/>
        </p:xfrm>
        <a:graphic>
          <a:graphicData uri="http://schemas.openxmlformats.org/drawingml/2006/table">
            <a:tbl>
              <a:tblPr/>
              <a:tblGrid>
                <a:gridCol w="486456"/>
                <a:gridCol w="3654195"/>
                <a:gridCol w="3733348"/>
              </a:tblGrid>
              <a:tr h="403848">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None/>
                      </a:pPr>
                      <a:endParaRPr kumimoji="0" lang="zh-CN" alt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65" marB="456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None/>
                      </a:pPr>
                      <a:r>
                        <a:rPr kumimoji="0" lang="zh-CN" altLang="en-US" sz="2000" b="0" i="0" u="none" strike="noStrike" cap="none" normalizeH="0" baseline="0" dirty="0">
                          <a:ln>
                            <a:noFill/>
                          </a:ln>
                          <a:solidFill>
                            <a:schemeClr val="bg2">
                              <a:lumMod val="75000"/>
                            </a:schemeClr>
                          </a:solidFill>
                          <a:effectLst/>
                          <a:latin typeface="Arial" panose="020B0604020202020204" pitchFamily="34" charset="0"/>
                          <a:ea typeface="华文中宋" panose="02010600040101010101" pitchFamily="2" charset="-122"/>
                        </a:rPr>
                        <a:t>黑盒测试</a:t>
                      </a:r>
                      <a:endParaRPr kumimoji="0" lang="zh-CN" altLang="en-US" sz="2000" b="0" i="0" u="none" strike="noStrike" cap="none" normalizeH="0" baseline="0" dirty="0">
                        <a:ln>
                          <a:noFill/>
                        </a:ln>
                        <a:solidFill>
                          <a:schemeClr val="bg2">
                            <a:lumMod val="75000"/>
                          </a:schemeClr>
                        </a:solidFill>
                        <a:effectLst/>
                        <a:latin typeface="Arial" panose="020B0604020202020204" pitchFamily="34" charset="0"/>
                        <a:ea typeface="华文中宋" panose="02010600040101010101" pitchFamily="2" charset="-122"/>
                      </a:endParaRPr>
                    </a:p>
                  </a:txBody>
                  <a:tcPr marT="45665" marB="456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None/>
                      </a:pPr>
                      <a:r>
                        <a:rPr kumimoji="0" lang="zh-CN" altLang="en-US" sz="2000" b="0" i="0" u="none" strike="noStrike" kern="1200" cap="none" normalizeH="0" baseline="0" dirty="0">
                          <a:ln>
                            <a:noFill/>
                          </a:ln>
                          <a:solidFill>
                            <a:schemeClr val="bg2">
                              <a:lumMod val="75000"/>
                            </a:schemeClr>
                          </a:solidFill>
                          <a:effectLst/>
                          <a:latin typeface="Arial" panose="020B0604020202020204" pitchFamily="34" charset="0"/>
                          <a:ea typeface="华文中宋" panose="02010600040101010101" pitchFamily="2" charset="-122"/>
                          <a:cs typeface="+mn-cs"/>
                        </a:rPr>
                        <a:t>白盒测试</a:t>
                      </a:r>
                      <a:endParaRPr kumimoji="0" lang="zh-CN" altLang="en-US" sz="2000" b="0" i="0" u="none" strike="noStrike" kern="1200" cap="none" normalizeH="0" baseline="0" dirty="0">
                        <a:ln>
                          <a:noFill/>
                        </a:ln>
                        <a:solidFill>
                          <a:schemeClr val="bg2">
                            <a:lumMod val="75000"/>
                          </a:schemeClr>
                        </a:solidFill>
                        <a:effectLst/>
                        <a:latin typeface="Arial" panose="020B0604020202020204" pitchFamily="34" charset="0"/>
                        <a:ea typeface="华文中宋" panose="02010600040101010101" pitchFamily="2" charset="-122"/>
                        <a:cs typeface="+mn-cs"/>
                      </a:endParaRPr>
                    </a:p>
                  </a:txBody>
                  <a:tcPr marT="45665" marB="456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solidFill>
                  </a:tcPr>
                </a:tc>
              </a:tr>
              <a:tr h="1493303">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None/>
                      </a:pPr>
                      <a:endParaRPr kumimoji="0" lang="en-US" altLang="zh-CN" sz="2000" b="0" i="0" u="none" strike="noStrike" cap="none" normalizeH="0" baseline="0" dirty="0">
                        <a:ln>
                          <a:noFill/>
                        </a:ln>
                        <a:solidFill>
                          <a:schemeClr val="bg2">
                            <a:lumMod val="75000"/>
                          </a:schemeClr>
                        </a:solidFill>
                        <a:effectLst>
                          <a:outerShdw blurRad="38100" dist="38100" dir="2700000" algn="tl">
                            <a:srgbClr val="C0C0C0"/>
                          </a:outerShdw>
                        </a:effectLst>
                        <a:latin typeface="Arial" panose="020B0604020202020204" pitchFamily="34" charset="0"/>
                        <a:ea typeface="华文中宋" panose="0201060004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None/>
                      </a:pPr>
                      <a:r>
                        <a:rPr kumimoji="0" lang="zh-CN" altLang="en-US" sz="2000" b="0" i="0" u="none" strike="noStrike" cap="none" normalizeH="0" baseline="0" dirty="0">
                          <a:ln>
                            <a:noFill/>
                          </a:ln>
                          <a:solidFill>
                            <a:schemeClr val="bg2">
                              <a:lumMod val="75000"/>
                            </a:schemeClr>
                          </a:solidFill>
                          <a:effectLst>
                            <a:outerShdw blurRad="38100" dist="38100" dir="2700000" algn="tl">
                              <a:srgbClr val="C0C0C0"/>
                            </a:outerShdw>
                          </a:effectLst>
                          <a:latin typeface="Arial" panose="020B0604020202020204" pitchFamily="34" charset="0"/>
                          <a:ea typeface="华文中宋" panose="02010600040101010101" pitchFamily="2" charset="-122"/>
                        </a:rPr>
                        <a:t>优</a:t>
                      </a:r>
                      <a:endParaRPr kumimoji="0" lang="zh-CN" altLang="en-US" sz="2000" b="0" i="0" u="none" strike="noStrike" cap="none" normalizeH="0" baseline="0" dirty="0">
                        <a:ln>
                          <a:noFill/>
                        </a:ln>
                        <a:solidFill>
                          <a:schemeClr val="bg2">
                            <a:lumMod val="75000"/>
                          </a:schemeClr>
                        </a:solidFill>
                        <a:effectLst>
                          <a:outerShdw blurRad="38100" dist="38100" dir="2700000" algn="tl">
                            <a:srgbClr val="C0C0C0"/>
                          </a:outerShdw>
                        </a:effectLst>
                        <a:latin typeface="Arial" panose="020B0604020202020204" pitchFamily="34" charset="0"/>
                        <a:ea typeface="华文中宋" panose="0201060004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None/>
                      </a:pPr>
                      <a:r>
                        <a:rPr kumimoji="0" lang="zh-CN" altLang="en-US" sz="2000" b="0" i="0" u="none" strike="noStrike" cap="none" normalizeH="0" baseline="0" dirty="0">
                          <a:ln>
                            <a:noFill/>
                          </a:ln>
                          <a:solidFill>
                            <a:schemeClr val="bg2">
                              <a:lumMod val="75000"/>
                            </a:schemeClr>
                          </a:solidFill>
                          <a:effectLst>
                            <a:outerShdw blurRad="38100" dist="38100" dir="2700000" algn="tl">
                              <a:srgbClr val="C0C0C0"/>
                            </a:outerShdw>
                          </a:effectLst>
                          <a:latin typeface="Arial" panose="020B0604020202020204" pitchFamily="34" charset="0"/>
                          <a:ea typeface="华文中宋" panose="02010600040101010101" pitchFamily="2" charset="-122"/>
                        </a:rPr>
                        <a:t>点</a:t>
                      </a:r>
                      <a:endParaRPr kumimoji="0" lang="zh-CN" altLang="en-US" sz="2000" b="0" i="0" u="none" strike="noStrike" cap="none" normalizeH="0" baseline="0" dirty="0">
                        <a:ln>
                          <a:noFill/>
                        </a:ln>
                        <a:solidFill>
                          <a:schemeClr val="bg2">
                            <a:lumMod val="75000"/>
                          </a:schemeClr>
                        </a:solidFill>
                        <a:effectLst>
                          <a:outerShdw blurRad="38100" dist="38100" dir="2700000" algn="tl">
                            <a:srgbClr val="C0C0C0"/>
                          </a:outerShdw>
                        </a:effectLst>
                        <a:latin typeface="Arial" panose="020B0604020202020204" pitchFamily="34" charset="0"/>
                        <a:ea typeface="华文中宋" panose="02010600040101010101" pitchFamily="2" charset="-122"/>
                      </a:endParaRPr>
                    </a:p>
                  </a:txBody>
                  <a:tcPr marT="45665" marB="456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pPr>
                      <a:r>
                        <a:rPr kumimoji="0" lang="zh-CN" altLang="en-US" sz="2000" b="0" i="0" u="none" strike="noStrike" cap="none" normalizeH="0" baseline="0" dirty="0">
                          <a:ln>
                            <a:noFill/>
                          </a:ln>
                          <a:solidFill>
                            <a:srgbClr val="333333"/>
                          </a:solidFill>
                          <a:effectLst/>
                          <a:latin typeface="Arial" panose="020B0604020202020204" pitchFamily="34" charset="0"/>
                          <a:ea typeface="宋体" panose="02010600030101010101" pitchFamily="2" charset="-122"/>
                        </a:rPr>
                        <a:t>适用于各测试阶段</a:t>
                      </a:r>
                      <a:endParaRPr kumimoji="0" lang="zh-CN" altLang="en-US" sz="2000" b="0" i="0" u="none" strike="noStrike" cap="none" normalizeH="0" baseline="0" dirty="0">
                        <a:ln>
                          <a:noFill/>
                        </a:ln>
                        <a:solidFill>
                          <a:srgbClr val="333333"/>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pPr>
                      <a:r>
                        <a:rPr kumimoji="0" lang="zh-CN" altLang="en-US" sz="2000" b="0" i="0" u="none" strike="noStrike" cap="none" normalizeH="0" baseline="0" dirty="0">
                          <a:ln>
                            <a:noFill/>
                          </a:ln>
                          <a:solidFill>
                            <a:srgbClr val="333333"/>
                          </a:solidFill>
                          <a:effectLst/>
                          <a:latin typeface="Arial" panose="020B0604020202020204" pitchFamily="34" charset="0"/>
                          <a:ea typeface="宋体" panose="02010600030101010101" pitchFamily="2" charset="-122"/>
                        </a:rPr>
                        <a:t>从产品功能角度测试</a:t>
                      </a:r>
                      <a:endParaRPr kumimoji="0" lang="zh-CN" altLang="en-US" sz="2000" b="0" i="0" u="none" strike="noStrike" cap="none" normalizeH="0" baseline="0" dirty="0">
                        <a:ln>
                          <a:noFill/>
                        </a:ln>
                        <a:solidFill>
                          <a:srgbClr val="333333"/>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pPr>
                      <a:r>
                        <a:rPr kumimoji="0" lang="zh-CN" altLang="en-US" sz="2000" b="0" i="0" u="none" strike="noStrike" cap="none" normalizeH="0" baseline="0" dirty="0">
                          <a:ln>
                            <a:noFill/>
                          </a:ln>
                          <a:solidFill>
                            <a:srgbClr val="333333"/>
                          </a:solidFill>
                          <a:effectLst/>
                          <a:latin typeface="Arial" panose="020B0604020202020204" pitchFamily="34" charset="0"/>
                          <a:ea typeface="宋体" panose="02010600030101010101" pitchFamily="2" charset="-122"/>
                        </a:rPr>
                        <a:t>容易入手生成测试数据</a:t>
                      </a:r>
                      <a:endParaRPr kumimoji="0" lang="zh-CN" altLang="en-US" sz="2000" b="0" i="0" u="none" strike="noStrike" cap="none" normalizeH="0" baseline="0" dirty="0">
                        <a:ln>
                          <a:noFill/>
                        </a:ln>
                        <a:solidFill>
                          <a:srgbClr val="333333"/>
                        </a:solidFill>
                        <a:effectLst/>
                        <a:latin typeface="Arial" panose="020B0604020202020204" pitchFamily="34" charset="0"/>
                        <a:ea typeface="宋体" panose="02010600030101010101" pitchFamily="2" charset="-122"/>
                      </a:endParaRPr>
                    </a:p>
                  </a:txBody>
                  <a:tcPr marT="45665" marB="456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pPr>
                      <a:r>
                        <a:rPr kumimoji="0" lang="zh-CN" altLang="en-US" sz="2000" b="0" i="0" u="none" strike="noStrike" cap="none" normalizeH="0" baseline="0" dirty="0">
                          <a:ln>
                            <a:noFill/>
                          </a:ln>
                          <a:solidFill>
                            <a:srgbClr val="333333"/>
                          </a:solidFill>
                          <a:effectLst/>
                          <a:latin typeface="Arial" panose="020B0604020202020204" pitchFamily="34" charset="0"/>
                          <a:ea typeface="宋体" panose="02010600030101010101" pitchFamily="2" charset="-122"/>
                        </a:rPr>
                        <a:t>可以构成测试数据，使特定程  </a:t>
                      </a:r>
                      <a:endParaRPr kumimoji="0" lang="en-US" altLang="zh-CN" sz="2000" b="0" i="0" u="none" strike="noStrike" cap="none" normalizeH="0" baseline="0" dirty="0">
                        <a:ln>
                          <a:noFill/>
                        </a:ln>
                        <a:solidFill>
                          <a:srgbClr val="333333"/>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None/>
                      </a:pPr>
                      <a:r>
                        <a:rPr kumimoji="0" lang="en-US" altLang="zh-CN" sz="2000" b="0" i="0" u="none" strike="noStrike" cap="none" normalizeH="0" baseline="0" dirty="0">
                          <a:ln>
                            <a:noFill/>
                          </a:ln>
                          <a:solidFill>
                            <a:srgbClr val="333333"/>
                          </a:solidFill>
                          <a:effectLst/>
                          <a:latin typeface="Arial" panose="020B0604020202020204" pitchFamily="34" charset="0"/>
                          <a:ea typeface="宋体" panose="02010600030101010101" pitchFamily="2" charset="-122"/>
                        </a:rPr>
                        <a:t>  </a:t>
                      </a:r>
                      <a:r>
                        <a:rPr kumimoji="0" lang="zh-CN" altLang="en-US" sz="2000" b="0" i="0" u="none" strike="noStrike" cap="none" normalizeH="0" baseline="0" dirty="0">
                          <a:ln>
                            <a:noFill/>
                          </a:ln>
                          <a:solidFill>
                            <a:srgbClr val="333333"/>
                          </a:solidFill>
                          <a:effectLst/>
                          <a:latin typeface="Arial" panose="020B0604020202020204" pitchFamily="34" charset="0"/>
                          <a:ea typeface="宋体" panose="02010600030101010101" pitchFamily="2" charset="-122"/>
                        </a:rPr>
                        <a:t>序部分得到测试</a:t>
                      </a:r>
                      <a:endParaRPr kumimoji="0" lang="zh-CN" altLang="en-US" sz="2000" b="0" i="0" u="none" strike="noStrike" cap="none" normalizeH="0" baseline="0" dirty="0">
                        <a:ln>
                          <a:noFill/>
                        </a:ln>
                        <a:solidFill>
                          <a:srgbClr val="333333"/>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pPr>
                      <a:r>
                        <a:rPr kumimoji="0" lang="zh-CN" altLang="en-US" sz="2000" b="0" i="0" u="none" strike="noStrike" cap="none" normalizeH="0" baseline="0" dirty="0">
                          <a:ln>
                            <a:noFill/>
                          </a:ln>
                          <a:solidFill>
                            <a:srgbClr val="333333"/>
                          </a:solidFill>
                          <a:effectLst/>
                          <a:latin typeface="Arial" panose="020B0604020202020204" pitchFamily="34" charset="0"/>
                          <a:ea typeface="宋体" panose="02010600030101010101" pitchFamily="2" charset="-122"/>
                        </a:rPr>
                        <a:t>有一定的充分性度量手段</a:t>
                      </a:r>
                      <a:endParaRPr kumimoji="0" lang="zh-CN" altLang="en-US" sz="2000" b="0" i="0" u="none" strike="noStrike" cap="none" normalizeH="0" baseline="0" dirty="0">
                        <a:ln>
                          <a:noFill/>
                        </a:ln>
                        <a:solidFill>
                          <a:srgbClr val="333333"/>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pPr>
                      <a:r>
                        <a:rPr kumimoji="0" lang="zh-CN" altLang="en-US" sz="2000" b="0" i="0" u="none" strike="noStrike" cap="none" normalizeH="0" baseline="0" dirty="0">
                          <a:ln>
                            <a:noFill/>
                          </a:ln>
                          <a:solidFill>
                            <a:srgbClr val="333333"/>
                          </a:solidFill>
                          <a:effectLst/>
                          <a:latin typeface="Arial" panose="020B0604020202020204" pitchFamily="34" charset="0"/>
                          <a:ea typeface="宋体" panose="02010600030101010101" pitchFamily="2" charset="-122"/>
                        </a:rPr>
                        <a:t>可获得较多工具支持</a:t>
                      </a:r>
                      <a:endParaRPr kumimoji="0" lang="zh-CN" altLang="en-US" sz="2000" b="0" i="0" u="none" strike="noStrike" cap="none" normalizeH="0" baseline="0" dirty="0">
                        <a:ln>
                          <a:noFill/>
                        </a:ln>
                        <a:solidFill>
                          <a:srgbClr val="333333"/>
                        </a:solidFill>
                        <a:effectLst/>
                        <a:latin typeface="Arial" panose="020B0604020202020204" pitchFamily="34" charset="0"/>
                        <a:ea typeface="宋体" panose="02010600030101010101" pitchFamily="2" charset="-122"/>
                      </a:endParaRPr>
                    </a:p>
                  </a:txBody>
                  <a:tcPr marT="45665" marB="456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r>
              <a:tr h="1859035">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None/>
                      </a:pPr>
                      <a:endParaRPr kumimoji="0" lang="en-US" altLang="zh-CN" sz="2000" b="0" i="0" u="none" strike="noStrike" cap="none" normalizeH="0" baseline="0" dirty="0">
                        <a:ln>
                          <a:noFill/>
                        </a:ln>
                        <a:solidFill>
                          <a:schemeClr val="bg2">
                            <a:lumMod val="75000"/>
                          </a:schemeClr>
                        </a:solidFill>
                        <a:effectLst>
                          <a:outerShdw blurRad="38100" dist="38100" dir="2700000" algn="tl">
                            <a:srgbClr val="C0C0C0"/>
                          </a:outerShdw>
                        </a:effectLst>
                        <a:latin typeface="Arial" panose="020B0604020202020204" pitchFamily="34" charset="0"/>
                        <a:ea typeface="华文中宋" panose="0201060004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None/>
                      </a:pPr>
                      <a:r>
                        <a:rPr kumimoji="0" lang="zh-CN" altLang="en-US" sz="2000" b="0" i="0" u="none" strike="noStrike" cap="none" normalizeH="0" baseline="0" dirty="0">
                          <a:ln>
                            <a:noFill/>
                          </a:ln>
                          <a:solidFill>
                            <a:schemeClr val="bg2">
                              <a:lumMod val="75000"/>
                            </a:schemeClr>
                          </a:solidFill>
                          <a:effectLst>
                            <a:outerShdw blurRad="38100" dist="38100" dir="2700000" algn="tl">
                              <a:srgbClr val="C0C0C0"/>
                            </a:outerShdw>
                          </a:effectLst>
                          <a:latin typeface="Arial" panose="020B0604020202020204" pitchFamily="34" charset="0"/>
                          <a:ea typeface="华文中宋" panose="02010600040101010101" pitchFamily="2" charset="-122"/>
                        </a:rPr>
                        <a:t>缺</a:t>
                      </a:r>
                      <a:endParaRPr kumimoji="0" lang="zh-CN" altLang="en-US" sz="2000" b="0" i="0" u="none" strike="noStrike" cap="none" normalizeH="0" baseline="0" dirty="0">
                        <a:ln>
                          <a:noFill/>
                        </a:ln>
                        <a:solidFill>
                          <a:schemeClr val="bg2">
                            <a:lumMod val="75000"/>
                          </a:schemeClr>
                        </a:solidFill>
                        <a:effectLst>
                          <a:outerShdw blurRad="38100" dist="38100" dir="2700000" algn="tl">
                            <a:srgbClr val="C0C0C0"/>
                          </a:outerShdw>
                        </a:effectLst>
                        <a:latin typeface="Arial" panose="020B0604020202020204" pitchFamily="34" charset="0"/>
                        <a:ea typeface="华文中宋" panose="0201060004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None/>
                      </a:pPr>
                      <a:r>
                        <a:rPr kumimoji="0" lang="zh-CN" altLang="en-US" sz="2000" b="0" i="0" u="none" strike="noStrike" cap="none" normalizeH="0" baseline="0" dirty="0">
                          <a:ln>
                            <a:noFill/>
                          </a:ln>
                          <a:solidFill>
                            <a:schemeClr val="bg2">
                              <a:lumMod val="75000"/>
                            </a:schemeClr>
                          </a:solidFill>
                          <a:effectLst>
                            <a:outerShdw blurRad="38100" dist="38100" dir="2700000" algn="tl">
                              <a:srgbClr val="C0C0C0"/>
                            </a:outerShdw>
                          </a:effectLst>
                          <a:latin typeface="Arial" panose="020B0604020202020204" pitchFamily="34" charset="0"/>
                          <a:ea typeface="华文中宋" panose="02010600040101010101" pitchFamily="2" charset="-122"/>
                        </a:rPr>
                        <a:t>点</a:t>
                      </a:r>
                      <a:endParaRPr kumimoji="0" lang="zh-CN" altLang="en-US" sz="2000" b="0" i="0" u="none" strike="noStrike" cap="none" normalizeH="0" baseline="0" dirty="0">
                        <a:ln>
                          <a:noFill/>
                        </a:ln>
                        <a:solidFill>
                          <a:schemeClr val="bg2">
                            <a:lumMod val="75000"/>
                          </a:schemeClr>
                        </a:solidFill>
                        <a:effectLst>
                          <a:outerShdw blurRad="38100" dist="38100" dir="2700000" algn="tl">
                            <a:srgbClr val="C0C0C0"/>
                          </a:outerShdw>
                        </a:effectLst>
                        <a:latin typeface="Arial" panose="020B0604020202020204" pitchFamily="34" charset="0"/>
                        <a:ea typeface="华文中宋" panose="02010600040101010101" pitchFamily="2" charset="-122"/>
                      </a:endParaRPr>
                    </a:p>
                  </a:txBody>
                  <a:tcPr marT="45665" marB="456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pPr>
                      <a:r>
                        <a:rPr kumimoji="0" lang="zh-CN" altLang="en-US" sz="2000" b="0" i="0" u="none" strike="noStrike" cap="none" normalizeH="0" baseline="0" dirty="0">
                          <a:ln>
                            <a:noFill/>
                          </a:ln>
                          <a:solidFill>
                            <a:srgbClr val="333333"/>
                          </a:solidFill>
                          <a:effectLst/>
                          <a:latin typeface="Arial" panose="020B0604020202020204" pitchFamily="34" charset="0"/>
                          <a:ea typeface="宋体" panose="02010600030101010101" pitchFamily="2" charset="-122"/>
                        </a:rPr>
                        <a:t>某些代码段得不到测试</a:t>
                      </a:r>
                      <a:endParaRPr kumimoji="0" lang="zh-CN" altLang="en-US" sz="2000" b="0" i="0" u="none" strike="noStrike" cap="none" normalizeH="0" baseline="0" dirty="0">
                        <a:ln>
                          <a:noFill/>
                        </a:ln>
                        <a:solidFill>
                          <a:srgbClr val="333333"/>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pPr>
                      <a:r>
                        <a:rPr kumimoji="0" lang="zh-CN" altLang="en-US" sz="2000" b="0" i="0" u="none" strike="noStrike" cap="none" normalizeH="0" baseline="0" dirty="0">
                          <a:ln>
                            <a:noFill/>
                          </a:ln>
                          <a:solidFill>
                            <a:srgbClr val="333333"/>
                          </a:solidFill>
                          <a:effectLst/>
                          <a:latin typeface="Arial" panose="020B0604020202020204" pitchFamily="34" charset="0"/>
                          <a:ea typeface="宋体" panose="02010600030101010101" pitchFamily="2" charset="-122"/>
                        </a:rPr>
                        <a:t>如果规格说明有误则无法发现</a:t>
                      </a:r>
                      <a:endParaRPr kumimoji="0" lang="zh-CN" altLang="en-US" sz="2000" b="0" i="0" u="none" strike="noStrike" cap="none" normalizeH="0" baseline="0" dirty="0">
                        <a:ln>
                          <a:noFill/>
                        </a:ln>
                        <a:solidFill>
                          <a:srgbClr val="333333"/>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pPr>
                      <a:r>
                        <a:rPr kumimoji="0" lang="zh-CN" altLang="en-US" sz="2000" b="0" i="0" u="none" strike="noStrike" cap="none" normalizeH="0" baseline="0" dirty="0">
                          <a:ln>
                            <a:noFill/>
                          </a:ln>
                          <a:solidFill>
                            <a:srgbClr val="333333"/>
                          </a:solidFill>
                          <a:effectLst/>
                          <a:latin typeface="Arial" panose="020B0604020202020204" pitchFamily="34" charset="0"/>
                          <a:ea typeface="宋体" panose="02010600030101010101" pitchFamily="2" charset="-122"/>
                        </a:rPr>
                        <a:t>不易进行充分性度量</a:t>
                      </a:r>
                      <a:endParaRPr kumimoji="0" lang="zh-CN" altLang="en-US" sz="2000" b="0" i="0" u="none" strike="noStrike" cap="none" normalizeH="0" baseline="0" dirty="0">
                        <a:ln>
                          <a:noFill/>
                        </a:ln>
                        <a:solidFill>
                          <a:srgbClr val="333333"/>
                        </a:solidFill>
                        <a:effectLst/>
                        <a:latin typeface="Arial" panose="020B0604020202020204" pitchFamily="34" charset="0"/>
                        <a:ea typeface="宋体" panose="02010600030101010101" pitchFamily="2" charset="-122"/>
                      </a:endParaRPr>
                    </a:p>
                  </a:txBody>
                  <a:tcPr marT="45665" marB="456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pPr>
                      <a:r>
                        <a:rPr kumimoji="0" lang="zh-CN" altLang="en-US" sz="2000" b="0" i="0" u="none" strike="noStrike" cap="none" normalizeH="0" baseline="0" dirty="0">
                          <a:ln>
                            <a:noFill/>
                          </a:ln>
                          <a:solidFill>
                            <a:srgbClr val="333333"/>
                          </a:solidFill>
                          <a:effectLst/>
                          <a:latin typeface="Arial" panose="020B0604020202020204" pitchFamily="34" charset="0"/>
                          <a:ea typeface="宋体" panose="02010600030101010101" pitchFamily="2" charset="-122"/>
                        </a:rPr>
                        <a:t>不易生成测试数据</a:t>
                      </a:r>
                      <a:endParaRPr kumimoji="0" lang="zh-CN" altLang="en-US" sz="2000" b="0" i="0" u="none" strike="noStrike" cap="none" normalizeH="0" baseline="0" dirty="0">
                        <a:ln>
                          <a:noFill/>
                        </a:ln>
                        <a:solidFill>
                          <a:srgbClr val="333333"/>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pPr>
                      <a:r>
                        <a:rPr kumimoji="0" lang="zh-CN" altLang="en-US" sz="2000" b="0" i="0" u="none" strike="noStrike" cap="none" normalizeH="0" baseline="0" dirty="0">
                          <a:ln>
                            <a:noFill/>
                          </a:ln>
                          <a:solidFill>
                            <a:srgbClr val="333333"/>
                          </a:solidFill>
                          <a:effectLst/>
                          <a:latin typeface="Arial" panose="020B0604020202020204" pitchFamily="34" charset="0"/>
                          <a:ea typeface="宋体" panose="02010600030101010101" pitchFamily="2" charset="-122"/>
                        </a:rPr>
                        <a:t>无法对未实现规格说明的部分</a:t>
                      </a:r>
                      <a:endParaRPr kumimoji="0" lang="en-US" altLang="zh-CN" sz="2000" b="0" i="0" u="none" strike="noStrike" cap="none" normalizeH="0" baseline="0" dirty="0">
                        <a:ln>
                          <a:noFill/>
                        </a:ln>
                        <a:solidFill>
                          <a:srgbClr val="333333"/>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None/>
                      </a:pPr>
                      <a:r>
                        <a:rPr kumimoji="0" lang="en-US" altLang="zh-CN" sz="2000" b="0" i="0" u="none" strike="noStrike" cap="none" normalizeH="0" baseline="0" dirty="0">
                          <a:ln>
                            <a:noFill/>
                          </a:ln>
                          <a:solidFill>
                            <a:srgbClr val="333333"/>
                          </a:solidFill>
                          <a:effectLst/>
                          <a:latin typeface="Arial" panose="020B0604020202020204" pitchFamily="34" charset="0"/>
                          <a:ea typeface="宋体" panose="02010600030101010101" pitchFamily="2" charset="-122"/>
                        </a:rPr>
                        <a:t>  </a:t>
                      </a:r>
                      <a:r>
                        <a:rPr kumimoji="0" lang="zh-CN" altLang="en-US" sz="2000" b="0" i="0" u="none" strike="noStrike" cap="none" normalizeH="0" baseline="0" dirty="0">
                          <a:ln>
                            <a:noFill/>
                          </a:ln>
                          <a:solidFill>
                            <a:srgbClr val="333333"/>
                          </a:solidFill>
                          <a:effectLst/>
                          <a:latin typeface="Arial" panose="020B0604020202020204" pitchFamily="34" charset="0"/>
                          <a:ea typeface="宋体" panose="02010600030101010101" pitchFamily="2" charset="-122"/>
                        </a:rPr>
                        <a:t>测试</a:t>
                      </a:r>
                      <a:endParaRPr kumimoji="0" lang="zh-CN" altLang="en-US" sz="2000" b="0" i="0" u="none" strike="noStrike" cap="none" normalizeH="0" baseline="0" dirty="0">
                        <a:ln>
                          <a:noFill/>
                        </a:ln>
                        <a:solidFill>
                          <a:srgbClr val="333333"/>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n"/>
                      </a:pPr>
                      <a:r>
                        <a:rPr kumimoji="0" lang="zh-CN" altLang="en-US" sz="2000" b="0" i="0" u="none" strike="noStrike" cap="none" normalizeH="0" baseline="0" dirty="0">
                          <a:ln>
                            <a:noFill/>
                          </a:ln>
                          <a:solidFill>
                            <a:srgbClr val="333333"/>
                          </a:solidFill>
                          <a:effectLst/>
                          <a:latin typeface="Arial" panose="020B0604020202020204" pitchFamily="34" charset="0"/>
                          <a:ea typeface="宋体" panose="02010600030101010101" pitchFamily="2" charset="-122"/>
                        </a:rPr>
                        <a:t>工作量大，通常只用于单元测</a:t>
                      </a:r>
                      <a:endParaRPr kumimoji="0" lang="en-US" altLang="zh-CN" sz="2000" b="0" i="0" u="none" strike="noStrike" cap="none" normalizeH="0" baseline="0" dirty="0">
                        <a:ln>
                          <a:noFill/>
                        </a:ln>
                        <a:solidFill>
                          <a:srgbClr val="333333"/>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None/>
                      </a:pPr>
                      <a:r>
                        <a:rPr kumimoji="0" lang="en-US" altLang="zh-CN" sz="2000" b="0" i="0" u="none" strike="noStrike" cap="none" normalizeH="0" baseline="0" dirty="0">
                          <a:ln>
                            <a:noFill/>
                          </a:ln>
                          <a:solidFill>
                            <a:srgbClr val="333333"/>
                          </a:solidFill>
                          <a:effectLst/>
                          <a:latin typeface="Arial" panose="020B0604020202020204" pitchFamily="34" charset="0"/>
                          <a:ea typeface="宋体" panose="02010600030101010101" pitchFamily="2" charset="-122"/>
                        </a:rPr>
                        <a:t>  </a:t>
                      </a:r>
                      <a:r>
                        <a:rPr kumimoji="0" lang="zh-CN" altLang="en-US" sz="2000" b="0" i="0" u="none" strike="noStrike" cap="none" normalizeH="0" baseline="0" dirty="0">
                          <a:ln>
                            <a:noFill/>
                          </a:ln>
                          <a:solidFill>
                            <a:srgbClr val="333333"/>
                          </a:solidFill>
                          <a:effectLst/>
                          <a:latin typeface="Arial" panose="020B0604020202020204" pitchFamily="34" charset="0"/>
                          <a:ea typeface="宋体" panose="02010600030101010101" pitchFamily="2" charset="-122"/>
                        </a:rPr>
                        <a:t>试，有引用局限</a:t>
                      </a:r>
                      <a:endParaRPr kumimoji="0" lang="zh-CN" altLang="en-US" sz="2000" b="0" i="0" u="none" strike="noStrike" cap="none" normalizeH="0" baseline="0" dirty="0">
                        <a:ln>
                          <a:noFill/>
                        </a:ln>
                        <a:solidFill>
                          <a:srgbClr val="333333"/>
                        </a:solidFill>
                        <a:effectLst/>
                        <a:latin typeface="Arial" panose="020B0604020202020204" pitchFamily="34" charset="0"/>
                        <a:ea typeface="宋体" panose="02010600030101010101" pitchFamily="2" charset="-122"/>
                      </a:endParaRPr>
                    </a:p>
                  </a:txBody>
                  <a:tcPr marT="45665" marB="456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r>
              <a:tr h="761839">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None/>
                      </a:pPr>
                      <a:r>
                        <a:rPr kumimoji="0" lang="zh-CN" altLang="en-US" sz="2000" b="0" i="0" u="none" strike="noStrike" cap="none" normalizeH="0" baseline="0" dirty="0">
                          <a:ln>
                            <a:noFill/>
                          </a:ln>
                          <a:solidFill>
                            <a:schemeClr val="bg2">
                              <a:lumMod val="75000"/>
                            </a:schemeClr>
                          </a:solidFill>
                          <a:effectLst>
                            <a:outerShdw blurRad="38100" dist="38100" dir="2700000" algn="tl">
                              <a:srgbClr val="C0C0C0"/>
                            </a:outerShdw>
                          </a:effectLst>
                          <a:latin typeface="Arial" panose="020B0604020202020204" pitchFamily="34" charset="0"/>
                          <a:ea typeface="华文中宋" panose="02010600040101010101" pitchFamily="2" charset="-122"/>
                        </a:rPr>
                        <a:t>性</a:t>
                      </a:r>
                      <a:endParaRPr kumimoji="0" lang="zh-CN" altLang="en-US" sz="2000" b="0" i="0" u="none" strike="noStrike" cap="none" normalizeH="0" baseline="0" dirty="0">
                        <a:ln>
                          <a:noFill/>
                        </a:ln>
                        <a:solidFill>
                          <a:schemeClr val="bg2">
                            <a:lumMod val="75000"/>
                          </a:schemeClr>
                        </a:solidFill>
                        <a:effectLst>
                          <a:outerShdw blurRad="38100" dist="38100" dir="2700000" algn="tl">
                            <a:srgbClr val="C0C0C0"/>
                          </a:outerShdw>
                        </a:effectLst>
                        <a:latin typeface="Arial" panose="020B0604020202020204" pitchFamily="34" charset="0"/>
                        <a:ea typeface="华文中宋" panose="02010600040101010101" pitchFamily="2" charset="-122"/>
                      </a:endParaRPr>
                    </a:p>
                    <a:p>
                      <a:pPr marL="0" marR="0" lvl="0" indent="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None/>
                      </a:pPr>
                      <a:r>
                        <a:rPr kumimoji="0" lang="zh-CN" altLang="en-US" sz="2000" b="0" i="0" u="none" strike="noStrike" cap="none" normalizeH="0" baseline="0" dirty="0">
                          <a:ln>
                            <a:noFill/>
                          </a:ln>
                          <a:solidFill>
                            <a:schemeClr val="bg2">
                              <a:lumMod val="75000"/>
                            </a:schemeClr>
                          </a:solidFill>
                          <a:effectLst>
                            <a:outerShdw blurRad="38100" dist="38100" dir="2700000" algn="tl">
                              <a:srgbClr val="C0C0C0"/>
                            </a:outerShdw>
                          </a:effectLst>
                          <a:latin typeface="Arial" panose="020B0604020202020204" pitchFamily="34" charset="0"/>
                          <a:ea typeface="华文中宋" panose="02010600040101010101" pitchFamily="2" charset="-122"/>
                        </a:rPr>
                        <a:t>质</a:t>
                      </a:r>
                      <a:endParaRPr kumimoji="0" lang="zh-CN" altLang="en-US" sz="2000" b="0" i="0" u="none" strike="noStrike" cap="none" normalizeH="0" baseline="0" dirty="0">
                        <a:ln>
                          <a:noFill/>
                        </a:ln>
                        <a:solidFill>
                          <a:schemeClr val="bg2">
                            <a:lumMod val="75000"/>
                          </a:schemeClr>
                        </a:solidFill>
                        <a:effectLst>
                          <a:outerShdw blurRad="38100" dist="38100" dir="2700000" algn="tl">
                            <a:srgbClr val="C0C0C0"/>
                          </a:outerShdw>
                        </a:effectLst>
                        <a:latin typeface="Arial" panose="020B0604020202020204" pitchFamily="34" charset="0"/>
                        <a:ea typeface="华文中宋" panose="02010600040101010101" pitchFamily="2" charset="-122"/>
                      </a:endParaRPr>
                    </a:p>
                  </a:txBody>
                  <a:tcPr marT="45665" marB="456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None/>
                      </a:pPr>
                      <a:r>
                        <a:rPr kumimoji="0" lang="zh-CN" altLang="en-US" sz="2000" b="0" i="0" u="none" strike="noStrike" cap="none" normalizeH="0" baseline="0">
                          <a:ln>
                            <a:noFill/>
                          </a:ln>
                          <a:solidFill>
                            <a:srgbClr val="333333"/>
                          </a:solidFill>
                          <a:effectLst/>
                          <a:latin typeface="Arial" panose="020B0604020202020204" pitchFamily="34" charset="0"/>
                          <a:ea typeface="宋体" panose="02010600030101010101" pitchFamily="2" charset="-122"/>
                        </a:rPr>
                        <a:t>是一种确认技术，回答“我们在构造一个正确的系统吗？”</a:t>
                      </a:r>
                      <a:endParaRPr kumimoji="0" lang="zh-CN" altLang="en-US" sz="2000" b="0" i="0" u="none" strike="noStrike" cap="none" normalizeH="0" baseline="0">
                        <a:ln>
                          <a:noFill/>
                        </a:ln>
                        <a:solidFill>
                          <a:srgbClr val="333333"/>
                        </a:solidFill>
                        <a:effectLst/>
                        <a:latin typeface="Arial" panose="020B0604020202020204" pitchFamily="34" charset="0"/>
                        <a:ea typeface="宋体" panose="02010600030101010101" pitchFamily="2" charset="-122"/>
                      </a:endParaRPr>
                    </a:p>
                  </a:txBody>
                  <a:tcPr marT="45665" marB="456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None/>
                      </a:pPr>
                      <a:r>
                        <a:rPr kumimoji="0" lang="zh-CN" altLang="en-US" sz="2000" b="0" i="0" u="none" strike="noStrike" cap="none" normalizeH="0" baseline="0" dirty="0">
                          <a:ln>
                            <a:noFill/>
                          </a:ln>
                          <a:solidFill>
                            <a:srgbClr val="333333"/>
                          </a:solidFill>
                          <a:effectLst/>
                          <a:latin typeface="Arial" panose="020B0604020202020204" pitchFamily="34" charset="0"/>
                          <a:ea typeface="宋体" panose="02010600030101010101" pitchFamily="2" charset="-122"/>
                        </a:rPr>
                        <a:t>是一种验证技术，回答“我们在正确地构造一个系统吗？”</a:t>
                      </a:r>
                      <a:endParaRPr kumimoji="0" lang="zh-CN" altLang="en-US" sz="2000" b="0" i="0" u="none" strike="noStrike" cap="none" normalizeH="0" baseline="0" dirty="0">
                        <a:ln>
                          <a:noFill/>
                        </a:ln>
                        <a:solidFill>
                          <a:srgbClr val="333333"/>
                        </a:solidFill>
                        <a:effectLst/>
                        <a:latin typeface="Arial" panose="020B0604020202020204" pitchFamily="34" charset="0"/>
                        <a:ea typeface="宋体" panose="02010600030101010101" pitchFamily="2" charset="-122"/>
                      </a:endParaRPr>
                    </a:p>
                  </a:txBody>
                  <a:tcPr marT="45665" marB="4566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lumMod val="20000"/>
                        <a:lumOff val="80000"/>
                      </a:schemeClr>
                    </a:solidFill>
                  </a:tcPr>
                </a:tc>
              </a:tr>
            </a:tbl>
          </a:graphicData>
        </a:graphic>
      </p:graphicFrame>
      <p:sp>
        <p:nvSpPr>
          <p:cNvPr id="67609"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
        <p:nvSpPr>
          <p:cNvPr id="11267" name="内容占位符 2"/>
          <p:cNvSpPr>
            <a:spLocks noGrp="1"/>
          </p:cNvSpPr>
          <p:nvPr>
            <p:ph idx="1"/>
          </p:nvPr>
        </p:nvSpPr>
        <p:spPr>
          <a:xfrm>
            <a:off x="428625" y="1214438"/>
            <a:ext cx="8286750"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第八节  软件调试</a:t>
            </a:r>
            <a:endParaRPr kumimoji="0" lang="en-US" altLang="zh-CN" sz="1100" b="1" i="0" u="none" strike="noStrike" kern="0" cap="none" spc="0" normalizeH="0" baseline="0" noProof="0" dirty="0">
              <a:ln>
                <a:noFill/>
              </a:ln>
              <a:solidFill>
                <a:srgbClr val="FF0000"/>
              </a:solidFill>
              <a:effectLst/>
              <a:uLnTx/>
              <a:uFillTx/>
              <a:latin typeface="+mn-lt"/>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 测试 </a:t>
            </a:r>
            <a:r>
              <a:rPr kumimoji="0" lang="en-US" altLang="zh-CN" sz="2200" b="1" i="0" u="none" strike="noStrike" kern="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 </a:t>
            </a:r>
            <a:r>
              <a:rPr kumimoji="0" lang="zh-CN" altLang="en-US" sz="2200" b="1" i="0" u="none" strike="noStrike" kern="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发现错误</a:t>
            </a:r>
            <a:endParaRPr kumimoji="0" lang="zh-CN" altLang="en-US" sz="2200" b="1" i="0" u="none" strike="noStrike" kern="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 调试 </a:t>
            </a:r>
            <a:r>
              <a:rPr kumimoji="0" lang="en-US" altLang="zh-CN" sz="2200" b="1" i="0" u="none" strike="noStrike" kern="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 </a:t>
            </a:r>
            <a:r>
              <a:rPr kumimoji="0" lang="zh-CN" altLang="en-US" sz="2200" b="1" i="0" u="none" strike="noStrike" kern="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rPr>
              <a:t>改正错误</a:t>
            </a:r>
            <a:endParaRPr kumimoji="0" lang="en-US" altLang="zh-CN" sz="2200" b="1" i="0" u="none" strike="noStrike" kern="0" cap="none" spc="0" normalizeH="0" baseline="0" noProof="0" dirty="0">
              <a:ln>
                <a:noFill/>
              </a:ln>
              <a:solidFill>
                <a:srgbClr val="C00000"/>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rPr>
              <a:t>一、调试的原则</a:t>
            </a:r>
            <a:endParaRPr kumimoji="0" lang="zh-CN" altLang="en-US"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1.</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注意错误的“群集现象”；</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2.</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不能只修改错误的征兆、表现。还应该修改错误的本质；</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3.</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注意在修改一个错误的同时，不要引入新的错误。</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内容占位符 2"/>
          <p:cNvSpPr>
            <a:spLocks noGrp="1"/>
          </p:cNvSpPr>
          <p:nvPr>
            <p:ph idx="1"/>
          </p:nvPr>
        </p:nvSpPr>
        <p:spPr>
          <a:xfrm>
            <a:off x="357188" y="1214438"/>
            <a:ext cx="8286750"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rPr>
              <a:t>二、调试的过程</a:t>
            </a:r>
            <a:endParaRPr kumimoji="0" lang="zh-CN" altLang="en-US"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pic>
        <p:nvPicPr>
          <p:cNvPr id="69635" name="Picture 24" descr="C:\Users\lenovo\Pictures\图片8.png"/>
          <p:cNvPicPr>
            <a:picLocks noChangeAspect="1"/>
          </p:cNvPicPr>
          <p:nvPr/>
        </p:nvPicPr>
        <p:blipFill>
          <a:blip r:embed="rId1"/>
          <a:stretch>
            <a:fillRect/>
          </a:stretch>
        </p:blipFill>
        <p:spPr>
          <a:xfrm>
            <a:off x="744538" y="1500188"/>
            <a:ext cx="7654925" cy="5016500"/>
          </a:xfrm>
          <a:prstGeom prst="rect">
            <a:avLst/>
          </a:prstGeom>
          <a:noFill/>
          <a:ln w="9525">
            <a:noFill/>
          </a:ln>
        </p:spPr>
      </p:pic>
      <p:sp>
        <p:nvSpPr>
          <p:cNvPr id="69636"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内容占位符 2"/>
          <p:cNvSpPr>
            <a:spLocks noGrp="1"/>
          </p:cNvSpPr>
          <p:nvPr>
            <p:ph idx="1"/>
          </p:nvPr>
        </p:nvSpPr>
        <p:spPr>
          <a:xfrm>
            <a:off x="357188" y="1214438"/>
            <a:ext cx="8286750" cy="5214938"/>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rPr>
              <a:t>二、调试策略 </a:t>
            </a:r>
            <a:endParaRPr kumimoji="0" lang="zh-CN" altLang="en-US"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调试过程的关键不是调试技术，而是用来推断错误原因的基本策略。主要有：</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① 试探法，凭经验猜测。</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② 回溯法：由症状</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(symptom)</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最先出现的地方，沿</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control flow</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向回检查。适用于小型程序。</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③ 对分法：在关键点插入变量的正确值，则：</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grpSp>
        <p:nvGrpSpPr>
          <p:cNvPr id="70659" name="Group 4"/>
          <p:cNvGrpSpPr/>
          <p:nvPr/>
        </p:nvGrpSpPr>
        <p:grpSpPr>
          <a:xfrm>
            <a:off x="2684463" y="4640263"/>
            <a:ext cx="4030662" cy="1646237"/>
            <a:chOff x="1104" y="2592"/>
            <a:chExt cx="3328" cy="1509"/>
          </a:xfrm>
        </p:grpSpPr>
        <p:grpSp>
          <p:nvGrpSpPr>
            <p:cNvPr id="70661" name="Group 5"/>
            <p:cNvGrpSpPr/>
            <p:nvPr/>
          </p:nvGrpSpPr>
          <p:grpSpPr>
            <a:xfrm>
              <a:off x="1104" y="2784"/>
              <a:ext cx="1134" cy="544"/>
              <a:chOff x="1104" y="2880"/>
              <a:chExt cx="1134" cy="544"/>
            </a:xfrm>
          </p:grpSpPr>
          <p:sp>
            <p:nvSpPr>
              <p:cNvPr id="2" name="AutoShape 6"/>
              <p:cNvSpPr>
                <a:spLocks noChangeArrowheads="1"/>
              </p:cNvSpPr>
              <p:nvPr/>
            </p:nvSpPr>
            <p:spPr bwMode="auto">
              <a:xfrm>
                <a:off x="1104" y="2880"/>
                <a:ext cx="1134" cy="544"/>
              </a:xfrm>
              <a:prstGeom prst="diamond">
                <a:avLst/>
              </a:prstGeom>
              <a:noFill/>
              <a:ln w="9525">
                <a:solidFill>
                  <a:schemeClr val="bg1">
                    <a:lumMod val="50000"/>
                  </a:schemeClr>
                </a:solidFill>
                <a:miter lim="800000"/>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80808"/>
                  </a:solidFill>
                  <a:effectLst/>
                  <a:uLnTx/>
                  <a:uFillTx/>
                  <a:latin typeface="Times New Roman" panose="02020603050405020304" pitchFamily="18" charset="0"/>
                  <a:ea typeface="宋体" panose="02010600030101010101" pitchFamily="2" charset="-122"/>
                  <a:cs typeface="+mn-cs"/>
                </a:endParaRPr>
              </a:p>
            </p:txBody>
          </p:sp>
          <p:sp>
            <p:nvSpPr>
              <p:cNvPr id="70670" name="Text Box 7"/>
              <p:cNvSpPr txBox="1"/>
              <p:nvPr/>
            </p:nvSpPr>
            <p:spPr>
              <a:xfrm>
                <a:off x="1247" y="3023"/>
                <a:ext cx="912" cy="31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50000"/>
                  </a:spcBef>
                  <a:buClrTx/>
                  <a:buFontTx/>
                  <a:buNone/>
                </a:pPr>
                <a:r>
                  <a:rPr lang="zh-CN" altLang="en-US" sz="1600" dirty="0">
                    <a:solidFill>
                      <a:srgbClr val="080808"/>
                    </a:solidFill>
                    <a:ea typeface="楷体_GB2312" pitchFamily="49" charset="-122"/>
                  </a:rPr>
                  <a:t>输出正确</a:t>
                </a:r>
                <a:endParaRPr lang="zh-CN" altLang="en-US" sz="1600" dirty="0">
                  <a:solidFill>
                    <a:srgbClr val="080808"/>
                  </a:solidFill>
                  <a:ea typeface="楷体_GB2312" pitchFamily="49" charset="-122"/>
                </a:endParaRPr>
              </a:p>
            </p:txBody>
          </p:sp>
        </p:grpSp>
        <p:sp>
          <p:nvSpPr>
            <p:cNvPr id="3" name="Text Box 8"/>
            <p:cNvSpPr txBox="1">
              <a:spLocks noChangeArrowheads="1"/>
            </p:cNvSpPr>
            <p:nvPr/>
          </p:nvSpPr>
          <p:spPr bwMode="auto">
            <a:xfrm>
              <a:off x="3263" y="2919"/>
              <a:ext cx="1169" cy="310"/>
            </a:xfrm>
            <a:prstGeom prst="rect">
              <a:avLst/>
            </a:prstGeom>
            <a:noFill/>
            <a:ln w="25400">
              <a:solidFill>
                <a:schemeClr val="bg1">
                  <a:lumMod val="50000"/>
                </a:schemeClr>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600" b="0" i="0" u="none" strike="noStrike" kern="1200" cap="none" spc="0" normalizeH="0" baseline="0" noProof="0">
                  <a:ln>
                    <a:noFill/>
                  </a:ln>
                  <a:solidFill>
                    <a:srgbClr val="080808"/>
                  </a:solidFill>
                  <a:effectLst/>
                  <a:uLnTx/>
                  <a:uFillTx/>
                  <a:latin typeface="Times New Roman" panose="02020603050405020304" pitchFamily="18" charset="0"/>
                  <a:ea typeface="楷体_GB2312" pitchFamily="49" charset="-122"/>
                  <a:cs typeface="+mn-cs"/>
                </a:rPr>
                <a:t>错误在前半段</a:t>
              </a:r>
              <a:endParaRPr kumimoji="0" lang="zh-CN" altLang="en-US" sz="1600" b="0" i="0" u="none" strike="noStrike" kern="1200" cap="none" spc="0" normalizeH="0" baseline="0" noProof="0">
                <a:ln>
                  <a:noFill/>
                </a:ln>
                <a:solidFill>
                  <a:srgbClr val="080808"/>
                </a:solidFill>
                <a:effectLst/>
                <a:uLnTx/>
                <a:uFillTx/>
                <a:latin typeface="Times New Roman" panose="02020603050405020304" pitchFamily="18" charset="0"/>
                <a:ea typeface="楷体_GB2312" pitchFamily="49" charset="-122"/>
                <a:cs typeface="+mn-cs"/>
              </a:endParaRPr>
            </a:p>
          </p:txBody>
        </p:sp>
        <p:sp>
          <p:nvSpPr>
            <p:cNvPr id="67590" name="Text Box 9"/>
            <p:cNvSpPr txBox="1">
              <a:spLocks noChangeArrowheads="1"/>
            </p:cNvSpPr>
            <p:nvPr/>
          </p:nvSpPr>
          <p:spPr bwMode="auto">
            <a:xfrm>
              <a:off x="1104" y="3791"/>
              <a:ext cx="1169" cy="310"/>
            </a:xfrm>
            <a:prstGeom prst="rect">
              <a:avLst/>
            </a:prstGeom>
            <a:noFill/>
            <a:ln w="25400">
              <a:solidFill>
                <a:schemeClr val="bg1">
                  <a:lumMod val="50000"/>
                </a:schemeClr>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600" b="0" i="0" u="none" strike="noStrike" kern="1200" cap="none" spc="0" normalizeH="0" baseline="0" noProof="0">
                  <a:ln>
                    <a:noFill/>
                  </a:ln>
                  <a:solidFill>
                    <a:srgbClr val="080808"/>
                  </a:solidFill>
                  <a:effectLst/>
                  <a:uLnTx/>
                  <a:uFillTx/>
                  <a:latin typeface="Times New Roman" panose="02020603050405020304" pitchFamily="18" charset="0"/>
                  <a:ea typeface="楷体_GB2312" pitchFamily="49" charset="-122"/>
                  <a:cs typeface="+mn-cs"/>
                </a:rPr>
                <a:t>错误在后半段</a:t>
              </a:r>
              <a:endParaRPr kumimoji="0" lang="zh-CN" altLang="en-US" sz="1600" b="0" i="0" u="none" strike="noStrike" kern="1200" cap="none" spc="0" normalizeH="0" baseline="0" noProof="0">
                <a:ln>
                  <a:noFill/>
                </a:ln>
                <a:solidFill>
                  <a:srgbClr val="080808"/>
                </a:solidFill>
                <a:effectLst/>
                <a:uLnTx/>
                <a:uFillTx/>
                <a:latin typeface="Times New Roman" panose="02020603050405020304" pitchFamily="18" charset="0"/>
                <a:ea typeface="楷体_GB2312" pitchFamily="49" charset="-122"/>
                <a:cs typeface="+mn-cs"/>
              </a:endParaRPr>
            </a:p>
          </p:txBody>
        </p:sp>
        <p:sp>
          <p:nvSpPr>
            <p:cNvPr id="67591" name="Line 10"/>
            <p:cNvSpPr>
              <a:spLocks noChangeShapeType="1"/>
            </p:cNvSpPr>
            <p:nvPr/>
          </p:nvSpPr>
          <p:spPr bwMode="auto">
            <a:xfrm>
              <a:off x="1679" y="2592"/>
              <a:ext cx="0" cy="215"/>
            </a:xfrm>
            <a:prstGeom prst="line">
              <a:avLst/>
            </a:prstGeom>
            <a:noFill/>
            <a:ln w="25400">
              <a:solidFill>
                <a:schemeClr val="bg1">
                  <a:lumMod val="50000"/>
                </a:schemeClr>
              </a:solidFill>
              <a:round/>
              <a:tailEnd type="stealth" w="med" len="lg"/>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7592" name="Line 11"/>
            <p:cNvSpPr>
              <a:spLocks noChangeShapeType="1"/>
            </p:cNvSpPr>
            <p:nvPr/>
          </p:nvSpPr>
          <p:spPr bwMode="auto">
            <a:xfrm>
              <a:off x="2256" y="3072"/>
              <a:ext cx="1008" cy="0"/>
            </a:xfrm>
            <a:prstGeom prst="line">
              <a:avLst/>
            </a:prstGeom>
            <a:noFill/>
            <a:ln w="25400">
              <a:solidFill>
                <a:schemeClr val="bg1">
                  <a:lumMod val="50000"/>
                </a:schemeClr>
              </a:solidFill>
              <a:round/>
              <a:tailEnd type="stealth" w="med" len="lg"/>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7593" name="Line 12"/>
            <p:cNvSpPr>
              <a:spLocks noChangeShapeType="1"/>
            </p:cNvSpPr>
            <p:nvPr/>
          </p:nvSpPr>
          <p:spPr bwMode="auto">
            <a:xfrm>
              <a:off x="1679" y="3360"/>
              <a:ext cx="0" cy="406"/>
            </a:xfrm>
            <a:prstGeom prst="line">
              <a:avLst/>
            </a:prstGeom>
            <a:noFill/>
            <a:ln w="25400">
              <a:solidFill>
                <a:schemeClr val="bg1">
                  <a:lumMod val="50000"/>
                </a:schemeClr>
              </a:solidFill>
              <a:round/>
              <a:tailEnd type="stealth" w="med" len="lg"/>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0667" name="Text Box 13"/>
            <p:cNvSpPr txBox="1"/>
            <p:nvPr/>
          </p:nvSpPr>
          <p:spPr>
            <a:xfrm>
              <a:off x="1680" y="3360"/>
              <a:ext cx="240" cy="31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50000"/>
                </a:spcBef>
                <a:buClrTx/>
                <a:buFontTx/>
                <a:buNone/>
              </a:pPr>
              <a:r>
                <a:rPr lang="en-US" altLang="zh-CN" sz="1600" dirty="0">
                  <a:solidFill>
                    <a:srgbClr val="080808"/>
                  </a:solidFill>
                  <a:ea typeface="楷体_GB2312" pitchFamily="49" charset="-122"/>
                </a:rPr>
                <a:t>N</a:t>
              </a:r>
              <a:endParaRPr lang="en-US" altLang="zh-CN" sz="1600" dirty="0">
                <a:solidFill>
                  <a:srgbClr val="080808"/>
                </a:solidFill>
                <a:ea typeface="楷体_GB2312" pitchFamily="49" charset="-122"/>
              </a:endParaRPr>
            </a:p>
          </p:txBody>
        </p:sp>
        <p:sp>
          <p:nvSpPr>
            <p:cNvPr id="70668" name="Text Box 14"/>
            <p:cNvSpPr txBox="1"/>
            <p:nvPr/>
          </p:nvSpPr>
          <p:spPr>
            <a:xfrm>
              <a:off x="2256" y="2785"/>
              <a:ext cx="241" cy="31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50000"/>
                </a:spcBef>
                <a:buClrTx/>
                <a:buFontTx/>
                <a:buNone/>
              </a:pPr>
              <a:r>
                <a:rPr lang="en-US" altLang="zh-CN" sz="1600" dirty="0">
                  <a:solidFill>
                    <a:srgbClr val="080808"/>
                  </a:solidFill>
                  <a:ea typeface="楷体_GB2312" pitchFamily="49" charset="-122"/>
                </a:rPr>
                <a:t>Y</a:t>
              </a:r>
              <a:endParaRPr lang="en-US" altLang="zh-CN" sz="1600" dirty="0">
                <a:solidFill>
                  <a:srgbClr val="080808"/>
                </a:solidFill>
                <a:ea typeface="楷体_GB2312" pitchFamily="49" charset="-122"/>
              </a:endParaRPr>
            </a:p>
          </p:txBody>
        </p:sp>
      </p:grpSp>
      <p:sp>
        <p:nvSpPr>
          <p:cNvPr id="70660"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内容占位符 2"/>
          <p:cNvSpPr>
            <a:spLocks noGrp="1"/>
          </p:cNvSpPr>
          <p:nvPr>
            <p:ph idx="1"/>
          </p:nvPr>
        </p:nvSpPr>
        <p:spPr>
          <a:xfrm>
            <a:off x="357188" y="1214438"/>
            <a:ext cx="8286750" cy="5214937"/>
          </a:xfrm>
          <a:ln/>
        </p:spPr>
        <p:txBody>
          <a:bodyPr vert="horz" wrap="square" lIns="91440" tIns="45720" rIns="91440" bIns="45720" anchor="t" anchorCtr="0"/>
          <a:p>
            <a:pPr indent="363855"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④ 归纳法：从错误症状中找出规律，推断根源。</a:t>
            </a:r>
            <a:endParaRPr lang="zh-CN" altLang="en-US" sz="2200" b="1" dirty="0">
              <a:latin typeface="宋体" panose="02010600030101010101" pitchFamily="2" charset="-122"/>
              <a:ea typeface="宋体" panose="02010600030101010101" pitchFamily="2" charset="-122"/>
              <a:cs typeface="+mn-cs"/>
            </a:endParaRPr>
          </a:p>
        </p:txBody>
      </p:sp>
      <p:pic>
        <p:nvPicPr>
          <p:cNvPr id="71683" name="Picture 21" descr="C:\Users\lenovo\Pictures\图片6.png"/>
          <p:cNvPicPr>
            <a:picLocks noChangeAspect="1"/>
          </p:cNvPicPr>
          <p:nvPr/>
        </p:nvPicPr>
        <p:blipFill>
          <a:blip r:embed="rId1"/>
          <a:stretch>
            <a:fillRect/>
          </a:stretch>
        </p:blipFill>
        <p:spPr>
          <a:xfrm>
            <a:off x="714375" y="1785938"/>
            <a:ext cx="7942263" cy="4138612"/>
          </a:xfrm>
          <a:prstGeom prst="rect">
            <a:avLst/>
          </a:prstGeom>
          <a:noFill/>
          <a:ln w="9525">
            <a:noFill/>
          </a:ln>
        </p:spPr>
      </p:pic>
      <p:sp>
        <p:nvSpPr>
          <p:cNvPr id="71684"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内容占位符 2"/>
          <p:cNvSpPr>
            <a:spLocks noGrp="1"/>
          </p:cNvSpPr>
          <p:nvPr>
            <p:ph idx="1"/>
          </p:nvPr>
        </p:nvSpPr>
        <p:spPr>
          <a:xfrm>
            <a:off x="357188" y="1214438"/>
            <a:ext cx="8286750" cy="5214937"/>
          </a:xfrm>
          <a:ln/>
        </p:spPr>
        <p:txBody>
          <a:bodyPr vert="horz" wrap="square" lIns="91440" tIns="45720" rIns="91440" bIns="45720" anchor="t" anchorCtr="0"/>
          <a:p>
            <a:pPr indent="363855"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⑤ 演绎法：普通    特殊   </a:t>
            </a:r>
            <a:endParaRPr lang="zh-CN" altLang="en-US"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   从假设中逐步排除、精化，从而导出错误根源。</a:t>
            </a:r>
            <a:endParaRPr lang="zh-CN" altLang="en-US" sz="2200" b="1" dirty="0">
              <a:latin typeface="宋体" panose="02010600030101010101" pitchFamily="2" charset="-122"/>
              <a:ea typeface="宋体" panose="02010600030101010101" pitchFamily="2" charset="-122"/>
              <a:cs typeface="+mn-cs"/>
            </a:endParaRPr>
          </a:p>
        </p:txBody>
      </p:sp>
      <p:sp>
        <p:nvSpPr>
          <p:cNvPr id="72707" name="矩形 13"/>
          <p:cNvSpPr/>
          <p:nvPr/>
        </p:nvSpPr>
        <p:spPr>
          <a:xfrm>
            <a:off x="3041650" y="1285875"/>
            <a:ext cx="469900" cy="3698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zh-CN" sz="1800" dirty="0">
                <a:solidFill>
                  <a:srgbClr val="080808"/>
                </a:solidFill>
                <a:ea typeface="楷体_GB2312" pitchFamily="49" charset="-122"/>
                <a:sym typeface="Symbol" panose="05050102010706020507" pitchFamily="18" charset="2"/>
              </a:rPr>
              <a:t> </a:t>
            </a:r>
            <a:endParaRPr lang="zh-CN" altLang="en-US" sz="1800" dirty="0">
              <a:solidFill>
                <a:srgbClr val="080808"/>
              </a:solidFill>
              <a:ea typeface="宋体" panose="02010600030101010101" pitchFamily="2" charset="-122"/>
            </a:endParaRPr>
          </a:p>
        </p:txBody>
      </p:sp>
      <p:sp>
        <p:nvSpPr>
          <p:cNvPr id="15" name="Oval 2"/>
          <p:cNvSpPr>
            <a:spLocks noChangeArrowheads="1"/>
          </p:cNvSpPr>
          <p:nvPr/>
        </p:nvSpPr>
        <p:spPr bwMode="auto">
          <a:xfrm>
            <a:off x="533400" y="2590800"/>
            <a:ext cx="1447800" cy="1295400"/>
          </a:xfrm>
          <a:prstGeom prst="ellipse">
            <a:avLst/>
          </a:prstGeom>
          <a:noFill/>
          <a:ln w="19050">
            <a:solidFill>
              <a:schemeClr val="tx1">
                <a:lumMod val="25000"/>
              </a:schemeClr>
            </a:solidFill>
            <a:rou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a:ln>
                  <a:noFill/>
                </a:ln>
                <a:solidFill>
                  <a:srgbClr val="080808"/>
                </a:solidFill>
                <a:effectLst/>
                <a:uLnTx/>
                <a:uFillTx/>
                <a:latin typeface="Times New Roman" panose="02020603050405020304" pitchFamily="18" charset="0"/>
                <a:ea typeface="楷体_GB2312" pitchFamily="49" charset="-122"/>
                <a:cs typeface="+mn-cs"/>
              </a:rPr>
              <a:t>列举可能</a:t>
            </a:r>
            <a:endParaRPr kumimoji="0" lang="zh-CN" altLang="en-US" sz="1800" b="0" i="0" u="none" strike="noStrike" kern="1200" cap="none" spc="0" normalizeH="0" baseline="0" noProof="0">
              <a:ln>
                <a:noFill/>
              </a:ln>
              <a:solidFill>
                <a:srgbClr val="080808"/>
              </a:solidFill>
              <a:effectLst/>
              <a:uLnTx/>
              <a:uFillTx/>
              <a:latin typeface="Times New Roman" panose="02020603050405020304" pitchFamily="18" charset="0"/>
              <a:ea typeface="楷体_GB2312" pitchFamily="49"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a:ln>
                  <a:noFill/>
                </a:ln>
                <a:solidFill>
                  <a:srgbClr val="080808"/>
                </a:solidFill>
                <a:effectLst/>
                <a:uLnTx/>
                <a:uFillTx/>
                <a:latin typeface="Times New Roman" panose="02020603050405020304" pitchFamily="18" charset="0"/>
                <a:ea typeface="楷体_GB2312" pitchFamily="49" charset="-122"/>
                <a:cs typeface="+mn-cs"/>
              </a:rPr>
              <a:t>的原因</a:t>
            </a:r>
            <a:endParaRPr kumimoji="0" lang="zh-CN" altLang="en-US" sz="1800" b="0" i="0" u="none" strike="noStrike" kern="1200" cap="none" spc="0" normalizeH="0" baseline="0" noProof="0">
              <a:ln>
                <a:noFill/>
              </a:ln>
              <a:solidFill>
                <a:srgbClr val="080808"/>
              </a:solidFill>
              <a:effectLst/>
              <a:uLnTx/>
              <a:uFillTx/>
              <a:latin typeface="Times New Roman" panose="02020603050405020304" pitchFamily="18" charset="0"/>
              <a:ea typeface="宋体" panose="02010600030101010101" pitchFamily="2" charset="-122"/>
              <a:cs typeface="+mn-cs"/>
            </a:endParaRPr>
          </a:p>
        </p:txBody>
      </p:sp>
      <p:sp>
        <p:nvSpPr>
          <p:cNvPr id="16" name="Oval 3"/>
          <p:cNvSpPr>
            <a:spLocks noChangeArrowheads="1"/>
          </p:cNvSpPr>
          <p:nvPr/>
        </p:nvSpPr>
        <p:spPr bwMode="auto">
          <a:xfrm>
            <a:off x="2362200" y="2590800"/>
            <a:ext cx="1752600" cy="1295400"/>
          </a:xfrm>
          <a:prstGeom prst="ellipse">
            <a:avLst/>
          </a:prstGeom>
          <a:noFill/>
          <a:ln w="19050">
            <a:solidFill>
              <a:schemeClr val="tx1">
                <a:lumMod val="25000"/>
              </a:schemeClr>
            </a:solidFill>
            <a:rou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a:ln>
                  <a:noFill/>
                </a:ln>
                <a:solidFill>
                  <a:srgbClr val="080808"/>
                </a:solidFill>
                <a:effectLst/>
                <a:uLnTx/>
                <a:uFillTx/>
                <a:latin typeface="Times New Roman" panose="02020603050405020304" pitchFamily="18" charset="0"/>
                <a:ea typeface="楷体_GB2312" pitchFamily="49" charset="-122"/>
                <a:cs typeface="+mn-cs"/>
              </a:rPr>
              <a:t>排除不正确</a:t>
            </a:r>
            <a:endParaRPr kumimoji="0" lang="zh-CN" altLang="en-US" sz="1800" b="0" i="0" u="none" strike="noStrike" kern="1200" cap="none" spc="0" normalizeH="0" baseline="0" noProof="0">
              <a:ln>
                <a:noFill/>
              </a:ln>
              <a:solidFill>
                <a:srgbClr val="080808"/>
              </a:solidFill>
              <a:effectLst/>
              <a:uLnTx/>
              <a:uFillTx/>
              <a:latin typeface="Times New Roman" panose="02020603050405020304" pitchFamily="18" charset="0"/>
              <a:ea typeface="楷体_GB2312" pitchFamily="49"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a:ln>
                  <a:noFill/>
                </a:ln>
                <a:solidFill>
                  <a:srgbClr val="080808"/>
                </a:solidFill>
                <a:effectLst/>
                <a:uLnTx/>
                <a:uFillTx/>
                <a:latin typeface="Times New Roman" panose="02020603050405020304" pitchFamily="18" charset="0"/>
                <a:ea typeface="楷体_GB2312" pitchFamily="49" charset="-122"/>
                <a:cs typeface="+mn-cs"/>
              </a:rPr>
              <a:t>的假设</a:t>
            </a:r>
            <a:endParaRPr kumimoji="0" lang="zh-CN" altLang="en-US" sz="1800" b="0" i="0" u="none" strike="noStrike" kern="1200" cap="none" spc="0" normalizeH="0" baseline="0" noProof="0">
              <a:ln>
                <a:noFill/>
              </a:ln>
              <a:solidFill>
                <a:srgbClr val="080808"/>
              </a:solidFill>
              <a:effectLst/>
              <a:uLnTx/>
              <a:uFillTx/>
              <a:latin typeface="Times New Roman" panose="02020603050405020304" pitchFamily="18" charset="0"/>
              <a:ea typeface="宋体" panose="02010600030101010101" pitchFamily="2" charset="-122"/>
              <a:cs typeface="+mn-cs"/>
            </a:endParaRPr>
          </a:p>
        </p:txBody>
      </p:sp>
      <p:sp>
        <p:nvSpPr>
          <p:cNvPr id="17" name="Oval 4"/>
          <p:cNvSpPr>
            <a:spLocks noChangeArrowheads="1"/>
          </p:cNvSpPr>
          <p:nvPr/>
        </p:nvSpPr>
        <p:spPr bwMode="auto">
          <a:xfrm>
            <a:off x="5105400" y="2590800"/>
            <a:ext cx="1524000" cy="1219200"/>
          </a:xfrm>
          <a:prstGeom prst="ellipse">
            <a:avLst/>
          </a:prstGeom>
          <a:noFill/>
          <a:ln w="19050">
            <a:solidFill>
              <a:schemeClr val="tx1">
                <a:lumMod val="25000"/>
              </a:schemeClr>
            </a:solidFill>
            <a:rou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80808"/>
                </a:solidFill>
                <a:effectLst/>
                <a:uLnTx/>
                <a:uFillTx/>
                <a:latin typeface="Times New Roman" panose="02020603050405020304" pitchFamily="18" charset="0"/>
                <a:ea typeface="楷体_GB2312" pitchFamily="49" charset="-122"/>
                <a:cs typeface="+mn-cs"/>
              </a:rPr>
              <a:t>精化余下</a:t>
            </a:r>
            <a:endParaRPr kumimoji="0" lang="zh-CN" altLang="en-US" sz="1800" b="0" i="0" u="none" strike="noStrike" kern="1200" cap="none" spc="0" normalizeH="0" baseline="0" noProof="0" dirty="0">
              <a:ln>
                <a:noFill/>
              </a:ln>
              <a:solidFill>
                <a:srgbClr val="080808"/>
              </a:solidFill>
              <a:effectLst/>
              <a:uLnTx/>
              <a:uFillTx/>
              <a:latin typeface="Times New Roman" panose="02020603050405020304" pitchFamily="18" charset="0"/>
              <a:ea typeface="楷体_GB2312" pitchFamily="49"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80808"/>
                </a:solidFill>
                <a:effectLst/>
                <a:uLnTx/>
                <a:uFillTx/>
                <a:latin typeface="Times New Roman" panose="02020603050405020304" pitchFamily="18" charset="0"/>
                <a:ea typeface="楷体_GB2312" pitchFamily="49" charset="-122"/>
                <a:cs typeface="+mn-cs"/>
              </a:rPr>
              <a:t>的假设</a:t>
            </a:r>
            <a:endParaRPr kumimoji="0" lang="zh-CN" altLang="en-US" sz="1800" b="0" i="0" u="none" strike="noStrike" kern="1200" cap="none" spc="0" normalizeH="0" baseline="0" noProof="0" dirty="0">
              <a:ln>
                <a:noFill/>
              </a:ln>
              <a:solidFill>
                <a:srgbClr val="080808"/>
              </a:solidFill>
              <a:effectLst/>
              <a:uLnTx/>
              <a:uFillTx/>
              <a:latin typeface="Times New Roman" panose="02020603050405020304" pitchFamily="18" charset="0"/>
              <a:ea typeface="宋体" panose="02010600030101010101" pitchFamily="2" charset="-122"/>
              <a:cs typeface="+mn-cs"/>
            </a:endParaRPr>
          </a:p>
        </p:txBody>
      </p:sp>
      <p:sp>
        <p:nvSpPr>
          <p:cNvPr id="18" name="Oval 5"/>
          <p:cNvSpPr>
            <a:spLocks noChangeArrowheads="1"/>
          </p:cNvSpPr>
          <p:nvPr/>
        </p:nvSpPr>
        <p:spPr bwMode="auto">
          <a:xfrm>
            <a:off x="7391400" y="2667000"/>
            <a:ext cx="1066800" cy="1066800"/>
          </a:xfrm>
          <a:prstGeom prst="ellipse">
            <a:avLst/>
          </a:prstGeom>
          <a:noFill/>
          <a:ln w="19050">
            <a:solidFill>
              <a:schemeClr val="tx1">
                <a:lumMod val="25000"/>
              </a:schemeClr>
            </a:solidFill>
            <a:rou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a:ln>
                  <a:noFill/>
                </a:ln>
                <a:solidFill>
                  <a:srgbClr val="080808"/>
                </a:solidFill>
                <a:effectLst/>
                <a:uLnTx/>
                <a:uFillTx/>
                <a:latin typeface="Times New Roman" panose="02020603050405020304" pitchFamily="18" charset="0"/>
                <a:ea typeface="楷体_GB2312" pitchFamily="49" charset="-122"/>
                <a:cs typeface="+mn-cs"/>
              </a:rPr>
              <a:t>证明</a:t>
            </a:r>
            <a:endParaRPr kumimoji="0" lang="zh-CN" altLang="en-US" sz="1800" b="0" i="0" u="none" strike="noStrike" kern="1200" cap="none" spc="0" normalizeH="0" baseline="0" noProof="0">
              <a:ln>
                <a:noFill/>
              </a:ln>
              <a:solidFill>
                <a:srgbClr val="080808"/>
              </a:solidFill>
              <a:effectLst/>
              <a:uLnTx/>
              <a:uFillTx/>
              <a:latin typeface="Times New Roman" panose="02020603050405020304" pitchFamily="18" charset="0"/>
              <a:ea typeface="楷体_GB2312" pitchFamily="49"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a:ln>
                  <a:noFill/>
                </a:ln>
                <a:solidFill>
                  <a:srgbClr val="080808"/>
                </a:solidFill>
                <a:effectLst/>
                <a:uLnTx/>
                <a:uFillTx/>
                <a:latin typeface="Times New Roman" panose="02020603050405020304" pitchFamily="18" charset="0"/>
                <a:ea typeface="楷体_GB2312" pitchFamily="49" charset="-122"/>
                <a:cs typeface="+mn-cs"/>
              </a:rPr>
              <a:t>假设</a:t>
            </a:r>
            <a:endParaRPr kumimoji="0" lang="zh-CN" altLang="en-US" sz="1800" b="0" i="0" u="none" strike="noStrike" kern="1200" cap="none" spc="0" normalizeH="0" baseline="0" noProof="0">
              <a:ln>
                <a:noFill/>
              </a:ln>
              <a:solidFill>
                <a:srgbClr val="080808"/>
              </a:solidFill>
              <a:effectLst/>
              <a:uLnTx/>
              <a:uFillTx/>
              <a:latin typeface="Times New Roman" panose="02020603050405020304" pitchFamily="18" charset="0"/>
              <a:ea typeface="宋体" panose="02010600030101010101" pitchFamily="2" charset="-122"/>
              <a:cs typeface="+mn-cs"/>
            </a:endParaRPr>
          </a:p>
        </p:txBody>
      </p:sp>
      <p:sp>
        <p:nvSpPr>
          <p:cNvPr id="19" name="Oval 6"/>
          <p:cNvSpPr>
            <a:spLocks noChangeArrowheads="1"/>
          </p:cNvSpPr>
          <p:nvPr/>
        </p:nvSpPr>
        <p:spPr bwMode="auto">
          <a:xfrm>
            <a:off x="2209800" y="4572000"/>
            <a:ext cx="2209800" cy="838200"/>
          </a:xfrm>
          <a:prstGeom prst="ellipse">
            <a:avLst/>
          </a:prstGeom>
          <a:noFill/>
          <a:ln w="19050">
            <a:solidFill>
              <a:schemeClr val="tx1">
                <a:lumMod val="25000"/>
              </a:schemeClr>
            </a:solidFill>
            <a:rou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dirty="0">
                <a:ln>
                  <a:noFill/>
                </a:ln>
                <a:solidFill>
                  <a:srgbClr val="080808"/>
                </a:solidFill>
                <a:effectLst/>
                <a:uLnTx/>
                <a:uFillTx/>
                <a:latin typeface="Times New Roman" panose="02020603050405020304" pitchFamily="18" charset="0"/>
                <a:ea typeface="楷体_GB2312" pitchFamily="49" charset="-122"/>
                <a:cs typeface="+mn-cs"/>
              </a:rPr>
              <a:t>收集更多数据</a:t>
            </a:r>
            <a:endParaRPr kumimoji="0" lang="zh-CN" altLang="en-US" sz="1800" b="0" i="0" u="none" strike="noStrike" kern="1200" cap="none" spc="0" normalizeH="0" baseline="0" noProof="0" dirty="0">
              <a:ln>
                <a:noFill/>
              </a:ln>
              <a:solidFill>
                <a:srgbClr val="080808"/>
              </a:solidFill>
              <a:effectLst/>
              <a:uLnTx/>
              <a:uFillTx/>
              <a:latin typeface="Times New Roman" panose="02020603050405020304" pitchFamily="18" charset="0"/>
              <a:ea typeface="宋体" panose="02010600030101010101" pitchFamily="2" charset="-122"/>
              <a:cs typeface="+mn-cs"/>
            </a:endParaRPr>
          </a:p>
        </p:txBody>
      </p:sp>
      <p:sp>
        <p:nvSpPr>
          <p:cNvPr id="20" name="Oval 7"/>
          <p:cNvSpPr>
            <a:spLocks noChangeArrowheads="1"/>
          </p:cNvSpPr>
          <p:nvPr/>
        </p:nvSpPr>
        <p:spPr bwMode="auto">
          <a:xfrm>
            <a:off x="7391400" y="4572000"/>
            <a:ext cx="1066800" cy="1066800"/>
          </a:xfrm>
          <a:prstGeom prst="ellipse">
            <a:avLst/>
          </a:prstGeom>
          <a:noFill/>
          <a:ln w="19050">
            <a:solidFill>
              <a:schemeClr val="tx1">
                <a:lumMod val="25000"/>
              </a:schemeClr>
            </a:solidFill>
            <a:rou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a:ln>
                  <a:noFill/>
                </a:ln>
                <a:solidFill>
                  <a:srgbClr val="080808"/>
                </a:solidFill>
                <a:effectLst/>
                <a:uLnTx/>
                <a:uFillTx/>
                <a:latin typeface="Times New Roman" panose="02020603050405020304" pitchFamily="18" charset="0"/>
                <a:ea typeface="楷体_GB2312" pitchFamily="49" charset="-122"/>
                <a:cs typeface="+mn-cs"/>
              </a:rPr>
              <a:t>纠正</a:t>
            </a:r>
            <a:endParaRPr kumimoji="0" lang="zh-CN" altLang="en-US" sz="1800" b="0" i="0" u="none" strike="noStrike" kern="1200" cap="none" spc="0" normalizeH="0" baseline="0" noProof="0">
              <a:ln>
                <a:noFill/>
              </a:ln>
              <a:solidFill>
                <a:srgbClr val="080808"/>
              </a:solidFill>
              <a:effectLst/>
              <a:uLnTx/>
              <a:uFillTx/>
              <a:latin typeface="Times New Roman" panose="02020603050405020304" pitchFamily="18" charset="0"/>
              <a:ea typeface="楷体_GB2312" pitchFamily="49"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a:ln>
                  <a:noFill/>
                </a:ln>
                <a:solidFill>
                  <a:srgbClr val="080808"/>
                </a:solidFill>
                <a:effectLst/>
                <a:uLnTx/>
                <a:uFillTx/>
                <a:latin typeface="Times New Roman" panose="02020603050405020304" pitchFamily="18" charset="0"/>
                <a:ea typeface="楷体_GB2312" pitchFamily="49" charset="-122"/>
                <a:cs typeface="+mn-cs"/>
              </a:rPr>
              <a:t>错误</a:t>
            </a:r>
            <a:endParaRPr kumimoji="0" lang="zh-CN" altLang="en-US" sz="1800" b="0" i="0" u="none" strike="noStrike" kern="1200" cap="none" spc="0" normalizeH="0" baseline="0" noProof="0">
              <a:ln>
                <a:noFill/>
              </a:ln>
              <a:solidFill>
                <a:srgbClr val="080808"/>
              </a:solidFill>
              <a:effectLst/>
              <a:uLnTx/>
              <a:uFillTx/>
              <a:latin typeface="Times New Roman" panose="02020603050405020304" pitchFamily="18" charset="0"/>
              <a:ea typeface="宋体" panose="02010600030101010101" pitchFamily="2" charset="-122"/>
              <a:cs typeface="+mn-cs"/>
            </a:endParaRPr>
          </a:p>
        </p:txBody>
      </p:sp>
      <p:sp>
        <p:nvSpPr>
          <p:cNvPr id="21" name="Line 8"/>
          <p:cNvSpPr>
            <a:spLocks noChangeShapeType="1"/>
          </p:cNvSpPr>
          <p:nvPr/>
        </p:nvSpPr>
        <p:spPr bwMode="auto">
          <a:xfrm>
            <a:off x="1981200" y="3200400"/>
            <a:ext cx="381000" cy="0"/>
          </a:xfrm>
          <a:prstGeom prst="line">
            <a:avLst/>
          </a:prstGeom>
          <a:noFill/>
          <a:ln w="38100">
            <a:solidFill>
              <a:schemeClr val="tx1">
                <a:lumMod val="25000"/>
              </a:schemeClr>
            </a:solidFill>
            <a:round/>
            <a:tailEnd type="arrow" w="sm" len="me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80808"/>
              </a:solidFill>
              <a:effectLst/>
              <a:uLnTx/>
              <a:uFillTx/>
              <a:latin typeface="Times New Roman" panose="02020603050405020304" pitchFamily="18" charset="0"/>
              <a:ea typeface="宋体" panose="02010600030101010101" pitchFamily="2" charset="-122"/>
              <a:cs typeface="+mn-cs"/>
            </a:endParaRPr>
          </a:p>
        </p:txBody>
      </p:sp>
      <p:sp>
        <p:nvSpPr>
          <p:cNvPr id="22" name="Line 9"/>
          <p:cNvSpPr>
            <a:spLocks noChangeShapeType="1"/>
          </p:cNvSpPr>
          <p:nvPr/>
        </p:nvSpPr>
        <p:spPr bwMode="auto">
          <a:xfrm>
            <a:off x="4114800" y="3200400"/>
            <a:ext cx="990600" cy="0"/>
          </a:xfrm>
          <a:prstGeom prst="line">
            <a:avLst/>
          </a:prstGeom>
          <a:noFill/>
          <a:ln w="38100">
            <a:solidFill>
              <a:schemeClr val="tx1">
                <a:lumMod val="25000"/>
              </a:schemeClr>
            </a:solidFill>
            <a:round/>
            <a:tailEnd type="arrow" w="sm" len="me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80808"/>
              </a:solidFill>
              <a:effectLst/>
              <a:uLnTx/>
              <a:uFillTx/>
              <a:latin typeface="Times New Roman" panose="02020603050405020304" pitchFamily="18" charset="0"/>
              <a:ea typeface="宋体" panose="02010600030101010101" pitchFamily="2" charset="-122"/>
              <a:cs typeface="+mn-cs"/>
            </a:endParaRPr>
          </a:p>
        </p:txBody>
      </p:sp>
      <p:sp>
        <p:nvSpPr>
          <p:cNvPr id="72716" name="Text Box 10"/>
          <p:cNvSpPr txBox="1"/>
          <p:nvPr/>
        </p:nvSpPr>
        <p:spPr>
          <a:xfrm>
            <a:off x="4114800" y="2819400"/>
            <a:ext cx="990600" cy="33813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50000"/>
              </a:spcBef>
              <a:buClrTx/>
              <a:buFontTx/>
              <a:buNone/>
            </a:pPr>
            <a:r>
              <a:rPr lang="zh-CN" altLang="en-US" sz="1600" dirty="0">
                <a:solidFill>
                  <a:srgbClr val="080808"/>
                </a:solidFill>
                <a:ea typeface="楷体_GB2312" pitchFamily="49" charset="-122"/>
              </a:rPr>
              <a:t>有剩余</a:t>
            </a:r>
            <a:endParaRPr lang="zh-CN" altLang="en-US" sz="1600" dirty="0">
              <a:solidFill>
                <a:srgbClr val="080808"/>
              </a:solidFill>
              <a:ea typeface="楷体_GB2312" pitchFamily="49" charset="-122"/>
            </a:endParaRPr>
          </a:p>
        </p:txBody>
      </p:sp>
      <p:sp>
        <p:nvSpPr>
          <p:cNvPr id="24" name="Line 11"/>
          <p:cNvSpPr>
            <a:spLocks noChangeShapeType="1"/>
          </p:cNvSpPr>
          <p:nvPr/>
        </p:nvSpPr>
        <p:spPr bwMode="auto">
          <a:xfrm>
            <a:off x="6629400" y="3200400"/>
            <a:ext cx="762000" cy="0"/>
          </a:xfrm>
          <a:prstGeom prst="line">
            <a:avLst/>
          </a:prstGeom>
          <a:noFill/>
          <a:ln w="38100">
            <a:solidFill>
              <a:schemeClr val="tx1">
                <a:lumMod val="25000"/>
              </a:schemeClr>
            </a:solidFill>
            <a:round/>
            <a:tailEnd type="arrow" w="sm" len="lg"/>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80808"/>
              </a:solidFill>
              <a:effectLst/>
              <a:uLnTx/>
              <a:uFillTx/>
              <a:latin typeface="Times New Roman" panose="02020603050405020304" pitchFamily="18" charset="0"/>
              <a:ea typeface="宋体" panose="02010600030101010101" pitchFamily="2" charset="-122"/>
              <a:cs typeface="+mn-cs"/>
            </a:endParaRPr>
          </a:p>
        </p:txBody>
      </p:sp>
      <p:sp>
        <p:nvSpPr>
          <p:cNvPr id="25" name="Line 12"/>
          <p:cNvSpPr>
            <a:spLocks noChangeShapeType="1"/>
          </p:cNvSpPr>
          <p:nvPr/>
        </p:nvSpPr>
        <p:spPr bwMode="auto">
          <a:xfrm>
            <a:off x="7924800" y="3733800"/>
            <a:ext cx="0" cy="838200"/>
          </a:xfrm>
          <a:prstGeom prst="line">
            <a:avLst/>
          </a:prstGeom>
          <a:noFill/>
          <a:ln w="38100">
            <a:solidFill>
              <a:schemeClr val="tx1">
                <a:lumMod val="25000"/>
              </a:schemeClr>
            </a:solidFill>
            <a:round/>
            <a:tailEnd type="arrow" w="sm" len="lg"/>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80808"/>
              </a:solidFill>
              <a:effectLst/>
              <a:uLnTx/>
              <a:uFillTx/>
              <a:latin typeface="Times New Roman" panose="02020603050405020304" pitchFamily="18" charset="0"/>
              <a:ea typeface="宋体" panose="02010600030101010101" pitchFamily="2" charset="-122"/>
              <a:cs typeface="+mn-cs"/>
            </a:endParaRPr>
          </a:p>
        </p:txBody>
      </p:sp>
      <p:sp>
        <p:nvSpPr>
          <p:cNvPr id="72719" name="Text Box 13"/>
          <p:cNvSpPr txBox="1"/>
          <p:nvPr/>
        </p:nvSpPr>
        <p:spPr>
          <a:xfrm>
            <a:off x="7924800" y="3886200"/>
            <a:ext cx="533400" cy="33813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50000"/>
              </a:spcBef>
              <a:buClrTx/>
              <a:buFontTx/>
              <a:buNone/>
            </a:pPr>
            <a:r>
              <a:rPr lang="zh-CN" altLang="en-US" sz="1600" dirty="0">
                <a:solidFill>
                  <a:srgbClr val="080808"/>
                </a:solidFill>
                <a:ea typeface="楷体_GB2312" pitchFamily="49" charset="-122"/>
              </a:rPr>
              <a:t>能</a:t>
            </a:r>
            <a:endParaRPr lang="zh-CN" altLang="en-US" sz="1600" dirty="0">
              <a:solidFill>
                <a:srgbClr val="080808"/>
              </a:solidFill>
              <a:ea typeface="宋体" panose="02010600030101010101" pitchFamily="2" charset="-122"/>
            </a:endParaRPr>
          </a:p>
        </p:txBody>
      </p:sp>
      <p:sp>
        <p:nvSpPr>
          <p:cNvPr id="27" name="Freeform 14"/>
          <p:cNvSpPr/>
          <p:nvPr/>
        </p:nvSpPr>
        <p:spPr bwMode="auto">
          <a:xfrm>
            <a:off x="4419600" y="3657600"/>
            <a:ext cx="3195638" cy="1435100"/>
          </a:xfrm>
          <a:custGeom>
            <a:avLst/>
            <a:gdLst>
              <a:gd name="T0" fmla="*/ 2147483647 w 1968"/>
              <a:gd name="T1" fmla="*/ 0 h 904"/>
              <a:gd name="T2" fmla="*/ 2147483647 w 1968"/>
              <a:gd name="T3" fmla="*/ 2147483647 h 904"/>
              <a:gd name="T4" fmla="*/ 2147483647 w 1968"/>
              <a:gd name="T5" fmla="*/ 2147483647 h 904"/>
              <a:gd name="T6" fmla="*/ 0 w 1968"/>
              <a:gd name="T7" fmla="*/ 2147483647 h 904"/>
              <a:gd name="T8" fmla="*/ 0 60000 65536"/>
              <a:gd name="T9" fmla="*/ 0 60000 65536"/>
              <a:gd name="T10" fmla="*/ 0 60000 65536"/>
              <a:gd name="T11" fmla="*/ 0 60000 65536"/>
              <a:gd name="T12" fmla="*/ 0 w 1968"/>
              <a:gd name="T13" fmla="*/ 0 h 904"/>
              <a:gd name="T14" fmla="*/ 1968 w 1968"/>
              <a:gd name="T15" fmla="*/ 904 h 904"/>
            </a:gdLst>
            <a:ahLst/>
            <a:cxnLst>
              <a:cxn ang="T8">
                <a:pos x="T0" y="T1"/>
              </a:cxn>
              <a:cxn ang="T9">
                <a:pos x="T2" y="T3"/>
              </a:cxn>
              <a:cxn ang="T10">
                <a:pos x="T4" y="T5"/>
              </a:cxn>
              <a:cxn ang="T11">
                <a:pos x="T6" y="T7"/>
              </a:cxn>
            </a:cxnLst>
            <a:rect l="T12" t="T13" r="T14" b="T15"/>
            <a:pathLst>
              <a:path w="1968" h="904">
                <a:moveTo>
                  <a:pt x="1968" y="0"/>
                </a:moveTo>
                <a:cubicBezTo>
                  <a:pt x="1880" y="240"/>
                  <a:pt x="1792" y="480"/>
                  <a:pt x="1536" y="624"/>
                </a:cubicBezTo>
                <a:cubicBezTo>
                  <a:pt x="1280" y="768"/>
                  <a:pt x="688" y="824"/>
                  <a:pt x="432" y="864"/>
                </a:cubicBezTo>
                <a:cubicBezTo>
                  <a:pt x="176" y="904"/>
                  <a:pt x="88" y="884"/>
                  <a:pt x="0" y="864"/>
                </a:cubicBezTo>
              </a:path>
            </a:pathLst>
          </a:custGeom>
          <a:noFill/>
          <a:ln w="38100">
            <a:solidFill>
              <a:schemeClr val="tx1">
                <a:lumMod val="25000"/>
              </a:schemeClr>
            </a:solidFill>
            <a:round/>
            <a:tailEnd type="arrow" w="sm" len="lg"/>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80808"/>
              </a:solidFill>
              <a:effectLst/>
              <a:uLnTx/>
              <a:uFillTx/>
              <a:latin typeface="Times New Roman" panose="02020603050405020304" pitchFamily="18" charset="0"/>
              <a:ea typeface="宋体" panose="02010600030101010101" pitchFamily="2" charset="-122"/>
              <a:cs typeface="+mn-cs"/>
            </a:endParaRPr>
          </a:p>
        </p:txBody>
      </p:sp>
      <p:sp>
        <p:nvSpPr>
          <p:cNvPr id="72721" name="Text Box 15"/>
          <p:cNvSpPr txBox="1"/>
          <p:nvPr/>
        </p:nvSpPr>
        <p:spPr>
          <a:xfrm>
            <a:off x="5257800" y="4495800"/>
            <a:ext cx="990600" cy="33813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50000"/>
              </a:spcBef>
              <a:buClrTx/>
              <a:buFontTx/>
              <a:buNone/>
            </a:pPr>
            <a:r>
              <a:rPr lang="zh-CN" altLang="en-US" sz="1600" dirty="0">
                <a:solidFill>
                  <a:srgbClr val="080808"/>
                </a:solidFill>
                <a:ea typeface="楷体_GB2312" pitchFamily="49" charset="-122"/>
              </a:rPr>
              <a:t>不能</a:t>
            </a:r>
            <a:endParaRPr lang="zh-CN" altLang="en-US" sz="1600" dirty="0">
              <a:solidFill>
                <a:srgbClr val="080808"/>
              </a:solidFill>
              <a:ea typeface="宋体" panose="02010600030101010101" pitchFamily="2" charset="-122"/>
            </a:endParaRPr>
          </a:p>
        </p:txBody>
      </p:sp>
      <p:sp>
        <p:nvSpPr>
          <p:cNvPr id="29" name="Line 16"/>
          <p:cNvSpPr>
            <a:spLocks noChangeShapeType="1"/>
          </p:cNvSpPr>
          <p:nvPr/>
        </p:nvSpPr>
        <p:spPr bwMode="auto">
          <a:xfrm>
            <a:off x="3276600" y="3886200"/>
            <a:ext cx="0" cy="685800"/>
          </a:xfrm>
          <a:prstGeom prst="line">
            <a:avLst/>
          </a:prstGeom>
          <a:noFill/>
          <a:ln w="38100">
            <a:solidFill>
              <a:schemeClr val="tx1">
                <a:lumMod val="25000"/>
              </a:schemeClr>
            </a:solidFill>
            <a:round/>
            <a:tailEnd type="arrow" w="sm" len="lg"/>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80808"/>
              </a:solidFill>
              <a:effectLst/>
              <a:uLnTx/>
              <a:uFillTx/>
              <a:latin typeface="Times New Roman" panose="02020603050405020304" pitchFamily="18" charset="0"/>
              <a:ea typeface="宋体" panose="02010600030101010101" pitchFamily="2" charset="-122"/>
              <a:cs typeface="+mn-cs"/>
            </a:endParaRPr>
          </a:p>
        </p:txBody>
      </p:sp>
      <p:sp>
        <p:nvSpPr>
          <p:cNvPr id="72723" name="Text Box 17"/>
          <p:cNvSpPr txBox="1"/>
          <p:nvPr/>
        </p:nvSpPr>
        <p:spPr>
          <a:xfrm>
            <a:off x="3352800" y="4038600"/>
            <a:ext cx="990600" cy="33813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50000"/>
              </a:spcBef>
              <a:buClrTx/>
              <a:buFontTx/>
              <a:buNone/>
            </a:pPr>
            <a:r>
              <a:rPr lang="zh-CN" altLang="en-US" sz="1600" dirty="0">
                <a:solidFill>
                  <a:srgbClr val="080808"/>
                </a:solidFill>
                <a:ea typeface="楷体_GB2312" pitchFamily="49" charset="-122"/>
              </a:rPr>
              <a:t>无剩余</a:t>
            </a:r>
            <a:endParaRPr lang="zh-CN" altLang="en-US" sz="1600" dirty="0">
              <a:solidFill>
                <a:srgbClr val="080808"/>
              </a:solidFill>
              <a:ea typeface="楷体_GB2312" pitchFamily="49" charset="-122"/>
            </a:endParaRPr>
          </a:p>
        </p:txBody>
      </p:sp>
      <p:sp>
        <p:nvSpPr>
          <p:cNvPr id="31" name="Freeform 18"/>
          <p:cNvSpPr/>
          <p:nvPr/>
        </p:nvSpPr>
        <p:spPr bwMode="auto">
          <a:xfrm>
            <a:off x="1295400" y="3886200"/>
            <a:ext cx="914400" cy="1066800"/>
          </a:xfrm>
          <a:custGeom>
            <a:avLst/>
            <a:gdLst>
              <a:gd name="T0" fmla="*/ 2147483647 w 576"/>
              <a:gd name="T1" fmla="*/ 2147483647 h 672"/>
              <a:gd name="T2" fmla="*/ 2147483647 w 576"/>
              <a:gd name="T3" fmla="*/ 2147483647 h 672"/>
              <a:gd name="T4" fmla="*/ 0 w 576"/>
              <a:gd name="T5" fmla="*/ 0 h 672"/>
              <a:gd name="T6" fmla="*/ 0 60000 65536"/>
              <a:gd name="T7" fmla="*/ 0 60000 65536"/>
              <a:gd name="T8" fmla="*/ 0 60000 65536"/>
              <a:gd name="T9" fmla="*/ 0 w 576"/>
              <a:gd name="T10" fmla="*/ 0 h 672"/>
              <a:gd name="T11" fmla="*/ 576 w 576"/>
              <a:gd name="T12" fmla="*/ 672 h 672"/>
            </a:gdLst>
            <a:ahLst/>
            <a:cxnLst>
              <a:cxn ang="T6">
                <a:pos x="T0" y="T1"/>
              </a:cxn>
              <a:cxn ang="T7">
                <a:pos x="T2" y="T3"/>
              </a:cxn>
              <a:cxn ang="T8">
                <a:pos x="T4" y="T5"/>
              </a:cxn>
            </a:cxnLst>
            <a:rect l="T9" t="T10" r="T11" b="T12"/>
            <a:pathLst>
              <a:path w="576" h="672">
                <a:moveTo>
                  <a:pt x="576" y="672"/>
                </a:moveTo>
                <a:cubicBezTo>
                  <a:pt x="456" y="656"/>
                  <a:pt x="336" y="640"/>
                  <a:pt x="240" y="528"/>
                </a:cubicBezTo>
                <a:cubicBezTo>
                  <a:pt x="144" y="416"/>
                  <a:pt x="72" y="208"/>
                  <a:pt x="0" y="0"/>
                </a:cubicBezTo>
              </a:path>
            </a:pathLst>
          </a:custGeom>
          <a:noFill/>
          <a:ln w="38100">
            <a:solidFill>
              <a:schemeClr val="tx1">
                <a:lumMod val="25000"/>
              </a:schemeClr>
            </a:solidFill>
            <a:round/>
            <a:tailEnd type="arrow" w="sm" len="lg"/>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80808"/>
              </a:solidFill>
              <a:effectLst/>
              <a:uLnTx/>
              <a:uFillTx/>
              <a:latin typeface="Times New Roman" panose="02020603050405020304" pitchFamily="18" charset="0"/>
              <a:ea typeface="宋体" panose="02010600030101010101" pitchFamily="2" charset="-122"/>
              <a:cs typeface="+mn-cs"/>
            </a:endParaRPr>
          </a:p>
        </p:txBody>
      </p:sp>
      <p:sp>
        <p:nvSpPr>
          <p:cNvPr id="72725"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
        <p:nvSpPr>
          <p:cNvPr id="11267" name="内容占位符 2"/>
          <p:cNvSpPr>
            <a:spLocks noGrp="1"/>
          </p:cNvSpPr>
          <p:nvPr>
            <p:ph idx="1"/>
          </p:nvPr>
        </p:nvSpPr>
        <p:spPr>
          <a:xfrm>
            <a:off x="428625" y="1214438"/>
            <a:ext cx="8286750"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第九节  软件可靠性</a:t>
            </a:r>
            <a:endParaRPr kumimoji="0" lang="en-US" altLang="zh-CN" sz="11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rPr>
              <a:t>一、基本概念</a:t>
            </a:r>
            <a:endParaRPr kumimoji="0" lang="zh-CN" altLang="en-US"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可靠性</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(Reliability)</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：程序在给定的时间间隔内，按照说明书的规定，成功地运行的概率。</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可用性</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(Usability)</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：程序在给定的时间点，按照说明书的规定，成功地运行的概率。</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正确性</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(Correctness)</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：程序的功能正确。</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sp>
        <p:nvSpPr>
          <p:cNvPr id="70660" name="Oval 2"/>
          <p:cNvSpPr/>
          <p:nvPr/>
        </p:nvSpPr>
        <p:spPr>
          <a:xfrm>
            <a:off x="4643438" y="4643438"/>
            <a:ext cx="4071937" cy="1714500"/>
          </a:xfrm>
          <a:prstGeom prst="ellipse">
            <a:avLst/>
          </a:prstGeom>
          <a:solidFill>
            <a:srgbClr val="92D05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b="1" dirty="0">
              <a:solidFill>
                <a:schemeClr val="tx1"/>
              </a:solidFill>
              <a:ea typeface="宋体" panose="02010600030101010101" pitchFamily="2" charset="-122"/>
            </a:endParaRPr>
          </a:p>
        </p:txBody>
      </p:sp>
      <p:sp>
        <p:nvSpPr>
          <p:cNvPr id="70661" name="Oval 5"/>
          <p:cNvSpPr/>
          <p:nvPr/>
        </p:nvSpPr>
        <p:spPr>
          <a:xfrm>
            <a:off x="5580063" y="4724400"/>
            <a:ext cx="2922587" cy="1035050"/>
          </a:xfrm>
          <a:prstGeom prst="ellipse">
            <a:avLst/>
          </a:prstGeom>
          <a:solidFill>
            <a:srgbClr val="00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b="1" dirty="0">
              <a:solidFill>
                <a:schemeClr val="tx1"/>
              </a:solidFill>
              <a:ea typeface="宋体" panose="02010600030101010101" pitchFamily="2" charset="-122"/>
            </a:endParaRPr>
          </a:p>
        </p:txBody>
      </p:sp>
      <p:sp>
        <p:nvSpPr>
          <p:cNvPr id="70662" name="Oval 6"/>
          <p:cNvSpPr/>
          <p:nvPr/>
        </p:nvSpPr>
        <p:spPr>
          <a:xfrm>
            <a:off x="6875463" y="4921250"/>
            <a:ext cx="1516062" cy="452438"/>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b="1" dirty="0">
              <a:solidFill>
                <a:schemeClr val="tx1"/>
              </a:solidFill>
              <a:ea typeface="楷体_GB2312" pitchFamily="49" charset="-122"/>
            </a:endParaRPr>
          </a:p>
        </p:txBody>
      </p:sp>
      <p:sp>
        <p:nvSpPr>
          <p:cNvPr id="70664" name="Text Box 7"/>
          <p:cNvSpPr txBox="1">
            <a:spLocks noChangeArrowheads="1"/>
          </p:cNvSpPr>
          <p:nvPr/>
        </p:nvSpPr>
        <p:spPr bwMode="auto">
          <a:xfrm>
            <a:off x="5710238" y="5202238"/>
            <a:ext cx="1219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1" i="0" u="none" strike="noStrike" kern="1200" cap="none" spc="0" normalizeH="0" baseline="0" noProof="0" dirty="0">
                <a:ln>
                  <a:noFill/>
                </a:ln>
                <a:solidFill>
                  <a:schemeClr val="bg1">
                    <a:lumMod val="50000"/>
                  </a:schemeClr>
                </a:solidFill>
                <a:effectLst/>
                <a:uLnTx/>
                <a:uFillTx/>
                <a:latin typeface="Times New Roman" panose="02020603050405020304" pitchFamily="18" charset="0"/>
                <a:ea typeface="楷体_GB2312" pitchFamily="49" charset="-122"/>
                <a:cs typeface="+mn-cs"/>
              </a:rPr>
              <a:t>Reliability</a:t>
            </a:r>
            <a:endParaRPr kumimoji="0" lang="en-US" altLang="zh-CN" sz="1800" b="1" i="0" u="none" strike="noStrike" kern="1200" cap="none" spc="0" normalizeH="0" baseline="0" noProof="0" dirty="0">
              <a:ln>
                <a:noFill/>
              </a:ln>
              <a:solidFill>
                <a:schemeClr val="bg1">
                  <a:lumMod val="50000"/>
                </a:schemeClr>
              </a:solidFill>
              <a:effectLst/>
              <a:uLnTx/>
              <a:uFillTx/>
              <a:latin typeface="Times New Roman" panose="02020603050405020304" pitchFamily="18" charset="0"/>
              <a:ea typeface="楷体_GB2312" pitchFamily="49" charset="-122"/>
              <a:cs typeface="+mn-cs"/>
            </a:endParaRPr>
          </a:p>
        </p:txBody>
      </p:sp>
      <p:sp>
        <p:nvSpPr>
          <p:cNvPr id="70665" name="Text Box 8"/>
          <p:cNvSpPr txBox="1">
            <a:spLocks noChangeArrowheads="1"/>
          </p:cNvSpPr>
          <p:nvPr/>
        </p:nvSpPr>
        <p:spPr bwMode="auto">
          <a:xfrm>
            <a:off x="7081838" y="4932363"/>
            <a:ext cx="14049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1" i="0" u="none" strike="noStrike" kern="1200" cap="none" spc="0" normalizeH="0" baseline="0" noProof="0" dirty="0">
                <a:ln>
                  <a:noFill/>
                </a:ln>
                <a:solidFill>
                  <a:schemeClr val="bg1">
                    <a:lumMod val="50000"/>
                  </a:schemeClr>
                </a:solidFill>
                <a:effectLst/>
                <a:uLnTx/>
                <a:uFillTx/>
                <a:latin typeface="Times New Roman" panose="02020603050405020304" pitchFamily="18" charset="0"/>
                <a:ea typeface="楷体_GB2312" pitchFamily="49" charset="-122"/>
                <a:cs typeface="+mn-cs"/>
              </a:rPr>
              <a:t>Correctness</a:t>
            </a:r>
            <a:endParaRPr kumimoji="0" lang="en-US" altLang="zh-CN" sz="1800" b="1" i="0" u="none" strike="noStrike" kern="1200" cap="none" spc="0" normalizeH="0" baseline="0" noProof="0" dirty="0">
              <a:ln>
                <a:noFill/>
              </a:ln>
              <a:solidFill>
                <a:schemeClr val="bg1">
                  <a:lumMod val="50000"/>
                </a:schemeClr>
              </a:solidFill>
              <a:effectLst/>
              <a:uLnTx/>
              <a:uFillTx/>
              <a:latin typeface="Times New Roman" panose="02020603050405020304" pitchFamily="18" charset="0"/>
              <a:ea typeface="楷体_GB2312" pitchFamily="49" charset="-122"/>
              <a:cs typeface="+mn-cs"/>
            </a:endParaRPr>
          </a:p>
        </p:txBody>
      </p:sp>
      <p:sp>
        <p:nvSpPr>
          <p:cNvPr id="70666" name="Text Box 9"/>
          <p:cNvSpPr txBox="1">
            <a:spLocks noChangeArrowheads="1"/>
          </p:cNvSpPr>
          <p:nvPr/>
        </p:nvSpPr>
        <p:spPr bwMode="auto">
          <a:xfrm>
            <a:off x="4872038" y="5541963"/>
            <a:ext cx="11239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1" i="0" u="none" strike="noStrike" kern="1200" cap="none" spc="0" normalizeH="0" baseline="0" noProof="0" dirty="0">
                <a:ln>
                  <a:noFill/>
                </a:ln>
                <a:solidFill>
                  <a:schemeClr val="bg1">
                    <a:lumMod val="50000"/>
                  </a:schemeClr>
                </a:solidFill>
                <a:effectLst/>
                <a:uLnTx/>
                <a:uFillTx/>
                <a:latin typeface="Times New Roman" panose="02020603050405020304" pitchFamily="18" charset="0"/>
                <a:ea typeface="楷体_GB2312" pitchFamily="49" charset="-122"/>
                <a:cs typeface="+mn-cs"/>
              </a:rPr>
              <a:t>Usability</a:t>
            </a:r>
            <a:endParaRPr kumimoji="0" lang="en-US" altLang="zh-CN" sz="1800" b="1" i="0" u="none" strike="noStrike" kern="1200" cap="none" spc="0" normalizeH="0" baseline="0" noProof="0" dirty="0">
              <a:ln>
                <a:noFill/>
              </a:ln>
              <a:solidFill>
                <a:schemeClr val="bg1">
                  <a:lumMod val="50000"/>
                </a:schemeClr>
              </a:solidFill>
              <a:effectLst/>
              <a:uLnTx/>
              <a:uFillTx/>
              <a:latin typeface="Times New Roman" panose="02020603050405020304" pitchFamily="18" charset="0"/>
              <a:ea typeface="楷体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0660"/>
                                        </p:tgtEl>
                                        <p:attrNameLst>
                                          <p:attrName>style.visibility</p:attrName>
                                        </p:attrNameLst>
                                      </p:cBhvr>
                                      <p:to>
                                        <p:strVal val="visible"/>
                                      </p:to>
                                    </p:set>
                                    <p:anim calcmode="lin" valueType="num">
                                      <p:cBhvr additive="base">
                                        <p:cTn id="7" dur="500" fill="hold"/>
                                        <p:tgtEl>
                                          <p:spTgt spid="70660"/>
                                        </p:tgtEl>
                                        <p:attrNameLst>
                                          <p:attrName>ppt_x</p:attrName>
                                        </p:attrNameLst>
                                      </p:cBhvr>
                                      <p:tavLst>
                                        <p:tav tm="0">
                                          <p:val>
                                            <p:strVal val="#ppt_x"/>
                                          </p:val>
                                        </p:tav>
                                        <p:tav tm="100000">
                                          <p:val>
                                            <p:strVal val="#ppt_x"/>
                                          </p:val>
                                        </p:tav>
                                      </p:tavLst>
                                    </p:anim>
                                    <p:anim calcmode="lin" valueType="num">
                                      <p:cBhvr additive="base">
                                        <p:cTn id="8" dur="500" fill="hold"/>
                                        <p:tgtEl>
                                          <p:spTgt spid="7066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0661"/>
                                        </p:tgtEl>
                                        <p:attrNameLst>
                                          <p:attrName>style.visibility</p:attrName>
                                        </p:attrNameLst>
                                      </p:cBhvr>
                                      <p:to>
                                        <p:strVal val="visible"/>
                                      </p:to>
                                    </p:set>
                                    <p:anim calcmode="lin" valueType="num">
                                      <p:cBhvr additive="base">
                                        <p:cTn id="11" dur="500" fill="hold"/>
                                        <p:tgtEl>
                                          <p:spTgt spid="70661"/>
                                        </p:tgtEl>
                                        <p:attrNameLst>
                                          <p:attrName>ppt_x</p:attrName>
                                        </p:attrNameLst>
                                      </p:cBhvr>
                                      <p:tavLst>
                                        <p:tav tm="0">
                                          <p:val>
                                            <p:strVal val="#ppt_x"/>
                                          </p:val>
                                        </p:tav>
                                        <p:tav tm="100000">
                                          <p:val>
                                            <p:strVal val="#ppt_x"/>
                                          </p:val>
                                        </p:tav>
                                      </p:tavLst>
                                    </p:anim>
                                    <p:anim calcmode="lin" valueType="num">
                                      <p:cBhvr additive="base">
                                        <p:cTn id="12" dur="500" fill="hold"/>
                                        <p:tgtEl>
                                          <p:spTgt spid="70661"/>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0662"/>
                                        </p:tgtEl>
                                        <p:attrNameLst>
                                          <p:attrName>style.visibility</p:attrName>
                                        </p:attrNameLst>
                                      </p:cBhvr>
                                      <p:to>
                                        <p:strVal val="visible"/>
                                      </p:to>
                                    </p:set>
                                    <p:anim calcmode="lin" valueType="num">
                                      <p:cBhvr additive="base">
                                        <p:cTn id="15" dur="500" fill="hold"/>
                                        <p:tgtEl>
                                          <p:spTgt spid="70662"/>
                                        </p:tgtEl>
                                        <p:attrNameLst>
                                          <p:attrName>ppt_x</p:attrName>
                                        </p:attrNameLst>
                                      </p:cBhvr>
                                      <p:tavLst>
                                        <p:tav tm="0">
                                          <p:val>
                                            <p:strVal val="#ppt_x"/>
                                          </p:val>
                                        </p:tav>
                                        <p:tav tm="100000">
                                          <p:val>
                                            <p:strVal val="#ppt_x"/>
                                          </p:val>
                                        </p:tav>
                                      </p:tavLst>
                                    </p:anim>
                                    <p:anim calcmode="lin" valueType="num">
                                      <p:cBhvr additive="base">
                                        <p:cTn id="16" dur="500" fill="hold"/>
                                        <p:tgtEl>
                                          <p:spTgt spid="70662"/>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0664"/>
                                        </p:tgtEl>
                                        <p:attrNameLst>
                                          <p:attrName>style.visibility</p:attrName>
                                        </p:attrNameLst>
                                      </p:cBhvr>
                                      <p:to>
                                        <p:strVal val="visible"/>
                                      </p:to>
                                    </p:set>
                                    <p:anim calcmode="lin" valueType="num">
                                      <p:cBhvr additive="base">
                                        <p:cTn id="19" dur="500" fill="hold"/>
                                        <p:tgtEl>
                                          <p:spTgt spid="70664"/>
                                        </p:tgtEl>
                                        <p:attrNameLst>
                                          <p:attrName>ppt_x</p:attrName>
                                        </p:attrNameLst>
                                      </p:cBhvr>
                                      <p:tavLst>
                                        <p:tav tm="0">
                                          <p:val>
                                            <p:strVal val="#ppt_x"/>
                                          </p:val>
                                        </p:tav>
                                        <p:tav tm="100000">
                                          <p:val>
                                            <p:strVal val="#ppt_x"/>
                                          </p:val>
                                        </p:tav>
                                      </p:tavLst>
                                    </p:anim>
                                    <p:anim calcmode="lin" valueType="num">
                                      <p:cBhvr additive="base">
                                        <p:cTn id="20" dur="500" fill="hold"/>
                                        <p:tgtEl>
                                          <p:spTgt spid="7066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70665"/>
                                        </p:tgtEl>
                                        <p:attrNameLst>
                                          <p:attrName>style.visibility</p:attrName>
                                        </p:attrNameLst>
                                      </p:cBhvr>
                                      <p:to>
                                        <p:strVal val="visible"/>
                                      </p:to>
                                    </p:set>
                                    <p:anim calcmode="lin" valueType="num">
                                      <p:cBhvr additive="base">
                                        <p:cTn id="23" dur="500" fill="hold"/>
                                        <p:tgtEl>
                                          <p:spTgt spid="70665"/>
                                        </p:tgtEl>
                                        <p:attrNameLst>
                                          <p:attrName>ppt_x</p:attrName>
                                        </p:attrNameLst>
                                      </p:cBhvr>
                                      <p:tavLst>
                                        <p:tav tm="0">
                                          <p:val>
                                            <p:strVal val="#ppt_x"/>
                                          </p:val>
                                        </p:tav>
                                        <p:tav tm="100000">
                                          <p:val>
                                            <p:strVal val="#ppt_x"/>
                                          </p:val>
                                        </p:tav>
                                      </p:tavLst>
                                    </p:anim>
                                    <p:anim calcmode="lin" valueType="num">
                                      <p:cBhvr additive="base">
                                        <p:cTn id="24" dur="500" fill="hold"/>
                                        <p:tgtEl>
                                          <p:spTgt spid="70665"/>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70666"/>
                                        </p:tgtEl>
                                        <p:attrNameLst>
                                          <p:attrName>style.visibility</p:attrName>
                                        </p:attrNameLst>
                                      </p:cBhvr>
                                      <p:to>
                                        <p:strVal val="visible"/>
                                      </p:to>
                                    </p:set>
                                    <p:anim calcmode="lin" valueType="num">
                                      <p:cBhvr additive="base">
                                        <p:cTn id="27" dur="500" fill="hold"/>
                                        <p:tgtEl>
                                          <p:spTgt spid="70666"/>
                                        </p:tgtEl>
                                        <p:attrNameLst>
                                          <p:attrName>ppt_x</p:attrName>
                                        </p:attrNameLst>
                                      </p:cBhvr>
                                      <p:tavLst>
                                        <p:tav tm="0">
                                          <p:val>
                                            <p:strVal val="#ppt_x"/>
                                          </p:val>
                                        </p:tav>
                                        <p:tav tm="100000">
                                          <p:val>
                                            <p:strVal val="#ppt_x"/>
                                          </p:val>
                                        </p:tav>
                                      </p:tavLst>
                                    </p:anim>
                                    <p:anim calcmode="lin" valueType="num">
                                      <p:cBhvr additive="base">
                                        <p:cTn id="28" dur="500" fill="hold"/>
                                        <p:tgtEl>
                                          <p:spTgt spid="706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0" grpId="0" animBg="1"/>
      <p:bldP spid="70661" grpId="0" animBg="1"/>
      <p:bldP spid="70662" grpId="0" animBg="1"/>
      <p:bldP spid="70664" grpId="0"/>
      <p:bldP spid="70665" grpId="0"/>
      <p:bldP spid="70666"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页脚占位符 1"/>
          <p:cNvSpPr txBox="1">
            <a:spLocks noGrp="1"/>
          </p:cNvSpPr>
          <p:nvPr>
            <p:ph type="ftr" sz="quarter" idx="11"/>
          </p:nvPr>
        </p:nvSpPr>
        <p:spPr>
          <a:xfrm>
            <a:off x="457200" y="6245225"/>
            <a:ext cx="2133600" cy="476250"/>
          </a:xfrm>
          <a:ln/>
        </p:spPr>
        <p:txBody>
          <a:bodyPr/>
          <a:p>
            <a:pPr marL="0" indent="0" eaLnBrk="1" hangingPunct="1">
              <a:spcBef>
                <a:spcPct val="0"/>
              </a:spcBef>
              <a:buClrTx/>
              <a:buFontTx/>
              <a:buNone/>
            </a:pPr>
            <a:fld id="{9A0DB2DC-4C9A-4742-B13C-FB6460FD3503}" type="slidenum">
              <a:rPr lang="en-US" altLang="zh-CN" sz="1400" dirty="0">
                <a:solidFill>
                  <a:schemeClr val="tx1"/>
                </a:solidFill>
                <a:ea typeface="宋体" panose="02010600030101010101" pitchFamily="2" charset="-122"/>
              </a:rPr>
            </a:fld>
            <a:endParaRPr lang="en-US" altLang="zh-CN" sz="1400" dirty="0">
              <a:solidFill>
                <a:schemeClr val="tx1"/>
              </a:solidFill>
              <a:ea typeface="宋体" panose="02010600030101010101" pitchFamily="2" charset="-122"/>
            </a:endParaRPr>
          </a:p>
        </p:txBody>
      </p:sp>
      <p:sp>
        <p:nvSpPr>
          <p:cNvPr id="74755" name="Text Box 3"/>
          <p:cNvSpPr txBox="1"/>
          <p:nvPr/>
        </p:nvSpPr>
        <p:spPr>
          <a:xfrm>
            <a:off x="609600" y="1947863"/>
            <a:ext cx="7924800" cy="10398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lnSpc>
                <a:spcPct val="140000"/>
              </a:lnSpc>
              <a:spcBef>
                <a:spcPct val="50000"/>
              </a:spcBef>
              <a:buClrTx/>
              <a:buFontTx/>
              <a:buNone/>
            </a:pPr>
            <a:r>
              <a:rPr lang="zh-CN" altLang="en-US" sz="2200" b="1" dirty="0">
                <a:latin typeface="宋体" panose="02010600030101010101" pitchFamily="2" charset="-122"/>
                <a:ea typeface="宋体" panose="02010600030101010101" pitchFamily="2" charset="-122"/>
              </a:rPr>
              <a:t>设系统故障停机时间为</a:t>
            </a:r>
            <a:r>
              <a:rPr lang="en-US" altLang="zh-CN" sz="2200" b="1" dirty="0">
                <a:latin typeface="宋体" panose="02010600030101010101" pitchFamily="2" charset="-122"/>
                <a:ea typeface="宋体" panose="02010600030101010101" pitchFamily="2" charset="-122"/>
              </a:rPr>
              <a:t>t</a:t>
            </a:r>
            <a:r>
              <a:rPr lang="en-US" altLang="zh-CN" sz="2200" b="1" baseline="-25000" dirty="0">
                <a:latin typeface="宋体" panose="02010600030101010101" pitchFamily="2" charset="-122"/>
                <a:ea typeface="宋体" panose="02010600030101010101" pitchFamily="2" charset="-122"/>
              </a:rPr>
              <a:t>d1</a:t>
            </a:r>
            <a:r>
              <a:rPr lang="en-US" altLang="zh-CN" sz="2200" b="1" dirty="0">
                <a:latin typeface="宋体" panose="02010600030101010101" pitchFamily="2" charset="-122"/>
                <a:ea typeface="宋体" panose="02010600030101010101" pitchFamily="2" charset="-122"/>
              </a:rPr>
              <a:t>, t</a:t>
            </a:r>
            <a:r>
              <a:rPr lang="en-US" altLang="zh-CN" sz="2200" b="1" baseline="-25000" dirty="0">
                <a:latin typeface="宋体" panose="02010600030101010101" pitchFamily="2" charset="-122"/>
                <a:ea typeface="宋体" panose="02010600030101010101" pitchFamily="2" charset="-122"/>
              </a:rPr>
              <a:t>d2</a:t>
            </a:r>
            <a:r>
              <a:rPr lang="en-US" altLang="zh-CN" sz="2200" b="1" dirty="0">
                <a:latin typeface="宋体" panose="02010600030101010101" pitchFamily="2" charset="-122"/>
                <a:ea typeface="宋体" panose="02010600030101010101" pitchFamily="2" charset="-122"/>
              </a:rPr>
              <a:t>, …; </a:t>
            </a:r>
            <a:r>
              <a:rPr lang="zh-CN" altLang="en-US" sz="2200" b="1" dirty="0">
                <a:latin typeface="宋体" panose="02010600030101010101" pitchFamily="2" charset="-122"/>
                <a:ea typeface="宋体" panose="02010600030101010101" pitchFamily="2" charset="-122"/>
              </a:rPr>
              <a:t>正常运行时间为</a:t>
            </a:r>
            <a:r>
              <a:rPr lang="en-US" altLang="zh-CN" sz="2200" b="1" dirty="0">
                <a:latin typeface="宋体" panose="02010600030101010101" pitchFamily="2" charset="-122"/>
                <a:ea typeface="宋体" panose="02010600030101010101" pitchFamily="2" charset="-122"/>
              </a:rPr>
              <a:t>t</a:t>
            </a:r>
            <a:r>
              <a:rPr lang="en-US" altLang="zh-CN" sz="2200" b="1" baseline="-25000" dirty="0">
                <a:latin typeface="宋体" panose="02010600030101010101" pitchFamily="2" charset="-122"/>
                <a:ea typeface="宋体" panose="02010600030101010101" pitchFamily="2" charset="-122"/>
              </a:rPr>
              <a:t>u1</a:t>
            </a:r>
            <a:r>
              <a:rPr lang="en-US" altLang="zh-CN" sz="2200" b="1" dirty="0">
                <a:latin typeface="宋体" panose="02010600030101010101" pitchFamily="2" charset="-122"/>
                <a:ea typeface="宋体" panose="02010600030101010101" pitchFamily="2" charset="-122"/>
              </a:rPr>
              <a:t>, t</a:t>
            </a:r>
            <a:r>
              <a:rPr lang="en-US" altLang="zh-CN" sz="2200" b="1" baseline="-25000" dirty="0">
                <a:latin typeface="宋体" panose="02010600030101010101" pitchFamily="2" charset="-122"/>
                <a:ea typeface="宋体" panose="02010600030101010101" pitchFamily="2" charset="-122"/>
              </a:rPr>
              <a:t>u2</a:t>
            </a:r>
            <a:r>
              <a:rPr lang="en-US" altLang="zh-CN" sz="2200" b="1" dirty="0">
                <a:latin typeface="宋体" panose="02010600030101010101" pitchFamily="2" charset="-122"/>
                <a:ea typeface="宋体" panose="02010600030101010101" pitchFamily="2" charset="-122"/>
              </a:rPr>
              <a:t>, … </a:t>
            </a:r>
            <a:r>
              <a:rPr lang="zh-CN" altLang="en-US" sz="2200" b="1" dirty="0">
                <a:latin typeface="宋体" panose="02010600030101010101" pitchFamily="2" charset="-122"/>
                <a:ea typeface="宋体" panose="02010600030101010101" pitchFamily="2" charset="-122"/>
              </a:rPr>
              <a:t>；则系统的“稳态可用性”为</a:t>
            </a:r>
            <a:endParaRPr lang="zh-CN" altLang="en-US" sz="2200" b="1" dirty="0">
              <a:latin typeface="宋体" panose="02010600030101010101" pitchFamily="2" charset="-122"/>
              <a:ea typeface="宋体" panose="02010600030101010101" pitchFamily="2" charset="-122"/>
            </a:endParaRPr>
          </a:p>
        </p:txBody>
      </p:sp>
      <p:sp>
        <p:nvSpPr>
          <p:cNvPr id="74756" name="Text Box 4"/>
          <p:cNvSpPr txBox="1"/>
          <p:nvPr/>
        </p:nvSpPr>
        <p:spPr>
          <a:xfrm>
            <a:off x="1143000" y="3319463"/>
            <a:ext cx="7162800" cy="15827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50000"/>
              </a:spcBef>
              <a:buClrTx/>
              <a:buFontTx/>
              <a:buNone/>
            </a:pPr>
            <a:r>
              <a:rPr lang="en-US" altLang="zh-CN" sz="2200" b="1" dirty="0">
                <a:latin typeface="宋体" panose="02010600030101010101" pitchFamily="2" charset="-122"/>
                <a:ea typeface="宋体" panose="02010600030101010101" pitchFamily="2" charset="-122"/>
              </a:rPr>
              <a:t>Availability =                    (Shooman, 1983)</a:t>
            </a:r>
            <a:endParaRPr lang="en-US" altLang="zh-CN" sz="2200" b="1" dirty="0">
              <a:latin typeface="宋体" panose="02010600030101010101" pitchFamily="2" charset="-122"/>
              <a:ea typeface="宋体" panose="02010600030101010101" pitchFamily="2" charset="-122"/>
            </a:endParaRPr>
          </a:p>
          <a:p>
            <a:pPr marL="0" lvl="0" indent="0" eaLnBrk="1" hangingPunct="1">
              <a:spcBef>
                <a:spcPct val="70000"/>
              </a:spcBef>
              <a:buClrTx/>
              <a:buFontTx/>
              <a:buNone/>
            </a:pPr>
            <a:r>
              <a:rPr lang="zh-CN" altLang="en-US" sz="2200" b="1" dirty="0">
                <a:latin typeface="宋体" panose="02010600030101010101" pitchFamily="2" charset="-122"/>
                <a:ea typeface="宋体" panose="02010600030101010101" pitchFamily="2" charset="-122"/>
              </a:rPr>
              <a:t>其中 </a:t>
            </a:r>
            <a:r>
              <a:rPr lang="en-US" altLang="zh-CN" sz="2200" b="1" dirty="0">
                <a:latin typeface="宋体" panose="02010600030101010101" pitchFamily="2" charset="-122"/>
                <a:ea typeface="宋体" panose="02010600030101010101" pitchFamily="2" charset="-122"/>
              </a:rPr>
              <a:t>MTTF = Mean Time To Failure =</a:t>
            </a:r>
            <a:endParaRPr lang="en-US" altLang="zh-CN" sz="2200" b="1" dirty="0">
              <a:latin typeface="宋体" panose="02010600030101010101" pitchFamily="2" charset="-122"/>
              <a:ea typeface="宋体" panose="02010600030101010101" pitchFamily="2" charset="-122"/>
            </a:endParaRPr>
          </a:p>
          <a:p>
            <a:pPr marL="0" lvl="0" indent="0" eaLnBrk="1" hangingPunct="1">
              <a:spcBef>
                <a:spcPct val="70000"/>
              </a:spcBef>
              <a:buClrTx/>
              <a:buFontTx/>
              <a:buNone/>
            </a:pPr>
            <a:r>
              <a:rPr lang="en-US" altLang="zh-CN" sz="2200" b="1" dirty="0">
                <a:latin typeface="宋体" panose="02010600030101010101" pitchFamily="2" charset="-122"/>
                <a:ea typeface="宋体" panose="02010600030101010101" pitchFamily="2" charset="-122"/>
              </a:rPr>
              <a:t>     MTTR = Mean Time To Repair = </a:t>
            </a:r>
            <a:endParaRPr lang="en-US" altLang="zh-CN" sz="2200" b="1" dirty="0">
              <a:latin typeface="宋体" panose="02010600030101010101" pitchFamily="2" charset="-122"/>
              <a:ea typeface="宋体" panose="02010600030101010101" pitchFamily="2" charset="-122"/>
            </a:endParaRPr>
          </a:p>
        </p:txBody>
      </p:sp>
      <p:graphicFrame>
        <p:nvGraphicFramePr>
          <p:cNvPr id="74757" name="Object 5"/>
          <p:cNvGraphicFramePr>
            <a:graphicFrameLocks noChangeAspect="1"/>
          </p:cNvGraphicFramePr>
          <p:nvPr/>
        </p:nvGraphicFramePr>
        <p:xfrm>
          <a:off x="3200400" y="3243263"/>
          <a:ext cx="1651000" cy="647700"/>
        </p:xfrm>
        <a:graphic>
          <a:graphicData uri="http://schemas.openxmlformats.org/presentationml/2006/ole">
            <mc:AlternateContent xmlns:mc="http://schemas.openxmlformats.org/markup-compatibility/2006">
              <mc:Choice xmlns:v="urn:schemas-microsoft-com:vml" Requires="v">
                <p:oleObj spid="_x0000_s3081" name="" r:id="rId1" imgW="1651000" imgH="647700" progId="Equation.3">
                  <p:embed/>
                </p:oleObj>
              </mc:Choice>
              <mc:Fallback>
                <p:oleObj name="" r:id="rId1" imgW="1651000" imgH="647700" progId="Equation.3">
                  <p:embed/>
                  <p:pic>
                    <p:nvPicPr>
                      <p:cNvPr id="0" name="图片 3080"/>
                      <p:cNvPicPr/>
                      <p:nvPr/>
                    </p:nvPicPr>
                    <p:blipFill>
                      <a:blip r:embed="rId2"/>
                      <a:stretch>
                        <a:fillRect/>
                      </a:stretch>
                    </p:blipFill>
                    <p:spPr>
                      <a:xfrm>
                        <a:off x="3200400" y="3243263"/>
                        <a:ext cx="1651000" cy="647700"/>
                      </a:xfrm>
                      <a:prstGeom prst="rect">
                        <a:avLst/>
                      </a:prstGeom>
                      <a:noFill/>
                      <a:ln w="38100">
                        <a:noFill/>
                        <a:miter/>
                      </a:ln>
                    </p:spPr>
                  </p:pic>
                </p:oleObj>
              </mc:Fallback>
            </mc:AlternateContent>
          </a:graphicData>
        </a:graphic>
      </p:graphicFrame>
      <p:graphicFrame>
        <p:nvGraphicFramePr>
          <p:cNvPr id="74758" name="Object 6"/>
          <p:cNvGraphicFramePr>
            <a:graphicFrameLocks noChangeAspect="1"/>
          </p:cNvGraphicFramePr>
          <p:nvPr/>
        </p:nvGraphicFramePr>
        <p:xfrm>
          <a:off x="6215063" y="3714750"/>
          <a:ext cx="796925" cy="652463"/>
        </p:xfrm>
        <a:graphic>
          <a:graphicData uri="http://schemas.openxmlformats.org/presentationml/2006/ole">
            <mc:AlternateContent xmlns:mc="http://schemas.openxmlformats.org/markup-compatibility/2006">
              <mc:Choice xmlns:v="urn:schemas-microsoft-com:vml" Requires="v">
                <p:oleObj spid="_x0000_s3082" name="" r:id="rId3" imgW="838200" imgH="685800" progId="Equation.3">
                  <p:embed/>
                </p:oleObj>
              </mc:Choice>
              <mc:Fallback>
                <p:oleObj name="" r:id="rId3" imgW="838200" imgH="685800" progId="Equation.3">
                  <p:embed/>
                  <p:pic>
                    <p:nvPicPr>
                      <p:cNvPr id="0" name="图片 3081"/>
                      <p:cNvPicPr/>
                      <p:nvPr/>
                    </p:nvPicPr>
                    <p:blipFill>
                      <a:blip r:embed="rId4"/>
                      <a:stretch>
                        <a:fillRect/>
                      </a:stretch>
                    </p:blipFill>
                    <p:spPr>
                      <a:xfrm>
                        <a:off x="6215063" y="3714750"/>
                        <a:ext cx="796925" cy="652463"/>
                      </a:xfrm>
                      <a:prstGeom prst="rect">
                        <a:avLst/>
                      </a:prstGeom>
                      <a:noFill/>
                      <a:ln w="38100">
                        <a:noFill/>
                        <a:miter/>
                      </a:ln>
                    </p:spPr>
                  </p:pic>
                </p:oleObj>
              </mc:Fallback>
            </mc:AlternateContent>
          </a:graphicData>
        </a:graphic>
      </p:graphicFrame>
      <p:sp>
        <p:nvSpPr>
          <p:cNvPr id="219143" name="Line 7"/>
          <p:cNvSpPr/>
          <p:nvPr/>
        </p:nvSpPr>
        <p:spPr>
          <a:xfrm>
            <a:off x="927100" y="5783263"/>
            <a:ext cx="6705600" cy="0"/>
          </a:xfrm>
          <a:prstGeom prst="line">
            <a:avLst/>
          </a:prstGeom>
          <a:ln w="19050" cap="flat" cmpd="sng">
            <a:solidFill>
              <a:schemeClr val="tx1"/>
            </a:solidFill>
            <a:prstDash val="solid"/>
            <a:headEnd type="none" w="med" len="med"/>
            <a:tailEnd type="arrow" w="sm" len="lg"/>
          </a:ln>
        </p:spPr>
      </p:sp>
      <p:sp>
        <p:nvSpPr>
          <p:cNvPr id="219144" name="Line 8"/>
          <p:cNvSpPr/>
          <p:nvPr/>
        </p:nvSpPr>
        <p:spPr>
          <a:xfrm>
            <a:off x="927100" y="5710238"/>
            <a:ext cx="0" cy="71437"/>
          </a:xfrm>
          <a:prstGeom prst="line">
            <a:avLst/>
          </a:prstGeom>
          <a:ln w="19050" cap="flat" cmpd="sng">
            <a:solidFill>
              <a:schemeClr val="tx1"/>
            </a:solidFill>
            <a:prstDash val="solid"/>
            <a:headEnd type="none" w="med" len="med"/>
            <a:tailEnd type="none" w="med" len="med"/>
          </a:ln>
        </p:spPr>
      </p:sp>
      <p:sp>
        <p:nvSpPr>
          <p:cNvPr id="219145" name="Line 9"/>
          <p:cNvSpPr/>
          <p:nvPr/>
        </p:nvSpPr>
        <p:spPr>
          <a:xfrm>
            <a:off x="2438400" y="5710238"/>
            <a:ext cx="0" cy="71437"/>
          </a:xfrm>
          <a:prstGeom prst="line">
            <a:avLst/>
          </a:prstGeom>
          <a:ln w="19050" cap="flat" cmpd="sng">
            <a:solidFill>
              <a:schemeClr val="tx1"/>
            </a:solidFill>
            <a:prstDash val="solid"/>
            <a:headEnd type="none" w="med" len="med"/>
            <a:tailEnd type="none" w="med" len="med"/>
          </a:ln>
        </p:spPr>
      </p:sp>
      <p:sp>
        <p:nvSpPr>
          <p:cNvPr id="219146" name="Line 10"/>
          <p:cNvSpPr/>
          <p:nvPr/>
        </p:nvSpPr>
        <p:spPr>
          <a:xfrm>
            <a:off x="3124200" y="5710238"/>
            <a:ext cx="0" cy="71437"/>
          </a:xfrm>
          <a:prstGeom prst="line">
            <a:avLst/>
          </a:prstGeom>
          <a:ln w="19050" cap="flat" cmpd="sng">
            <a:solidFill>
              <a:schemeClr val="tx1"/>
            </a:solidFill>
            <a:prstDash val="solid"/>
            <a:headEnd type="none" w="med" len="med"/>
            <a:tailEnd type="none" w="med" len="med"/>
          </a:ln>
        </p:spPr>
      </p:sp>
      <p:sp>
        <p:nvSpPr>
          <p:cNvPr id="219147" name="Line 11"/>
          <p:cNvSpPr/>
          <p:nvPr/>
        </p:nvSpPr>
        <p:spPr>
          <a:xfrm>
            <a:off x="5245100" y="5710238"/>
            <a:ext cx="0" cy="71437"/>
          </a:xfrm>
          <a:prstGeom prst="line">
            <a:avLst/>
          </a:prstGeom>
          <a:ln w="19050" cap="flat" cmpd="sng">
            <a:solidFill>
              <a:schemeClr val="tx1"/>
            </a:solidFill>
            <a:prstDash val="solid"/>
            <a:headEnd type="none" w="med" len="med"/>
            <a:tailEnd type="none" w="med" len="med"/>
          </a:ln>
        </p:spPr>
      </p:sp>
      <p:sp>
        <p:nvSpPr>
          <p:cNvPr id="219148" name="Line 12"/>
          <p:cNvSpPr/>
          <p:nvPr/>
        </p:nvSpPr>
        <p:spPr>
          <a:xfrm>
            <a:off x="6145213" y="5710238"/>
            <a:ext cx="0" cy="71437"/>
          </a:xfrm>
          <a:prstGeom prst="line">
            <a:avLst/>
          </a:prstGeom>
          <a:ln w="19050" cap="flat" cmpd="sng">
            <a:solidFill>
              <a:schemeClr val="tx1"/>
            </a:solidFill>
            <a:prstDash val="solid"/>
            <a:headEnd type="none" w="med" len="med"/>
            <a:tailEnd type="none" w="med" len="med"/>
          </a:ln>
        </p:spPr>
      </p:sp>
      <p:sp>
        <p:nvSpPr>
          <p:cNvPr id="219149" name="Line 13"/>
          <p:cNvSpPr/>
          <p:nvPr/>
        </p:nvSpPr>
        <p:spPr>
          <a:xfrm>
            <a:off x="927100" y="5783263"/>
            <a:ext cx="1511300" cy="0"/>
          </a:xfrm>
          <a:prstGeom prst="line">
            <a:avLst/>
          </a:prstGeom>
          <a:ln w="19050" cap="flat" cmpd="sng">
            <a:solidFill>
              <a:srgbClr val="00FF00"/>
            </a:solidFill>
            <a:prstDash val="solid"/>
            <a:headEnd type="none" w="med" len="med"/>
            <a:tailEnd type="none" w="med" len="med"/>
          </a:ln>
        </p:spPr>
      </p:sp>
      <p:sp>
        <p:nvSpPr>
          <p:cNvPr id="219150" name="Line 14"/>
          <p:cNvSpPr/>
          <p:nvPr/>
        </p:nvSpPr>
        <p:spPr>
          <a:xfrm>
            <a:off x="2438400" y="5783263"/>
            <a:ext cx="684213" cy="0"/>
          </a:xfrm>
          <a:prstGeom prst="line">
            <a:avLst/>
          </a:prstGeom>
          <a:ln w="19050" cap="flat" cmpd="sng">
            <a:solidFill>
              <a:srgbClr val="FF0000"/>
            </a:solidFill>
            <a:prstDash val="solid"/>
            <a:headEnd type="none" w="med" len="med"/>
            <a:tailEnd type="none" w="med" len="med"/>
          </a:ln>
        </p:spPr>
      </p:sp>
      <p:sp>
        <p:nvSpPr>
          <p:cNvPr id="219151" name="Line 15"/>
          <p:cNvSpPr/>
          <p:nvPr/>
        </p:nvSpPr>
        <p:spPr>
          <a:xfrm>
            <a:off x="3124200" y="5783263"/>
            <a:ext cx="2124075" cy="0"/>
          </a:xfrm>
          <a:prstGeom prst="line">
            <a:avLst/>
          </a:prstGeom>
          <a:ln w="19050" cap="flat" cmpd="sng">
            <a:solidFill>
              <a:srgbClr val="00FF00"/>
            </a:solidFill>
            <a:prstDash val="solid"/>
            <a:headEnd type="none" w="med" len="med"/>
            <a:tailEnd type="none" w="med" len="med"/>
          </a:ln>
        </p:spPr>
      </p:sp>
      <p:sp>
        <p:nvSpPr>
          <p:cNvPr id="219152" name="Line 16"/>
          <p:cNvSpPr/>
          <p:nvPr/>
        </p:nvSpPr>
        <p:spPr>
          <a:xfrm>
            <a:off x="5245100" y="5783263"/>
            <a:ext cx="900113" cy="0"/>
          </a:xfrm>
          <a:prstGeom prst="line">
            <a:avLst/>
          </a:prstGeom>
          <a:ln w="19050" cap="flat" cmpd="sng">
            <a:solidFill>
              <a:srgbClr val="FF0000"/>
            </a:solidFill>
            <a:prstDash val="solid"/>
            <a:headEnd type="none" w="med" len="med"/>
            <a:tailEnd type="none" w="med" len="med"/>
          </a:ln>
        </p:spPr>
      </p:sp>
      <p:sp>
        <p:nvSpPr>
          <p:cNvPr id="219153" name="Line 17"/>
          <p:cNvSpPr/>
          <p:nvPr/>
        </p:nvSpPr>
        <p:spPr>
          <a:xfrm>
            <a:off x="6145213" y="5783263"/>
            <a:ext cx="1331912" cy="0"/>
          </a:xfrm>
          <a:prstGeom prst="line">
            <a:avLst/>
          </a:prstGeom>
          <a:ln w="19050" cap="flat" cmpd="sng">
            <a:solidFill>
              <a:srgbClr val="00FF00"/>
            </a:solidFill>
            <a:prstDash val="solid"/>
            <a:headEnd type="none" w="med" len="med"/>
            <a:tailEnd type="none" w="med" len="med"/>
          </a:ln>
        </p:spPr>
      </p:sp>
      <p:sp>
        <p:nvSpPr>
          <p:cNvPr id="219154" name="Text Box 18"/>
          <p:cNvSpPr txBox="1"/>
          <p:nvPr/>
        </p:nvSpPr>
        <p:spPr>
          <a:xfrm>
            <a:off x="762000" y="5757863"/>
            <a:ext cx="3810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50000"/>
              </a:spcBef>
              <a:buClrTx/>
              <a:buFontTx/>
              <a:buNone/>
            </a:pPr>
            <a:r>
              <a:rPr lang="en-US" altLang="zh-CN" sz="2400" dirty="0">
                <a:solidFill>
                  <a:schemeClr val="tx1"/>
                </a:solidFill>
                <a:ea typeface="宋体" panose="02010600030101010101" pitchFamily="2" charset="-122"/>
              </a:rPr>
              <a:t>0</a:t>
            </a:r>
            <a:endParaRPr lang="en-US" altLang="zh-CN" sz="2400" dirty="0">
              <a:solidFill>
                <a:schemeClr val="tx1"/>
              </a:solidFill>
              <a:ea typeface="宋体" panose="02010600030101010101" pitchFamily="2" charset="-122"/>
            </a:endParaRPr>
          </a:p>
        </p:txBody>
      </p:sp>
      <p:sp>
        <p:nvSpPr>
          <p:cNvPr id="219155" name="Text Box 19"/>
          <p:cNvSpPr txBox="1"/>
          <p:nvPr/>
        </p:nvSpPr>
        <p:spPr>
          <a:xfrm>
            <a:off x="7239000" y="5757863"/>
            <a:ext cx="5334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50000"/>
              </a:spcBef>
              <a:buClrTx/>
              <a:buFontTx/>
              <a:buNone/>
            </a:pPr>
            <a:r>
              <a:rPr lang="en-US" altLang="zh-CN" sz="2400" i="1" dirty="0">
                <a:solidFill>
                  <a:schemeClr val="tx1"/>
                </a:solidFill>
                <a:ea typeface="宋体" panose="02010600030101010101" pitchFamily="2" charset="-122"/>
              </a:rPr>
              <a:t>t</a:t>
            </a:r>
            <a:endParaRPr lang="en-US" altLang="zh-CN" sz="2400" i="1" dirty="0">
              <a:solidFill>
                <a:schemeClr val="tx1"/>
              </a:solidFill>
              <a:ea typeface="宋体" panose="02010600030101010101" pitchFamily="2" charset="-122"/>
            </a:endParaRPr>
          </a:p>
        </p:txBody>
      </p:sp>
      <p:sp>
        <p:nvSpPr>
          <p:cNvPr id="219156" name="Text Box 20"/>
          <p:cNvSpPr txBox="1"/>
          <p:nvPr/>
        </p:nvSpPr>
        <p:spPr>
          <a:xfrm>
            <a:off x="1295400" y="5300663"/>
            <a:ext cx="6858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50000"/>
              </a:spcBef>
              <a:buClrTx/>
              <a:buFontTx/>
              <a:buNone/>
            </a:pPr>
            <a:r>
              <a:rPr lang="en-US" altLang="zh-CN" sz="2400" i="1" dirty="0">
                <a:solidFill>
                  <a:schemeClr val="tx1"/>
                </a:solidFill>
                <a:ea typeface="宋体" panose="02010600030101010101" pitchFamily="2" charset="-122"/>
              </a:rPr>
              <a:t>t</a:t>
            </a:r>
            <a:r>
              <a:rPr lang="en-US" altLang="zh-CN" sz="2400" baseline="-25000" dirty="0">
                <a:solidFill>
                  <a:schemeClr val="tx1"/>
                </a:solidFill>
                <a:ea typeface="宋体" panose="02010600030101010101" pitchFamily="2" charset="-122"/>
              </a:rPr>
              <a:t>u1</a:t>
            </a:r>
            <a:endParaRPr lang="en-US" altLang="zh-CN" sz="2400" i="1" dirty="0">
              <a:solidFill>
                <a:schemeClr val="tx1"/>
              </a:solidFill>
              <a:ea typeface="宋体" panose="02010600030101010101" pitchFamily="2" charset="-122"/>
            </a:endParaRPr>
          </a:p>
        </p:txBody>
      </p:sp>
      <p:sp>
        <p:nvSpPr>
          <p:cNvPr id="219157" name="Text Box 21"/>
          <p:cNvSpPr txBox="1"/>
          <p:nvPr/>
        </p:nvSpPr>
        <p:spPr>
          <a:xfrm>
            <a:off x="2438400" y="5300663"/>
            <a:ext cx="6858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50000"/>
              </a:spcBef>
              <a:buClrTx/>
              <a:buFontTx/>
              <a:buNone/>
            </a:pPr>
            <a:r>
              <a:rPr lang="en-US" altLang="zh-CN" sz="2400" i="1" dirty="0">
                <a:solidFill>
                  <a:schemeClr val="tx1"/>
                </a:solidFill>
                <a:ea typeface="宋体" panose="02010600030101010101" pitchFamily="2" charset="-122"/>
              </a:rPr>
              <a:t>t</a:t>
            </a:r>
            <a:r>
              <a:rPr lang="en-US" altLang="zh-CN" sz="2400" baseline="-25000" dirty="0">
                <a:solidFill>
                  <a:schemeClr val="tx1"/>
                </a:solidFill>
                <a:ea typeface="宋体" panose="02010600030101010101" pitchFamily="2" charset="-122"/>
              </a:rPr>
              <a:t>d1</a:t>
            </a:r>
            <a:endParaRPr lang="en-US" altLang="zh-CN" sz="2400" i="1" dirty="0">
              <a:solidFill>
                <a:schemeClr val="tx1"/>
              </a:solidFill>
              <a:ea typeface="宋体" panose="02010600030101010101" pitchFamily="2" charset="-122"/>
            </a:endParaRPr>
          </a:p>
        </p:txBody>
      </p:sp>
      <p:sp>
        <p:nvSpPr>
          <p:cNvPr id="219158" name="Text Box 22"/>
          <p:cNvSpPr txBox="1"/>
          <p:nvPr/>
        </p:nvSpPr>
        <p:spPr>
          <a:xfrm>
            <a:off x="3124200" y="5300663"/>
            <a:ext cx="2133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50000"/>
              </a:spcBef>
              <a:buClrTx/>
              <a:buFontTx/>
              <a:buNone/>
            </a:pPr>
            <a:r>
              <a:rPr lang="en-US" altLang="zh-CN" sz="2400" i="1" dirty="0">
                <a:solidFill>
                  <a:schemeClr val="tx1"/>
                </a:solidFill>
                <a:ea typeface="宋体" panose="02010600030101010101" pitchFamily="2" charset="-122"/>
              </a:rPr>
              <a:t>t</a:t>
            </a:r>
            <a:r>
              <a:rPr lang="en-US" altLang="zh-CN" sz="2400" baseline="-25000" dirty="0">
                <a:solidFill>
                  <a:schemeClr val="tx1"/>
                </a:solidFill>
                <a:ea typeface="宋体" panose="02010600030101010101" pitchFamily="2" charset="-122"/>
              </a:rPr>
              <a:t>u2</a:t>
            </a:r>
            <a:endParaRPr lang="en-US" altLang="zh-CN" sz="2400" i="1" dirty="0">
              <a:solidFill>
                <a:schemeClr val="tx1"/>
              </a:solidFill>
              <a:ea typeface="宋体" panose="02010600030101010101" pitchFamily="2" charset="-122"/>
            </a:endParaRPr>
          </a:p>
        </p:txBody>
      </p:sp>
      <p:sp>
        <p:nvSpPr>
          <p:cNvPr id="219159" name="Text Box 23"/>
          <p:cNvSpPr txBox="1"/>
          <p:nvPr/>
        </p:nvSpPr>
        <p:spPr>
          <a:xfrm>
            <a:off x="5257800" y="5300663"/>
            <a:ext cx="9144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50000"/>
              </a:spcBef>
              <a:buClrTx/>
              <a:buFontTx/>
              <a:buNone/>
            </a:pPr>
            <a:r>
              <a:rPr lang="en-US" altLang="zh-CN" sz="2400" i="1" dirty="0">
                <a:solidFill>
                  <a:schemeClr val="tx1"/>
                </a:solidFill>
                <a:ea typeface="宋体" panose="02010600030101010101" pitchFamily="2" charset="-122"/>
              </a:rPr>
              <a:t>t</a:t>
            </a:r>
            <a:r>
              <a:rPr lang="en-US" altLang="zh-CN" sz="2400" baseline="-25000" dirty="0">
                <a:solidFill>
                  <a:schemeClr val="tx1"/>
                </a:solidFill>
                <a:ea typeface="宋体" panose="02010600030101010101" pitchFamily="2" charset="-122"/>
              </a:rPr>
              <a:t>d2</a:t>
            </a:r>
            <a:endParaRPr lang="en-US" altLang="zh-CN" sz="2400" i="1" dirty="0">
              <a:solidFill>
                <a:schemeClr val="tx1"/>
              </a:solidFill>
              <a:ea typeface="宋体" panose="02010600030101010101" pitchFamily="2" charset="-122"/>
            </a:endParaRPr>
          </a:p>
        </p:txBody>
      </p:sp>
      <p:sp>
        <p:nvSpPr>
          <p:cNvPr id="219160" name="AutoShape 24"/>
          <p:cNvSpPr/>
          <p:nvPr/>
        </p:nvSpPr>
        <p:spPr>
          <a:xfrm>
            <a:off x="2133600" y="5148263"/>
            <a:ext cx="304800" cy="609600"/>
          </a:xfrm>
          <a:prstGeom prst="lightningBolt">
            <a:avLst/>
          </a:prstGeom>
          <a:solidFill>
            <a:srgbClr val="FF3300"/>
          </a:solidFill>
          <a:ln w="9525">
            <a:noFill/>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219161" name="Text Box 25"/>
          <p:cNvSpPr txBox="1"/>
          <p:nvPr/>
        </p:nvSpPr>
        <p:spPr>
          <a:xfrm>
            <a:off x="2552700" y="5148263"/>
            <a:ext cx="1219200" cy="7016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50000"/>
              </a:spcBef>
              <a:buClrTx/>
              <a:buFontTx/>
              <a:buNone/>
            </a:pPr>
            <a:r>
              <a:rPr lang="zh-CN" altLang="en-US" sz="4000" dirty="0">
                <a:solidFill>
                  <a:srgbClr val="00CC00"/>
                </a:solidFill>
                <a:ea typeface="宋体" panose="02010600030101010101" pitchFamily="2" charset="-122"/>
                <a:sym typeface="Webdings" panose="05030102010509060703" pitchFamily="18" charset="2"/>
              </a:rPr>
              <a:t></a:t>
            </a:r>
            <a:endParaRPr lang="zh-CN" altLang="en-US" sz="2400" dirty="0">
              <a:solidFill>
                <a:schemeClr val="tx1"/>
              </a:solidFill>
              <a:ea typeface="宋体" panose="02010600030101010101" pitchFamily="2" charset="-122"/>
            </a:endParaRPr>
          </a:p>
        </p:txBody>
      </p:sp>
      <p:sp>
        <p:nvSpPr>
          <p:cNvPr id="219162" name="AutoShape 26"/>
          <p:cNvSpPr/>
          <p:nvPr/>
        </p:nvSpPr>
        <p:spPr>
          <a:xfrm>
            <a:off x="4953000" y="5148263"/>
            <a:ext cx="304800" cy="609600"/>
          </a:xfrm>
          <a:prstGeom prst="lightningBolt">
            <a:avLst/>
          </a:prstGeom>
          <a:solidFill>
            <a:srgbClr val="FF3300"/>
          </a:solidFill>
          <a:ln w="9525">
            <a:noFill/>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219163" name="Text Box 27"/>
          <p:cNvSpPr txBox="1"/>
          <p:nvPr/>
        </p:nvSpPr>
        <p:spPr>
          <a:xfrm>
            <a:off x="5562600" y="5148263"/>
            <a:ext cx="1219200" cy="7016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50000"/>
              </a:spcBef>
              <a:buClrTx/>
              <a:buFontTx/>
              <a:buNone/>
            </a:pPr>
            <a:r>
              <a:rPr lang="zh-CN" altLang="en-US" sz="4000" dirty="0">
                <a:solidFill>
                  <a:srgbClr val="00CC00"/>
                </a:solidFill>
                <a:ea typeface="宋体" panose="02010600030101010101" pitchFamily="2" charset="-122"/>
                <a:sym typeface="Webdings" panose="05030102010509060703" pitchFamily="18" charset="2"/>
              </a:rPr>
              <a:t></a:t>
            </a:r>
            <a:endParaRPr lang="zh-CN" altLang="en-US" sz="2400" dirty="0">
              <a:solidFill>
                <a:schemeClr val="tx1"/>
              </a:solidFill>
              <a:ea typeface="宋体" panose="02010600030101010101" pitchFamily="2" charset="-122"/>
            </a:endParaRPr>
          </a:p>
        </p:txBody>
      </p:sp>
      <p:graphicFrame>
        <p:nvGraphicFramePr>
          <p:cNvPr id="74780" name="Object 28"/>
          <p:cNvGraphicFramePr>
            <a:graphicFrameLocks noChangeAspect="1"/>
          </p:cNvGraphicFramePr>
          <p:nvPr/>
        </p:nvGraphicFramePr>
        <p:xfrm>
          <a:off x="6072188" y="4462463"/>
          <a:ext cx="819150" cy="681037"/>
        </p:xfrm>
        <a:graphic>
          <a:graphicData uri="http://schemas.openxmlformats.org/presentationml/2006/ole">
            <mc:AlternateContent xmlns:mc="http://schemas.openxmlformats.org/markup-compatibility/2006">
              <mc:Choice xmlns:v="urn:schemas-microsoft-com:vml" Requires="v">
                <p:oleObj spid="_x0000_s3080" name="" r:id="rId5" imgW="825500" imgH="685800" progId="Equation.3">
                  <p:embed/>
                </p:oleObj>
              </mc:Choice>
              <mc:Fallback>
                <p:oleObj name="" r:id="rId5" imgW="825500" imgH="685800" progId="Equation.3">
                  <p:embed/>
                  <p:pic>
                    <p:nvPicPr>
                      <p:cNvPr id="0" name="图片 3079"/>
                      <p:cNvPicPr/>
                      <p:nvPr/>
                    </p:nvPicPr>
                    <p:blipFill>
                      <a:blip r:embed="rId6"/>
                      <a:stretch>
                        <a:fillRect/>
                      </a:stretch>
                    </p:blipFill>
                    <p:spPr>
                      <a:xfrm>
                        <a:off x="6072188" y="4462463"/>
                        <a:ext cx="819150" cy="681037"/>
                      </a:xfrm>
                      <a:prstGeom prst="rect">
                        <a:avLst/>
                      </a:prstGeom>
                      <a:noFill/>
                      <a:ln w="38100">
                        <a:noFill/>
                        <a:miter/>
                      </a:ln>
                    </p:spPr>
                  </p:pic>
                </p:oleObj>
              </mc:Fallback>
            </mc:AlternateContent>
          </a:graphicData>
        </a:graphic>
      </p:graphicFrame>
      <p:sp>
        <p:nvSpPr>
          <p:cNvPr id="74781" name="Text Box 29"/>
          <p:cNvSpPr txBox="1"/>
          <p:nvPr/>
        </p:nvSpPr>
        <p:spPr>
          <a:xfrm>
            <a:off x="571500" y="1214438"/>
            <a:ext cx="7620000" cy="4953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lnSpc>
                <a:spcPct val="140000"/>
              </a:lnSpc>
              <a:spcBef>
                <a:spcPct val="50000"/>
              </a:spcBef>
              <a:buClrTx/>
              <a:buFontTx/>
              <a:buNone/>
            </a:pPr>
            <a:r>
              <a:rPr lang="en-US" altLang="zh-CN" sz="2200" b="1" dirty="0">
                <a:latin typeface="宋体" panose="02010600030101010101" pitchFamily="2" charset="-122"/>
                <a:ea typeface="宋体" panose="02010600030101010101" pitchFamily="2" charset="-122"/>
              </a:rPr>
              <a:t>MTTF  </a:t>
            </a:r>
            <a:r>
              <a:rPr lang="zh-CN" altLang="en-US" sz="2200" b="1" dirty="0">
                <a:latin typeface="宋体" panose="02010600030101010101" pitchFamily="2" charset="-122"/>
                <a:ea typeface="宋体" panose="02010600030101010101" pitchFamily="2" charset="-122"/>
              </a:rPr>
              <a:t>平均无故障时间         </a:t>
            </a:r>
            <a:r>
              <a:rPr lang="en-US" altLang="zh-CN" sz="2200" b="1" dirty="0">
                <a:latin typeface="宋体" panose="02010600030101010101" pitchFamily="2" charset="-122"/>
                <a:ea typeface="宋体" panose="02010600030101010101" pitchFamily="2" charset="-122"/>
              </a:rPr>
              <a:t>MTTR  </a:t>
            </a:r>
            <a:r>
              <a:rPr lang="zh-CN" altLang="en-US" sz="2200" b="1" dirty="0">
                <a:latin typeface="宋体" panose="02010600030101010101" pitchFamily="2" charset="-122"/>
                <a:ea typeface="宋体" panose="02010600030101010101" pitchFamily="2" charset="-122"/>
              </a:rPr>
              <a:t>平均维修时间</a:t>
            </a:r>
            <a:endParaRPr lang="zh-CN" altLang="en-US" sz="2200" b="1" dirty="0">
              <a:latin typeface="宋体" panose="02010600030101010101" pitchFamily="2" charset="-122"/>
              <a:ea typeface="宋体" panose="02010600030101010101" pitchFamily="2" charset="-122"/>
            </a:endParaRPr>
          </a:p>
        </p:txBody>
      </p:sp>
      <p:sp>
        <p:nvSpPr>
          <p:cNvPr id="74782" name="Rectangle 2"/>
          <p:cNvSpPr txBox="1"/>
          <p:nvPr/>
        </p:nvSpPr>
        <p:spPr>
          <a:xfrm>
            <a:off x="428625" y="333375"/>
            <a:ext cx="8686800" cy="952500"/>
          </a:xfrm>
          <a:prstGeom prst="rect">
            <a:avLst/>
          </a:prstGeom>
          <a:noFill/>
          <a:ln w="9525">
            <a:noFill/>
          </a:ln>
        </p:spPr>
        <p:txBody>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en-US" sz="3000" b="1" dirty="0">
                <a:solidFill>
                  <a:schemeClr val="tx1"/>
                </a:solidFill>
                <a:latin typeface="黑体" panose="02010609060101010101" pitchFamily="49" charset="-122"/>
                <a:ea typeface="黑体" panose="02010609060101010101" pitchFamily="49" charset="-122"/>
              </a:rPr>
              <a:t>第六章  系统实现</a:t>
            </a:r>
            <a:endParaRPr lang="zh-CN" altLang="en-US" sz="3000" b="1" dirty="0">
              <a:solidFill>
                <a:schemeClr val="tx1"/>
              </a:solidFill>
              <a:latin typeface="黑体" panose="02010609060101010101" pitchFamily="49"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19144"/>
                                        </p:tgtEl>
                                        <p:attrNameLst>
                                          <p:attrName>style.visibility</p:attrName>
                                        </p:attrNameLst>
                                      </p:cBhvr>
                                      <p:to>
                                        <p:strVal val="visible"/>
                                      </p:to>
                                    </p:set>
                                    <p:animEffect transition="in" filter="box(out)">
                                      <p:cBhvr>
                                        <p:cTn id="7" dur="500"/>
                                        <p:tgtEl>
                                          <p:spTgt spid="219144"/>
                                        </p:tgtEl>
                                      </p:cBhvr>
                                    </p:animEffect>
                                  </p:childTnLst>
                                </p:cTn>
                              </p:par>
                            </p:childTnLst>
                          </p:cTn>
                        </p:par>
                        <p:par>
                          <p:cTn id="8" fill="hold">
                            <p:stCondLst>
                              <p:cond delay="500"/>
                            </p:stCondLst>
                            <p:childTnLst>
                              <p:par>
                                <p:cTn id="9" presetID="17" presetClass="entr" presetSubtype="8" fill="hold" nodeType="afterEffect">
                                  <p:stCondLst>
                                    <p:cond delay="0"/>
                                  </p:stCondLst>
                                  <p:childTnLst>
                                    <p:set>
                                      <p:cBhvr>
                                        <p:cTn id="10" dur="1" fill="hold">
                                          <p:stCondLst>
                                            <p:cond delay="0"/>
                                          </p:stCondLst>
                                        </p:cTn>
                                        <p:tgtEl>
                                          <p:spTgt spid="219143"/>
                                        </p:tgtEl>
                                        <p:attrNameLst>
                                          <p:attrName>style.visibility</p:attrName>
                                        </p:attrNameLst>
                                      </p:cBhvr>
                                      <p:to>
                                        <p:strVal val="visible"/>
                                      </p:to>
                                    </p:set>
                                    <p:anim calcmode="lin" valueType="num">
                                      <p:cBhvr>
                                        <p:cTn id="11" dur="500" fill="hold"/>
                                        <p:tgtEl>
                                          <p:spTgt spid="219143"/>
                                        </p:tgtEl>
                                        <p:attrNameLst>
                                          <p:attrName>ppt_x</p:attrName>
                                        </p:attrNameLst>
                                      </p:cBhvr>
                                      <p:tavLst>
                                        <p:tav tm="0">
                                          <p:val>
                                            <p:strVal val="#ppt_x-#ppt_w/2"/>
                                          </p:val>
                                        </p:tav>
                                        <p:tav tm="100000">
                                          <p:val>
                                            <p:strVal val="#ppt_x"/>
                                          </p:val>
                                        </p:tav>
                                      </p:tavLst>
                                    </p:anim>
                                    <p:anim calcmode="lin" valueType="num">
                                      <p:cBhvr>
                                        <p:cTn id="12" dur="500" fill="hold"/>
                                        <p:tgtEl>
                                          <p:spTgt spid="219143"/>
                                        </p:tgtEl>
                                        <p:attrNameLst>
                                          <p:attrName>ppt_y</p:attrName>
                                        </p:attrNameLst>
                                      </p:cBhvr>
                                      <p:tavLst>
                                        <p:tav tm="0">
                                          <p:val>
                                            <p:strVal val="#ppt_y"/>
                                          </p:val>
                                        </p:tav>
                                        <p:tav tm="100000">
                                          <p:val>
                                            <p:strVal val="#ppt_y"/>
                                          </p:val>
                                        </p:tav>
                                      </p:tavLst>
                                    </p:anim>
                                    <p:anim calcmode="lin" valueType="num">
                                      <p:cBhvr>
                                        <p:cTn id="13" dur="500" fill="hold"/>
                                        <p:tgtEl>
                                          <p:spTgt spid="219143"/>
                                        </p:tgtEl>
                                        <p:attrNameLst>
                                          <p:attrName>ppt_w</p:attrName>
                                        </p:attrNameLst>
                                      </p:cBhvr>
                                      <p:tavLst>
                                        <p:tav tm="0">
                                          <p:val>
                                            <p:fltVal val="0.000000"/>
                                          </p:val>
                                        </p:tav>
                                        <p:tav tm="100000">
                                          <p:val>
                                            <p:strVal val="#ppt_w"/>
                                          </p:val>
                                        </p:tav>
                                      </p:tavLst>
                                    </p:anim>
                                    <p:anim calcmode="lin" valueType="num">
                                      <p:cBhvr>
                                        <p:cTn id="14" dur="500" fill="hold"/>
                                        <p:tgtEl>
                                          <p:spTgt spid="219143"/>
                                        </p:tgtEl>
                                        <p:attrNameLst>
                                          <p:attrName>ppt_h</p:attrName>
                                        </p:attrNameLst>
                                      </p:cBhvr>
                                      <p:tavLst>
                                        <p:tav tm="0">
                                          <p:val>
                                            <p:strVal val="#ppt_h"/>
                                          </p:val>
                                        </p:tav>
                                        <p:tav tm="100000">
                                          <p:val>
                                            <p:strVal val="#ppt_h"/>
                                          </p:val>
                                        </p:tav>
                                      </p:tavLst>
                                    </p:anim>
                                  </p:childTnLst>
                                </p:cTn>
                              </p:par>
                            </p:childTnLst>
                          </p:cTn>
                        </p:par>
                        <p:par>
                          <p:cTn id="15" fill="hold">
                            <p:stCondLst>
                              <p:cond delay="1000"/>
                            </p:stCondLst>
                            <p:childTnLst>
                              <p:par>
                                <p:cTn id="16" presetID="4" presetClass="entr" presetSubtype="32" fill="hold" grpId="0" nodeType="afterEffect">
                                  <p:stCondLst>
                                    <p:cond delay="0"/>
                                  </p:stCondLst>
                                  <p:childTnLst>
                                    <p:set>
                                      <p:cBhvr>
                                        <p:cTn id="17" dur="1" fill="hold">
                                          <p:stCondLst>
                                            <p:cond delay="0"/>
                                          </p:stCondLst>
                                        </p:cTn>
                                        <p:tgtEl>
                                          <p:spTgt spid="219154"/>
                                        </p:tgtEl>
                                        <p:attrNameLst>
                                          <p:attrName>style.visibility</p:attrName>
                                        </p:attrNameLst>
                                      </p:cBhvr>
                                      <p:to>
                                        <p:strVal val="visible"/>
                                      </p:to>
                                    </p:set>
                                    <p:animEffect transition="in" filter="box(out)">
                                      <p:cBhvr>
                                        <p:cTn id="18" dur="500"/>
                                        <p:tgtEl>
                                          <p:spTgt spid="219154"/>
                                        </p:tgtEl>
                                      </p:cBhvr>
                                    </p:animEffect>
                                  </p:childTnLst>
                                </p:cTn>
                              </p:par>
                            </p:childTnLst>
                          </p:cTn>
                        </p:par>
                        <p:par>
                          <p:cTn id="19" fill="hold">
                            <p:stCondLst>
                              <p:cond delay="1500"/>
                            </p:stCondLst>
                            <p:childTnLst>
                              <p:par>
                                <p:cTn id="20" presetID="4" presetClass="entr" presetSubtype="32" fill="hold" nodeType="afterEffect">
                                  <p:stCondLst>
                                    <p:cond delay="0"/>
                                  </p:stCondLst>
                                  <p:childTnLst>
                                    <p:set>
                                      <p:cBhvr>
                                        <p:cTn id="21" dur="1" fill="hold">
                                          <p:stCondLst>
                                            <p:cond delay="0"/>
                                          </p:stCondLst>
                                        </p:cTn>
                                        <p:tgtEl>
                                          <p:spTgt spid="219145"/>
                                        </p:tgtEl>
                                        <p:attrNameLst>
                                          <p:attrName>style.visibility</p:attrName>
                                        </p:attrNameLst>
                                      </p:cBhvr>
                                      <p:to>
                                        <p:strVal val="visible"/>
                                      </p:to>
                                    </p:set>
                                    <p:animEffect transition="in" filter="box(out)">
                                      <p:cBhvr>
                                        <p:cTn id="22" dur="500"/>
                                        <p:tgtEl>
                                          <p:spTgt spid="219145"/>
                                        </p:tgtEl>
                                      </p:cBhvr>
                                    </p:animEffect>
                                  </p:childTnLst>
                                </p:cTn>
                              </p:par>
                            </p:childTnLst>
                          </p:cTn>
                        </p:par>
                        <p:par>
                          <p:cTn id="23" fill="hold">
                            <p:stCondLst>
                              <p:cond delay="2000"/>
                            </p:stCondLst>
                            <p:childTnLst>
                              <p:par>
                                <p:cTn id="24" presetID="4" presetClass="entr" presetSubtype="32" fill="hold" nodeType="afterEffect">
                                  <p:stCondLst>
                                    <p:cond delay="0"/>
                                  </p:stCondLst>
                                  <p:childTnLst>
                                    <p:set>
                                      <p:cBhvr>
                                        <p:cTn id="25" dur="1" fill="hold">
                                          <p:stCondLst>
                                            <p:cond delay="0"/>
                                          </p:stCondLst>
                                        </p:cTn>
                                        <p:tgtEl>
                                          <p:spTgt spid="219146"/>
                                        </p:tgtEl>
                                        <p:attrNameLst>
                                          <p:attrName>style.visibility</p:attrName>
                                        </p:attrNameLst>
                                      </p:cBhvr>
                                      <p:to>
                                        <p:strVal val="visible"/>
                                      </p:to>
                                    </p:set>
                                    <p:animEffect transition="in" filter="box(out)">
                                      <p:cBhvr>
                                        <p:cTn id="26" dur="500"/>
                                        <p:tgtEl>
                                          <p:spTgt spid="219146"/>
                                        </p:tgtEl>
                                      </p:cBhvr>
                                    </p:animEffect>
                                  </p:childTnLst>
                                </p:cTn>
                              </p:par>
                            </p:childTnLst>
                          </p:cTn>
                        </p:par>
                        <p:par>
                          <p:cTn id="27" fill="hold">
                            <p:stCondLst>
                              <p:cond delay="2500"/>
                            </p:stCondLst>
                            <p:childTnLst>
                              <p:par>
                                <p:cTn id="28" presetID="4" presetClass="entr" presetSubtype="32" fill="hold" nodeType="afterEffect">
                                  <p:stCondLst>
                                    <p:cond delay="0"/>
                                  </p:stCondLst>
                                  <p:childTnLst>
                                    <p:set>
                                      <p:cBhvr>
                                        <p:cTn id="29" dur="1" fill="hold">
                                          <p:stCondLst>
                                            <p:cond delay="0"/>
                                          </p:stCondLst>
                                        </p:cTn>
                                        <p:tgtEl>
                                          <p:spTgt spid="219147"/>
                                        </p:tgtEl>
                                        <p:attrNameLst>
                                          <p:attrName>style.visibility</p:attrName>
                                        </p:attrNameLst>
                                      </p:cBhvr>
                                      <p:to>
                                        <p:strVal val="visible"/>
                                      </p:to>
                                    </p:set>
                                    <p:animEffect transition="in" filter="box(out)">
                                      <p:cBhvr>
                                        <p:cTn id="30" dur="500"/>
                                        <p:tgtEl>
                                          <p:spTgt spid="219147"/>
                                        </p:tgtEl>
                                      </p:cBhvr>
                                    </p:animEffect>
                                  </p:childTnLst>
                                </p:cTn>
                              </p:par>
                            </p:childTnLst>
                          </p:cTn>
                        </p:par>
                        <p:par>
                          <p:cTn id="31" fill="hold">
                            <p:stCondLst>
                              <p:cond delay="3000"/>
                            </p:stCondLst>
                            <p:childTnLst>
                              <p:par>
                                <p:cTn id="32" presetID="4" presetClass="entr" presetSubtype="32" fill="hold" nodeType="afterEffect">
                                  <p:stCondLst>
                                    <p:cond delay="0"/>
                                  </p:stCondLst>
                                  <p:childTnLst>
                                    <p:set>
                                      <p:cBhvr>
                                        <p:cTn id="33" dur="1" fill="hold">
                                          <p:stCondLst>
                                            <p:cond delay="0"/>
                                          </p:stCondLst>
                                        </p:cTn>
                                        <p:tgtEl>
                                          <p:spTgt spid="219148"/>
                                        </p:tgtEl>
                                        <p:attrNameLst>
                                          <p:attrName>style.visibility</p:attrName>
                                        </p:attrNameLst>
                                      </p:cBhvr>
                                      <p:to>
                                        <p:strVal val="visible"/>
                                      </p:to>
                                    </p:set>
                                    <p:animEffect transition="in" filter="box(out)">
                                      <p:cBhvr>
                                        <p:cTn id="34" dur="500"/>
                                        <p:tgtEl>
                                          <p:spTgt spid="219148"/>
                                        </p:tgtEl>
                                      </p:cBhvr>
                                    </p:animEffect>
                                  </p:childTnLst>
                                </p:cTn>
                              </p:par>
                            </p:childTnLst>
                          </p:cTn>
                        </p:par>
                        <p:par>
                          <p:cTn id="35" fill="hold">
                            <p:stCondLst>
                              <p:cond delay="3500"/>
                            </p:stCondLst>
                            <p:childTnLst>
                              <p:par>
                                <p:cTn id="36" presetID="4" presetClass="entr" presetSubtype="32" fill="hold" grpId="0" nodeType="afterEffect">
                                  <p:stCondLst>
                                    <p:cond delay="0"/>
                                  </p:stCondLst>
                                  <p:childTnLst>
                                    <p:set>
                                      <p:cBhvr>
                                        <p:cTn id="37" dur="1" fill="hold">
                                          <p:stCondLst>
                                            <p:cond delay="0"/>
                                          </p:stCondLst>
                                        </p:cTn>
                                        <p:tgtEl>
                                          <p:spTgt spid="219155"/>
                                        </p:tgtEl>
                                        <p:attrNameLst>
                                          <p:attrName>style.visibility</p:attrName>
                                        </p:attrNameLst>
                                      </p:cBhvr>
                                      <p:to>
                                        <p:strVal val="visible"/>
                                      </p:to>
                                    </p:set>
                                    <p:animEffect transition="in" filter="box(out)">
                                      <p:cBhvr>
                                        <p:cTn id="38" dur="500"/>
                                        <p:tgtEl>
                                          <p:spTgt spid="219155"/>
                                        </p:tgtEl>
                                      </p:cBhvr>
                                    </p:animEffect>
                                  </p:childTnLst>
                                </p:cTn>
                              </p:par>
                            </p:childTnLst>
                          </p:cTn>
                        </p:par>
                      </p:childTnLst>
                    </p:cTn>
                  </p:par>
                  <p:par>
                    <p:cTn id="39" fill="hold">
                      <p:stCondLst>
                        <p:cond delay="indefinite"/>
                      </p:stCondLst>
                      <p:childTnLst>
                        <p:par>
                          <p:cTn id="40" fill="hold">
                            <p:stCondLst>
                              <p:cond delay="0"/>
                            </p:stCondLst>
                            <p:childTnLst>
                              <p:par>
                                <p:cTn id="41" presetID="4" presetClass="entr" presetSubtype="32" fill="hold" grpId="0" nodeType="clickEffect">
                                  <p:stCondLst>
                                    <p:cond delay="0"/>
                                  </p:stCondLst>
                                  <p:childTnLst>
                                    <p:set>
                                      <p:cBhvr>
                                        <p:cTn id="42" dur="1" fill="hold">
                                          <p:stCondLst>
                                            <p:cond delay="0"/>
                                          </p:stCondLst>
                                        </p:cTn>
                                        <p:tgtEl>
                                          <p:spTgt spid="219156"/>
                                        </p:tgtEl>
                                        <p:attrNameLst>
                                          <p:attrName>style.visibility</p:attrName>
                                        </p:attrNameLst>
                                      </p:cBhvr>
                                      <p:to>
                                        <p:strVal val="visible"/>
                                      </p:to>
                                    </p:set>
                                    <p:animEffect transition="in" filter="box(out)">
                                      <p:cBhvr>
                                        <p:cTn id="43" dur="500"/>
                                        <p:tgtEl>
                                          <p:spTgt spid="219156"/>
                                        </p:tgtEl>
                                      </p:cBhvr>
                                    </p:animEffect>
                                  </p:childTnLst>
                                </p:cTn>
                              </p:par>
                            </p:childTnLst>
                          </p:cTn>
                        </p:par>
                        <p:par>
                          <p:cTn id="44" fill="hold">
                            <p:stCondLst>
                              <p:cond delay="500"/>
                            </p:stCondLst>
                            <p:childTnLst>
                              <p:par>
                                <p:cTn id="45" presetID="17" presetClass="entr" presetSubtype="8" fill="hold" nodeType="afterEffect">
                                  <p:stCondLst>
                                    <p:cond delay="0"/>
                                  </p:stCondLst>
                                  <p:childTnLst>
                                    <p:set>
                                      <p:cBhvr>
                                        <p:cTn id="46" dur="1" fill="hold">
                                          <p:stCondLst>
                                            <p:cond delay="0"/>
                                          </p:stCondLst>
                                        </p:cTn>
                                        <p:tgtEl>
                                          <p:spTgt spid="219149"/>
                                        </p:tgtEl>
                                        <p:attrNameLst>
                                          <p:attrName>style.visibility</p:attrName>
                                        </p:attrNameLst>
                                      </p:cBhvr>
                                      <p:to>
                                        <p:strVal val="visible"/>
                                      </p:to>
                                    </p:set>
                                    <p:anim calcmode="lin" valueType="num">
                                      <p:cBhvr>
                                        <p:cTn id="47" dur="500" fill="hold"/>
                                        <p:tgtEl>
                                          <p:spTgt spid="219149"/>
                                        </p:tgtEl>
                                        <p:attrNameLst>
                                          <p:attrName>ppt_x</p:attrName>
                                        </p:attrNameLst>
                                      </p:cBhvr>
                                      <p:tavLst>
                                        <p:tav tm="0">
                                          <p:val>
                                            <p:strVal val="#ppt_x-#ppt_w/2"/>
                                          </p:val>
                                        </p:tav>
                                        <p:tav tm="100000">
                                          <p:val>
                                            <p:strVal val="#ppt_x"/>
                                          </p:val>
                                        </p:tav>
                                      </p:tavLst>
                                    </p:anim>
                                    <p:anim calcmode="lin" valueType="num">
                                      <p:cBhvr>
                                        <p:cTn id="48" dur="500" fill="hold"/>
                                        <p:tgtEl>
                                          <p:spTgt spid="219149"/>
                                        </p:tgtEl>
                                        <p:attrNameLst>
                                          <p:attrName>ppt_y</p:attrName>
                                        </p:attrNameLst>
                                      </p:cBhvr>
                                      <p:tavLst>
                                        <p:tav tm="0">
                                          <p:val>
                                            <p:strVal val="#ppt_y"/>
                                          </p:val>
                                        </p:tav>
                                        <p:tav tm="100000">
                                          <p:val>
                                            <p:strVal val="#ppt_y"/>
                                          </p:val>
                                        </p:tav>
                                      </p:tavLst>
                                    </p:anim>
                                    <p:anim calcmode="lin" valueType="num">
                                      <p:cBhvr>
                                        <p:cTn id="49" dur="500" fill="hold"/>
                                        <p:tgtEl>
                                          <p:spTgt spid="219149"/>
                                        </p:tgtEl>
                                        <p:attrNameLst>
                                          <p:attrName>ppt_w</p:attrName>
                                        </p:attrNameLst>
                                      </p:cBhvr>
                                      <p:tavLst>
                                        <p:tav tm="0">
                                          <p:val>
                                            <p:fltVal val="0.000000"/>
                                          </p:val>
                                        </p:tav>
                                        <p:tav tm="100000">
                                          <p:val>
                                            <p:strVal val="#ppt_w"/>
                                          </p:val>
                                        </p:tav>
                                      </p:tavLst>
                                    </p:anim>
                                    <p:anim calcmode="lin" valueType="num">
                                      <p:cBhvr>
                                        <p:cTn id="50" dur="500" fill="hold"/>
                                        <p:tgtEl>
                                          <p:spTgt spid="219149"/>
                                        </p:tgtEl>
                                        <p:attrNameLst>
                                          <p:attrName>ppt_h</p:attrName>
                                        </p:attrNameLst>
                                      </p:cBhvr>
                                      <p:tavLst>
                                        <p:tav tm="0">
                                          <p:val>
                                            <p:strVal val="#ppt_h"/>
                                          </p:val>
                                        </p:tav>
                                        <p:tav tm="100000">
                                          <p:val>
                                            <p:strVal val="#ppt_h"/>
                                          </p:val>
                                        </p:tav>
                                      </p:tavLst>
                                    </p:anim>
                                  </p:childTnLst>
                                </p:cTn>
                              </p:par>
                            </p:childTnLst>
                          </p:cTn>
                        </p:par>
                        <p:par>
                          <p:cTn id="51" fill="hold">
                            <p:stCondLst>
                              <p:cond delay="1000"/>
                            </p:stCondLst>
                            <p:childTnLst>
                              <p:par>
                                <p:cTn id="52" presetID="17" presetClass="entr" presetSubtype="1" fill="hold" grpId="0" nodeType="afterEffect">
                                  <p:stCondLst>
                                    <p:cond delay="0"/>
                                  </p:stCondLst>
                                  <p:childTnLst>
                                    <p:set>
                                      <p:cBhvr>
                                        <p:cTn id="53" dur="1" fill="hold">
                                          <p:stCondLst>
                                            <p:cond delay="0"/>
                                          </p:stCondLst>
                                        </p:cTn>
                                        <p:tgtEl>
                                          <p:spTgt spid="219160"/>
                                        </p:tgtEl>
                                        <p:attrNameLst>
                                          <p:attrName>style.visibility</p:attrName>
                                        </p:attrNameLst>
                                      </p:cBhvr>
                                      <p:to>
                                        <p:strVal val="visible"/>
                                      </p:to>
                                    </p:set>
                                    <p:anim calcmode="lin" valueType="num">
                                      <p:cBhvr>
                                        <p:cTn id="54" dur="500" fill="hold"/>
                                        <p:tgtEl>
                                          <p:spTgt spid="219160"/>
                                        </p:tgtEl>
                                        <p:attrNameLst>
                                          <p:attrName>ppt_x</p:attrName>
                                        </p:attrNameLst>
                                      </p:cBhvr>
                                      <p:tavLst>
                                        <p:tav tm="0">
                                          <p:val>
                                            <p:strVal val="#ppt_x"/>
                                          </p:val>
                                        </p:tav>
                                        <p:tav tm="100000">
                                          <p:val>
                                            <p:strVal val="#ppt_x"/>
                                          </p:val>
                                        </p:tav>
                                      </p:tavLst>
                                    </p:anim>
                                    <p:anim calcmode="lin" valueType="num">
                                      <p:cBhvr>
                                        <p:cTn id="55" dur="500" fill="hold"/>
                                        <p:tgtEl>
                                          <p:spTgt spid="219160"/>
                                        </p:tgtEl>
                                        <p:attrNameLst>
                                          <p:attrName>ppt_y</p:attrName>
                                        </p:attrNameLst>
                                      </p:cBhvr>
                                      <p:tavLst>
                                        <p:tav tm="0">
                                          <p:val>
                                            <p:strVal val="#ppt_y-#ppt_h/2"/>
                                          </p:val>
                                        </p:tav>
                                        <p:tav tm="100000">
                                          <p:val>
                                            <p:strVal val="#ppt_y"/>
                                          </p:val>
                                        </p:tav>
                                      </p:tavLst>
                                    </p:anim>
                                    <p:anim calcmode="lin" valueType="num">
                                      <p:cBhvr>
                                        <p:cTn id="56" dur="500" fill="hold"/>
                                        <p:tgtEl>
                                          <p:spTgt spid="219160"/>
                                        </p:tgtEl>
                                        <p:attrNameLst>
                                          <p:attrName>ppt_w</p:attrName>
                                        </p:attrNameLst>
                                      </p:cBhvr>
                                      <p:tavLst>
                                        <p:tav tm="0">
                                          <p:val>
                                            <p:strVal val="#ppt_w"/>
                                          </p:val>
                                        </p:tav>
                                        <p:tav tm="100000">
                                          <p:val>
                                            <p:strVal val="#ppt_w"/>
                                          </p:val>
                                        </p:tav>
                                      </p:tavLst>
                                    </p:anim>
                                    <p:anim calcmode="lin" valueType="num">
                                      <p:cBhvr>
                                        <p:cTn id="57" dur="500" fill="hold"/>
                                        <p:tgtEl>
                                          <p:spTgt spid="219160"/>
                                        </p:tgtEl>
                                        <p:attrNameLst>
                                          <p:attrName>ppt_h</p:attrName>
                                        </p:attrNameLst>
                                      </p:cBhvr>
                                      <p:tavLst>
                                        <p:tav tm="0">
                                          <p:val>
                                            <p:fltVal val="0.000000"/>
                                          </p:val>
                                        </p:tav>
                                        <p:tav tm="100000">
                                          <p:val>
                                            <p:strVal val="#ppt_h"/>
                                          </p:val>
                                        </p:tav>
                                      </p:tavLst>
                                    </p:anim>
                                  </p:childTnLst>
                                  <p:subTnLst>
                                    <p:audio>
                                      <p:cMediaNode>
                                        <p:cTn display="0" masterRel="sameClick">
                                          <p:stCondLst>
                                            <p:cond evt="begin" delay="0">
                                              <p:tn val="52"/>
                                            </p:cond>
                                          </p:stCondLst>
                                          <p:endCondLst>
                                            <p:cond evt="onStopAudio" delay="0">
                                              <p:tgtEl>
                                                <p:sldTgt/>
                                              </p:tgtEl>
                                            </p:cond>
                                          </p:endCondLst>
                                        </p:cTn>
                                        <p:tgtEl>
                                          <p:sndTgt r:embed="rId7" name="GLASS.WAV"/>
                                        </p:tgtEl>
                                      </p:cMediaNode>
                                    </p:audio>
                                  </p:subTnLst>
                                </p:cTn>
                              </p:par>
                            </p:childTnLst>
                          </p:cTn>
                        </p:par>
                      </p:childTnLst>
                    </p:cTn>
                  </p:par>
                  <p:par>
                    <p:cTn id="58" fill="hold">
                      <p:stCondLst>
                        <p:cond delay="indefinite"/>
                      </p:stCondLst>
                      <p:childTnLst>
                        <p:par>
                          <p:cTn id="59" fill="hold">
                            <p:stCondLst>
                              <p:cond delay="0"/>
                            </p:stCondLst>
                            <p:childTnLst>
                              <p:par>
                                <p:cTn id="60" presetID="4" presetClass="entr" presetSubtype="32" fill="hold" grpId="0" nodeType="clickEffect">
                                  <p:stCondLst>
                                    <p:cond delay="0"/>
                                  </p:stCondLst>
                                  <p:childTnLst>
                                    <p:set>
                                      <p:cBhvr>
                                        <p:cTn id="61" dur="1" fill="hold">
                                          <p:stCondLst>
                                            <p:cond delay="0"/>
                                          </p:stCondLst>
                                        </p:cTn>
                                        <p:tgtEl>
                                          <p:spTgt spid="219157"/>
                                        </p:tgtEl>
                                        <p:attrNameLst>
                                          <p:attrName>style.visibility</p:attrName>
                                        </p:attrNameLst>
                                      </p:cBhvr>
                                      <p:to>
                                        <p:strVal val="visible"/>
                                      </p:to>
                                    </p:set>
                                    <p:animEffect transition="in" filter="box(out)">
                                      <p:cBhvr>
                                        <p:cTn id="62" dur="500"/>
                                        <p:tgtEl>
                                          <p:spTgt spid="219157"/>
                                        </p:tgtEl>
                                      </p:cBhvr>
                                    </p:animEffect>
                                  </p:childTnLst>
                                </p:cTn>
                              </p:par>
                            </p:childTnLst>
                          </p:cTn>
                        </p:par>
                        <p:par>
                          <p:cTn id="63" fill="hold">
                            <p:stCondLst>
                              <p:cond delay="500"/>
                            </p:stCondLst>
                            <p:childTnLst>
                              <p:par>
                                <p:cTn id="64" presetID="17" presetClass="entr" presetSubtype="8" fill="hold" nodeType="afterEffect">
                                  <p:stCondLst>
                                    <p:cond delay="0"/>
                                  </p:stCondLst>
                                  <p:childTnLst>
                                    <p:set>
                                      <p:cBhvr>
                                        <p:cTn id="65" dur="1" fill="hold">
                                          <p:stCondLst>
                                            <p:cond delay="0"/>
                                          </p:stCondLst>
                                        </p:cTn>
                                        <p:tgtEl>
                                          <p:spTgt spid="219150"/>
                                        </p:tgtEl>
                                        <p:attrNameLst>
                                          <p:attrName>style.visibility</p:attrName>
                                        </p:attrNameLst>
                                      </p:cBhvr>
                                      <p:to>
                                        <p:strVal val="visible"/>
                                      </p:to>
                                    </p:set>
                                    <p:anim calcmode="lin" valueType="num">
                                      <p:cBhvr>
                                        <p:cTn id="66" dur="500" fill="hold"/>
                                        <p:tgtEl>
                                          <p:spTgt spid="219150"/>
                                        </p:tgtEl>
                                        <p:attrNameLst>
                                          <p:attrName>ppt_x</p:attrName>
                                        </p:attrNameLst>
                                      </p:cBhvr>
                                      <p:tavLst>
                                        <p:tav tm="0">
                                          <p:val>
                                            <p:strVal val="#ppt_x-#ppt_w/2"/>
                                          </p:val>
                                        </p:tav>
                                        <p:tav tm="100000">
                                          <p:val>
                                            <p:strVal val="#ppt_x"/>
                                          </p:val>
                                        </p:tav>
                                      </p:tavLst>
                                    </p:anim>
                                    <p:anim calcmode="lin" valueType="num">
                                      <p:cBhvr>
                                        <p:cTn id="67" dur="500" fill="hold"/>
                                        <p:tgtEl>
                                          <p:spTgt spid="219150"/>
                                        </p:tgtEl>
                                        <p:attrNameLst>
                                          <p:attrName>ppt_y</p:attrName>
                                        </p:attrNameLst>
                                      </p:cBhvr>
                                      <p:tavLst>
                                        <p:tav tm="0">
                                          <p:val>
                                            <p:strVal val="#ppt_y"/>
                                          </p:val>
                                        </p:tav>
                                        <p:tav tm="100000">
                                          <p:val>
                                            <p:strVal val="#ppt_y"/>
                                          </p:val>
                                        </p:tav>
                                      </p:tavLst>
                                    </p:anim>
                                    <p:anim calcmode="lin" valueType="num">
                                      <p:cBhvr>
                                        <p:cTn id="68" dur="500" fill="hold"/>
                                        <p:tgtEl>
                                          <p:spTgt spid="219150"/>
                                        </p:tgtEl>
                                        <p:attrNameLst>
                                          <p:attrName>ppt_w</p:attrName>
                                        </p:attrNameLst>
                                      </p:cBhvr>
                                      <p:tavLst>
                                        <p:tav tm="0">
                                          <p:val>
                                            <p:fltVal val="0.000000"/>
                                          </p:val>
                                        </p:tav>
                                        <p:tav tm="100000">
                                          <p:val>
                                            <p:strVal val="#ppt_w"/>
                                          </p:val>
                                        </p:tav>
                                      </p:tavLst>
                                    </p:anim>
                                    <p:anim calcmode="lin" valueType="num">
                                      <p:cBhvr>
                                        <p:cTn id="69" dur="500" fill="hold"/>
                                        <p:tgtEl>
                                          <p:spTgt spid="219150"/>
                                        </p:tgtEl>
                                        <p:attrNameLst>
                                          <p:attrName>ppt_h</p:attrName>
                                        </p:attrNameLst>
                                      </p:cBhvr>
                                      <p:tavLst>
                                        <p:tav tm="0">
                                          <p:val>
                                            <p:strVal val="#ppt_h"/>
                                          </p:val>
                                        </p:tav>
                                        <p:tav tm="100000">
                                          <p:val>
                                            <p:strVal val="#ppt_h"/>
                                          </p:val>
                                        </p:tav>
                                      </p:tavLst>
                                    </p:anim>
                                  </p:childTnLst>
                                </p:cTn>
                              </p:par>
                            </p:childTnLst>
                          </p:cTn>
                        </p:par>
                        <p:par>
                          <p:cTn id="70" fill="hold">
                            <p:stCondLst>
                              <p:cond delay="1000"/>
                            </p:stCondLst>
                            <p:childTnLst>
                              <p:par>
                                <p:cTn id="71" presetID="4" presetClass="entr" presetSubtype="32" fill="hold" grpId="0" nodeType="afterEffect">
                                  <p:stCondLst>
                                    <p:cond delay="0"/>
                                  </p:stCondLst>
                                  <p:childTnLst>
                                    <p:set>
                                      <p:cBhvr>
                                        <p:cTn id="72" dur="1" fill="hold">
                                          <p:stCondLst>
                                            <p:cond delay="0"/>
                                          </p:stCondLst>
                                        </p:cTn>
                                        <p:tgtEl>
                                          <p:spTgt spid="219161"/>
                                        </p:tgtEl>
                                        <p:attrNameLst>
                                          <p:attrName>style.visibility</p:attrName>
                                        </p:attrNameLst>
                                      </p:cBhvr>
                                      <p:to>
                                        <p:strVal val="visible"/>
                                      </p:to>
                                    </p:set>
                                    <p:animEffect transition="in" filter="box(out)">
                                      <p:cBhvr>
                                        <p:cTn id="73" dur="500"/>
                                        <p:tgtEl>
                                          <p:spTgt spid="219161"/>
                                        </p:tgtEl>
                                      </p:cBhvr>
                                    </p:animEffect>
                                  </p:childTnLst>
                                </p:cTn>
                              </p:par>
                            </p:childTnLst>
                          </p:cTn>
                        </p:par>
                      </p:childTnLst>
                    </p:cTn>
                  </p:par>
                  <p:par>
                    <p:cTn id="74" fill="hold">
                      <p:stCondLst>
                        <p:cond delay="indefinite"/>
                      </p:stCondLst>
                      <p:childTnLst>
                        <p:par>
                          <p:cTn id="75" fill="hold">
                            <p:stCondLst>
                              <p:cond delay="0"/>
                            </p:stCondLst>
                            <p:childTnLst>
                              <p:par>
                                <p:cTn id="76" presetID="4" presetClass="entr" presetSubtype="32" fill="hold" grpId="0" nodeType="clickEffect">
                                  <p:stCondLst>
                                    <p:cond delay="0"/>
                                  </p:stCondLst>
                                  <p:childTnLst>
                                    <p:set>
                                      <p:cBhvr>
                                        <p:cTn id="77" dur="1" fill="hold">
                                          <p:stCondLst>
                                            <p:cond delay="0"/>
                                          </p:stCondLst>
                                        </p:cTn>
                                        <p:tgtEl>
                                          <p:spTgt spid="219158"/>
                                        </p:tgtEl>
                                        <p:attrNameLst>
                                          <p:attrName>style.visibility</p:attrName>
                                        </p:attrNameLst>
                                      </p:cBhvr>
                                      <p:to>
                                        <p:strVal val="visible"/>
                                      </p:to>
                                    </p:set>
                                    <p:animEffect transition="in" filter="box(out)">
                                      <p:cBhvr>
                                        <p:cTn id="78" dur="500"/>
                                        <p:tgtEl>
                                          <p:spTgt spid="219158"/>
                                        </p:tgtEl>
                                      </p:cBhvr>
                                    </p:animEffect>
                                  </p:childTnLst>
                                </p:cTn>
                              </p:par>
                            </p:childTnLst>
                          </p:cTn>
                        </p:par>
                        <p:par>
                          <p:cTn id="79" fill="hold">
                            <p:stCondLst>
                              <p:cond delay="500"/>
                            </p:stCondLst>
                            <p:childTnLst>
                              <p:par>
                                <p:cTn id="80" presetID="17" presetClass="entr" presetSubtype="8" fill="hold" nodeType="afterEffect">
                                  <p:stCondLst>
                                    <p:cond delay="0"/>
                                  </p:stCondLst>
                                  <p:childTnLst>
                                    <p:set>
                                      <p:cBhvr>
                                        <p:cTn id="81" dur="1" fill="hold">
                                          <p:stCondLst>
                                            <p:cond delay="0"/>
                                          </p:stCondLst>
                                        </p:cTn>
                                        <p:tgtEl>
                                          <p:spTgt spid="219151"/>
                                        </p:tgtEl>
                                        <p:attrNameLst>
                                          <p:attrName>style.visibility</p:attrName>
                                        </p:attrNameLst>
                                      </p:cBhvr>
                                      <p:to>
                                        <p:strVal val="visible"/>
                                      </p:to>
                                    </p:set>
                                    <p:anim calcmode="lin" valueType="num">
                                      <p:cBhvr>
                                        <p:cTn id="82" dur="500" fill="hold"/>
                                        <p:tgtEl>
                                          <p:spTgt spid="219151"/>
                                        </p:tgtEl>
                                        <p:attrNameLst>
                                          <p:attrName>ppt_x</p:attrName>
                                        </p:attrNameLst>
                                      </p:cBhvr>
                                      <p:tavLst>
                                        <p:tav tm="0">
                                          <p:val>
                                            <p:strVal val="#ppt_x-#ppt_w/2"/>
                                          </p:val>
                                        </p:tav>
                                        <p:tav tm="100000">
                                          <p:val>
                                            <p:strVal val="#ppt_x"/>
                                          </p:val>
                                        </p:tav>
                                      </p:tavLst>
                                    </p:anim>
                                    <p:anim calcmode="lin" valueType="num">
                                      <p:cBhvr>
                                        <p:cTn id="83" dur="500" fill="hold"/>
                                        <p:tgtEl>
                                          <p:spTgt spid="219151"/>
                                        </p:tgtEl>
                                        <p:attrNameLst>
                                          <p:attrName>ppt_y</p:attrName>
                                        </p:attrNameLst>
                                      </p:cBhvr>
                                      <p:tavLst>
                                        <p:tav tm="0">
                                          <p:val>
                                            <p:strVal val="#ppt_y"/>
                                          </p:val>
                                        </p:tav>
                                        <p:tav tm="100000">
                                          <p:val>
                                            <p:strVal val="#ppt_y"/>
                                          </p:val>
                                        </p:tav>
                                      </p:tavLst>
                                    </p:anim>
                                    <p:anim calcmode="lin" valueType="num">
                                      <p:cBhvr>
                                        <p:cTn id="84" dur="500" fill="hold"/>
                                        <p:tgtEl>
                                          <p:spTgt spid="219151"/>
                                        </p:tgtEl>
                                        <p:attrNameLst>
                                          <p:attrName>ppt_w</p:attrName>
                                        </p:attrNameLst>
                                      </p:cBhvr>
                                      <p:tavLst>
                                        <p:tav tm="0">
                                          <p:val>
                                            <p:fltVal val="0.000000"/>
                                          </p:val>
                                        </p:tav>
                                        <p:tav tm="100000">
                                          <p:val>
                                            <p:strVal val="#ppt_w"/>
                                          </p:val>
                                        </p:tav>
                                      </p:tavLst>
                                    </p:anim>
                                    <p:anim calcmode="lin" valueType="num">
                                      <p:cBhvr>
                                        <p:cTn id="85" dur="500" fill="hold"/>
                                        <p:tgtEl>
                                          <p:spTgt spid="219151"/>
                                        </p:tgtEl>
                                        <p:attrNameLst>
                                          <p:attrName>ppt_h</p:attrName>
                                        </p:attrNameLst>
                                      </p:cBhvr>
                                      <p:tavLst>
                                        <p:tav tm="0">
                                          <p:val>
                                            <p:strVal val="#ppt_h"/>
                                          </p:val>
                                        </p:tav>
                                        <p:tav tm="100000">
                                          <p:val>
                                            <p:strVal val="#ppt_h"/>
                                          </p:val>
                                        </p:tav>
                                      </p:tavLst>
                                    </p:anim>
                                  </p:childTnLst>
                                </p:cTn>
                              </p:par>
                            </p:childTnLst>
                          </p:cTn>
                        </p:par>
                        <p:par>
                          <p:cTn id="86" fill="hold">
                            <p:stCondLst>
                              <p:cond delay="1000"/>
                            </p:stCondLst>
                            <p:childTnLst>
                              <p:par>
                                <p:cTn id="87" presetID="17" presetClass="entr" presetSubtype="1" fill="hold" grpId="0" nodeType="afterEffect">
                                  <p:stCondLst>
                                    <p:cond delay="0"/>
                                  </p:stCondLst>
                                  <p:childTnLst>
                                    <p:set>
                                      <p:cBhvr>
                                        <p:cTn id="88" dur="1" fill="hold">
                                          <p:stCondLst>
                                            <p:cond delay="0"/>
                                          </p:stCondLst>
                                        </p:cTn>
                                        <p:tgtEl>
                                          <p:spTgt spid="219162"/>
                                        </p:tgtEl>
                                        <p:attrNameLst>
                                          <p:attrName>style.visibility</p:attrName>
                                        </p:attrNameLst>
                                      </p:cBhvr>
                                      <p:to>
                                        <p:strVal val="visible"/>
                                      </p:to>
                                    </p:set>
                                    <p:anim calcmode="lin" valueType="num">
                                      <p:cBhvr>
                                        <p:cTn id="89" dur="500" fill="hold"/>
                                        <p:tgtEl>
                                          <p:spTgt spid="219162"/>
                                        </p:tgtEl>
                                        <p:attrNameLst>
                                          <p:attrName>ppt_x</p:attrName>
                                        </p:attrNameLst>
                                      </p:cBhvr>
                                      <p:tavLst>
                                        <p:tav tm="0">
                                          <p:val>
                                            <p:strVal val="#ppt_x"/>
                                          </p:val>
                                        </p:tav>
                                        <p:tav tm="100000">
                                          <p:val>
                                            <p:strVal val="#ppt_x"/>
                                          </p:val>
                                        </p:tav>
                                      </p:tavLst>
                                    </p:anim>
                                    <p:anim calcmode="lin" valueType="num">
                                      <p:cBhvr>
                                        <p:cTn id="90" dur="500" fill="hold"/>
                                        <p:tgtEl>
                                          <p:spTgt spid="219162"/>
                                        </p:tgtEl>
                                        <p:attrNameLst>
                                          <p:attrName>ppt_y</p:attrName>
                                        </p:attrNameLst>
                                      </p:cBhvr>
                                      <p:tavLst>
                                        <p:tav tm="0">
                                          <p:val>
                                            <p:strVal val="#ppt_y-#ppt_h/2"/>
                                          </p:val>
                                        </p:tav>
                                        <p:tav tm="100000">
                                          <p:val>
                                            <p:strVal val="#ppt_y"/>
                                          </p:val>
                                        </p:tav>
                                      </p:tavLst>
                                    </p:anim>
                                    <p:anim calcmode="lin" valueType="num">
                                      <p:cBhvr>
                                        <p:cTn id="91" dur="500" fill="hold"/>
                                        <p:tgtEl>
                                          <p:spTgt spid="219162"/>
                                        </p:tgtEl>
                                        <p:attrNameLst>
                                          <p:attrName>ppt_w</p:attrName>
                                        </p:attrNameLst>
                                      </p:cBhvr>
                                      <p:tavLst>
                                        <p:tav tm="0">
                                          <p:val>
                                            <p:strVal val="#ppt_w"/>
                                          </p:val>
                                        </p:tav>
                                        <p:tav tm="100000">
                                          <p:val>
                                            <p:strVal val="#ppt_w"/>
                                          </p:val>
                                        </p:tav>
                                      </p:tavLst>
                                    </p:anim>
                                    <p:anim calcmode="lin" valueType="num">
                                      <p:cBhvr>
                                        <p:cTn id="92" dur="500" fill="hold"/>
                                        <p:tgtEl>
                                          <p:spTgt spid="219162"/>
                                        </p:tgtEl>
                                        <p:attrNameLst>
                                          <p:attrName>ppt_h</p:attrName>
                                        </p:attrNameLst>
                                      </p:cBhvr>
                                      <p:tavLst>
                                        <p:tav tm="0">
                                          <p:val>
                                            <p:fltVal val="0.000000"/>
                                          </p:val>
                                        </p:tav>
                                        <p:tav tm="100000">
                                          <p:val>
                                            <p:strVal val="#ppt_h"/>
                                          </p:val>
                                        </p:tav>
                                      </p:tavLst>
                                    </p:anim>
                                  </p:childTnLst>
                                  <p:subTnLst>
                                    <p:audio>
                                      <p:cMediaNode>
                                        <p:cTn display="0" masterRel="sameClick">
                                          <p:stCondLst>
                                            <p:cond evt="begin" delay="0">
                                              <p:tn val="87"/>
                                            </p:cond>
                                          </p:stCondLst>
                                          <p:endCondLst>
                                            <p:cond evt="onStopAudio" delay="0">
                                              <p:tgtEl>
                                                <p:sldTgt/>
                                              </p:tgtEl>
                                            </p:cond>
                                          </p:endCondLst>
                                        </p:cTn>
                                        <p:tgtEl>
                                          <p:sndTgt r:embed="rId7" name="GLASS.WAV"/>
                                        </p:tgtEl>
                                      </p:cMediaNode>
                                    </p:audio>
                                  </p:subTnLst>
                                </p:cTn>
                              </p:par>
                            </p:childTnLst>
                          </p:cTn>
                        </p:par>
                      </p:childTnLst>
                    </p:cTn>
                  </p:par>
                  <p:par>
                    <p:cTn id="93" fill="hold">
                      <p:stCondLst>
                        <p:cond delay="indefinite"/>
                      </p:stCondLst>
                      <p:childTnLst>
                        <p:par>
                          <p:cTn id="94" fill="hold">
                            <p:stCondLst>
                              <p:cond delay="0"/>
                            </p:stCondLst>
                            <p:childTnLst>
                              <p:par>
                                <p:cTn id="95" presetID="4" presetClass="entr" presetSubtype="32" fill="hold" grpId="0" nodeType="clickEffect">
                                  <p:stCondLst>
                                    <p:cond delay="0"/>
                                  </p:stCondLst>
                                  <p:childTnLst>
                                    <p:set>
                                      <p:cBhvr>
                                        <p:cTn id="96" dur="1" fill="hold">
                                          <p:stCondLst>
                                            <p:cond delay="0"/>
                                          </p:stCondLst>
                                        </p:cTn>
                                        <p:tgtEl>
                                          <p:spTgt spid="219159"/>
                                        </p:tgtEl>
                                        <p:attrNameLst>
                                          <p:attrName>style.visibility</p:attrName>
                                        </p:attrNameLst>
                                      </p:cBhvr>
                                      <p:to>
                                        <p:strVal val="visible"/>
                                      </p:to>
                                    </p:set>
                                    <p:animEffect transition="in" filter="box(out)">
                                      <p:cBhvr>
                                        <p:cTn id="97" dur="500"/>
                                        <p:tgtEl>
                                          <p:spTgt spid="219159"/>
                                        </p:tgtEl>
                                      </p:cBhvr>
                                    </p:animEffect>
                                  </p:childTnLst>
                                </p:cTn>
                              </p:par>
                            </p:childTnLst>
                          </p:cTn>
                        </p:par>
                        <p:par>
                          <p:cTn id="98" fill="hold">
                            <p:stCondLst>
                              <p:cond delay="500"/>
                            </p:stCondLst>
                            <p:childTnLst>
                              <p:par>
                                <p:cTn id="99" presetID="17" presetClass="entr" presetSubtype="8" fill="hold" nodeType="afterEffect">
                                  <p:stCondLst>
                                    <p:cond delay="0"/>
                                  </p:stCondLst>
                                  <p:childTnLst>
                                    <p:set>
                                      <p:cBhvr>
                                        <p:cTn id="100" dur="1" fill="hold">
                                          <p:stCondLst>
                                            <p:cond delay="0"/>
                                          </p:stCondLst>
                                        </p:cTn>
                                        <p:tgtEl>
                                          <p:spTgt spid="219152"/>
                                        </p:tgtEl>
                                        <p:attrNameLst>
                                          <p:attrName>style.visibility</p:attrName>
                                        </p:attrNameLst>
                                      </p:cBhvr>
                                      <p:to>
                                        <p:strVal val="visible"/>
                                      </p:to>
                                    </p:set>
                                    <p:anim calcmode="lin" valueType="num">
                                      <p:cBhvr>
                                        <p:cTn id="101" dur="500" fill="hold"/>
                                        <p:tgtEl>
                                          <p:spTgt spid="219152"/>
                                        </p:tgtEl>
                                        <p:attrNameLst>
                                          <p:attrName>ppt_x</p:attrName>
                                        </p:attrNameLst>
                                      </p:cBhvr>
                                      <p:tavLst>
                                        <p:tav tm="0">
                                          <p:val>
                                            <p:strVal val="#ppt_x-#ppt_w/2"/>
                                          </p:val>
                                        </p:tav>
                                        <p:tav tm="100000">
                                          <p:val>
                                            <p:strVal val="#ppt_x"/>
                                          </p:val>
                                        </p:tav>
                                      </p:tavLst>
                                    </p:anim>
                                    <p:anim calcmode="lin" valueType="num">
                                      <p:cBhvr>
                                        <p:cTn id="102" dur="500" fill="hold"/>
                                        <p:tgtEl>
                                          <p:spTgt spid="219152"/>
                                        </p:tgtEl>
                                        <p:attrNameLst>
                                          <p:attrName>ppt_y</p:attrName>
                                        </p:attrNameLst>
                                      </p:cBhvr>
                                      <p:tavLst>
                                        <p:tav tm="0">
                                          <p:val>
                                            <p:strVal val="#ppt_y"/>
                                          </p:val>
                                        </p:tav>
                                        <p:tav tm="100000">
                                          <p:val>
                                            <p:strVal val="#ppt_y"/>
                                          </p:val>
                                        </p:tav>
                                      </p:tavLst>
                                    </p:anim>
                                    <p:anim calcmode="lin" valueType="num">
                                      <p:cBhvr>
                                        <p:cTn id="103" dur="500" fill="hold"/>
                                        <p:tgtEl>
                                          <p:spTgt spid="219152"/>
                                        </p:tgtEl>
                                        <p:attrNameLst>
                                          <p:attrName>ppt_w</p:attrName>
                                        </p:attrNameLst>
                                      </p:cBhvr>
                                      <p:tavLst>
                                        <p:tav tm="0">
                                          <p:val>
                                            <p:fltVal val="0.000000"/>
                                          </p:val>
                                        </p:tav>
                                        <p:tav tm="100000">
                                          <p:val>
                                            <p:strVal val="#ppt_w"/>
                                          </p:val>
                                        </p:tav>
                                      </p:tavLst>
                                    </p:anim>
                                    <p:anim calcmode="lin" valueType="num">
                                      <p:cBhvr>
                                        <p:cTn id="104" dur="500" fill="hold"/>
                                        <p:tgtEl>
                                          <p:spTgt spid="219152"/>
                                        </p:tgtEl>
                                        <p:attrNameLst>
                                          <p:attrName>ppt_h</p:attrName>
                                        </p:attrNameLst>
                                      </p:cBhvr>
                                      <p:tavLst>
                                        <p:tav tm="0">
                                          <p:val>
                                            <p:strVal val="#ppt_h"/>
                                          </p:val>
                                        </p:tav>
                                        <p:tav tm="100000">
                                          <p:val>
                                            <p:strVal val="#ppt_h"/>
                                          </p:val>
                                        </p:tav>
                                      </p:tavLst>
                                    </p:anim>
                                  </p:childTnLst>
                                </p:cTn>
                              </p:par>
                            </p:childTnLst>
                          </p:cTn>
                        </p:par>
                        <p:par>
                          <p:cTn id="105" fill="hold">
                            <p:stCondLst>
                              <p:cond delay="1000"/>
                            </p:stCondLst>
                            <p:childTnLst>
                              <p:par>
                                <p:cTn id="106" presetID="4" presetClass="entr" presetSubtype="32" fill="hold" grpId="0" nodeType="afterEffect">
                                  <p:stCondLst>
                                    <p:cond delay="0"/>
                                  </p:stCondLst>
                                  <p:childTnLst>
                                    <p:set>
                                      <p:cBhvr>
                                        <p:cTn id="107" dur="1" fill="hold">
                                          <p:stCondLst>
                                            <p:cond delay="0"/>
                                          </p:stCondLst>
                                        </p:cTn>
                                        <p:tgtEl>
                                          <p:spTgt spid="219163"/>
                                        </p:tgtEl>
                                        <p:attrNameLst>
                                          <p:attrName>style.visibility</p:attrName>
                                        </p:attrNameLst>
                                      </p:cBhvr>
                                      <p:to>
                                        <p:strVal val="visible"/>
                                      </p:to>
                                    </p:set>
                                    <p:animEffect transition="in" filter="box(out)">
                                      <p:cBhvr>
                                        <p:cTn id="108" dur="500"/>
                                        <p:tgtEl>
                                          <p:spTgt spid="219163"/>
                                        </p:tgtEl>
                                      </p:cBhvr>
                                    </p:animEffect>
                                  </p:childTnLst>
                                </p:cTn>
                              </p:par>
                            </p:childTnLst>
                          </p:cTn>
                        </p:par>
                        <p:par>
                          <p:cTn id="109" fill="hold">
                            <p:stCondLst>
                              <p:cond delay="1500"/>
                            </p:stCondLst>
                            <p:childTnLst>
                              <p:par>
                                <p:cTn id="110" presetID="17" presetClass="entr" presetSubtype="8" fill="hold" nodeType="afterEffect">
                                  <p:stCondLst>
                                    <p:cond delay="0"/>
                                  </p:stCondLst>
                                  <p:childTnLst>
                                    <p:set>
                                      <p:cBhvr>
                                        <p:cTn id="111" dur="1" fill="hold">
                                          <p:stCondLst>
                                            <p:cond delay="0"/>
                                          </p:stCondLst>
                                        </p:cTn>
                                        <p:tgtEl>
                                          <p:spTgt spid="219153"/>
                                        </p:tgtEl>
                                        <p:attrNameLst>
                                          <p:attrName>style.visibility</p:attrName>
                                        </p:attrNameLst>
                                      </p:cBhvr>
                                      <p:to>
                                        <p:strVal val="visible"/>
                                      </p:to>
                                    </p:set>
                                    <p:anim calcmode="lin" valueType="num">
                                      <p:cBhvr>
                                        <p:cTn id="112" dur="500" fill="hold"/>
                                        <p:tgtEl>
                                          <p:spTgt spid="219153"/>
                                        </p:tgtEl>
                                        <p:attrNameLst>
                                          <p:attrName>ppt_x</p:attrName>
                                        </p:attrNameLst>
                                      </p:cBhvr>
                                      <p:tavLst>
                                        <p:tav tm="0">
                                          <p:val>
                                            <p:strVal val="#ppt_x-#ppt_w/2"/>
                                          </p:val>
                                        </p:tav>
                                        <p:tav tm="100000">
                                          <p:val>
                                            <p:strVal val="#ppt_x"/>
                                          </p:val>
                                        </p:tav>
                                      </p:tavLst>
                                    </p:anim>
                                    <p:anim calcmode="lin" valueType="num">
                                      <p:cBhvr>
                                        <p:cTn id="113" dur="500" fill="hold"/>
                                        <p:tgtEl>
                                          <p:spTgt spid="219153"/>
                                        </p:tgtEl>
                                        <p:attrNameLst>
                                          <p:attrName>ppt_y</p:attrName>
                                        </p:attrNameLst>
                                      </p:cBhvr>
                                      <p:tavLst>
                                        <p:tav tm="0">
                                          <p:val>
                                            <p:strVal val="#ppt_y"/>
                                          </p:val>
                                        </p:tav>
                                        <p:tav tm="100000">
                                          <p:val>
                                            <p:strVal val="#ppt_y"/>
                                          </p:val>
                                        </p:tav>
                                      </p:tavLst>
                                    </p:anim>
                                    <p:anim calcmode="lin" valueType="num">
                                      <p:cBhvr>
                                        <p:cTn id="114" dur="500" fill="hold"/>
                                        <p:tgtEl>
                                          <p:spTgt spid="219153"/>
                                        </p:tgtEl>
                                        <p:attrNameLst>
                                          <p:attrName>ppt_w</p:attrName>
                                        </p:attrNameLst>
                                      </p:cBhvr>
                                      <p:tavLst>
                                        <p:tav tm="0">
                                          <p:val>
                                            <p:fltVal val="0.000000"/>
                                          </p:val>
                                        </p:tav>
                                        <p:tav tm="100000">
                                          <p:val>
                                            <p:strVal val="#ppt_w"/>
                                          </p:val>
                                        </p:tav>
                                      </p:tavLst>
                                    </p:anim>
                                    <p:anim calcmode="lin" valueType="num">
                                      <p:cBhvr>
                                        <p:cTn id="115" dur="500" fill="hold"/>
                                        <p:tgtEl>
                                          <p:spTgt spid="21915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54" grpId="0"/>
      <p:bldP spid="219155" grpId="0"/>
      <p:bldP spid="219156" grpId="0"/>
      <p:bldP spid="219157" grpId="0"/>
      <p:bldP spid="219158" grpId="0"/>
      <p:bldP spid="219159" grpId="0"/>
      <p:bldP spid="219160" grpId="0" animBg="1"/>
      <p:bldP spid="219161" grpId="0"/>
      <p:bldP spid="219162" grpId="0" animBg="1"/>
      <p:bldP spid="219163"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内容占位符 2"/>
          <p:cNvSpPr>
            <a:spLocks noGrp="1"/>
          </p:cNvSpPr>
          <p:nvPr>
            <p:ph idx="1"/>
          </p:nvPr>
        </p:nvSpPr>
        <p:spPr>
          <a:xfrm>
            <a:off x="357188" y="1214438"/>
            <a:ext cx="8286750" cy="5214938"/>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rPr>
              <a:t>二、估算平均无故障时间</a:t>
            </a:r>
            <a:endParaRPr kumimoji="0" lang="en-US" altLang="zh-CN"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rPr>
              <a:t>  </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经验表明：</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其中：</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K</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为经验常数（典型值约在</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200</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左右）；</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E</a:t>
            </a:r>
            <a:r>
              <a:rPr kumimoji="0" lang="en-US" altLang="zh-CN" sz="2200" b="1" i="0" u="none" strike="noStrike" kern="0" cap="none" spc="0" normalizeH="0" baseline="-25000" noProof="0" dirty="0">
                <a:ln>
                  <a:noFill/>
                </a:ln>
                <a:solidFill>
                  <a:schemeClr val="bg2"/>
                </a:solidFill>
                <a:effectLst/>
                <a:uLnTx/>
                <a:uFillTx/>
                <a:latin typeface="宋体" panose="02010600030101010101" pitchFamily="2" charset="-122"/>
                <a:ea typeface="宋体" panose="02010600030101010101" pitchFamily="2" charset="-122"/>
                <a:cs typeface="+mn-cs"/>
              </a:rPr>
              <a:t>T</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为测试前故障总数；</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I</a:t>
            </a:r>
            <a:r>
              <a:rPr kumimoji="0" lang="en-US" altLang="zh-CN" sz="2200" b="1" i="0" u="none" strike="noStrike" kern="0" cap="none" spc="0" normalizeH="0" baseline="-25000" noProof="0" dirty="0">
                <a:ln>
                  <a:noFill/>
                </a:ln>
                <a:solidFill>
                  <a:schemeClr val="bg2"/>
                </a:solidFill>
                <a:effectLst/>
                <a:uLnTx/>
                <a:uFillTx/>
                <a:latin typeface="宋体" panose="02010600030101010101" pitchFamily="2" charset="-122"/>
                <a:ea typeface="宋体" panose="02010600030101010101" pitchFamily="2" charset="-122"/>
                <a:cs typeface="+mn-cs"/>
              </a:rPr>
              <a:t>T</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为程序长度（机器指令总数）；</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为测试（包括调试）时间；</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E</a:t>
            </a:r>
            <a:r>
              <a:rPr kumimoji="0" lang="en-US" altLang="zh-CN" sz="2200" b="1" i="0" u="none" strike="noStrike" kern="0" cap="none" spc="0" normalizeH="0" baseline="-25000" noProof="0" dirty="0">
                <a:ln>
                  <a:noFill/>
                </a:ln>
                <a:solidFill>
                  <a:schemeClr val="bg2"/>
                </a:solidFill>
                <a:effectLst/>
                <a:uLnTx/>
                <a:uFillTx/>
                <a:latin typeface="宋体" panose="02010600030101010101" pitchFamily="2" charset="-122"/>
                <a:ea typeface="宋体" panose="02010600030101010101" pitchFamily="2" charset="-122"/>
                <a:cs typeface="+mn-cs"/>
              </a:rPr>
              <a:t>C</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为时间从</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0</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至    期间改正的错误数。</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graphicFrame>
        <p:nvGraphicFramePr>
          <p:cNvPr id="75779" name="Object 2"/>
          <p:cNvGraphicFramePr>
            <a:graphicFrameLocks noChangeAspect="1"/>
          </p:cNvGraphicFramePr>
          <p:nvPr/>
        </p:nvGraphicFramePr>
        <p:xfrm>
          <a:off x="1571625" y="2386013"/>
          <a:ext cx="3644900" cy="685800"/>
        </p:xfrm>
        <a:graphic>
          <a:graphicData uri="http://schemas.openxmlformats.org/presentationml/2006/ole">
            <mc:AlternateContent xmlns:mc="http://schemas.openxmlformats.org/markup-compatibility/2006">
              <mc:Choice xmlns:v="urn:schemas-microsoft-com:vml" Requires="v">
                <p:oleObj spid="_x0000_s3083" name="" r:id="rId1" imgW="3644900" imgH="685800" progId="Equation.3">
                  <p:embed/>
                </p:oleObj>
              </mc:Choice>
              <mc:Fallback>
                <p:oleObj name="" r:id="rId1" imgW="3644900" imgH="685800" progId="Equation.3">
                  <p:embed/>
                  <p:pic>
                    <p:nvPicPr>
                      <p:cNvPr id="0" name="图片 3082"/>
                      <p:cNvPicPr/>
                      <p:nvPr/>
                    </p:nvPicPr>
                    <p:blipFill>
                      <a:blip r:embed="rId2"/>
                      <a:stretch>
                        <a:fillRect/>
                      </a:stretch>
                    </p:blipFill>
                    <p:spPr>
                      <a:xfrm>
                        <a:off x="1571625" y="2386013"/>
                        <a:ext cx="3644900" cy="685800"/>
                      </a:xfrm>
                      <a:prstGeom prst="rect">
                        <a:avLst/>
                      </a:prstGeom>
                      <a:noFill/>
                      <a:ln w="38100">
                        <a:noFill/>
                        <a:miter/>
                      </a:ln>
                    </p:spPr>
                  </p:pic>
                </p:oleObj>
              </mc:Fallback>
            </mc:AlternateContent>
          </a:graphicData>
        </a:graphic>
      </p:graphicFrame>
      <p:sp>
        <p:nvSpPr>
          <p:cNvPr id="75780" name="矩形 31"/>
          <p:cNvSpPr/>
          <p:nvPr/>
        </p:nvSpPr>
        <p:spPr>
          <a:xfrm>
            <a:off x="1571625" y="4572000"/>
            <a:ext cx="428625" cy="4619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en-US" sz="2400" b="1" i="1" dirty="0">
                <a:solidFill>
                  <a:srgbClr val="080808"/>
                </a:solidFill>
                <a:latin typeface="华文仿宋" panose="02010600040101010101" pitchFamily="2" charset="-122"/>
                <a:ea typeface="华文仿宋" panose="02010600040101010101" pitchFamily="2" charset="-122"/>
                <a:sym typeface="Symbol" panose="05050102010706020507" pitchFamily="18" charset="2"/>
              </a:rPr>
              <a:t></a:t>
            </a:r>
            <a:endParaRPr lang="zh-CN" altLang="en-US" sz="2400" b="1" dirty="0">
              <a:solidFill>
                <a:srgbClr val="080808"/>
              </a:solidFill>
              <a:ea typeface="宋体" panose="02010600030101010101" pitchFamily="2" charset="-122"/>
            </a:endParaRPr>
          </a:p>
        </p:txBody>
      </p:sp>
      <p:sp>
        <p:nvSpPr>
          <p:cNvPr id="75781" name="矩形 32"/>
          <p:cNvSpPr/>
          <p:nvPr/>
        </p:nvSpPr>
        <p:spPr>
          <a:xfrm>
            <a:off x="2195513" y="5048250"/>
            <a:ext cx="428625" cy="4619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en-US" sz="2400" b="1" i="1" dirty="0">
                <a:solidFill>
                  <a:srgbClr val="080808"/>
                </a:solidFill>
                <a:latin typeface="华文仿宋" panose="02010600040101010101" pitchFamily="2" charset="-122"/>
                <a:ea typeface="华文仿宋" panose="02010600040101010101" pitchFamily="2" charset="-122"/>
                <a:sym typeface="Symbol" panose="05050102010706020507" pitchFamily="18" charset="2"/>
              </a:rPr>
              <a:t></a:t>
            </a:r>
            <a:endParaRPr lang="zh-CN" altLang="en-US" sz="2400" b="1" dirty="0">
              <a:solidFill>
                <a:srgbClr val="080808"/>
              </a:solidFill>
              <a:ea typeface="宋体" panose="02010600030101010101" pitchFamily="2" charset="-122"/>
            </a:endParaRPr>
          </a:p>
        </p:txBody>
      </p:sp>
      <p:sp>
        <p:nvSpPr>
          <p:cNvPr id="75782" name="矩形 33"/>
          <p:cNvSpPr/>
          <p:nvPr/>
        </p:nvSpPr>
        <p:spPr>
          <a:xfrm>
            <a:off x="4386263" y="5068888"/>
            <a:ext cx="428625" cy="46196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en-US" sz="2400" b="1" i="1" dirty="0">
                <a:solidFill>
                  <a:srgbClr val="080808"/>
                </a:solidFill>
                <a:latin typeface="华文仿宋" panose="02010600040101010101" pitchFamily="2" charset="-122"/>
                <a:ea typeface="华文仿宋" panose="02010600040101010101" pitchFamily="2" charset="-122"/>
                <a:sym typeface="Symbol" panose="05050102010706020507" pitchFamily="18" charset="2"/>
              </a:rPr>
              <a:t></a:t>
            </a:r>
            <a:endParaRPr lang="zh-CN" altLang="en-US" sz="2400" b="1" dirty="0">
              <a:solidFill>
                <a:srgbClr val="080808"/>
              </a:solidFill>
              <a:ea typeface="宋体" panose="02010600030101010101" pitchFamily="2" charset="-122"/>
            </a:endParaRPr>
          </a:p>
        </p:txBody>
      </p:sp>
      <p:sp>
        <p:nvSpPr>
          <p:cNvPr id="75783"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内容占位符 2"/>
          <p:cNvSpPr>
            <a:spLocks noGrp="1"/>
          </p:cNvSpPr>
          <p:nvPr>
            <p:ph idx="1"/>
          </p:nvPr>
        </p:nvSpPr>
        <p:spPr>
          <a:xfrm>
            <a:off x="357188" y="1214438"/>
            <a:ext cx="8286750" cy="5214937"/>
          </a:xfrm>
          <a:ln/>
        </p:spPr>
        <p:txBody>
          <a:bodyPr vert="horz" wrap="square" lIns="91440" tIns="45720" rIns="91440" bIns="45720" anchor="t" anchorCtr="0"/>
          <a:p>
            <a:pPr indent="363855"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前提假设：</a:t>
            </a:r>
            <a:endParaRPr lang="zh-CN" altLang="en-US"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    ① </a:t>
            </a:r>
            <a:r>
              <a:rPr lang="en-US" altLang="zh-CN" sz="2200" b="1" dirty="0">
                <a:latin typeface="宋体" panose="02010600030101010101" pitchFamily="2" charset="-122"/>
                <a:ea typeface="宋体" panose="02010600030101010101" pitchFamily="2" charset="-122"/>
                <a:cs typeface="+mn-cs"/>
              </a:rPr>
              <a:t>E</a:t>
            </a:r>
            <a:r>
              <a:rPr lang="en-US" altLang="zh-CN" sz="2200" b="1" baseline="-25000" dirty="0">
                <a:latin typeface="宋体" panose="02010600030101010101" pitchFamily="2" charset="-122"/>
                <a:ea typeface="宋体" panose="02010600030101010101" pitchFamily="2" charset="-122"/>
                <a:cs typeface="+mn-cs"/>
              </a:rPr>
              <a:t>T</a:t>
            </a:r>
            <a:r>
              <a:rPr lang="en-US" altLang="zh-CN" sz="2200" b="1" dirty="0">
                <a:latin typeface="宋体" panose="02010600030101010101" pitchFamily="2" charset="-122"/>
                <a:ea typeface="宋体" panose="02010600030101010101" pitchFamily="2" charset="-122"/>
                <a:cs typeface="+mn-cs"/>
              </a:rPr>
              <a:t>/I</a:t>
            </a:r>
            <a:r>
              <a:rPr lang="en-US" altLang="zh-CN" sz="2200" b="1" baseline="-25000" dirty="0">
                <a:latin typeface="宋体" panose="02010600030101010101" pitchFamily="2" charset="-122"/>
                <a:ea typeface="宋体" panose="02010600030101010101" pitchFamily="2" charset="-122"/>
                <a:cs typeface="+mn-cs"/>
              </a:rPr>
              <a:t>T</a:t>
            </a:r>
            <a:r>
              <a:rPr lang="en-US" altLang="zh-CN" sz="2200" b="1" dirty="0">
                <a:latin typeface="宋体" panose="02010600030101010101" pitchFamily="2" charset="-122"/>
                <a:ea typeface="宋体" panose="02010600030101010101" pitchFamily="2" charset="-122"/>
                <a:cs typeface="+mn-cs"/>
              </a:rPr>
              <a:t>    Constant </a:t>
            </a:r>
            <a:r>
              <a:rPr lang="zh-CN" altLang="en-US" sz="2200" b="1" dirty="0">
                <a:latin typeface="宋体" panose="02010600030101010101" pitchFamily="2" charset="-122"/>
                <a:ea typeface="宋体" panose="02010600030101010101" pitchFamily="2" charset="-122"/>
                <a:cs typeface="+mn-cs"/>
              </a:rPr>
              <a:t>（通常为</a:t>
            </a:r>
            <a:r>
              <a:rPr lang="en-US" altLang="zh-CN" sz="2200" b="1" dirty="0">
                <a:latin typeface="宋体" panose="02010600030101010101" pitchFamily="2" charset="-122"/>
                <a:ea typeface="宋体" panose="02010600030101010101" pitchFamily="2" charset="-122"/>
                <a:cs typeface="+mn-cs"/>
              </a:rPr>
              <a:t>0.5</a:t>
            </a:r>
            <a:r>
              <a:rPr lang="en-US" altLang="zh-CN" b="1" baseline="-25000" dirty="0">
                <a:latin typeface="宋体" panose="02010600030101010101" pitchFamily="2" charset="-122"/>
                <a:ea typeface="宋体" panose="02010600030101010101" pitchFamily="2" charset="-122"/>
                <a:cs typeface="+mn-cs"/>
              </a:rPr>
              <a:t>~ </a:t>
            </a:r>
            <a:r>
              <a:rPr lang="en-US" altLang="zh-CN" sz="2200" b="1" dirty="0">
                <a:latin typeface="宋体" panose="02010600030101010101" pitchFamily="2" charset="-122"/>
                <a:ea typeface="宋体" panose="02010600030101010101" pitchFamily="2" charset="-122"/>
                <a:cs typeface="+mn-cs"/>
              </a:rPr>
              <a:t>2%</a:t>
            </a:r>
            <a:r>
              <a:rPr lang="zh-CN" altLang="en-US" sz="2200" b="1" dirty="0">
                <a:latin typeface="宋体" panose="02010600030101010101" pitchFamily="2" charset="-122"/>
                <a:ea typeface="宋体" panose="02010600030101010101" pitchFamily="2" charset="-122"/>
                <a:cs typeface="+mn-cs"/>
              </a:rPr>
              <a:t>）</a:t>
            </a:r>
            <a:endParaRPr lang="zh-CN" altLang="en-US"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    ② 调试中没有引入新故障（即</a:t>
            </a:r>
            <a:r>
              <a:rPr lang="en-US" altLang="zh-CN" sz="2200" b="1" dirty="0">
                <a:latin typeface="宋体" panose="02010600030101010101" pitchFamily="2" charset="-122"/>
                <a:ea typeface="宋体" panose="02010600030101010101" pitchFamily="2" charset="-122"/>
                <a:cs typeface="+mn-cs"/>
              </a:rPr>
              <a:t>E</a:t>
            </a:r>
            <a:r>
              <a:rPr lang="en-US" altLang="zh-CN" sz="2200" b="1" baseline="-25000" dirty="0">
                <a:latin typeface="宋体" panose="02010600030101010101" pitchFamily="2" charset="-122"/>
                <a:ea typeface="宋体" panose="02010600030101010101" pitchFamily="2" charset="-122"/>
                <a:cs typeface="+mn-cs"/>
              </a:rPr>
              <a:t>T</a:t>
            </a:r>
            <a:r>
              <a:rPr lang="zh-CN" altLang="en-US" sz="2200" b="1" dirty="0">
                <a:latin typeface="宋体" panose="02010600030101010101" pitchFamily="2" charset="-122"/>
                <a:ea typeface="宋体" panose="02010600030101010101" pitchFamily="2" charset="-122"/>
                <a:cs typeface="+mn-cs"/>
              </a:rPr>
              <a:t>与时间   无关）</a:t>
            </a:r>
            <a:endParaRPr lang="zh-CN" altLang="en-US"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    ③ </a:t>
            </a:r>
            <a:r>
              <a:rPr lang="en-US" altLang="zh-CN" sz="2200" b="1" dirty="0">
                <a:latin typeface="宋体" panose="02010600030101010101" pitchFamily="2" charset="-122"/>
                <a:ea typeface="宋体" panose="02010600030101010101" pitchFamily="2" charset="-122"/>
                <a:cs typeface="+mn-cs"/>
              </a:rPr>
              <a:t>MTTF</a:t>
            </a:r>
            <a:r>
              <a:rPr lang="zh-CN" altLang="en-US" sz="2200" b="1" dirty="0">
                <a:latin typeface="宋体" panose="02010600030101010101" pitchFamily="2" charset="-122"/>
                <a:ea typeface="宋体" panose="02010600030101010101" pitchFamily="2" charset="-122"/>
                <a:cs typeface="+mn-cs"/>
              </a:rPr>
              <a:t>与剩余故障成反比</a:t>
            </a:r>
            <a:endParaRPr lang="en-US" altLang="zh-CN"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换个角度看问题</a:t>
            </a:r>
            <a:r>
              <a:rPr lang="en-US" altLang="zh-CN" sz="2200" b="1" dirty="0">
                <a:latin typeface="宋体" panose="02010600030101010101" pitchFamily="2" charset="-122"/>
                <a:ea typeface="宋体" panose="02010600030101010101" pitchFamily="2" charset="-122"/>
                <a:cs typeface="+mn-cs"/>
              </a:rPr>
              <a:t>:</a:t>
            </a:r>
            <a:endParaRPr lang="en-US" altLang="zh-CN"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意义：可根据对软件平稳运行时间的要求，估算需改正多少个错误后才能结束测试。</a:t>
            </a:r>
            <a:endParaRPr lang="zh-CN" altLang="en-US"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None/>
            </a:pPr>
            <a:endParaRPr lang="zh-CN" altLang="en-US"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None/>
            </a:pPr>
            <a:endParaRPr lang="zh-CN" altLang="en-US"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p:txBody>
      </p:sp>
      <p:sp>
        <p:nvSpPr>
          <p:cNvPr id="76803" name="矩形 6"/>
          <p:cNvSpPr/>
          <p:nvPr/>
        </p:nvSpPr>
        <p:spPr>
          <a:xfrm>
            <a:off x="2533650" y="1700213"/>
            <a:ext cx="454025" cy="3698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1800" b="1" dirty="0">
                <a:solidFill>
                  <a:srgbClr val="080808"/>
                </a:solidFill>
                <a:ea typeface="楷体_GB2312" pitchFamily="49" charset="-122"/>
                <a:sym typeface="Symbol" panose="05050102010706020507" pitchFamily="18" charset="2"/>
              </a:rPr>
              <a:t></a:t>
            </a:r>
            <a:endParaRPr lang="zh-CN" altLang="en-US" sz="1800" b="1" dirty="0">
              <a:solidFill>
                <a:srgbClr val="080808"/>
              </a:solidFill>
              <a:ea typeface="宋体" panose="02010600030101010101" pitchFamily="2" charset="-122"/>
            </a:endParaRPr>
          </a:p>
        </p:txBody>
      </p:sp>
      <p:sp>
        <p:nvSpPr>
          <p:cNvPr id="76804" name="矩形 7"/>
          <p:cNvSpPr/>
          <p:nvPr/>
        </p:nvSpPr>
        <p:spPr>
          <a:xfrm>
            <a:off x="6286500" y="2106613"/>
            <a:ext cx="428625" cy="46196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en-US" sz="2400" b="1" i="1" dirty="0">
                <a:solidFill>
                  <a:srgbClr val="080808"/>
                </a:solidFill>
                <a:latin typeface="华文仿宋" panose="02010600040101010101" pitchFamily="2" charset="-122"/>
                <a:ea typeface="华文仿宋" panose="02010600040101010101" pitchFamily="2" charset="-122"/>
                <a:sym typeface="Symbol" panose="05050102010706020507" pitchFamily="18" charset="2"/>
              </a:rPr>
              <a:t></a:t>
            </a:r>
            <a:endParaRPr lang="zh-CN" altLang="en-US" sz="2400" b="1" dirty="0">
              <a:solidFill>
                <a:srgbClr val="080808"/>
              </a:solidFill>
              <a:ea typeface="宋体" panose="02010600030101010101" pitchFamily="2" charset="-122"/>
            </a:endParaRPr>
          </a:p>
        </p:txBody>
      </p:sp>
      <p:graphicFrame>
        <p:nvGraphicFramePr>
          <p:cNvPr id="76805" name="Object 3"/>
          <p:cNvGraphicFramePr>
            <a:graphicFrameLocks noChangeAspect="1"/>
          </p:cNvGraphicFramePr>
          <p:nvPr/>
        </p:nvGraphicFramePr>
        <p:xfrm>
          <a:off x="214313" y="3071813"/>
          <a:ext cx="1350962" cy="914400"/>
        </p:xfrm>
        <a:graphic>
          <a:graphicData uri="http://schemas.openxmlformats.org/presentationml/2006/ole">
            <mc:AlternateContent xmlns:mc="http://schemas.openxmlformats.org/markup-compatibility/2006">
              <mc:Choice xmlns:v="urn:schemas-microsoft-com:vml" Requires="v">
                <p:oleObj spid="_x0000_s3084" name="" r:id="rId1" imgW="3025775" imgH="3253105" progId="MS_ClipArt_Gallery.5">
                  <p:embed/>
                </p:oleObj>
              </mc:Choice>
              <mc:Fallback>
                <p:oleObj name="" r:id="rId1" imgW="3025775" imgH="3253105" progId="MS_ClipArt_Gallery.5">
                  <p:embed/>
                  <p:pic>
                    <p:nvPicPr>
                      <p:cNvPr id="0" name="图片 3083"/>
                      <p:cNvPicPr/>
                      <p:nvPr/>
                    </p:nvPicPr>
                    <p:blipFill>
                      <a:blip r:embed="rId2"/>
                      <a:stretch>
                        <a:fillRect/>
                      </a:stretch>
                    </p:blipFill>
                    <p:spPr>
                      <a:xfrm>
                        <a:off x="214313" y="3071813"/>
                        <a:ext cx="1350962" cy="914400"/>
                      </a:xfrm>
                      <a:prstGeom prst="rect">
                        <a:avLst/>
                      </a:prstGeom>
                      <a:noFill/>
                      <a:ln w="38100">
                        <a:noFill/>
                        <a:miter/>
                      </a:ln>
                    </p:spPr>
                  </p:pic>
                </p:oleObj>
              </mc:Fallback>
            </mc:AlternateContent>
          </a:graphicData>
        </a:graphic>
      </p:graphicFrame>
      <p:graphicFrame>
        <p:nvGraphicFramePr>
          <p:cNvPr id="76806" name="Object 5"/>
          <p:cNvGraphicFramePr>
            <a:graphicFrameLocks noChangeAspect="1"/>
          </p:cNvGraphicFramePr>
          <p:nvPr/>
        </p:nvGraphicFramePr>
        <p:xfrm>
          <a:off x="1714500" y="4071938"/>
          <a:ext cx="3263900" cy="762000"/>
        </p:xfrm>
        <a:graphic>
          <a:graphicData uri="http://schemas.openxmlformats.org/presentationml/2006/ole">
            <mc:AlternateContent xmlns:mc="http://schemas.openxmlformats.org/markup-compatibility/2006">
              <mc:Choice xmlns:v="urn:schemas-microsoft-com:vml" Requires="v">
                <p:oleObj spid="_x0000_s3085" name="" r:id="rId3" imgW="3263900" imgH="762000" progId="Equation.3">
                  <p:embed/>
                </p:oleObj>
              </mc:Choice>
              <mc:Fallback>
                <p:oleObj name="" r:id="rId3" imgW="3263900" imgH="762000" progId="Equation.3">
                  <p:embed/>
                  <p:pic>
                    <p:nvPicPr>
                      <p:cNvPr id="0" name="图片 3084"/>
                      <p:cNvPicPr/>
                      <p:nvPr/>
                    </p:nvPicPr>
                    <p:blipFill>
                      <a:blip r:embed="rId4"/>
                      <a:stretch>
                        <a:fillRect/>
                      </a:stretch>
                    </p:blipFill>
                    <p:spPr>
                      <a:xfrm>
                        <a:off x="1714500" y="4071938"/>
                        <a:ext cx="3263900" cy="762000"/>
                      </a:xfrm>
                      <a:prstGeom prst="rect">
                        <a:avLst/>
                      </a:prstGeom>
                      <a:noFill/>
                      <a:ln w="38100">
                        <a:noFill/>
                        <a:miter/>
                      </a:ln>
                    </p:spPr>
                  </p:pic>
                </p:oleObj>
              </mc:Fallback>
            </mc:AlternateContent>
          </a:graphicData>
        </a:graphic>
      </p:graphicFrame>
      <p:sp>
        <p:nvSpPr>
          <p:cNvPr id="76807"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730">
                                            <p:txEl>
                                              <p:charRg st="104" end="14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内容占位符 2"/>
          <p:cNvSpPr>
            <a:spLocks noGrp="1"/>
          </p:cNvSpPr>
          <p:nvPr>
            <p:ph idx="1"/>
          </p:nvPr>
        </p:nvSpPr>
        <p:spPr>
          <a:xfrm>
            <a:off x="428625" y="1214438"/>
            <a:ext cx="8286750" cy="5214938"/>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rPr>
              <a:t>三、估算错误总数的方法</a:t>
            </a:r>
            <a:endParaRPr kumimoji="0" lang="en-US" altLang="zh-CN" sz="2400" b="1" i="0" u="none" strike="noStrike" kern="0" cap="none" spc="0" normalizeH="0" baseline="0" noProof="0" dirty="0">
              <a:ln>
                <a:noFill/>
              </a:ln>
              <a:solidFill>
                <a:srgbClr val="1E587C"/>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1.</a:t>
            </a:r>
            <a:r>
              <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植入故障法</a:t>
            </a:r>
            <a:endPar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人为植入</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N</a:t>
            </a:r>
            <a:r>
              <a:rPr kumimoji="0" lang="en-US" altLang="zh-CN" sz="2200" b="1" i="0" u="none" strike="noStrike" kern="0" cap="none" spc="0" normalizeH="0" baseline="-25000" noProof="0" dirty="0">
                <a:ln>
                  <a:noFill/>
                </a:ln>
                <a:solidFill>
                  <a:schemeClr val="bg2"/>
                </a:solidFill>
                <a:effectLst/>
                <a:uLnTx/>
                <a:uFillTx/>
                <a:latin typeface="宋体" panose="02010600030101010101" pitchFamily="2" charset="-122"/>
                <a:ea typeface="宋体" panose="02010600030101010101" pitchFamily="2" charset="-122"/>
                <a:cs typeface="+mn-cs"/>
              </a:rPr>
              <a:t>S</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个故障，测后发现</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n</a:t>
            </a:r>
            <a:r>
              <a:rPr kumimoji="0" lang="en-US" altLang="zh-CN" sz="2200" b="1" i="0" u="none" strike="noStrike" kern="0" cap="none" spc="0" normalizeH="0" baseline="-25000" noProof="0" dirty="0">
                <a:ln>
                  <a:noFill/>
                </a:ln>
                <a:solidFill>
                  <a:schemeClr val="bg2"/>
                </a:solidFill>
                <a:effectLst/>
                <a:uLnTx/>
                <a:uFillTx/>
                <a:latin typeface="宋体" panose="02010600030101010101" pitchFamily="2" charset="-122"/>
                <a:ea typeface="宋体" panose="02010600030101010101" pitchFamily="2" charset="-122"/>
                <a:cs typeface="+mn-cs"/>
              </a:rPr>
              <a:t>s</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个植入故障和</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n</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个原有故障，则设：</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2.</a:t>
            </a:r>
            <a:r>
              <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分别测试法</a:t>
            </a:r>
            <a:endPar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二人（组）分别独立测试同一程序，甲测得故障总数为</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B</a:t>
            </a:r>
            <a:r>
              <a:rPr kumimoji="0" lang="en-US" altLang="zh-CN" sz="2200" b="1" i="0" u="none" strike="noStrike" kern="0" cap="none" spc="0" normalizeH="0" baseline="-25000" noProof="0" dirty="0">
                <a:ln>
                  <a:noFill/>
                </a:ln>
                <a:solidFill>
                  <a:schemeClr val="bg2"/>
                </a:solidFill>
                <a:effectLst/>
                <a:uLnTx/>
                <a:uFillTx/>
                <a:latin typeface="宋体" panose="02010600030101010101" pitchFamily="2" charset="-122"/>
                <a:ea typeface="宋体" panose="02010600030101010101" pitchFamily="2" charset="-122"/>
                <a:cs typeface="+mn-cs"/>
              </a:rPr>
              <a:t>1</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，乙测得为</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B</a:t>
            </a:r>
            <a:r>
              <a:rPr kumimoji="0" lang="en-US" altLang="zh-CN" sz="2200" b="1" i="0" u="none" strike="noStrike" kern="0" cap="none" spc="0" normalizeH="0" baseline="-25000" noProof="0" dirty="0">
                <a:ln>
                  <a:noFill/>
                </a:ln>
                <a:solidFill>
                  <a:schemeClr val="bg2"/>
                </a:solidFill>
                <a:effectLst/>
                <a:uLnTx/>
                <a:uFillTx/>
                <a:latin typeface="宋体" panose="02010600030101010101" pitchFamily="2" charset="-122"/>
                <a:ea typeface="宋体" panose="02010600030101010101" pitchFamily="2" charset="-122"/>
                <a:cs typeface="+mn-cs"/>
              </a:rPr>
              <a:t>2</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en-US" altLang="zh-CN" sz="2200" b="1" i="0" u="none" strike="noStrike" kern="0" cap="none" spc="0" normalizeH="0" baseline="0" noProof="0" dirty="0" err="1">
                <a:ln>
                  <a:noFill/>
                </a:ln>
                <a:solidFill>
                  <a:schemeClr val="bg2"/>
                </a:solidFill>
                <a:effectLst/>
                <a:uLnTx/>
                <a:uFillTx/>
                <a:latin typeface="宋体" panose="02010600030101010101" pitchFamily="2" charset="-122"/>
                <a:ea typeface="宋体" panose="02010600030101010101" pitchFamily="2" charset="-122"/>
                <a:cs typeface="+mn-cs"/>
              </a:rPr>
              <a:t>b</a:t>
            </a:r>
            <a:r>
              <a:rPr kumimoji="0" lang="en-US" altLang="zh-CN" sz="2200" b="1" i="0" u="none" strike="noStrike" kern="0" cap="none" spc="0" normalizeH="0" baseline="-25000" noProof="0" dirty="0" err="1">
                <a:ln>
                  <a:noFill/>
                </a:ln>
                <a:solidFill>
                  <a:schemeClr val="bg2"/>
                </a:solidFill>
                <a:effectLst/>
                <a:uLnTx/>
                <a:uFillTx/>
                <a:latin typeface="宋体" panose="02010600030101010101" pitchFamily="2" charset="-122"/>
                <a:ea typeface="宋体" panose="02010600030101010101" pitchFamily="2" charset="-122"/>
                <a:cs typeface="+mn-cs"/>
              </a:rPr>
              <a:t>c</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是发现相同的故障数，设以甲的测试结果为基准，则设：</a:t>
            </a: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ts val="18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一般多测几个     取平均。</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graphicFrame>
        <p:nvGraphicFramePr>
          <p:cNvPr id="77827" name="Object 11"/>
          <p:cNvGraphicFramePr>
            <a:graphicFrameLocks noChangeAspect="1"/>
          </p:cNvGraphicFramePr>
          <p:nvPr/>
        </p:nvGraphicFramePr>
        <p:xfrm>
          <a:off x="1857375" y="2786063"/>
          <a:ext cx="4956175" cy="774700"/>
        </p:xfrm>
        <a:graphic>
          <a:graphicData uri="http://schemas.openxmlformats.org/presentationml/2006/ole">
            <mc:AlternateContent xmlns:mc="http://schemas.openxmlformats.org/markup-compatibility/2006">
              <mc:Choice xmlns:v="urn:schemas-microsoft-com:vml" Requires="v">
                <p:oleObj spid="_x0000_s3087" name="" r:id="rId1" imgW="3390900" imgH="711200" progId="Equation.3">
                  <p:embed/>
                </p:oleObj>
              </mc:Choice>
              <mc:Fallback>
                <p:oleObj name="" r:id="rId1" imgW="3390900" imgH="711200" progId="Equation.3">
                  <p:embed/>
                  <p:pic>
                    <p:nvPicPr>
                      <p:cNvPr id="0" name="图片 3086"/>
                      <p:cNvPicPr/>
                      <p:nvPr/>
                    </p:nvPicPr>
                    <p:blipFill>
                      <a:blip r:embed="rId2"/>
                      <a:stretch>
                        <a:fillRect/>
                      </a:stretch>
                    </p:blipFill>
                    <p:spPr>
                      <a:xfrm>
                        <a:off x="1857375" y="2786063"/>
                        <a:ext cx="4956175" cy="774700"/>
                      </a:xfrm>
                      <a:prstGeom prst="rect">
                        <a:avLst/>
                      </a:prstGeom>
                      <a:noFill/>
                      <a:ln w="38100">
                        <a:noFill/>
                        <a:miter/>
                      </a:ln>
                    </p:spPr>
                  </p:pic>
                </p:oleObj>
              </mc:Fallback>
            </mc:AlternateContent>
          </a:graphicData>
        </a:graphic>
      </p:graphicFrame>
      <p:graphicFrame>
        <p:nvGraphicFramePr>
          <p:cNvPr id="77828" name="Object 4"/>
          <p:cNvGraphicFramePr>
            <a:graphicFrameLocks noChangeAspect="1"/>
          </p:cNvGraphicFramePr>
          <p:nvPr/>
        </p:nvGraphicFramePr>
        <p:xfrm>
          <a:off x="1898650" y="4652963"/>
          <a:ext cx="4560888" cy="1189037"/>
        </p:xfrm>
        <a:graphic>
          <a:graphicData uri="http://schemas.openxmlformats.org/presentationml/2006/ole">
            <mc:AlternateContent xmlns:mc="http://schemas.openxmlformats.org/markup-compatibility/2006">
              <mc:Choice xmlns:v="urn:schemas-microsoft-com:vml" Requires="v">
                <p:oleObj spid="_x0000_s3088" name="" r:id="rId3" imgW="2057400" imgH="749300" progId="Equation.3">
                  <p:embed/>
                </p:oleObj>
              </mc:Choice>
              <mc:Fallback>
                <p:oleObj name="" r:id="rId3" imgW="2057400" imgH="749300" progId="Equation.3">
                  <p:embed/>
                  <p:pic>
                    <p:nvPicPr>
                      <p:cNvPr id="0" name="图片 3087"/>
                      <p:cNvPicPr/>
                      <p:nvPr/>
                    </p:nvPicPr>
                    <p:blipFill>
                      <a:blip r:embed="rId4"/>
                      <a:stretch>
                        <a:fillRect/>
                      </a:stretch>
                    </p:blipFill>
                    <p:spPr>
                      <a:xfrm>
                        <a:off x="1898650" y="4652963"/>
                        <a:ext cx="4560888" cy="1189037"/>
                      </a:xfrm>
                      <a:prstGeom prst="rect">
                        <a:avLst/>
                      </a:prstGeom>
                      <a:noFill/>
                      <a:ln w="38100">
                        <a:noFill/>
                        <a:miter/>
                      </a:ln>
                    </p:spPr>
                  </p:pic>
                </p:oleObj>
              </mc:Fallback>
            </mc:AlternateContent>
          </a:graphicData>
        </a:graphic>
      </p:graphicFrame>
      <p:graphicFrame>
        <p:nvGraphicFramePr>
          <p:cNvPr id="77829" name="Object 6"/>
          <p:cNvGraphicFramePr>
            <a:graphicFrameLocks noChangeAspect="1"/>
          </p:cNvGraphicFramePr>
          <p:nvPr/>
        </p:nvGraphicFramePr>
        <p:xfrm>
          <a:off x="2622550" y="6019800"/>
          <a:ext cx="368300" cy="306388"/>
        </p:xfrm>
        <a:graphic>
          <a:graphicData uri="http://schemas.openxmlformats.org/presentationml/2006/ole">
            <mc:AlternateContent xmlns:mc="http://schemas.openxmlformats.org/markup-compatibility/2006">
              <mc:Choice xmlns:v="urn:schemas-microsoft-com:vml" Requires="v">
                <p:oleObj spid="_x0000_s3086" name="" r:id="rId5" imgW="342900" imgH="393700" progId="Equation.3">
                  <p:embed/>
                </p:oleObj>
              </mc:Choice>
              <mc:Fallback>
                <p:oleObj name="" r:id="rId5" imgW="342900" imgH="393700" progId="Equation.3">
                  <p:embed/>
                  <p:pic>
                    <p:nvPicPr>
                      <p:cNvPr id="0" name="图片 3085"/>
                      <p:cNvPicPr/>
                      <p:nvPr/>
                    </p:nvPicPr>
                    <p:blipFill>
                      <a:blip r:embed="rId6"/>
                      <a:stretch>
                        <a:fillRect/>
                      </a:stretch>
                    </p:blipFill>
                    <p:spPr>
                      <a:xfrm>
                        <a:off x="2622550" y="6019800"/>
                        <a:ext cx="368300" cy="306388"/>
                      </a:xfrm>
                      <a:prstGeom prst="rect">
                        <a:avLst/>
                      </a:prstGeom>
                      <a:noFill/>
                      <a:ln w="38100">
                        <a:noFill/>
                        <a:miter/>
                      </a:ln>
                    </p:spPr>
                  </p:pic>
                </p:oleObj>
              </mc:Fallback>
            </mc:AlternateContent>
          </a:graphicData>
        </a:graphic>
      </p:graphicFrame>
      <p:sp>
        <p:nvSpPr>
          <p:cNvPr id="77830"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内容占位符 2"/>
          <p:cNvSpPr>
            <a:spLocks noGrp="1"/>
          </p:cNvSpPr>
          <p:nvPr>
            <p:ph idx="1"/>
          </p:nvPr>
        </p:nvSpPr>
        <p:spPr>
          <a:xfrm>
            <a:off x="428625" y="1214438"/>
            <a:ext cx="8286750" cy="5214938"/>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rPr>
              <a:t>举例</a:t>
            </a:r>
            <a:endParaRPr kumimoji="0" lang="en-US" altLang="zh-CN" sz="2200" b="1" i="0" u="none" strike="noStrike" kern="0" cap="none" spc="0" normalizeH="0" baseline="0" noProof="0" dirty="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例：对一个包含</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10,000</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条机器指令的程序进行一个月集成测试后，总共改正了</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15</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个错误，此时</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MTTF=10h</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，经过两个月测试后，总共改正了</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25</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个错误</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第二个月改正了</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10</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个错误），</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MTTF=15h</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 要求：</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1</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）根据上述数据确定</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MTTF</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与测试时间的函数关系，画出</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MTTF</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与测试时间</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τ</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的关系曲线。在画这条曲线时你做了什么假设？</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2</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）为使</a:t>
            </a:r>
            <a:r>
              <a:rPr kumimoji="0" lang="en-US" altLang="zh-CN"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MTTF=100h</a:t>
            </a:r>
            <a:r>
              <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rPr>
              <a:t>，必须进行多长时间的测试？当测试结束时总共改正了多少错误？还有多少错误潜藏在程序中？</a:t>
            </a:r>
            <a:endParaRPr kumimoji="0" lang="zh-CN" altLang="en-US" sz="2200" b="1" i="0" u="none" strike="noStrike" kern="0" cap="none" spc="0" normalizeH="0" baseline="0" noProof="0" dirty="0">
              <a:ln>
                <a:noFill/>
              </a:ln>
              <a:solidFill>
                <a:schemeClr val="bg2"/>
              </a:solidFill>
              <a:effectLst/>
              <a:uLnTx/>
              <a:uFillTx/>
              <a:latin typeface="宋体" panose="02010600030101010101" pitchFamily="2" charset="-122"/>
              <a:ea typeface="宋体" panose="02010600030101010101" pitchFamily="2" charset="-122"/>
              <a:cs typeface="+mn-cs"/>
            </a:endParaRPr>
          </a:p>
        </p:txBody>
      </p:sp>
      <p:sp>
        <p:nvSpPr>
          <p:cNvPr id="78851"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内容占位符 2"/>
          <p:cNvSpPr>
            <a:spLocks noGrp="1"/>
          </p:cNvSpPr>
          <p:nvPr>
            <p:ph idx="1"/>
          </p:nvPr>
        </p:nvSpPr>
        <p:spPr>
          <a:xfrm>
            <a:off x="428625" y="1214438"/>
            <a:ext cx="8286750" cy="5214937"/>
          </a:xfrm>
          <a:ln/>
        </p:spPr>
        <p:txBody>
          <a:bodyPr vert="horz" wrap="square" lIns="91440" tIns="45720" rIns="91440" bIns="45720" anchor="t" anchorCtr="0"/>
          <a:p>
            <a:pPr indent="363855" algn="just"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解</a:t>
            </a:r>
            <a:r>
              <a:rPr lang="en-US" altLang="zh-CN" sz="2200" b="1" dirty="0">
                <a:latin typeface="宋体" panose="02010600030101010101" pitchFamily="2" charset="-122"/>
                <a:ea typeface="宋体" panose="02010600030101010101" pitchFamily="2" charset="-122"/>
                <a:cs typeface="+mn-cs"/>
              </a:rPr>
              <a:t>:</a:t>
            </a:r>
            <a:r>
              <a:rPr lang="zh-CN" altLang="en-US" sz="2200" b="1" dirty="0">
                <a:latin typeface="宋体" panose="02010600030101010101" pitchFamily="2" charset="-122"/>
                <a:ea typeface="宋体" panose="02010600030101010101" pitchFamily="2" charset="-122"/>
                <a:cs typeface="+mn-cs"/>
              </a:rPr>
              <a:t>（</a:t>
            </a:r>
            <a:r>
              <a:rPr lang="en-US" altLang="zh-CN" sz="2200" b="1" dirty="0">
                <a:latin typeface="宋体" panose="02010600030101010101" pitchFamily="2" charset="-122"/>
                <a:ea typeface="宋体" panose="02010600030101010101" pitchFamily="2" charset="-122"/>
                <a:cs typeface="+mn-cs"/>
              </a:rPr>
              <a:t>1</a:t>
            </a:r>
            <a:r>
              <a:rPr lang="zh-CN" altLang="en-US" sz="2200" b="1" dirty="0">
                <a:latin typeface="宋体" panose="02010600030101010101" pitchFamily="2" charset="-122"/>
                <a:ea typeface="宋体" panose="02010600030101010101" pitchFamily="2" charset="-122"/>
                <a:cs typeface="+mn-cs"/>
              </a:rPr>
              <a:t>）假设在</a:t>
            </a:r>
            <a:r>
              <a:rPr lang="en-US" altLang="zh-CN" sz="2200" b="1" dirty="0">
                <a:latin typeface="宋体" panose="02010600030101010101" pitchFamily="2" charset="-122"/>
                <a:ea typeface="宋体" panose="02010600030101010101" pitchFamily="2" charset="-122"/>
                <a:cs typeface="+mn-cs"/>
              </a:rPr>
              <a:t>MTTF</a:t>
            </a:r>
            <a:r>
              <a:rPr lang="zh-CN" altLang="en-US" sz="2200" b="1" dirty="0">
                <a:latin typeface="宋体" panose="02010600030101010101" pitchFamily="2" charset="-122"/>
                <a:ea typeface="宋体" panose="02010600030101010101" pitchFamily="2" charset="-122"/>
                <a:cs typeface="+mn-cs"/>
              </a:rPr>
              <a:t>和</a:t>
            </a:r>
            <a:r>
              <a:rPr lang="en-US" altLang="zh-CN" sz="2200" b="1" dirty="0">
                <a:latin typeface="宋体" panose="02010600030101010101" pitchFamily="2" charset="-122"/>
                <a:ea typeface="宋体" panose="02010600030101010101" pitchFamily="2" charset="-122"/>
                <a:cs typeface="+mn-cs"/>
              </a:rPr>
              <a:t>τ</a:t>
            </a:r>
            <a:r>
              <a:rPr lang="zh-CN" altLang="en-US" sz="2200" b="1" dirty="0">
                <a:latin typeface="宋体" panose="02010600030101010101" pitchFamily="2" charset="-122"/>
                <a:ea typeface="宋体" panose="02010600030101010101" pitchFamily="2" charset="-122"/>
                <a:cs typeface="+mn-cs"/>
              </a:rPr>
              <a:t>之间存在线性关系，即</a:t>
            </a:r>
            <a:endParaRPr lang="zh-CN" altLang="en-US" sz="2200" b="1" dirty="0">
              <a:latin typeface="宋体" panose="02010600030101010101" pitchFamily="2" charset="-122"/>
              <a:ea typeface="宋体" panose="02010600030101010101" pitchFamily="2" charset="-122"/>
              <a:cs typeface="+mn-cs"/>
            </a:endParaRPr>
          </a:p>
          <a:p>
            <a:pPr indent="363855" algn="just"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          </a:t>
            </a:r>
            <a:r>
              <a:rPr lang="en-US" altLang="zh-CN" sz="2200" b="1" dirty="0">
                <a:latin typeface="宋体" panose="02010600030101010101" pitchFamily="2" charset="-122"/>
                <a:ea typeface="宋体" panose="02010600030101010101" pitchFamily="2" charset="-122"/>
                <a:cs typeface="+mn-cs"/>
              </a:rPr>
              <a:t>MTTF = a + bτ</a:t>
            </a:r>
            <a:endParaRPr lang="en-US" altLang="zh-CN" sz="2200" b="1" dirty="0">
              <a:latin typeface="宋体" panose="02010600030101010101" pitchFamily="2" charset="-122"/>
              <a:ea typeface="宋体" panose="02010600030101010101" pitchFamily="2" charset="-122"/>
              <a:cs typeface="+mn-cs"/>
            </a:endParaRPr>
          </a:p>
          <a:p>
            <a:pPr indent="363855" algn="just"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根据题意有：</a:t>
            </a:r>
            <a:endParaRPr lang="en-US" altLang="zh-CN" sz="2200" b="1" dirty="0">
              <a:latin typeface="宋体" panose="02010600030101010101" pitchFamily="2" charset="-122"/>
              <a:ea typeface="宋体" panose="02010600030101010101" pitchFamily="2" charset="-122"/>
              <a:cs typeface="+mn-cs"/>
            </a:endParaRPr>
          </a:p>
          <a:p>
            <a:pPr indent="363855" algn="just" eaLnBrk="1" hangingPunct="1">
              <a:lnSpc>
                <a:spcPct val="120000"/>
              </a:lnSpc>
              <a:buSzPct val="80000"/>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363855" algn="just"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解得： </a:t>
            </a:r>
            <a:r>
              <a:rPr lang="en-US" altLang="zh-CN" sz="2200" b="1" dirty="0">
                <a:latin typeface="宋体" panose="02010600030101010101" pitchFamily="2" charset="-122"/>
                <a:ea typeface="宋体" panose="02010600030101010101" pitchFamily="2" charset="-122"/>
                <a:cs typeface="+mn-cs"/>
              </a:rPr>
              <a:t>a</a:t>
            </a:r>
            <a:r>
              <a:rPr lang="zh-CN" altLang="en-US" sz="2200" b="1" dirty="0">
                <a:latin typeface="宋体" panose="02010600030101010101" pitchFamily="2" charset="-122"/>
                <a:ea typeface="宋体" panose="02010600030101010101" pitchFamily="2" charset="-122"/>
                <a:cs typeface="+mn-cs"/>
              </a:rPr>
              <a:t>＝ </a:t>
            </a:r>
            <a:r>
              <a:rPr lang="en-US" altLang="zh-CN" sz="2200" b="1" dirty="0">
                <a:latin typeface="宋体" panose="02010600030101010101" pitchFamily="2" charset="-122"/>
                <a:ea typeface="宋体" panose="02010600030101010101" pitchFamily="2" charset="-122"/>
                <a:cs typeface="+mn-cs"/>
              </a:rPr>
              <a:t>5</a:t>
            </a:r>
            <a:r>
              <a:rPr lang="zh-CN" altLang="en-US" sz="2200" b="1" dirty="0">
                <a:latin typeface="宋体" panose="02010600030101010101" pitchFamily="2" charset="-122"/>
                <a:ea typeface="宋体" panose="02010600030101010101" pitchFamily="2" charset="-122"/>
                <a:cs typeface="+mn-cs"/>
              </a:rPr>
              <a:t>， </a:t>
            </a:r>
            <a:r>
              <a:rPr lang="en-US" altLang="zh-CN" sz="2200" b="1" dirty="0">
                <a:latin typeface="宋体" panose="02010600030101010101" pitchFamily="2" charset="-122"/>
                <a:ea typeface="宋体" panose="02010600030101010101" pitchFamily="2" charset="-122"/>
                <a:cs typeface="+mn-cs"/>
              </a:rPr>
              <a:t>b</a:t>
            </a:r>
            <a:r>
              <a:rPr lang="zh-CN" altLang="en-US" sz="2200" b="1" dirty="0">
                <a:latin typeface="宋体" panose="02010600030101010101" pitchFamily="2" charset="-122"/>
                <a:ea typeface="宋体" panose="02010600030101010101" pitchFamily="2" charset="-122"/>
                <a:cs typeface="+mn-cs"/>
              </a:rPr>
              <a:t>＝ </a:t>
            </a:r>
            <a:r>
              <a:rPr lang="en-US" altLang="zh-CN" sz="2200" b="1" dirty="0">
                <a:latin typeface="宋体" panose="02010600030101010101" pitchFamily="2" charset="-122"/>
                <a:ea typeface="宋体" panose="02010600030101010101" pitchFamily="2" charset="-122"/>
                <a:cs typeface="+mn-cs"/>
              </a:rPr>
              <a:t>5</a:t>
            </a:r>
            <a:endParaRPr lang="en-US" altLang="zh-CN" sz="2200" b="1" dirty="0">
              <a:latin typeface="宋体" panose="02010600030101010101" pitchFamily="2" charset="-122"/>
              <a:ea typeface="宋体" panose="02010600030101010101" pitchFamily="2" charset="-122"/>
              <a:cs typeface="+mn-cs"/>
            </a:endParaRPr>
          </a:p>
          <a:p>
            <a:pPr indent="363855" algn="just"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因此，</a:t>
            </a:r>
            <a:r>
              <a:rPr lang="en-US" altLang="zh-CN" sz="2200" b="1" dirty="0">
                <a:latin typeface="宋体" panose="02010600030101010101" pitchFamily="2" charset="-122"/>
                <a:ea typeface="宋体" panose="02010600030101010101" pitchFamily="2" charset="-122"/>
                <a:cs typeface="+mn-cs"/>
              </a:rPr>
              <a:t>MTTF</a:t>
            </a:r>
            <a:r>
              <a:rPr lang="zh-CN" altLang="en-US" sz="2200" b="1" dirty="0">
                <a:latin typeface="宋体" panose="02010600030101010101" pitchFamily="2" charset="-122"/>
                <a:ea typeface="宋体" panose="02010600030101010101" pitchFamily="2" charset="-122"/>
                <a:cs typeface="+mn-cs"/>
              </a:rPr>
              <a:t>与</a:t>
            </a:r>
            <a:r>
              <a:rPr lang="el-GR" altLang="zh-CN" sz="2200" b="1" dirty="0">
                <a:latin typeface="宋体" panose="02010600030101010101" pitchFamily="2" charset="-122"/>
                <a:ea typeface="宋体" panose="02010600030101010101" pitchFamily="2" charset="-122"/>
                <a:cs typeface="+mn-cs"/>
              </a:rPr>
              <a:t>τ</a:t>
            </a:r>
            <a:r>
              <a:rPr lang="zh-CN" altLang="en-US" sz="2200" b="1" dirty="0">
                <a:latin typeface="宋体" panose="02010600030101010101" pitchFamily="2" charset="-122"/>
                <a:ea typeface="宋体" panose="02010600030101010101" pitchFamily="2" charset="-122"/>
                <a:cs typeface="+mn-cs"/>
              </a:rPr>
              <a:t>之间有下列关系为： </a:t>
            </a:r>
            <a:r>
              <a:rPr lang="en-US" altLang="zh-CN" sz="2200" b="1" dirty="0">
                <a:latin typeface="宋体" panose="02010600030101010101" pitchFamily="2" charset="-122"/>
                <a:ea typeface="宋体" panose="02010600030101010101" pitchFamily="2" charset="-122"/>
                <a:cs typeface="+mn-cs"/>
              </a:rPr>
              <a:t>MTTF </a:t>
            </a:r>
            <a:r>
              <a:rPr lang="zh-CN" altLang="en-US" sz="2200" b="1" dirty="0">
                <a:latin typeface="宋体" panose="02010600030101010101" pitchFamily="2" charset="-122"/>
                <a:ea typeface="宋体" panose="02010600030101010101" pitchFamily="2" charset="-122"/>
                <a:cs typeface="+mn-cs"/>
              </a:rPr>
              <a:t>＝ </a:t>
            </a:r>
            <a:r>
              <a:rPr lang="en-US" altLang="zh-CN" sz="2200" b="1" dirty="0">
                <a:latin typeface="宋体" panose="02010600030101010101" pitchFamily="2" charset="-122"/>
                <a:ea typeface="宋体" panose="02010600030101010101" pitchFamily="2" charset="-122"/>
                <a:cs typeface="+mn-cs"/>
              </a:rPr>
              <a:t>5 + 5</a:t>
            </a:r>
            <a:r>
              <a:rPr lang="el-GR" altLang="zh-CN" sz="2200" b="1" dirty="0">
                <a:latin typeface="宋体" panose="02010600030101010101" pitchFamily="2" charset="-122"/>
                <a:ea typeface="宋体" panose="02010600030101010101" pitchFamily="2" charset="-122"/>
                <a:cs typeface="+mn-cs"/>
              </a:rPr>
              <a:t>τ</a:t>
            </a:r>
            <a:endParaRPr lang="en-US" altLang="zh-CN" sz="2200" b="1" dirty="0">
              <a:latin typeface="宋体" panose="02010600030101010101" pitchFamily="2" charset="-122"/>
              <a:ea typeface="宋体" panose="02010600030101010101" pitchFamily="2" charset="-122"/>
              <a:cs typeface="+mn-cs"/>
            </a:endParaRPr>
          </a:p>
          <a:p>
            <a:pPr indent="363855" algn="just"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根据上列方程式画出</a:t>
            </a:r>
            <a:r>
              <a:rPr lang="en-US" altLang="zh-CN" sz="2200" b="1" dirty="0">
                <a:latin typeface="宋体" panose="02010600030101010101" pitchFamily="2" charset="-122"/>
                <a:ea typeface="宋体" panose="02010600030101010101" pitchFamily="2" charset="-122"/>
                <a:cs typeface="+mn-cs"/>
              </a:rPr>
              <a:t>MTTF</a:t>
            </a:r>
            <a:r>
              <a:rPr lang="zh-CN" altLang="en-US" sz="2200" b="1" dirty="0">
                <a:latin typeface="宋体" panose="02010600030101010101" pitchFamily="2" charset="-122"/>
                <a:ea typeface="宋体" panose="02010600030101010101" pitchFamily="2" charset="-122"/>
                <a:cs typeface="+mn-cs"/>
              </a:rPr>
              <a:t>与</a:t>
            </a:r>
            <a:r>
              <a:rPr lang="en-US" altLang="zh-CN" sz="2200" b="1" dirty="0">
                <a:latin typeface="宋体" panose="02010600030101010101" pitchFamily="2" charset="-122"/>
                <a:ea typeface="宋体" panose="02010600030101010101" pitchFamily="2" charset="-122"/>
                <a:cs typeface="+mn-cs"/>
              </a:rPr>
              <a:t>τ</a:t>
            </a:r>
            <a:r>
              <a:rPr lang="zh-CN" altLang="en-US" sz="2200" b="1" dirty="0">
                <a:latin typeface="宋体" panose="02010600030101010101" pitchFamily="2" charset="-122"/>
                <a:ea typeface="宋体" panose="02010600030101010101" pitchFamily="2" charset="-122"/>
                <a:cs typeface="+mn-cs"/>
              </a:rPr>
              <a:t>之间的关系曲线如右图所示： </a:t>
            </a:r>
            <a:endParaRPr lang="el-GR" altLang="zh-CN" sz="2200" b="1" dirty="0">
              <a:latin typeface="宋体" panose="02010600030101010101" pitchFamily="2" charset="-122"/>
              <a:ea typeface="宋体" panose="02010600030101010101" pitchFamily="2" charset="-122"/>
              <a:cs typeface="+mn-cs"/>
            </a:endParaRPr>
          </a:p>
          <a:p>
            <a:pPr indent="363855" algn="just" eaLnBrk="1" hangingPunct="1">
              <a:lnSpc>
                <a:spcPct val="120000"/>
              </a:lnSpc>
              <a:buSzPct val="80000"/>
              <a:buFont typeface="Wingdings" panose="05000000000000000000" pitchFamily="2" charset="2"/>
              <a:buNone/>
            </a:pPr>
            <a:endParaRPr lang="zh-CN" altLang="en-US" sz="2200" b="1" dirty="0">
              <a:latin typeface="宋体" panose="02010600030101010101" pitchFamily="2" charset="-122"/>
              <a:ea typeface="宋体" panose="02010600030101010101" pitchFamily="2" charset="-122"/>
              <a:cs typeface="+mn-cs"/>
            </a:endParaRPr>
          </a:p>
          <a:p>
            <a:pPr indent="363855" algn="just" eaLnBrk="1" hangingPunct="1">
              <a:lnSpc>
                <a:spcPct val="120000"/>
              </a:lnSpc>
              <a:buSzPct val="80000"/>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363855" algn="just" eaLnBrk="1" hangingPunct="1">
              <a:lnSpc>
                <a:spcPct val="120000"/>
              </a:lnSpc>
              <a:buSzPct val="80000"/>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p:txBody>
      </p:sp>
      <p:pic>
        <p:nvPicPr>
          <p:cNvPr id="81923" name="Picture 3"/>
          <p:cNvPicPr>
            <a:picLocks noChangeAspect="1" noChangeArrowheads="1"/>
          </p:cNvPicPr>
          <p:nvPr/>
        </p:nvPicPr>
        <p:blipFill>
          <a:blip r:embed="rId1"/>
          <a:srcRect/>
          <a:stretch>
            <a:fillRect/>
          </a:stretch>
        </p:blipFill>
        <p:spPr bwMode="auto">
          <a:xfrm>
            <a:off x="2516188" y="2265363"/>
            <a:ext cx="3171825" cy="771525"/>
          </a:xfrm>
          <a:prstGeom prst="rect">
            <a:avLst/>
          </a:prstGeom>
          <a:solidFill>
            <a:schemeClr val="accent4">
              <a:lumMod val="20000"/>
              <a:lumOff val="80000"/>
            </a:schemeClr>
          </a:solidFill>
          <a:ln w="9525">
            <a:noFill/>
            <a:miter lim="800000"/>
            <a:headEnd/>
            <a:tailEnd/>
          </a:ln>
          <a:effectLst>
            <a:prstShdw prst="shdw17" dist="17961" dir="2700000">
              <a:schemeClr val="accent1">
                <a:gamma/>
                <a:shade val="60000"/>
                <a:invGamma/>
              </a:schemeClr>
            </a:prstShdw>
          </a:effectLst>
        </p:spPr>
      </p:pic>
      <p:grpSp>
        <p:nvGrpSpPr>
          <p:cNvPr id="79876" name="Group 11"/>
          <p:cNvGrpSpPr/>
          <p:nvPr/>
        </p:nvGrpSpPr>
        <p:grpSpPr>
          <a:xfrm>
            <a:off x="5072063" y="4714875"/>
            <a:ext cx="3160712" cy="1743075"/>
            <a:chOff x="3072" y="2802"/>
            <a:chExt cx="2376" cy="1600"/>
          </a:xfrm>
        </p:grpSpPr>
        <p:sp>
          <p:nvSpPr>
            <p:cNvPr id="79878" name="Line 12"/>
            <p:cNvSpPr/>
            <p:nvPr/>
          </p:nvSpPr>
          <p:spPr>
            <a:xfrm>
              <a:off x="3467" y="4032"/>
              <a:ext cx="1680" cy="0"/>
            </a:xfrm>
            <a:prstGeom prst="line">
              <a:avLst/>
            </a:prstGeom>
            <a:ln w="22225" cap="flat" cmpd="sng">
              <a:solidFill>
                <a:srgbClr val="000000"/>
              </a:solidFill>
              <a:prstDash val="solid"/>
              <a:headEnd type="none" w="med" len="med"/>
              <a:tailEnd type="none" w="med" len="med"/>
            </a:ln>
          </p:spPr>
        </p:sp>
        <p:sp>
          <p:nvSpPr>
            <p:cNvPr id="79879" name="Line 13"/>
            <p:cNvSpPr/>
            <p:nvPr/>
          </p:nvSpPr>
          <p:spPr>
            <a:xfrm flipV="1">
              <a:off x="3467" y="3072"/>
              <a:ext cx="0" cy="960"/>
            </a:xfrm>
            <a:prstGeom prst="line">
              <a:avLst/>
            </a:prstGeom>
            <a:ln w="22225" cap="flat" cmpd="sng">
              <a:solidFill>
                <a:srgbClr val="000000"/>
              </a:solidFill>
              <a:prstDash val="solid"/>
              <a:headEnd type="none" w="med" len="med"/>
              <a:tailEnd type="none" w="med" len="med"/>
            </a:ln>
          </p:spPr>
        </p:sp>
        <p:sp>
          <p:nvSpPr>
            <p:cNvPr id="79880" name="Line 14"/>
            <p:cNvSpPr/>
            <p:nvPr/>
          </p:nvSpPr>
          <p:spPr>
            <a:xfrm flipV="1">
              <a:off x="3467" y="3408"/>
              <a:ext cx="1584" cy="432"/>
            </a:xfrm>
            <a:prstGeom prst="line">
              <a:avLst/>
            </a:prstGeom>
            <a:ln w="22225" cap="flat" cmpd="sng">
              <a:solidFill>
                <a:srgbClr val="000000"/>
              </a:solidFill>
              <a:prstDash val="solid"/>
              <a:headEnd type="none" w="med" len="med"/>
              <a:tailEnd type="none" w="med" len="med"/>
            </a:ln>
          </p:spPr>
        </p:sp>
        <p:sp>
          <p:nvSpPr>
            <p:cNvPr id="79881" name="Line 15"/>
            <p:cNvSpPr/>
            <p:nvPr/>
          </p:nvSpPr>
          <p:spPr>
            <a:xfrm>
              <a:off x="3467" y="3648"/>
              <a:ext cx="48" cy="0"/>
            </a:xfrm>
            <a:prstGeom prst="line">
              <a:avLst/>
            </a:prstGeom>
            <a:ln w="22225" cap="flat" cmpd="sng">
              <a:solidFill>
                <a:srgbClr val="000000"/>
              </a:solidFill>
              <a:prstDash val="solid"/>
              <a:headEnd type="none" w="med" len="med"/>
              <a:tailEnd type="none" w="med" len="med"/>
            </a:ln>
          </p:spPr>
        </p:sp>
        <p:sp>
          <p:nvSpPr>
            <p:cNvPr id="79882" name="Line 16"/>
            <p:cNvSpPr/>
            <p:nvPr/>
          </p:nvSpPr>
          <p:spPr>
            <a:xfrm>
              <a:off x="3467" y="3264"/>
              <a:ext cx="48" cy="0"/>
            </a:xfrm>
            <a:prstGeom prst="line">
              <a:avLst/>
            </a:prstGeom>
            <a:ln w="22225" cap="flat" cmpd="sng">
              <a:solidFill>
                <a:srgbClr val="000000"/>
              </a:solidFill>
              <a:prstDash val="solid"/>
              <a:headEnd type="none" w="med" len="med"/>
              <a:tailEnd type="none" w="med" len="med"/>
            </a:ln>
          </p:spPr>
        </p:sp>
        <p:sp>
          <p:nvSpPr>
            <p:cNvPr id="79883" name="Line 17"/>
            <p:cNvSpPr/>
            <p:nvPr/>
          </p:nvSpPr>
          <p:spPr>
            <a:xfrm>
              <a:off x="4187" y="3984"/>
              <a:ext cx="0" cy="48"/>
            </a:xfrm>
            <a:prstGeom prst="line">
              <a:avLst/>
            </a:prstGeom>
            <a:ln w="22225" cap="flat" cmpd="sng">
              <a:solidFill>
                <a:srgbClr val="000000"/>
              </a:solidFill>
              <a:prstDash val="solid"/>
              <a:headEnd type="none" w="med" len="med"/>
              <a:tailEnd type="none" w="med" len="med"/>
            </a:ln>
          </p:spPr>
        </p:sp>
        <p:sp>
          <p:nvSpPr>
            <p:cNvPr id="79884" name="Line 18"/>
            <p:cNvSpPr/>
            <p:nvPr/>
          </p:nvSpPr>
          <p:spPr>
            <a:xfrm>
              <a:off x="4859" y="3984"/>
              <a:ext cx="0" cy="48"/>
            </a:xfrm>
            <a:prstGeom prst="line">
              <a:avLst/>
            </a:prstGeom>
            <a:ln w="22225" cap="flat" cmpd="sng">
              <a:solidFill>
                <a:srgbClr val="000000"/>
              </a:solidFill>
              <a:prstDash val="solid"/>
              <a:headEnd type="none" w="med" len="med"/>
              <a:tailEnd type="none" w="med" len="med"/>
            </a:ln>
          </p:spPr>
        </p:sp>
        <p:sp>
          <p:nvSpPr>
            <p:cNvPr id="79885" name="Rectangle 19"/>
            <p:cNvSpPr/>
            <p:nvPr/>
          </p:nvSpPr>
          <p:spPr>
            <a:xfrm>
              <a:off x="4091" y="4063"/>
              <a:ext cx="226" cy="339"/>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spcBef>
                  <a:spcPct val="0"/>
                </a:spcBef>
                <a:buClrTx/>
                <a:buFontTx/>
                <a:buNone/>
              </a:pPr>
              <a:r>
                <a:rPr lang="en-US" altLang="zh-CN" sz="1800" dirty="0">
                  <a:solidFill>
                    <a:schemeClr val="bg1"/>
                  </a:solidFill>
                  <a:ea typeface="宋体" panose="02010600030101010101" pitchFamily="2" charset="-122"/>
                </a:rPr>
                <a:t>1</a:t>
              </a:r>
              <a:endParaRPr lang="en-US" altLang="zh-CN" sz="1800" dirty="0">
                <a:solidFill>
                  <a:schemeClr val="bg1"/>
                </a:solidFill>
                <a:ea typeface="宋体" panose="02010600030101010101" pitchFamily="2" charset="-122"/>
              </a:endParaRPr>
            </a:p>
          </p:txBody>
        </p:sp>
        <p:sp>
          <p:nvSpPr>
            <p:cNvPr id="79886" name="Rectangle 20"/>
            <p:cNvSpPr/>
            <p:nvPr/>
          </p:nvSpPr>
          <p:spPr>
            <a:xfrm>
              <a:off x="4799" y="4063"/>
              <a:ext cx="226" cy="339"/>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spcBef>
                  <a:spcPct val="0"/>
                </a:spcBef>
                <a:buClrTx/>
                <a:buFontTx/>
                <a:buNone/>
              </a:pPr>
              <a:r>
                <a:rPr lang="en-US" altLang="zh-CN" sz="1800" dirty="0">
                  <a:solidFill>
                    <a:schemeClr val="bg1"/>
                  </a:solidFill>
                  <a:ea typeface="宋体" panose="02010600030101010101" pitchFamily="2" charset="-122"/>
                </a:rPr>
                <a:t>2</a:t>
              </a:r>
              <a:endParaRPr lang="en-US" altLang="zh-CN" sz="1800" dirty="0">
                <a:solidFill>
                  <a:schemeClr val="bg1"/>
                </a:solidFill>
                <a:ea typeface="宋体" panose="02010600030101010101" pitchFamily="2" charset="-122"/>
              </a:endParaRPr>
            </a:p>
          </p:txBody>
        </p:sp>
        <p:sp>
          <p:nvSpPr>
            <p:cNvPr id="79887" name="Rectangle 21"/>
            <p:cNvSpPr/>
            <p:nvPr/>
          </p:nvSpPr>
          <p:spPr>
            <a:xfrm>
              <a:off x="3179" y="3504"/>
              <a:ext cx="336" cy="339"/>
            </a:xfrm>
            <a:prstGeom prst="rect">
              <a:avLst/>
            </a:prstGeom>
            <a:noFill/>
            <a:ln w="222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spcBef>
                  <a:spcPct val="0"/>
                </a:spcBef>
                <a:buClrTx/>
                <a:buFontTx/>
                <a:buNone/>
              </a:pPr>
              <a:r>
                <a:rPr lang="en-US" altLang="zh-CN" sz="1800" dirty="0">
                  <a:solidFill>
                    <a:schemeClr val="bg1"/>
                  </a:solidFill>
                  <a:ea typeface="宋体" panose="02010600030101010101" pitchFamily="2" charset="-122"/>
                </a:rPr>
                <a:t>10</a:t>
              </a:r>
              <a:endParaRPr lang="en-US" altLang="zh-CN" sz="1800" dirty="0">
                <a:solidFill>
                  <a:schemeClr val="bg1"/>
                </a:solidFill>
                <a:ea typeface="宋体" panose="02010600030101010101" pitchFamily="2" charset="-122"/>
              </a:endParaRPr>
            </a:p>
          </p:txBody>
        </p:sp>
        <p:sp>
          <p:nvSpPr>
            <p:cNvPr id="79888" name="Rectangle 22"/>
            <p:cNvSpPr/>
            <p:nvPr/>
          </p:nvSpPr>
          <p:spPr>
            <a:xfrm>
              <a:off x="3179" y="3120"/>
              <a:ext cx="336" cy="339"/>
            </a:xfrm>
            <a:prstGeom prst="rect">
              <a:avLst/>
            </a:prstGeom>
            <a:noFill/>
            <a:ln w="222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spcBef>
                  <a:spcPct val="0"/>
                </a:spcBef>
                <a:buClrTx/>
                <a:buFontTx/>
                <a:buNone/>
              </a:pPr>
              <a:r>
                <a:rPr lang="en-US" altLang="zh-CN" sz="1800" dirty="0">
                  <a:solidFill>
                    <a:schemeClr val="bg1"/>
                  </a:solidFill>
                  <a:ea typeface="宋体" panose="02010600030101010101" pitchFamily="2" charset="-122"/>
                </a:rPr>
                <a:t>20</a:t>
              </a:r>
              <a:endParaRPr lang="en-US" altLang="zh-CN" sz="1800" dirty="0">
                <a:solidFill>
                  <a:schemeClr val="bg1"/>
                </a:solidFill>
                <a:ea typeface="宋体" panose="02010600030101010101" pitchFamily="2" charset="-122"/>
              </a:endParaRPr>
            </a:p>
          </p:txBody>
        </p:sp>
        <p:sp>
          <p:nvSpPr>
            <p:cNvPr id="79889" name="Rectangle 23"/>
            <p:cNvSpPr/>
            <p:nvPr/>
          </p:nvSpPr>
          <p:spPr>
            <a:xfrm>
              <a:off x="5136" y="3792"/>
              <a:ext cx="312" cy="339"/>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spcBef>
                  <a:spcPct val="0"/>
                </a:spcBef>
                <a:buClrTx/>
                <a:buFontTx/>
                <a:buNone/>
              </a:pPr>
              <a:r>
                <a:rPr lang="en-US" altLang="zh-CN" sz="1800" dirty="0">
                  <a:solidFill>
                    <a:srgbClr val="080808"/>
                  </a:solidFill>
                  <a:latin typeface="仿宋_GB2312" pitchFamily="49" charset="-122"/>
                  <a:ea typeface="仿宋_GB2312" pitchFamily="49" charset="-122"/>
                </a:rPr>
                <a:t>τ</a:t>
              </a:r>
              <a:endParaRPr lang="en-US" altLang="zh-CN" sz="1800" dirty="0">
                <a:solidFill>
                  <a:srgbClr val="080808"/>
                </a:solidFill>
                <a:latin typeface="仿宋_GB2312" pitchFamily="49" charset="-122"/>
                <a:ea typeface="仿宋_GB2312" pitchFamily="49" charset="-122"/>
              </a:endParaRPr>
            </a:p>
          </p:txBody>
        </p:sp>
        <p:sp>
          <p:nvSpPr>
            <p:cNvPr id="79890" name="Rectangle 24"/>
            <p:cNvSpPr/>
            <p:nvPr/>
          </p:nvSpPr>
          <p:spPr>
            <a:xfrm>
              <a:off x="3072" y="2802"/>
              <a:ext cx="486" cy="339"/>
            </a:xfrm>
            <a:prstGeom prst="rect">
              <a:avLst/>
            </a:prstGeom>
            <a:noFill/>
            <a:ln w="22225">
              <a:noFill/>
            </a:ln>
          </p:spPr>
          <p:txBody>
            <a:bodyPr wrap="none">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spcBef>
                  <a:spcPct val="0"/>
                </a:spcBef>
                <a:buClrTx/>
                <a:buFontTx/>
                <a:buNone/>
              </a:pPr>
              <a:r>
                <a:rPr lang="en-US" altLang="zh-CN" sz="1800" dirty="0">
                  <a:solidFill>
                    <a:srgbClr val="080808"/>
                  </a:solidFill>
                  <a:latin typeface="楷体_GB2312" pitchFamily="49" charset="-122"/>
                  <a:ea typeface="楷体_GB2312" pitchFamily="49" charset="-122"/>
                </a:rPr>
                <a:t>MTTF</a:t>
              </a:r>
              <a:endParaRPr lang="en-US" altLang="zh-CN" sz="1800" dirty="0">
                <a:solidFill>
                  <a:srgbClr val="080808"/>
                </a:solidFill>
                <a:latin typeface="楷体_GB2312" pitchFamily="49" charset="-122"/>
                <a:ea typeface="楷体_GB2312" pitchFamily="49" charset="-122"/>
              </a:endParaRPr>
            </a:p>
          </p:txBody>
        </p:sp>
      </p:grpSp>
      <p:sp>
        <p:nvSpPr>
          <p:cNvPr id="79877"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内容占位符 2"/>
          <p:cNvSpPr>
            <a:spLocks noGrp="1"/>
          </p:cNvSpPr>
          <p:nvPr>
            <p:ph idx="1"/>
          </p:nvPr>
        </p:nvSpPr>
        <p:spPr>
          <a:xfrm>
            <a:off x="428625" y="1214438"/>
            <a:ext cx="8286750" cy="5214937"/>
          </a:xfrm>
          <a:ln/>
        </p:spPr>
        <p:txBody>
          <a:bodyPr vert="horz" wrap="square" lIns="91440" tIns="45720" rIns="91440" bIns="45720" anchor="t" anchorCtr="0"/>
          <a:p>
            <a:pPr indent="363855" algn="just"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解</a:t>
            </a:r>
            <a:r>
              <a:rPr lang="en-US" altLang="zh-CN" sz="2200" b="1" dirty="0">
                <a:latin typeface="宋体" panose="02010600030101010101" pitchFamily="2" charset="-122"/>
                <a:ea typeface="宋体" panose="02010600030101010101" pitchFamily="2" charset="-122"/>
                <a:cs typeface="+mn-cs"/>
              </a:rPr>
              <a:t>:</a:t>
            </a:r>
            <a:r>
              <a:rPr lang="zh-CN" altLang="en-US" sz="2200" b="1" dirty="0">
                <a:latin typeface="宋体" panose="02010600030101010101" pitchFamily="2" charset="-122"/>
                <a:ea typeface="宋体" panose="02010600030101010101" pitchFamily="2" charset="-122"/>
                <a:cs typeface="+mn-cs"/>
              </a:rPr>
              <a:t>（</a:t>
            </a:r>
            <a:r>
              <a:rPr lang="en-US" altLang="zh-CN" sz="2200" b="1" dirty="0">
                <a:latin typeface="宋体" panose="02010600030101010101" pitchFamily="2" charset="-122"/>
                <a:ea typeface="宋体" panose="02010600030101010101" pitchFamily="2" charset="-122"/>
                <a:cs typeface="+mn-cs"/>
              </a:rPr>
              <a:t>2</a:t>
            </a:r>
            <a:r>
              <a:rPr lang="zh-CN" altLang="en-US" sz="2200" b="1" dirty="0">
                <a:latin typeface="宋体" panose="02010600030101010101" pitchFamily="2" charset="-122"/>
                <a:ea typeface="宋体" panose="02010600030101010101" pitchFamily="2" charset="-122"/>
                <a:cs typeface="+mn-cs"/>
              </a:rPr>
              <a:t>）为使</a:t>
            </a:r>
            <a:r>
              <a:rPr lang="en-US" altLang="zh-CN" sz="2200" b="1" dirty="0">
                <a:latin typeface="宋体" panose="02010600030101010101" pitchFamily="2" charset="-122"/>
                <a:ea typeface="宋体" panose="02010600030101010101" pitchFamily="2" charset="-122"/>
                <a:cs typeface="+mn-cs"/>
              </a:rPr>
              <a:t>MTTF=100h</a:t>
            </a:r>
            <a:r>
              <a:rPr lang="zh-CN" altLang="en-US" sz="2200" b="1" dirty="0">
                <a:latin typeface="宋体" panose="02010600030101010101" pitchFamily="2" charset="-122"/>
                <a:ea typeface="宋体" panose="02010600030101010101" pitchFamily="2" charset="-122"/>
                <a:cs typeface="+mn-cs"/>
              </a:rPr>
              <a:t>，需要的测试时间</a:t>
            </a:r>
            <a:endParaRPr lang="zh-CN" altLang="en-US" sz="2200" b="1" dirty="0">
              <a:latin typeface="宋体" panose="02010600030101010101" pitchFamily="2" charset="-122"/>
              <a:ea typeface="宋体" panose="02010600030101010101" pitchFamily="2" charset="-122"/>
              <a:cs typeface="+mn-cs"/>
            </a:endParaRPr>
          </a:p>
          <a:p>
            <a:pPr indent="363855" algn="just"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由 </a:t>
            </a:r>
            <a:r>
              <a:rPr lang="en-US" altLang="zh-CN" sz="2200" b="1" dirty="0">
                <a:latin typeface="宋体" panose="02010600030101010101" pitchFamily="2" charset="-122"/>
                <a:ea typeface="宋体" panose="02010600030101010101" pitchFamily="2" charset="-122"/>
                <a:cs typeface="+mn-cs"/>
              </a:rPr>
              <a:t>100 </a:t>
            </a:r>
            <a:r>
              <a:rPr lang="zh-CN" altLang="en-US" sz="2200" b="1" dirty="0">
                <a:latin typeface="宋体" panose="02010600030101010101" pitchFamily="2" charset="-122"/>
                <a:ea typeface="宋体" panose="02010600030101010101" pitchFamily="2" charset="-122"/>
                <a:cs typeface="+mn-cs"/>
              </a:rPr>
              <a:t>＝ </a:t>
            </a:r>
            <a:r>
              <a:rPr lang="en-US" altLang="zh-CN" sz="2200" b="1" dirty="0">
                <a:latin typeface="宋体" panose="02010600030101010101" pitchFamily="2" charset="-122"/>
                <a:ea typeface="宋体" panose="02010600030101010101" pitchFamily="2" charset="-122"/>
                <a:cs typeface="+mn-cs"/>
              </a:rPr>
              <a:t>5 + 5τ  </a:t>
            </a:r>
            <a:r>
              <a:rPr lang="zh-CN" altLang="en-US" sz="2200" b="1" dirty="0">
                <a:latin typeface="宋体" panose="02010600030101010101" pitchFamily="2" charset="-122"/>
                <a:ea typeface="宋体" panose="02010600030101010101" pitchFamily="2" charset="-122"/>
                <a:cs typeface="+mn-cs"/>
              </a:rPr>
              <a:t>解得： </a:t>
            </a:r>
            <a:r>
              <a:rPr lang="en-US" altLang="zh-CN" sz="2200" b="1" dirty="0">
                <a:latin typeface="宋体" panose="02010600030101010101" pitchFamily="2" charset="-122"/>
                <a:ea typeface="宋体" panose="02010600030101010101" pitchFamily="2" charset="-122"/>
                <a:cs typeface="+mn-cs"/>
              </a:rPr>
              <a:t>τ = 19</a:t>
            </a:r>
            <a:endParaRPr lang="en-US" altLang="zh-CN" sz="2200" b="1" dirty="0">
              <a:latin typeface="宋体" panose="02010600030101010101" pitchFamily="2" charset="-122"/>
              <a:ea typeface="宋体" panose="02010600030101010101" pitchFamily="2" charset="-122"/>
              <a:cs typeface="+mn-cs"/>
            </a:endParaRPr>
          </a:p>
          <a:p>
            <a:pPr indent="363855" algn="just"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即需要进行</a:t>
            </a:r>
            <a:r>
              <a:rPr lang="en-US" altLang="zh-CN" sz="2200" b="1" dirty="0">
                <a:latin typeface="宋体" panose="02010600030101010101" pitchFamily="2" charset="-122"/>
                <a:ea typeface="宋体" panose="02010600030101010101" pitchFamily="2" charset="-122"/>
                <a:cs typeface="+mn-cs"/>
              </a:rPr>
              <a:t>19</a:t>
            </a:r>
            <a:r>
              <a:rPr lang="zh-CN" altLang="en-US" sz="2200" b="1" dirty="0">
                <a:latin typeface="宋体" panose="02010600030101010101" pitchFamily="2" charset="-122"/>
                <a:ea typeface="宋体" panose="02010600030101010101" pitchFamily="2" charset="-122"/>
                <a:cs typeface="+mn-cs"/>
              </a:rPr>
              <a:t>个月的测试。 </a:t>
            </a:r>
            <a:endParaRPr lang="zh-CN" altLang="en-US" sz="2200" b="1" dirty="0">
              <a:latin typeface="宋体" panose="02010600030101010101" pitchFamily="2" charset="-122"/>
              <a:ea typeface="宋体" panose="02010600030101010101" pitchFamily="2" charset="-122"/>
              <a:cs typeface="+mn-cs"/>
            </a:endParaRPr>
          </a:p>
          <a:p>
            <a:pPr indent="363855" algn="just"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由：                       有：</a:t>
            </a:r>
            <a:endParaRPr lang="en-US" altLang="zh-CN" sz="2200" b="1" dirty="0">
              <a:latin typeface="宋体" panose="02010600030101010101" pitchFamily="2" charset="-122"/>
              <a:ea typeface="宋体" panose="02010600030101010101" pitchFamily="2" charset="-122"/>
              <a:cs typeface="+mn-cs"/>
            </a:endParaRPr>
          </a:p>
          <a:p>
            <a:pPr indent="363855" algn="just" eaLnBrk="1" hangingPunct="1">
              <a:lnSpc>
                <a:spcPct val="120000"/>
              </a:lnSpc>
              <a:buSzPct val="80000"/>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363855" algn="just" eaLnBrk="1" hangingPunct="1">
              <a:lnSpc>
                <a:spcPct val="120000"/>
              </a:lnSpc>
              <a:buSzPct val="80000"/>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363855" algn="just"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解得故障总数</a:t>
            </a:r>
            <a:r>
              <a:rPr lang="en-US" altLang="zh-CN" sz="2200" b="1" dirty="0">
                <a:latin typeface="宋体" panose="02010600030101010101" pitchFamily="2" charset="-122"/>
                <a:ea typeface="宋体" panose="02010600030101010101" pitchFamily="2" charset="-122"/>
                <a:cs typeface="+mn-cs"/>
              </a:rPr>
              <a:t>E</a:t>
            </a:r>
            <a:r>
              <a:rPr lang="en-US" altLang="zh-CN" sz="2200" b="1" baseline="-25000" dirty="0">
                <a:latin typeface="宋体" panose="02010600030101010101" pitchFamily="2" charset="-122"/>
                <a:ea typeface="宋体" panose="02010600030101010101" pitchFamily="2" charset="-122"/>
                <a:cs typeface="+mn-cs"/>
              </a:rPr>
              <a:t>T</a:t>
            </a:r>
            <a:r>
              <a:rPr lang="en-US" altLang="zh-CN" sz="2200" b="1" dirty="0">
                <a:latin typeface="宋体" panose="02010600030101010101" pitchFamily="2" charset="-122"/>
                <a:ea typeface="宋体" panose="02010600030101010101" pitchFamily="2" charset="-122"/>
                <a:cs typeface="+mn-cs"/>
              </a:rPr>
              <a:t>= 45</a:t>
            </a:r>
            <a:r>
              <a:rPr lang="zh-CN" altLang="en-US" sz="2200" b="1" dirty="0">
                <a:latin typeface="宋体" panose="02010600030101010101" pitchFamily="2" charset="-122"/>
                <a:ea typeface="宋体" panose="02010600030101010101" pitchFamily="2" charset="-122"/>
                <a:cs typeface="+mn-cs"/>
              </a:rPr>
              <a:t>、</a:t>
            </a:r>
            <a:r>
              <a:rPr lang="en-US" altLang="zh-CN" sz="2200" b="1" dirty="0">
                <a:latin typeface="宋体" panose="02010600030101010101" pitchFamily="2" charset="-122"/>
                <a:ea typeface="宋体" panose="02010600030101010101" pitchFamily="2" charset="-122"/>
                <a:cs typeface="+mn-cs"/>
              </a:rPr>
              <a:t>k≈33</a:t>
            </a:r>
            <a:endParaRPr lang="en-US" altLang="zh-CN" sz="2200" b="1" dirty="0">
              <a:latin typeface="宋体" panose="02010600030101010101" pitchFamily="2" charset="-122"/>
              <a:ea typeface="宋体" panose="02010600030101010101" pitchFamily="2" charset="-122"/>
              <a:cs typeface="+mn-cs"/>
            </a:endParaRPr>
          </a:p>
          <a:p>
            <a:pPr indent="363855" algn="just"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由：</a:t>
            </a:r>
            <a:endParaRPr lang="en-US" altLang="zh-CN" sz="2200" b="1" dirty="0">
              <a:latin typeface="宋体" panose="02010600030101010101" pitchFamily="2" charset="-122"/>
              <a:ea typeface="宋体" panose="02010600030101010101" pitchFamily="2" charset="-122"/>
              <a:cs typeface="+mn-cs"/>
            </a:endParaRPr>
          </a:p>
          <a:p>
            <a:pPr indent="363855" algn="just" eaLnBrk="1" hangingPunct="1">
              <a:lnSpc>
                <a:spcPct val="120000"/>
              </a:lnSpc>
              <a:buSzPct val="80000"/>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363855" algn="just"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解得：</a:t>
            </a:r>
            <a:r>
              <a:rPr lang="en-US" altLang="zh-CN" sz="2200" b="1" dirty="0">
                <a:latin typeface="宋体" panose="02010600030101010101" pitchFamily="2" charset="-122"/>
                <a:ea typeface="宋体" panose="02010600030101010101" pitchFamily="2" charset="-122"/>
                <a:cs typeface="+mn-cs"/>
              </a:rPr>
              <a:t>E</a:t>
            </a:r>
            <a:r>
              <a:rPr lang="en-US" altLang="zh-CN" sz="2200" b="1" baseline="-25000" dirty="0">
                <a:latin typeface="宋体" panose="02010600030101010101" pitchFamily="2" charset="-122"/>
                <a:ea typeface="宋体" panose="02010600030101010101" pitchFamily="2" charset="-122"/>
                <a:cs typeface="+mn-cs"/>
              </a:rPr>
              <a:t>c </a:t>
            </a:r>
            <a:r>
              <a:rPr lang="en-US" altLang="zh-CN" sz="2200" b="1" dirty="0">
                <a:latin typeface="宋体" panose="02010600030101010101" pitchFamily="2" charset="-122"/>
                <a:ea typeface="宋体" panose="02010600030101010101" pitchFamily="2" charset="-122"/>
                <a:cs typeface="+mn-cs"/>
              </a:rPr>
              <a:t>= 42 </a:t>
            </a:r>
            <a:endParaRPr lang="en-US" altLang="zh-CN" sz="2200" b="1" dirty="0">
              <a:latin typeface="宋体" panose="02010600030101010101" pitchFamily="2" charset="-122"/>
              <a:ea typeface="宋体" panose="02010600030101010101" pitchFamily="2" charset="-122"/>
              <a:cs typeface="+mn-cs"/>
            </a:endParaRPr>
          </a:p>
          <a:p>
            <a:pPr indent="363855" algn="just"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即改正了</a:t>
            </a:r>
            <a:r>
              <a:rPr lang="en-US" altLang="zh-CN" sz="2200" b="1" dirty="0">
                <a:latin typeface="宋体" panose="02010600030101010101" pitchFamily="2" charset="-122"/>
                <a:ea typeface="宋体" panose="02010600030101010101" pitchFamily="2" charset="-122"/>
                <a:cs typeface="+mn-cs"/>
              </a:rPr>
              <a:t>42</a:t>
            </a:r>
            <a:r>
              <a:rPr lang="zh-CN" altLang="en-US" sz="2200" b="1" dirty="0">
                <a:latin typeface="宋体" panose="02010600030101010101" pitchFamily="2" charset="-122"/>
                <a:ea typeface="宋体" panose="02010600030101010101" pitchFamily="2" charset="-122"/>
                <a:cs typeface="+mn-cs"/>
              </a:rPr>
              <a:t>个错误，还有</a:t>
            </a:r>
            <a:r>
              <a:rPr lang="en-US" altLang="zh-CN" sz="2200" b="1" dirty="0">
                <a:latin typeface="宋体" panose="02010600030101010101" pitchFamily="2" charset="-122"/>
                <a:ea typeface="宋体" panose="02010600030101010101" pitchFamily="2" charset="-122"/>
                <a:cs typeface="+mn-cs"/>
              </a:rPr>
              <a:t>45-42=3</a:t>
            </a:r>
            <a:r>
              <a:rPr lang="zh-CN" altLang="en-US" sz="2200" b="1" dirty="0">
                <a:latin typeface="宋体" panose="02010600030101010101" pitchFamily="2" charset="-122"/>
                <a:ea typeface="宋体" panose="02010600030101010101" pitchFamily="2" charset="-122"/>
                <a:cs typeface="+mn-cs"/>
              </a:rPr>
              <a:t>个潜藏的错误。</a:t>
            </a:r>
            <a:endParaRPr lang="zh-CN" altLang="en-US" sz="2200" b="1" dirty="0">
              <a:latin typeface="宋体" panose="02010600030101010101" pitchFamily="2" charset="-122"/>
              <a:ea typeface="宋体" panose="02010600030101010101" pitchFamily="2" charset="-122"/>
              <a:cs typeface="+mn-cs"/>
            </a:endParaRPr>
          </a:p>
          <a:p>
            <a:pPr indent="363855" algn="just" eaLnBrk="1" hangingPunct="1">
              <a:lnSpc>
                <a:spcPct val="120000"/>
              </a:lnSpc>
              <a:buSzPct val="80000"/>
              <a:buFont typeface="Wingdings" panose="05000000000000000000" pitchFamily="2" charset="2"/>
              <a:buNone/>
            </a:pPr>
            <a:endParaRPr lang="zh-CN" altLang="en-US" sz="2200" b="1" dirty="0">
              <a:latin typeface="宋体" panose="02010600030101010101" pitchFamily="2" charset="-122"/>
              <a:ea typeface="宋体" panose="02010600030101010101" pitchFamily="2" charset="-122"/>
              <a:cs typeface="+mn-cs"/>
            </a:endParaRPr>
          </a:p>
          <a:p>
            <a:pPr indent="363855" algn="just" eaLnBrk="1" hangingPunct="1">
              <a:lnSpc>
                <a:spcPct val="120000"/>
              </a:lnSpc>
              <a:buSzPct val="80000"/>
              <a:buFont typeface="Wingdings" panose="05000000000000000000" pitchFamily="2" charset="2"/>
              <a:buNone/>
            </a:pPr>
            <a:endParaRPr lang="zh-CN" altLang="en-US" sz="2200" b="1" dirty="0">
              <a:latin typeface="宋体" panose="02010600030101010101" pitchFamily="2" charset="-122"/>
              <a:ea typeface="宋体" panose="02010600030101010101" pitchFamily="2" charset="-122"/>
              <a:cs typeface="+mn-cs"/>
            </a:endParaRPr>
          </a:p>
          <a:p>
            <a:pPr indent="363855" algn="just" eaLnBrk="1" hangingPunct="1">
              <a:lnSpc>
                <a:spcPct val="120000"/>
              </a:lnSpc>
              <a:buSzPct val="80000"/>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363855" algn="just" eaLnBrk="1" hangingPunct="1">
              <a:lnSpc>
                <a:spcPct val="120000"/>
              </a:lnSpc>
              <a:buSzPct val="80000"/>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p:txBody>
      </p:sp>
      <p:grpSp>
        <p:nvGrpSpPr>
          <p:cNvPr id="80899" name="Group 18"/>
          <p:cNvGrpSpPr/>
          <p:nvPr/>
        </p:nvGrpSpPr>
        <p:grpSpPr>
          <a:xfrm>
            <a:off x="1428750" y="2786063"/>
            <a:ext cx="3071813" cy="836612"/>
            <a:chOff x="334" y="753"/>
            <a:chExt cx="2128" cy="858"/>
          </a:xfrm>
        </p:grpSpPr>
        <p:sp>
          <p:nvSpPr>
            <p:cNvPr id="80918" name="Line 19"/>
            <p:cNvSpPr/>
            <p:nvPr/>
          </p:nvSpPr>
          <p:spPr>
            <a:xfrm>
              <a:off x="1158" y="1152"/>
              <a:ext cx="1304" cy="0"/>
            </a:xfrm>
            <a:prstGeom prst="line">
              <a:avLst/>
            </a:prstGeom>
            <a:ln w="19050" cap="flat" cmpd="sng">
              <a:solidFill>
                <a:srgbClr val="080808"/>
              </a:solidFill>
              <a:prstDash val="solid"/>
              <a:headEnd type="none" w="med" len="med"/>
              <a:tailEnd type="none" w="med" len="med"/>
            </a:ln>
          </p:spPr>
        </p:sp>
        <p:sp>
          <p:nvSpPr>
            <p:cNvPr id="80919" name="Rectangle 20"/>
            <p:cNvSpPr/>
            <p:nvPr/>
          </p:nvSpPr>
          <p:spPr>
            <a:xfrm>
              <a:off x="1172" y="1200"/>
              <a:ext cx="1198" cy="41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spcBef>
                  <a:spcPct val="0"/>
                </a:spcBef>
                <a:buClrTx/>
                <a:buFontTx/>
                <a:buNone/>
              </a:pPr>
              <a:r>
                <a:rPr lang="en-US" altLang="zh-CN" sz="2000" dirty="0">
                  <a:solidFill>
                    <a:srgbClr val="080808"/>
                  </a:solidFill>
                  <a:ea typeface="宋体" panose="02010600030101010101" pitchFamily="2" charset="-122"/>
                </a:rPr>
                <a:t>K</a:t>
              </a:r>
              <a:r>
                <a:rPr lang="en-US" altLang="zh-CN" sz="2000" dirty="0">
                  <a:solidFill>
                    <a:srgbClr val="080808"/>
                  </a:solidFill>
                  <a:ea typeface="黑体" panose="02010609060101010101" pitchFamily="49" charset="-122"/>
                </a:rPr>
                <a:t>×</a:t>
              </a:r>
              <a:r>
                <a:rPr lang="en-US" altLang="zh-CN" sz="2000" dirty="0">
                  <a:solidFill>
                    <a:srgbClr val="080808"/>
                  </a:solidFill>
                  <a:ea typeface="宋体" panose="02010600030101010101" pitchFamily="2" charset="-122"/>
                </a:rPr>
                <a:t>(</a:t>
              </a:r>
              <a:r>
                <a:rPr lang="en-US" altLang="zh-CN" sz="2000" dirty="0">
                  <a:solidFill>
                    <a:srgbClr val="080808"/>
                  </a:solidFill>
                  <a:ea typeface="黑体" panose="02010609060101010101" pitchFamily="49" charset="-122"/>
                </a:rPr>
                <a:t>E</a:t>
              </a:r>
              <a:r>
                <a:rPr lang="en-US" altLang="zh-CN" sz="2000" baseline="-25000" dirty="0">
                  <a:solidFill>
                    <a:srgbClr val="080808"/>
                  </a:solidFill>
                  <a:ea typeface="黑体" panose="02010609060101010101" pitchFamily="49" charset="-122"/>
                </a:rPr>
                <a:t>T</a:t>
              </a:r>
              <a:r>
                <a:rPr lang="zh-CN" altLang="en-US" sz="2000" dirty="0">
                  <a:solidFill>
                    <a:srgbClr val="080808"/>
                  </a:solidFill>
                  <a:ea typeface="黑体" panose="02010609060101010101" pitchFamily="49" charset="-122"/>
                </a:rPr>
                <a:t>－ </a:t>
              </a:r>
              <a:r>
                <a:rPr lang="en-US" altLang="zh-CN" sz="2000" dirty="0">
                  <a:solidFill>
                    <a:srgbClr val="080808"/>
                  </a:solidFill>
                  <a:ea typeface="黑体" panose="02010609060101010101" pitchFamily="49" charset="-122"/>
                </a:rPr>
                <a:t>E</a:t>
              </a:r>
              <a:r>
                <a:rPr lang="en-US" altLang="zh-CN" sz="2000" baseline="-25000" dirty="0">
                  <a:solidFill>
                    <a:srgbClr val="080808"/>
                  </a:solidFill>
                  <a:ea typeface="黑体" panose="02010609060101010101" pitchFamily="49" charset="-122"/>
                </a:rPr>
                <a:t>c</a:t>
              </a:r>
              <a:r>
                <a:rPr lang="en-US" altLang="zh-CN" sz="2000" dirty="0">
                  <a:solidFill>
                    <a:srgbClr val="080808"/>
                  </a:solidFill>
                  <a:ea typeface="黑体" panose="02010609060101010101" pitchFamily="49" charset="-122"/>
                </a:rPr>
                <a:t> )</a:t>
              </a:r>
              <a:endParaRPr lang="en-US" altLang="zh-CN" sz="2000" dirty="0">
                <a:solidFill>
                  <a:srgbClr val="080808"/>
                </a:solidFill>
                <a:ea typeface="黑体" panose="02010609060101010101" pitchFamily="49" charset="-122"/>
              </a:endParaRPr>
            </a:p>
          </p:txBody>
        </p:sp>
        <p:sp>
          <p:nvSpPr>
            <p:cNvPr id="80920" name="Rectangle 21"/>
            <p:cNvSpPr/>
            <p:nvPr/>
          </p:nvSpPr>
          <p:spPr>
            <a:xfrm>
              <a:off x="1703" y="753"/>
              <a:ext cx="259" cy="41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spcBef>
                  <a:spcPct val="0"/>
                </a:spcBef>
                <a:buClrTx/>
                <a:buFontTx/>
                <a:buNone/>
              </a:pPr>
              <a:r>
                <a:rPr lang="en-US" altLang="zh-CN" sz="2000" dirty="0">
                  <a:solidFill>
                    <a:srgbClr val="080808"/>
                  </a:solidFill>
                  <a:ea typeface="黑体" panose="02010609060101010101" pitchFamily="49" charset="-122"/>
                </a:rPr>
                <a:t>I</a:t>
              </a:r>
              <a:r>
                <a:rPr lang="en-US" altLang="zh-CN" sz="2000" baseline="-25000" dirty="0">
                  <a:solidFill>
                    <a:srgbClr val="080808"/>
                  </a:solidFill>
                  <a:ea typeface="黑体" panose="02010609060101010101" pitchFamily="49" charset="-122"/>
                </a:rPr>
                <a:t>T</a:t>
              </a:r>
              <a:endParaRPr lang="en-US" altLang="zh-CN" sz="2000" baseline="-25000" dirty="0">
                <a:solidFill>
                  <a:srgbClr val="080808"/>
                </a:solidFill>
                <a:ea typeface="黑体" panose="02010609060101010101" pitchFamily="49" charset="-122"/>
              </a:endParaRPr>
            </a:p>
          </p:txBody>
        </p:sp>
        <p:sp>
          <p:nvSpPr>
            <p:cNvPr id="80921" name="Rectangle 22"/>
            <p:cNvSpPr/>
            <p:nvPr/>
          </p:nvSpPr>
          <p:spPr>
            <a:xfrm>
              <a:off x="334" y="988"/>
              <a:ext cx="865" cy="411"/>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spcBef>
                  <a:spcPct val="0"/>
                </a:spcBef>
                <a:buClrTx/>
                <a:buFontTx/>
                <a:buNone/>
              </a:pPr>
              <a:r>
                <a:rPr lang="en-US" altLang="zh-CN" sz="2000" dirty="0">
                  <a:solidFill>
                    <a:srgbClr val="080808"/>
                  </a:solidFill>
                  <a:ea typeface="宋体" panose="02010600030101010101" pitchFamily="2" charset="-122"/>
                </a:rPr>
                <a:t>MTTF </a:t>
              </a:r>
              <a:r>
                <a:rPr lang="zh-CN" altLang="en-US" sz="2000" dirty="0">
                  <a:solidFill>
                    <a:srgbClr val="080808"/>
                  </a:solidFill>
                  <a:ea typeface="宋体" panose="02010600030101010101" pitchFamily="2" charset="-122"/>
                </a:rPr>
                <a:t>＝</a:t>
              </a:r>
              <a:endParaRPr lang="zh-CN" altLang="en-US" sz="2000" dirty="0">
                <a:solidFill>
                  <a:srgbClr val="080808"/>
                </a:solidFill>
                <a:ea typeface="宋体" panose="02010600030101010101" pitchFamily="2" charset="-122"/>
              </a:endParaRPr>
            </a:p>
          </p:txBody>
        </p:sp>
      </p:grpSp>
      <p:grpSp>
        <p:nvGrpSpPr>
          <p:cNvPr id="80900" name="Group 4"/>
          <p:cNvGrpSpPr/>
          <p:nvPr/>
        </p:nvGrpSpPr>
        <p:grpSpPr>
          <a:xfrm>
            <a:off x="5199063" y="2643188"/>
            <a:ext cx="3516312" cy="1655762"/>
            <a:chOff x="3005" y="48"/>
            <a:chExt cx="2666" cy="1561"/>
          </a:xfrm>
        </p:grpSpPr>
        <p:sp>
          <p:nvSpPr>
            <p:cNvPr id="80907" name="Rectangle 5"/>
            <p:cNvSpPr/>
            <p:nvPr/>
          </p:nvSpPr>
          <p:spPr>
            <a:xfrm>
              <a:off x="4032" y="48"/>
              <a:ext cx="750" cy="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spcBef>
                  <a:spcPct val="0"/>
                </a:spcBef>
                <a:buClrTx/>
                <a:buFontTx/>
                <a:buNone/>
              </a:pPr>
              <a:r>
                <a:rPr lang="en-US" altLang="zh-CN" sz="2000" dirty="0">
                  <a:solidFill>
                    <a:srgbClr val="080808"/>
                  </a:solidFill>
                  <a:ea typeface="黑体" panose="02010609060101010101" pitchFamily="49" charset="-122"/>
                </a:rPr>
                <a:t>10000</a:t>
              </a:r>
              <a:endParaRPr lang="en-US" altLang="zh-CN" sz="2000" baseline="-25000" dirty="0">
                <a:solidFill>
                  <a:srgbClr val="080808"/>
                </a:solidFill>
                <a:ea typeface="黑体" panose="02010609060101010101" pitchFamily="49" charset="-122"/>
              </a:endParaRPr>
            </a:p>
          </p:txBody>
        </p:sp>
        <p:sp>
          <p:nvSpPr>
            <p:cNvPr id="80908" name="Line 6"/>
            <p:cNvSpPr/>
            <p:nvPr/>
          </p:nvSpPr>
          <p:spPr>
            <a:xfrm>
              <a:off x="3784" y="392"/>
              <a:ext cx="1304" cy="0"/>
            </a:xfrm>
            <a:prstGeom prst="line">
              <a:avLst/>
            </a:prstGeom>
            <a:ln w="12700" cap="flat" cmpd="sng">
              <a:solidFill>
                <a:srgbClr val="080808"/>
              </a:solidFill>
              <a:prstDash val="solid"/>
              <a:headEnd type="none" w="med" len="med"/>
              <a:tailEnd type="none" w="med" len="med"/>
            </a:ln>
          </p:spPr>
        </p:sp>
        <p:sp>
          <p:nvSpPr>
            <p:cNvPr id="80909" name="Rectangle 7"/>
            <p:cNvSpPr/>
            <p:nvPr/>
          </p:nvSpPr>
          <p:spPr>
            <a:xfrm>
              <a:off x="3757" y="470"/>
              <a:ext cx="1247" cy="34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spcBef>
                  <a:spcPct val="0"/>
                </a:spcBef>
                <a:buClrTx/>
                <a:buFontTx/>
                <a:buNone/>
              </a:pPr>
              <a:r>
                <a:rPr lang="en-US" altLang="zh-CN" sz="2000" dirty="0">
                  <a:solidFill>
                    <a:srgbClr val="080808"/>
                  </a:solidFill>
                  <a:ea typeface="宋体" panose="02010600030101010101" pitchFamily="2" charset="-122"/>
                </a:rPr>
                <a:t>K</a:t>
              </a:r>
              <a:r>
                <a:rPr lang="en-US" altLang="zh-CN" sz="2000" dirty="0">
                  <a:solidFill>
                    <a:srgbClr val="080808"/>
                  </a:solidFill>
                  <a:ea typeface="黑体" panose="02010609060101010101" pitchFamily="49" charset="-122"/>
                </a:rPr>
                <a:t>×</a:t>
              </a:r>
              <a:r>
                <a:rPr lang="en-US" altLang="zh-CN" sz="2000" dirty="0">
                  <a:solidFill>
                    <a:srgbClr val="080808"/>
                  </a:solidFill>
                  <a:ea typeface="宋体" panose="02010600030101010101" pitchFamily="2" charset="-122"/>
                </a:rPr>
                <a:t>(</a:t>
              </a:r>
              <a:r>
                <a:rPr lang="en-US" altLang="zh-CN" sz="2000" dirty="0">
                  <a:solidFill>
                    <a:srgbClr val="080808"/>
                  </a:solidFill>
                  <a:ea typeface="黑体" panose="02010609060101010101" pitchFamily="49" charset="-122"/>
                </a:rPr>
                <a:t>E</a:t>
              </a:r>
              <a:r>
                <a:rPr lang="en-US" altLang="zh-CN" sz="2000" baseline="-25000" dirty="0">
                  <a:solidFill>
                    <a:srgbClr val="080808"/>
                  </a:solidFill>
                  <a:ea typeface="黑体" panose="02010609060101010101" pitchFamily="49" charset="-122"/>
                </a:rPr>
                <a:t>T</a:t>
              </a:r>
              <a:r>
                <a:rPr lang="zh-CN" altLang="en-US" sz="2000" dirty="0">
                  <a:solidFill>
                    <a:srgbClr val="080808"/>
                  </a:solidFill>
                  <a:ea typeface="黑体" panose="02010609060101010101" pitchFamily="49" charset="-122"/>
                </a:rPr>
                <a:t>－ </a:t>
              </a:r>
              <a:r>
                <a:rPr lang="en-US" altLang="zh-CN" sz="2000" dirty="0">
                  <a:solidFill>
                    <a:srgbClr val="080808"/>
                  </a:solidFill>
                  <a:ea typeface="黑体" panose="02010609060101010101" pitchFamily="49" charset="-122"/>
                </a:rPr>
                <a:t>15 )</a:t>
              </a:r>
              <a:endParaRPr lang="en-US" altLang="zh-CN" sz="2000" dirty="0">
                <a:solidFill>
                  <a:srgbClr val="080808"/>
                </a:solidFill>
                <a:ea typeface="黑体" panose="02010609060101010101" pitchFamily="49" charset="-122"/>
              </a:endParaRPr>
            </a:p>
          </p:txBody>
        </p:sp>
        <p:sp>
          <p:nvSpPr>
            <p:cNvPr id="80910" name="Rectangle 8"/>
            <p:cNvSpPr/>
            <p:nvPr/>
          </p:nvSpPr>
          <p:spPr>
            <a:xfrm>
              <a:off x="3187" y="243"/>
              <a:ext cx="671" cy="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spcBef>
                  <a:spcPct val="0"/>
                </a:spcBef>
                <a:buClrTx/>
                <a:buFontTx/>
                <a:buNone/>
              </a:pPr>
              <a:r>
                <a:rPr lang="en-US" altLang="zh-CN" sz="2000" dirty="0">
                  <a:solidFill>
                    <a:srgbClr val="080808"/>
                  </a:solidFill>
                  <a:ea typeface="宋体" panose="02010600030101010101" pitchFamily="2" charset="-122"/>
                </a:rPr>
                <a:t>10 </a:t>
              </a:r>
              <a:r>
                <a:rPr lang="zh-CN" altLang="en-US" sz="2000" dirty="0">
                  <a:solidFill>
                    <a:srgbClr val="080808"/>
                  </a:solidFill>
                  <a:ea typeface="宋体" panose="02010600030101010101" pitchFamily="2" charset="-122"/>
                </a:rPr>
                <a:t>＝</a:t>
              </a:r>
              <a:endParaRPr lang="zh-CN" altLang="en-US" sz="2000" dirty="0">
                <a:solidFill>
                  <a:srgbClr val="080808"/>
                </a:solidFill>
                <a:ea typeface="宋体" panose="02010600030101010101" pitchFamily="2" charset="-122"/>
              </a:endParaRPr>
            </a:p>
          </p:txBody>
        </p:sp>
        <p:sp>
          <p:nvSpPr>
            <p:cNvPr id="80911" name="Line 9"/>
            <p:cNvSpPr/>
            <p:nvPr/>
          </p:nvSpPr>
          <p:spPr>
            <a:xfrm>
              <a:off x="3832" y="1208"/>
              <a:ext cx="1304" cy="0"/>
            </a:xfrm>
            <a:prstGeom prst="line">
              <a:avLst/>
            </a:prstGeom>
            <a:ln w="19050" cap="flat" cmpd="sng">
              <a:solidFill>
                <a:srgbClr val="080808"/>
              </a:solidFill>
              <a:prstDash val="solid"/>
              <a:headEnd type="none" w="med" len="med"/>
              <a:tailEnd type="none" w="med" len="med"/>
            </a:ln>
          </p:spPr>
        </p:sp>
        <p:sp>
          <p:nvSpPr>
            <p:cNvPr id="80912" name="Rectangle 10"/>
            <p:cNvSpPr/>
            <p:nvPr/>
          </p:nvSpPr>
          <p:spPr>
            <a:xfrm>
              <a:off x="3753" y="1262"/>
              <a:ext cx="1247" cy="34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spcBef>
                  <a:spcPct val="0"/>
                </a:spcBef>
                <a:buClrTx/>
                <a:buFontTx/>
                <a:buNone/>
              </a:pPr>
              <a:r>
                <a:rPr lang="en-US" altLang="zh-CN" sz="2000" dirty="0">
                  <a:solidFill>
                    <a:srgbClr val="080808"/>
                  </a:solidFill>
                  <a:ea typeface="宋体" panose="02010600030101010101" pitchFamily="2" charset="-122"/>
                </a:rPr>
                <a:t>K</a:t>
              </a:r>
              <a:r>
                <a:rPr lang="en-US" altLang="zh-CN" sz="2000" dirty="0">
                  <a:solidFill>
                    <a:srgbClr val="080808"/>
                  </a:solidFill>
                  <a:ea typeface="黑体" panose="02010609060101010101" pitchFamily="49" charset="-122"/>
                </a:rPr>
                <a:t>×</a:t>
              </a:r>
              <a:r>
                <a:rPr lang="en-US" altLang="zh-CN" sz="2000" dirty="0">
                  <a:solidFill>
                    <a:srgbClr val="080808"/>
                  </a:solidFill>
                  <a:ea typeface="宋体" panose="02010600030101010101" pitchFamily="2" charset="-122"/>
                </a:rPr>
                <a:t>(</a:t>
              </a:r>
              <a:r>
                <a:rPr lang="en-US" altLang="zh-CN" sz="2000" dirty="0">
                  <a:solidFill>
                    <a:srgbClr val="080808"/>
                  </a:solidFill>
                  <a:ea typeface="黑体" panose="02010609060101010101" pitchFamily="49" charset="-122"/>
                </a:rPr>
                <a:t>E</a:t>
              </a:r>
              <a:r>
                <a:rPr lang="en-US" altLang="zh-CN" sz="2000" baseline="-25000" dirty="0">
                  <a:solidFill>
                    <a:srgbClr val="080808"/>
                  </a:solidFill>
                  <a:ea typeface="黑体" panose="02010609060101010101" pitchFamily="49" charset="-122"/>
                </a:rPr>
                <a:t>T</a:t>
              </a:r>
              <a:r>
                <a:rPr lang="zh-CN" altLang="en-US" sz="2000" dirty="0">
                  <a:solidFill>
                    <a:srgbClr val="080808"/>
                  </a:solidFill>
                  <a:ea typeface="黑体" panose="02010609060101010101" pitchFamily="49" charset="-122"/>
                </a:rPr>
                <a:t>－ </a:t>
              </a:r>
              <a:r>
                <a:rPr lang="en-US" altLang="zh-CN" sz="2000" dirty="0">
                  <a:solidFill>
                    <a:srgbClr val="080808"/>
                  </a:solidFill>
                  <a:ea typeface="黑体" panose="02010609060101010101" pitchFamily="49" charset="-122"/>
                </a:rPr>
                <a:t>25 )</a:t>
              </a:r>
              <a:endParaRPr lang="en-US" altLang="zh-CN" sz="2000" dirty="0">
                <a:solidFill>
                  <a:srgbClr val="080808"/>
                </a:solidFill>
                <a:ea typeface="黑体" panose="02010609060101010101" pitchFamily="49" charset="-122"/>
              </a:endParaRPr>
            </a:p>
          </p:txBody>
        </p:sp>
        <p:sp>
          <p:nvSpPr>
            <p:cNvPr id="80913" name="Rectangle 11"/>
            <p:cNvSpPr/>
            <p:nvPr/>
          </p:nvSpPr>
          <p:spPr>
            <a:xfrm>
              <a:off x="4032" y="881"/>
              <a:ext cx="746" cy="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spcBef>
                  <a:spcPct val="0"/>
                </a:spcBef>
                <a:buClrTx/>
                <a:buFontTx/>
                <a:buNone/>
              </a:pPr>
              <a:r>
                <a:rPr lang="en-US" altLang="zh-CN" sz="2000" dirty="0">
                  <a:solidFill>
                    <a:srgbClr val="080808"/>
                  </a:solidFill>
                  <a:ea typeface="黑体" panose="02010609060101010101" pitchFamily="49" charset="-122"/>
                </a:rPr>
                <a:t>10000</a:t>
              </a:r>
              <a:endParaRPr lang="en-US" altLang="zh-CN" sz="2000" baseline="-25000" dirty="0">
                <a:solidFill>
                  <a:srgbClr val="080808"/>
                </a:solidFill>
                <a:ea typeface="黑体" panose="02010609060101010101" pitchFamily="49" charset="-122"/>
              </a:endParaRPr>
            </a:p>
          </p:txBody>
        </p:sp>
        <p:sp>
          <p:nvSpPr>
            <p:cNvPr id="80914" name="Rectangle 12"/>
            <p:cNvSpPr/>
            <p:nvPr/>
          </p:nvSpPr>
          <p:spPr>
            <a:xfrm>
              <a:off x="3184" y="1035"/>
              <a:ext cx="724" cy="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spcBef>
                  <a:spcPct val="0"/>
                </a:spcBef>
                <a:buClrTx/>
                <a:buFontTx/>
                <a:buNone/>
              </a:pPr>
              <a:r>
                <a:rPr lang="en-US" altLang="zh-CN" sz="2000" dirty="0">
                  <a:solidFill>
                    <a:srgbClr val="080808"/>
                  </a:solidFill>
                  <a:ea typeface="宋体" panose="02010600030101010101" pitchFamily="2" charset="-122"/>
                </a:rPr>
                <a:t>15 </a:t>
              </a:r>
              <a:r>
                <a:rPr lang="zh-CN" altLang="en-US" sz="2000" dirty="0">
                  <a:solidFill>
                    <a:srgbClr val="080808"/>
                  </a:solidFill>
                  <a:ea typeface="宋体" panose="02010600030101010101" pitchFamily="2" charset="-122"/>
                </a:rPr>
                <a:t>＝</a:t>
              </a:r>
              <a:endParaRPr lang="zh-CN" altLang="en-US" sz="2000" dirty="0">
                <a:solidFill>
                  <a:srgbClr val="080808"/>
                </a:solidFill>
                <a:ea typeface="宋体" panose="02010600030101010101" pitchFamily="2" charset="-122"/>
              </a:endParaRPr>
            </a:p>
          </p:txBody>
        </p:sp>
        <p:sp>
          <p:nvSpPr>
            <p:cNvPr id="80915" name="AutoShape 13"/>
            <p:cNvSpPr/>
            <p:nvPr/>
          </p:nvSpPr>
          <p:spPr>
            <a:xfrm>
              <a:off x="3005" y="441"/>
              <a:ext cx="201" cy="858"/>
            </a:xfrm>
            <a:prstGeom prst="leftBrace">
              <a:avLst>
                <a:gd name="adj1" fmla="val 35572"/>
                <a:gd name="adj2" fmla="val 50000"/>
              </a:avLst>
            </a:prstGeom>
            <a:noFill/>
            <a:ln w="9525" cap="flat" cmpd="sng">
              <a:solidFill>
                <a:srgbClr val="080808"/>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2000" dirty="0">
                <a:solidFill>
                  <a:srgbClr val="080808"/>
                </a:solidFill>
                <a:ea typeface="宋体" panose="02010600030101010101" pitchFamily="2" charset="-122"/>
              </a:endParaRPr>
            </a:p>
          </p:txBody>
        </p:sp>
        <p:sp>
          <p:nvSpPr>
            <p:cNvPr id="80916" name="Rectangle 14"/>
            <p:cNvSpPr/>
            <p:nvPr/>
          </p:nvSpPr>
          <p:spPr>
            <a:xfrm>
              <a:off x="5347" y="240"/>
              <a:ext cx="324" cy="34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spcBef>
                  <a:spcPct val="0"/>
                </a:spcBef>
                <a:buClrTx/>
                <a:buFontTx/>
                <a:buNone/>
              </a:pPr>
              <a:r>
                <a:rPr lang="zh-CN" altLang="en-US" sz="2000" dirty="0">
                  <a:solidFill>
                    <a:srgbClr val="080808"/>
                  </a:solidFill>
                  <a:latin typeface="楷体_GB2312" pitchFamily="49" charset="-122"/>
                  <a:ea typeface="楷体_GB2312" pitchFamily="49" charset="-122"/>
                </a:rPr>
                <a:t>①</a:t>
              </a:r>
              <a:endParaRPr lang="zh-CN" altLang="en-US" sz="2000" dirty="0">
                <a:solidFill>
                  <a:srgbClr val="080808"/>
                </a:solidFill>
                <a:latin typeface="楷体_GB2312" pitchFamily="49" charset="-122"/>
                <a:ea typeface="楷体_GB2312" pitchFamily="49" charset="-122"/>
              </a:endParaRPr>
            </a:p>
          </p:txBody>
        </p:sp>
        <p:sp>
          <p:nvSpPr>
            <p:cNvPr id="80917" name="Rectangle 15"/>
            <p:cNvSpPr/>
            <p:nvPr/>
          </p:nvSpPr>
          <p:spPr>
            <a:xfrm>
              <a:off x="5332" y="1006"/>
              <a:ext cx="324" cy="34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spcBef>
                  <a:spcPct val="0"/>
                </a:spcBef>
                <a:buClrTx/>
                <a:buFontTx/>
                <a:buNone/>
              </a:pPr>
              <a:r>
                <a:rPr lang="zh-CN" altLang="en-US" sz="2000" dirty="0">
                  <a:solidFill>
                    <a:srgbClr val="080808"/>
                  </a:solidFill>
                  <a:latin typeface="楷体_GB2312" pitchFamily="49" charset="-122"/>
                  <a:ea typeface="楷体_GB2312" pitchFamily="49" charset="-122"/>
                </a:rPr>
                <a:t>②</a:t>
              </a:r>
              <a:endParaRPr lang="zh-CN" altLang="en-US" sz="2000" dirty="0">
                <a:solidFill>
                  <a:srgbClr val="080808"/>
                </a:solidFill>
                <a:latin typeface="楷体_GB2312" pitchFamily="49" charset="-122"/>
                <a:ea typeface="楷体_GB2312" pitchFamily="49" charset="-122"/>
              </a:endParaRPr>
            </a:p>
          </p:txBody>
        </p:sp>
      </p:grpSp>
      <p:grpSp>
        <p:nvGrpSpPr>
          <p:cNvPr id="80901" name="Group 26"/>
          <p:cNvGrpSpPr/>
          <p:nvPr/>
        </p:nvGrpSpPr>
        <p:grpSpPr>
          <a:xfrm>
            <a:off x="1428750" y="4572000"/>
            <a:ext cx="3571875" cy="854075"/>
            <a:chOff x="740" y="3402"/>
            <a:chExt cx="2332" cy="613"/>
          </a:xfrm>
        </p:grpSpPr>
        <p:sp>
          <p:nvSpPr>
            <p:cNvPr id="80903" name="Line 27"/>
            <p:cNvSpPr/>
            <p:nvPr/>
          </p:nvSpPr>
          <p:spPr>
            <a:xfrm flipV="1">
              <a:off x="1348" y="3744"/>
              <a:ext cx="1724" cy="6"/>
            </a:xfrm>
            <a:prstGeom prst="line">
              <a:avLst/>
            </a:prstGeom>
            <a:ln w="19050" cap="flat" cmpd="sng">
              <a:solidFill>
                <a:srgbClr val="080808"/>
              </a:solidFill>
              <a:prstDash val="solid"/>
              <a:headEnd type="none" w="med" len="med"/>
              <a:tailEnd type="none" w="med" len="med"/>
            </a:ln>
          </p:spPr>
        </p:sp>
        <p:sp>
          <p:nvSpPr>
            <p:cNvPr id="80904" name="Rectangle 28"/>
            <p:cNvSpPr/>
            <p:nvPr/>
          </p:nvSpPr>
          <p:spPr>
            <a:xfrm>
              <a:off x="1506" y="3763"/>
              <a:ext cx="1473" cy="25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spcBef>
                  <a:spcPct val="0"/>
                </a:spcBef>
                <a:buClrTx/>
                <a:buFontTx/>
                <a:buNone/>
              </a:pPr>
              <a:r>
                <a:rPr lang="en-US" altLang="zh-CN" sz="2000" dirty="0">
                  <a:solidFill>
                    <a:srgbClr val="080808"/>
                  </a:solidFill>
                  <a:ea typeface="宋体" panose="02010600030101010101" pitchFamily="2" charset="-122"/>
                </a:rPr>
                <a:t>33 </a:t>
              </a:r>
              <a:r>
                <a:rPr lang="en-US" altLang="zh-CN" sz="2000" dirty="0">
                  <a:solidFill>
                    <a:srgbClr val="080808"/>
                  </a:solidFill>
                  <a:ea typeface="黑体" panose="02010609060101010101" pitchFamily="49" charset="-122"/>
                </a:rPr>
                <a:t>×( </a:t>
              </a:r>
              <a:r>
                <a:rPr lang="en-US" altLang="zh-CN" sz="2000" dirty="0">
                  <a:solidFill>
                    <a:srgbClr val="080808"/>
                  </a:solidFill>
                  <a:latin typeface="仿宋_GB2312" pitchFamily="49" charset="-122"/>
                  <a:ea typeface="仿宋_GB2312" pitchFamily="49" charset="-122"/>
                </a:rPr>
                <a:t>45</a:t>
              </a:r>
              <a:r>
                <a:rPr lang="en-US" altLang="zh-CN" sz="2000" baseline="-25000" dirty="0">
                  <a:solidFill>
                    <a:srgbClr val="080808"/>
                  </a:solidFill>
                  <a:ea typeface="黑体" panose="02010609060101010101" pitchFamily="49" charset="-122"/>
                </a:rPr>
                <a:t> </a:t>
              </a:r>
              <a:r>
                <a:rPr lang="zh-CN" altLang="en-US" sz="2000" dirty="0">
                  <a:solidFill>
                    <a:srgbClr val="080808"/>
                  </a:solidFill>
                  <a:ea typeface="黑体" panose="02010609060101010101" pitchFamily="49" charset="-122"/>
                </a:rPr>
                <a:t>－ </a:t>
              </a:r>
              <a:r>
                <a:rPr lang="en-US" altLang="zh-CN" sz="2000" dirty="0">
                  <a:solidFill>
                    <a:srgbClr val="080808"/>
                  </a:solidFill>
                  <a:ea typeface="黑体" panose="02010609060101010101" pitchFamily="49" charset="-122"/>
                </a:rPr>
                <a:t>E</a:t>
              </a:r>
              <a:r>
                <a:rPr lang="en-US" altLang="zh-CN" sz="2000" baseline="-25000" dirty="0">
                  <a:solidFill>
                    <a:srgbClr val="080808"/>
                  </a:solidFill>
                  <a:ea typeface="黑体" panose="02010609060101010101" pitchFamily="49" charset="-122"/>
                </a:rPr>
                <a:t>c</a:t>
              </a:r>
              <a:r>
                <a:rPr lang="en-US" altLang="zh-CN" sz="2000" dirty="0">
                  <a:solidFill>
                    <a:srgbClr val="080808"/>
                  </a:solidFill>
                  <a:ea typeface="黑体" panose="02010609060101010101" pitchFamily="49" charset="-122"/>
                </a:rPr>
                <a:t>(19) )</a:t>
              </a:r>
              <a:endParaRPr lang="en-US" altLang="zh-CN" sz="2000" dirty="0">
                <a:solidFill>
                  <a:srgbClr val="080808"/>
                </a:solidFill>
                <a:ea typeface="黑体" panose="02010609060101010101" pitchFamily="49" charset="-122"/>
              </a:endParaRPr>
            </a:p>
          </p:txBody>
        </p:sp>
        <p:sp>
          <p:nvSpPr>
            <p:cNvPr id="80905" name="Rectangle 29"/>
            <p:cNvSpPr/>
            <p:nvPr/>
          </p:nvSpPr>
          <p:spPr>
            <a:xfrm>
              <a:off x="1946" y="3402"/>
              <a:ext cx="520" cy="25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spcBef>
                  <a:spcPct val="0"/>
                </a:spcBef>
                <a:buClrTx/>
                <a:buFontTx/>
                <a:buNone/>
              </a:pPr>
              <a:r>
                <a:rPr lang="en-US" altLang="zh-CN" sz="2000" dirty="0">
                  <a:solidFill>
                    <a:srgbClr val="080808"/>
                  </a:solidFill>
                  <a:ea typeface="黑体" panose="02010609060101010101" pitchFamily="49" charset="-122"/>
                </a:rPr>
                <a:t>10000</a:t>
              </a:r>
              <a:endParaRPr lang="en-US" altLang="zh-CN" sz="2000" dirty="0">
                <a:solidFill>
                  <a:srgbClr val="080808"/>
                </a:solidFill>
                <a:ea typeface="黑体" panose="02010609060101010101" pitchFamily="49" charset="-122"/>
              </a:endParaRPr>
            </a:p>
          </p:txBody>
        </p:sp>
        <p:sp>
          <p:nvSpPr>
            <p:cNvPr id="80906" name="Rectangle 30"/>
            <p:cNvSpPr/>
            <p:nvPr/>
          </p:nvSpPr>
          <p:spPr>
            <a:xfrm>
              <a:off x="740" y="3607"/>
              <a:ext cx="649" cy="2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spcBef>
                  <a:spcPct val="0"/>
                </a:spcBef>
                <a:buClrTx/>
                <a:buFontTx/>
                <a:buNone/>
              </a:pPr>
              <a:r>
                <a:rPr lang="en-US" altLang="zh-CN" sz="2000" dirty="0">
                  <a:solidFill>
                    <a:srgbClr val="080808"/>
                  </a:solidFill>
                  <a:ea typeface="宋体" panose="02010600030101010101" pitchFamily="2" charset="-122"/>
                </a:rPr>
                <a:t>100 </a:t>
              </a:r>
              <a:r>
                <a:rPr lang="zh-CN" altLang="en-US" sz="2000" dirty="0">
                  <a:solidFill>
                    <a:srgbClr val="080808"/>
                  </a:solidFill>
                  <a:ea typeface="宋体" panose="02010600030101010101" pitchFamily="2" charset="-122"/>
                </a:rPr>
                <a:t>＝</a:t>
              </a:r>
              <a:endParaRPr lang="zh-CN" altLang="en-US" sz="2000" dirty="0">
                <a:solidFill>
                  <a:srgbClr val="080808"/>
                </a:solidFill>
                <a:ea typeface="宋体" panose="02010600030101010101" pitchFamily="2" charset="-122"/>
              </a:endParaRPr>
            </a:p>
          </p:txBody>
        </p:sp>
      </p:grpSp>
      <p:sp>
        <p:nvSpPr>
          <p:cNvPr id="80902" name="Rectangle 2"/>
          <p:cNvSpPr>
            <a:spLocks noGrp="1"/>
          </p:cNvSpPr>
          <p:nvPr>
            <p:ph type="title"/>
          </p:nvPr>
        </p:nvSpPr>
        <p:spPr>
          <a:xfrm>
            <a:off x="428625" y="0"/>
            <a:ext cx="8686800" cy="1125538"/>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第六章  系统实现</a:t>
            </a:r>
            <a:endParaRPr lang="zh-CN" altLang="en-US" sz="3000" b="1" dirty="0">
              <a:latin typeface="黑体" panose="02010609060101010101" pitchFamily="49" charset="-122"/>
              <a:ea typeface="宋体" panose="02010600030101010101" pitchFamily="2" charset="-122"/>
              <a:cs typeface="+mj-cs"/>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灯片编号占位符 3"/>
          <p:cNvSpPr txBox="1">
            <a:spLocks noGrp="1"/>
          </p:cNvSpPr>
          <p:nvPr>
            <p:ph type="sldNum" sz="quarter" idx="12"/>
          </p:nvPr>
        </p:nvSpPr>
        <p:spPr>
          <a:xfrm>
            <a:off x="8328025" y="6529388"/>
            <a:ext cx="673100" cy="152400"/>
          </a:xfrm>
          <a:ln/>
        </p:spPr>
        <p:txBody>
          <a:bodyPr/>
          <a:p>
            <a:pPr marL="0" indent="0" eaLnBrk="1" hangingPunct="1">
              <a:spcBef>
                <a:spcPct val="0"/>
              </a:spcBef>
              <a:buClrTx/>
              <a:buFontTx/>
              <a:buNone/>
            </a:pPr>
            <a:fld id="{9A0DB2DC-4C9A-4742-B13C-FB6460FD3503}" type="slidenum">
              <a:rPr lang="en-US" altLang="en-US" sz="1400" dirty="0">
                <a:solidFill>
                  <a:schemeClr val="tx1"/>
                </a:solidFill>
                <a:latin typeface="Arial" panose="020B0604020202020204" pitchFamily="34" charset="0"/>
                <a:ea typeface="宋体" panose="02010600030101010101" pitchFamily="2" charset="-122"/>
              </a:rPr>
            </a:fld>
            <a:endParaRPr lang="en-US" altLang="en-US" sz="1400" dirty="0">
              <a:solidFill>
                <a:schemeClr val="tx1"/>
              </a:solidFill>
              <a:latin typeface="Arial" panose="020B0604020202020204" pitchFamily="34" charset="0"/>
              <a:ea typeface="宋体" panose="02010600030101010101" pitchFamily="2" charset="-122"/>
            </a:endParaRPr>
          </a:p>
        </p:txBody>
      </p:sp>
      <p:pic>
        <p:nvPicPr>
          <p:cNvPr id="81923" name="Picture 2" descr="ThankYou_Graphic_White"/>
          <p:cNvPicPr>
            <a:picLocks noChangeAspect="1"/>
          </p:cNvPicPr>
          <p:nvPr/>
        </p:nvPicPr>
        <p:blipFill>
          <a:blip r:embed="rId1">
            <a:lum bright="17999" contrast="-6000"/>
          </a:blip>
          <a:stretch>
            <a:fillRect/>
          </a:stretch>
        </p:blipFill>
        <p:spPr>
          <a:xfrm>
            <a:off x="725488" y="1300163"/>
            <a:ext cx="7515225" cy="4105275"/>
          </a:xfrm>
          <a:prstGeom prst="rect">
            <a:avLst/>
          </a:prstGeom>
          <a:noFill/>
          <a:ln w="9525">
            <a:noFill/>
          </a:ln>
        </p:spPr>
      </p:pic>
      <p:sp>
        <p:nvSpPr>
          <p:cNvPr id="1543171" name="AutoShape 3"/>
          <p:cNvSpPr/>
          <p:nvPr/>
        </p:nvSpPr>
        <p:spPr>
          <a:xfrm>
            <a:off x="7848600" y="1854200"/>
            <a:ext cx="279400" cy="279400"/>
          </a:xfrm>
          <a:prstGeom prst="star4">
            <a:avLst>
              <a:gd name="adj" fmla="val 12500"/>
            </a:avLst>
          </a:prstGeom>
          <a:solidFill>
            <a:schemeClr val="bg1"/>
          </a:solidFill>
          <a:ln w="9525" cap="flat" cmpd="sng">
            <a:solidFill>
              <a:schemeClr val="tx2"/>
            </a:solidFill>
            <a:prstDash val="solid"/>
            <a:miter/>
            <a:headEnd type="none" w="med" len="med"/>
            <a:tailEnd type="none" w="med" len="med"/>
          </a:ln>
        </p:spPr>
        <p:txBody>
          <a:bodyPr wrap="none" anchor="ctr" anchorCtr="0">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lnSpc>
                <a:spcPct val="90000"/>
              </a:lnSpc>
              <a:spcBef>
                <a:spcPct val="0"/>
              </a:spcBef>
              <a:buClr>
                <a:schemeClr val="accent2"/>
              </a:buClr>
              <a:buNone/>
            </a:pPr>
            <a:endParaRPr lang="zh-CN" altLang="en-US" sz="1800" dirty="0">
              <a:solidFill>
                <a:schemeClr val="tx1"/>
              </a:solidFill>
              <a:ea typeface="宋体" panose="02010600030101010101" pitchFamily="2" charset="-122"/>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10" fill="hold" grpId="0" nodeType="afterEffect">
                                  <p:stCondLst>
                                    <p:cond delay="0"/>
                                  </p:stCondLst>
                                  <p:childTnLst>
                                    <p:set>
                                      <p:cBhvr>
                                        <p:cTn id="6" dur="1" fill="hold">
                                          <p:stCondLst>
                                            <p:cond delay="0"/>
                                          </p:stCondLst>
                                        </p:cTn>
                                        <p:tgtEl>
                                          <p:spTgt spid="1543171"/>
                                        </p:tgtEl>
                                        <p:attrNameLst>
                                          <p:attrName>style.visibility</p:attrName>
                                        </p:attrNameLst>
                                      </p:cBhvr>
                                      <p:to>
                                        <p:strVal val="visible"/>
                                      </p:to>
                                    </p:set>
                                    <p:anim calcmode="lin" valueType="num">
                                      <p:cBhvr>
                                        <p:cTn id="7" dur="5000" fill="hold"/>
                                        <p:tgtEl>
                                          <p:spTgt spid="1543171"/>
                                        </p:tgtEl>
                                        <p:attrNameLst>
                                          <p:attrName>ppt_w</p:attrName>
                                        </p:attrNameLst>
                                      </p:cBhvr>
                                      <p:tavLst>
                                        <p:tav tm="0" fmla="#ppt_w*sin(2.5*pi*$)">
                                          <p:val>
                                            <p:fltVal val="0.000000"/>
                                          </p:val>
                                        </p:tav>
                                        <p:tav tm="100000">
                                          <p:val>
                                            <p:fltVal val="1.000000"/>
                                          </p:val>
                                        </p:tav>
                                      </p:tavLst>
                                    </p:anim>
                                    <p:anim calcmode="lin" valueType="num">
                                      <p:cBhvr>
                                        <p:cTn id="8" dur="5000" fill="hold"/>
                                        <p:tgtEl>
                                          <p:spTgt spid="154317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3171" grpId="0" animBg="1"/>
    </p:bldLst>
  </p:timing>
</p:sld>
</file>

<file path=ppt/theme/theme1.xml><?xml version="1.0" encoding="utf-8"?>
<a:theme xmlns:a="http://schemas.openxmlformats.org/drawingml/2006/main" name="CHS Template">
  <a:themeElements>
    <a:clrScheme name="默认设计模板 1">
      <a:dk1>
        <a:srgbClr val="200B5B"/>
      </a:dk1>
      <a:lt1>
        <a:srgbClr val="EAEAEA"/>
      </a:lt1>
      <a:dk2>
        <a:srgbClr val="6600FF"/>
      </a:dk2>
      <a:lt2>
        <a:srgbClr val="FFCC66"/>
      </a:lt2>
      <a:accent1>
        <a:srgbClr val="EEB00B"/>
      </a:accent1>
      <a:accent2>
        <a:srgbClr val="6600CC"/>
      </a:accent2>
      <a:accent3>
        <a:srgbClr val="B8AAFF"/>
      </a:accent3>
      <a:accent4>
        <a:srgbClr val="C8C8C8"/>
      </a:accent4>
      <a:accent5>
        <a:srgbClr val="F5D4AA"/>
      </a:accent5>
      <a:accent6>
        <a:srgbClr val="5C00B9"/>
      </a:accent6>
      <a:hlink>
        <a:srgbClr val="FF33CC"/>
      </a:hlink>
      <a:folHlink>
        <a:srgbClr val="CC99FF"/>
      </a:folHlink>
    </a:clrScheme>
    <a:fontScheme name="默认设计模板">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200B5B"/>
        </a:dk1>
        <a:lt1>
          <a:srgbClr val="EAEAEA"/>
        </a:lt1>
        <a:dk2>
          <a:srgbClr val="6600FF"/>
        </a:dk2>
        <a:lt2>
          <a:srgbClr val="FFCC66"/>
        </a:lt2>
        <a:accent1>
          <a:srgbClr val="EEB00B"/>
        </a:accent1>
        <a:accent2>
          <a:srgbClr val="6600CC"/>
        </a:accent2>
        <a:accent3>
          <a:srgbClr val="B8AAFF"/>
        </a:accent3>
        <a:accent4>
          <a:srgbClr val="C8C8C8"/>
        </a:accent4>
        <a:accent5>
          <a:srgbClr val="F5D4AA"/>
        </a:accent5>
        <a:accent6>
          <a:srgbClr val="5C00B9"/>
        </a:accent6>
        <a:hlink>
          <a:srgbClr val="FF33CC"/>
        </a:hlink>
        <a:folHlink>
          <a:srgbClr val="CC99FF"/>
        </a:folHlink>
      </a:clrScheme>
      <a:clrMap bg1="dk2" tx1="lt1" bg2="dk1" tx2="lt2" accent1="accent1" accent2="accent2" accent3="accent3" accent4="accent4" accent5="accent5" accent6="accent6" hlink="hlink" folHlink="folHlink"/>
    </a:extraClrScheme>
    <a:extraClrScheme>
      <a:clrScheme name="默认设计模板 2">
        <a:dk1>
          <a:srgbClr val="393939"/>
        </a:dk1>
        <a:lt1>
          <a:srgbClr val="FFFFFF"/>
        </a:lt1>
        <a:dk2>
          <a:srgbClr val="6600CC"/>
        </a:dk2>
        <a:lt2>
          <a:srgbClr val="CCCCFF"/>
        </a:lt2>
        <a:accent1>
          <a:srgbClr val="F9D87E"/>
        </a:accent1>
        <a:accent2>
          <a:srgbClr val="FFCCCC"/>
        </a:accent2>
        <a:accent3>
          <a:srgbClr val="FFFFFF"/>
        </a:accent3>
        <a:accent4>
          <a:srgbClr val="2F2F2F"/>
        </a:accent4>
        <a:accent5>
          <a:srgbClr val="FBE9C0"/>
        </a:accent5>
        <a:accent6>
          <a:srgbClr val="E7B9B9"/>
        </a:accent6>
        <a:hlink>
          <a:srgbClr val="FFCCFF"/>
        </a:hlink>
        <a:folHlink>
          <a:srgbClr val="99CCFF"/>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FFFFFF"/>
        </a:lt2>
        <a:accent1>
          <a:srgbClr val="CBCBCB"/>
        </a:accent1>
        <a:accent2>
          <a:srgbClr val="5F5F5F"/>
        </a:accent2>
        <a:accent3>
          <a:srgbClr val="FFFFFF"/>
        </a:accent3>
        <a:accent4>
          <a:srgbClr val="000000"/>
        </a:accent4>
        <a:accent5>
          <a:srgbClr val="E2E2E2"/>
        </a:accent5>
        <a:accent6>
          <a:srgbClr val="555555"/>
        </a:accent6>
        <a:hlink>
          <a:srgbClr val="969696"/>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330000"/>
        </a:dk1>
        <a:lt1>
          <a:srgbClr val="FFFFCC"/>
        </a:lt1>
        <a:dk2>
          <a:srgbClr val="000000"/>
        </a:dk2>
        <a:lt2>
          <a:srgbClr val="FFCC00"/>
        </a:lt2>
        <a:accent1>
          <a:srgbClr val="FF9900"/>
        </a:accent1>
        <a:accent2>
          <a:srgbClr val="330099"/>
        </a:accent2>
        <a:accent3>
          <a:srgbClr val="AAAAAA"/>
        </a:accent3>
        <a:accent4>
          <a:srgbClr val="DADAAE"/>
        </a:accent4>
        <a:accent5>
          <a:srgbClr val="FFCAAA"/>
        </a:accent5>
        <a:accent6>
          <a:srgbClr val="2D008A"/>
        </a:accent6>
        <a:hlink>
          <a:srgbClr val="FF6633"/>
        </a:hlink>
        <a:folHlink>
          <a:srgbClr val="669900"/>
        </a:folHlink>
      </a:clrScheme>
      <a:clrMap bg1="dk2" tx1="lt1" bg2="dk1" tx2="lt2" accent1="accent1" accent2="accent2" accent3="accent3" accent4="accent4" accent5="accent5" accent6="accent6" hlink="hlink" folHlink="folHlink"/>
    </a:extraClrScheme>
    <a:extraClrScheme>
      <a:clrScheme name="默认设计模板 5">
        <a:dk1>
          <a:srgbClr val="333300"/>
        </a:dk1>
        <a:lt1>
          <a:srgbClr val="DDDDDD"/>
        </a:lt1>
        <a:dk2>
          <a:srgbClr val="996600"/>
        </a:dk2>
        <a:lt2>
          <a:srgbClr val="FFCC66"/>
        </a:lt2>
        <a:accent1>
          <a:srgbClr val="EEB00B"/>
        </a:accent1>
        <a:accent2>
          <a:srgbClr val="330099"/>
        </a:accent2>
        <a:accent3>
          <a:srgbClr val="CAB8AA"/>
        </a:accent3>
        <a:accent4>
          <a:srgbClr val="BDBDBD"/>
        </a:accent4>
        <a:accent5>
          <a:srgbClr val="F5D4AA"/>
        </a:accent5>
        <a:accent6>
          <a:srgbClr val="2D008A"/>
        </a:accent6>
        <a:hlink>
          <a:srgbClr val="FF6633"/>
        </a:hlink>
        <a:folHlink>
          <a:srgbClr val="CC9900"/>
        </a:folHlink>
      </a:clrScheme>
      <a:clrMap bg1="dk2" tx1="lt1" bg2="dk1" tx2="lt2" accent1="accent1" accent2="accent2" accent3="accent3" accent4="accent4" accent5="accent5" accent6="accent6" hlink="hlink" folHlink="folHlink"/>
    </a:extraClrScheme>
    <a:extraClrScheme>
      <a:clrScheme name="默认设计模板 6">
        <a:dk1>
          <a:srgbClr val="003300"/>
        </a:dk1>
        <a:lt1>
          <a:srgbClr val="FFFFCC"/>
        </a:lt1>
        <a:dk2>
          <a:srgbClr val="999933"/>
        </a:dk2>
        <a:lt2>
          <a:srgbClr val="FFFF66"/>
        </a:lt2>
        <a:accent1>
          <a:srgbClr val="CC9900"/>
        </a:accent1>
        <a:accent2>
          <a:srgbClr val="330099"/>
        </a:accent2>
        <a:accent3>
          <a:srgbClr val="CACAAD"/>
        </a:accent3>
        <a:accent4>
          <a:srgbClr val="DADAAE"/>
        </a:accent4>
        <a:accent5>
          <a:srgbClr val="E2CAAA"/>
        </a:accent5>
        <a:accent6>
          <a:srgbClr val="2D008A"/>
        </a:accent6>
        <a:hlink>
          <a:srgbClr val="FF9900"/>
        </a:hlink>
        <a:folHlink>
          <a:srgbClr val="FF66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CHS Template</Template>
  <TotalTime>0</TotalTime>
  <Words>12483</Words>
  <Application>WPS 演示</Application>
  <PresentationFormat>全屏显示(4:3)</PresentationFormat>
  <Paragraphs>1455</Paragraphs>
  <Slides>76</Slides>
  <Notes>2</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15</vt:i4>
      </vt:variant>
      <vt:variant>
        <vt:lpstr>幻灯片标题</vt:lpstr>
      </vt:variant>
      <vt:variant>
        <vt:i4>76</vt:i4>
      </vt:variant>
    </vt:vector>
  </HeadingPairs>
  <TitlesOfParts>
    <vt:vector size="110" baseType="lpstr">
      <vt:lpstr>Arial</vt:lpstr>
      <vt:lpstr>宋体</vt:lpstr>
      <vt:lpstr>Wingdings</vt:lpstr>
      <vt:lpstr>Times New Roman</vt:lpstr>
      <vt:lpstr>黑体</vt:lpstr>
      <vt:lpstr>Calibri</vt:lpstr>
      <vt:lpstr>幼圆</vt:lpstr>
      <vt:lpstr>楷体_GB2312</vt:lpstr>
      <vt:lpstr>新宋体</vt:lpstr>
      <vt:lpstr>Symbol</vt:lpstr>
      <vt:lpstr>华文仿宋</vt:lpstr>
      <vt:lpstr>仿宋_GB2312</vt:lpstr>
      <vt:lpstr>仿宋</vt:lpstr>
      <vt:lpstr>华文中宋</vt:lpstr>
      <vt:lpstr>Webdings</vt:lpstr>
      <vt:lpstr>微软雅黑</vt:lpstr>
      <vt:lpstr>Arial Unicode MS</vt:lpstr>
      <vt:lpstr>Arial</vt:lpstr>
      <vt:lpstr>CHS Template</vt:lpstr>
      <vt:lpstr>MS_ClipArt_Gallery.2</vt:lpstr>
      <vt:lpstr>Equation.3</vt:lpstr>
      <vt:lpstr>MS_ClipArt_Gallery.5</vt:lpstr>
      <vt:lpstr>Equation.3</vt:lpstr>
      <vt:lpstr>Equation.3</vt:lpstr>
      <vt:lpstr>Equation.3</vt:lpstr>
      <vt:lpstr>Equation.3</vt:lpstr>
      <vt:lpstr>MS_ClipArt_Gallery.2</vt:lpstr>
      <vt:lpstr>MS_ClipArt_Gallery.2</vt:lpstr>
      <vt:lpstr>MS_ClipArt_Gallery.2</vt:lpstr>
      <vt:lpstr>MS_ClipArt_Gallery.2</vt:lpstr>
      <vt:lpstr>MS_ClipArt_Gallery.2</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第六章  系统实现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中国石油大学教育发展中心</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upol</dc:creator>
  <cp:lastModifiedBy>15</cp:lastModifiedBy>
  <cp:revision>582</cp:revision>
  <dcterms:created xsi:type="dcterms:W3CDTF">2012-04-17T06:46:03Z</dcterms:created>
  <dcterms:modified xsi:type="dcterms:W3CDTF">2025-09-29T00:48:13Z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TC010596822052</vt:lpwstr>
  </property>
  <property fmtid="{D5CDD505-2E9C-101B-9397-08002B2CF9AE}" pid="3" name="ICV">
    <vt:lpwstr>25DA0E46D3C84360B12315B282D2BE8C_12</vt:lpwstr>
  </property>
  <property fmtid="{D5CDD505-2E9C-101B-9397-08002B2CF9AE}" pid="4" name="KSOProductBuildVer">
    <vt:lpwstr>2052-12.1.0.22529</vt:lpwstr>
  </property>
</Properties>
</file>