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2"/>
  </p:handoutMasterIdLst>
  <p:sldIdLst>
    <p:sldId id="256" r:id="rId3"/>
    <p:sldId id="406" r:id="rId5"/>
    <p:sldId id="407" r:id="rId6"/>
    <p:sldId id="270" r:id="rId7"/>
    <p:sldId id="339" r:id="rId8"/>
    <p:sldId id="311" r:id="rId9"/>
    <p:sldId id="312" r:id="rId10"/>
    <p:sldId id="340" r:id="rId11"/>
    <p:sldId id="341" r:id="rId12"/>
    <p:sldId id="348" r:id="rId13"/>
    <p:sldId id="349" r:id="rId14"/>
    <p:sldId id="342" r:id="rId15"/>
    <p:sldId id="350" r:id="rId16"/>
    <p:sldId id="313" r:id="rId17"/>
    <p:sldId id="351" r:id="rId18"/>
    <p:sldId id="352" r:id="rId19"/>
    <p:sldId id="353" r:id="rId20"/>
    <p:sldId id="354" r:id="rId21"/>
    <p:sldId id="355" r:id="rId22"/>
    <p:sldId id="356" r:id="rId23"/>
    <p:sldId id="357" r:id="rId24"/>
    <p:sldId id="358" r:id="rId25"/>
    <p:sldId id="359" r:id="rId26"/>
    <p:sldId id="361" r:id="rId27"/>
    <p:sldId id="360" r:id="rId28"/>
    <p:sldId id="362" r:id="rId29"/>
    <p:sldId id="363" r:id="rId30"/>
    <p:sldId id="364" r:id="rId31"/>
    <p:sldId id="365" r:id="rId32"/>
    <p:sldId id="367" r:id="rId33"/>
    <p:sldId id="368" r:id="rId34"/>
    <p:sldId id="366" r:id="rId35"/>
    <p:sldId id="369" r:id="rId36"/>
    <p:sldId id="373" r:id="rId37"/>
    <p:sldId id="370" r:id="rId38"/>
    <p:sldId id="372" r:id="rId39"/>
    <p:sldId id="374" r:id="rId40"/>
    <p:sldId id="375" r:id="rId41"/>
    <p:sldId id="376" r:id="rId42"/>
    <p:sldId id="377" r:id="rId43"/>
    <p:sldId id="379" r:id="rId44"/>
    <p:sldId id="380" r:id="rId45"/>
    <p:sldId id="381" r:id="rId46"/>
    <p:sldId id="384" r:id="rId47"/>
    <p:sldId id="382" r:id="rId48"/>
    <p:sldId id="383" r:id="rId49"/>
    <p:sldId id="385" r:id="rId50"/>
    <p:sldId id="386" r:id="rId51"/>
    <p:sldId id="388" r:id="rId52"/>
    <p:sldId id="389" r:id="rId53"/>
    <p:sldId id="390" r:id="rId54"/>
    <p:sldId id="391" r:id="rId55"/>
    <p:sldId id="392" r:id="rId56"/>
    <p:sldId id="393" r:id="rId57"/>
    <p:sldId id="408" r:id="rId58"/>
    <p:sldId id="394" r:id="rId59"/>
    <p:sldId id="395" r:id="rId60"/>
    <p:sldId id="396" r:id="rId61"/>
    <p:sldId id="397" r:id="rId62"/>
    <p:sldId id="398" r:id="rId63"/>
    <p:sldId id="399" r:id="rId64"/>
    <p:sldId id="400" r:id="rId65"/>
    <p:sldId id="401" r:id="rId66"/>
    <p:sldId id="402" r:id="rId67"/>
    <p:sldId id="403" r:id="rId68"/>
    <p:sldId id="404" r:id="rId69"/>
    <p:sldId id="405" r:id="rId70"/>
    <p:sldId id="410" r:id="rId71"/>
  </p:sldIdLst>
  <p:sldSz cx="9144000" cy="6858000" type="screen4x3"/>
  <p:notesSz cx="6858000" cy="9144000"/>
  <p:custDataLst>
    <p:tags r:id="rId76"/>
  </p:custDataLst>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33333"/>
    <a:srgbClr val="1E587C"/>
    <a:srgbClr val="FFFFFF"/>
    <a:srgbClr val="38B2B2"/>
    <a:srgbClr val="082A50"/>
    <a:srgbClr val="09315D"/>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0567"/>
    <p:restoredTop sz="88868"/>
  </p:normalViewPr>
  <p:slideViewPr>
    <p:cSldViewPr showGuides="1">
      <p:cViewPr varScale="1">
        <p:scale>
          <a:sx n="70" d="100"/>
          <a:sy n="70" d="100"/>
        </p:scale>
        <p:origin x="968"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6" Type="http://schemas.openxmlformats.org/officeDocument/2006/relationships/tags" Target="tags/tag1.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handoutMaster" Target="handoutMasters/handoutMaster1.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633161E-82B3-4DC1-A270-64036B8F2AE8}"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FDED4D70-0568-402F-8FE5-97EA5C89164D}" type="slidenum">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C7F3B67-EF5A-4049-B7BF-DB0D2313DC81}" type="datetimeFigureOut">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90A0D464-FA7B-47AD-926E-F386C1061405}" type="slidenum">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幻灯片图像占位符 1"/>
          <p:cNvSpPr>
            <a:spLocks noGrp="1" noRot="1" noChangeAspect="1" noTextEdit="1"/>
          </p:cNvSpPr>
          <p:nvPr>
            <p:ph type="sldImg"/>
          </p:nvPr>
        </p:nvSpPr>
        <p:spPr>
          <a:ln>
            <a:solidFill>
              <a:srgbClr val="000000">
                <a:alpha val="100000"/>
              </a:srgbClr>
            </a:solidFill>
            <a:miter lim="800000"/>
          </a:ln>
        </p:spPr>
      </p:sp>
      <p:sp>
        <p:nvSpPr>
          <p:cNvPr id="6147" name="备注占位符 2"/>
          <p:cNvSpPr>
            <a:spLocks noGrp="1"/>
          </p:cNvSpPr>
          <p:nvPr>
            <p:ph type="body" idx="1"/>
          </p:nvPr>
        </p:nvSpPr>
        <p:spPr>
          <a:noFill/>
          <a:ln>
            <a:noFill/>
          </a:ln>
        </p:spPr>
        <p:txBody>
          <a:bodyPr wrap="square" lIns="91440" tIns="45720" rIns="91440" bIns="45720" anchor="t" anchorCtr="0"/>
          <a:p>
            <a:pPr lvl="0" eaLnBrk="1" hangingPunct="1">
              <a:spcBef>
                <a:spcPct val="0"/>
              </a:spcBef>
            </a:pPr>
            <a:endParaRPr lang="zh-CN" altLang="en-US" dirty="0">
              <a:ea typeface="宋体" panose="02010600030101010101" pitchFamily="2" charset="-122"/>
            </a:endParaRPr>
          </a:p>
        </p:txBody>
      </p:sp>
      <p:sp>
        <p:nvSpPr>
          <p:cNvPr id="6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Times New Roman" panose="02020603050405020304" pitchFamily="18" charset="0"/>
                <a:ea typeface="宋体" panose="02010600030101010101" pitchFamily="2" charset="-122"/>
              </a:rPr>
            </a:fld>
            <a:endParaRPr lang="zh-CN" altLang="en-US" dirty="0">
              <a:latin typeface="Times New Roman" panose="02020603050405020304" pitchFamily="18"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defTabSz="911225"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75779" name="Rectangle 2"/>
          <p:cNvSpPr>
            <a:spLocks noGrp="1" noRot="1" noChangeAspect="1" noTextEdit="1"/>
          </p:cNvSpPr>
          <p:nvPr>
            <p:ph type="sldImg"/>
          </p:nvPr>
        </p:nvSpPr>
        <p:spPr>
          <a:ln>
            <a:solidFill>
              <a:srgbClr val="000000">
                <a:alpha val="100000"/>
              </a:srgbClr>
            </a:solidFill>
            <a:miter lim="800000"/>
          </a:ln>
        </p:spPr>
      </p:sp>
      <p:sp>
        <p:nvSpPr>
          <p:cNvPr id="75780" name="Rectangle 3"/>
          <p:cNvSpPr>
            <a:spLocks noGrp="1"/>
          </p:cNvSpPr>
          <p:nvPr>
            <p:ph type="body" idx="1"/>
          </p:nvPr>
        </p:nvSpPr>
        <p:spPr>
          <a:noFill/>
          <a:ln>
            <a:noFill/>
          </a:ln>
        </p:spPr>
        <p:txBody>
          <a:bodyPr wrap="square" lIns="91440" tIns="45720" rIns="91440" bIns="45720" anchor="t" anchorCtr="0"/>
          <a:p>
            <a:pPr lvl="0" eaLnBrk="1" hangingPunct="1"/>
            <a:endParaRPr lang="zh-CN" altLang="en-US" dirty="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bg>
      <p:bgPr>
        <a:gradFill rotWithShape="0">
          <a:gsLst>
            <a:gs pos="0">
              <a:schemeClr val="bg2"/>
            </a:gs>
            <a:gs pos="50000">
              <a:schemeClr val="bg1"/>
            </a:gs>
            <a:gs pos="100000">
              <a:schemeClr val="bg2"/>
            </a:gs>
          </a:gsLst>
          <a:lin ang="5400000" scaled="1"/>
        </a:gradFill>
        <a:effectLst/>
      </p:bgPr>
    </p:bg>
    <p:spTree>
      <p:nvGrpSpPr>
        <p:cNvPr id="1" name=""/>
        <p:cNvGrpSpPr/>
        <p:nvPr/>
      </p:nvGrpSpPr>
      <p:grpSpPr>
        <a:xfrm>
          <a:off x="0" y="0"/>
          <a:ext cx="0" cy="0"/>
          <a:chOff x="0" y="0"/>
          <a:chExt cx="0" cy="0"/>
        </a:xfrm>
      </p:grpSpPr>
      <p:pic>
        <p:nvPicPr>
          <p:cNvPr id="2050" name="Picture 2"/>
          <p:cNvPicPr>
            <a:picLocks noChangeAspect="1"/>
          </p:cNvPicPr>
          <p:nvPr userDrawn="1"/>
        </p:nvPicPr>
        <p:blipFill>
          <a:blip r:embed="rId2"/>
          <a:stretch>
            <a:fillRect/>
          </a:stretch>
        </p:blipFill>
        <p:spPr>
          <a:xfrm>
            <a:off x="14288" y="4763"/>
            <a:ext cx="9115425" cy="6848475"/>
          </a:xfrm>
          <a:prstGeom prst="rect">
            <a:avLst/>
          </a:prstGeom>
          <a:noFill/>
          <a:ln w="9525">
            <a:noFill/>
          </a:ln>
        </p:spPr>
      </p:pic>
      <p:sp>
        <p:nvSpPr>
          <p:cNvPr id="3100" name="Rectangle 28"/>
          <p:cNvSpPr>
            <a:spLocks noGrp="1" noChangeArrowheads="1"/>
          </p:cNvSpPr>
          <p:nvPr>
            <p:ph type="ctrTitle" sz="quarter"/>
          </p:nvPr>
        </p:nvSpPr>
        <p:spPr>
          <a:xfrm>
            <a:off x="1857356" y="1928802"/>
            <a:ext cx="6643734" cy="1470025"/>
          </a:xfrm>
        </p:spPr>
        <p:txBody>
          <a:bodyPr/>
          <a:lstStyle>
            <a:lvl1pPr>
              <a:defRPr sz="4800" b="1">
                <a:solidFill>
                  <a:schemeClr val="tx1"/>
                </a:solidFill>
              </a:defRPr>
            </a:lvl1pPr>
          </a:lstStyle>
          <a:p>
            <a:r>
              <a:rPr lang="zh-CN" altLang="en-US" smtClean="0"/>
              <a:t>单击此处编辑母版标题样式</a:t>
            </a:r>
            <a:endParaRPr lang="zh-CN" altLang="en-US" dirty="0"/>
          </a:p>
        </p:txBody>
      </p:sp>
      <p:sp>
        <p:nvSpPr>
          <p:cNvPr id="3101" name="Rectangle 29"/>
          <p:cNvSpPr>
            <a:spLocks noGrp="1" noChangeArrowheads="1"/>
          </p:cNvSpPr>
          <p:nvPr>
            <p:ph type="subTitle" sz="quarter" idx="1"/>
          </p:nvPr>
        </p:nvSpPr>
        <p:spPr>
          <a:xfrm>
            <a:off x="2214546" y="4386266"/>
            <a:ext cx="5200664" cy="685808"/>
          </a:xfrm>
        </p:spPr>
        <p:txBody>
          <a:bodyPr/>
          <a:lstStyle>
            <a:lvl1pPr marL="0" indent="0">
              <a:buFont typeface="Wingdings" panose="05000000000000000000" pitchFamily="2" charset="2"/>
              <a:buNone/>
              <a:defRPr>
                <a:solidFill>
                  <a:schemeClr val="tx1">
                    <a:lumMod val="25000"/>
                  </a:schemeClr>
                </a:solidFill>
                <a:latin typeface="宋体" panose="02010600030101010101" pitchFamily="2" charset="-122"/>
                <a:ea typeface="宋体" panose="02010600030101010101" pitchFamily="2" charset="-122"/>
              </a:defRPr>
            </a:lvl1pPr>
          </a:lstStyle>
          <a:p>
            <a:r>
              <a:rPr lang="zh-CN" altLang="en-US" dirty="0" smtClean="0"/>
              <a:t>单击此处编辑母版副标题样式</a:t>
            </a:r>
            <a:endParaRPr lang="en-US" altLang="zh-CN" dirty="0" smtClean="0"/>
          </a:p>
        </p:txBody>
      </p:sp>
      <p:sp>
        <p:nvSpPr>
          <p:cNvPr id="9" name="Rectangle 25"/>
          <p:cNvSpPr>
            <a:spLocks noGrp="1" noChangeArrowheads="1"/>
          </p:cNvSpPr>
          <p:nvPr>
            <p:ph type="dt" sz="quarter" idx="2"/>
          </p:nvPr>
        </p:nvSpPr>
        <p:spPr bwMode="auto">
          <a:xfrm>
            <a:off x="457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Rectangle 26"/>
          <p:cNvSpPr>
            <a:spLocks noGrp="1" noChangeArrowheads="1"/>
          </p:cNvSpPr>
          <p:nvPr>
            <p:ph type="ftr" sz="quarter" idx="3"/>
          </p:nvPr>
        </p:nvSpPr>
        <p:spPr bwMode="auto">
          <a:xfrm>
            <a:off x="3124200" y="6245225"/>
            <a:ext cx="2895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 name="Rectangle 27"/>
          <p:cNvSpPr>
            <a:spLocks noGrp="1" noChangeArrowheads="1"/>
          </p:cNvSpPr>
          <p:nvPr>
            <p:ph type="sldNum" sz="quarter" idx="4"/>
          </p:nvPr>
        </p:nvSpPr>
        <p:spPr bwMode="auto">
          <a:xfrm>
            <a:off x="6553200" y="6245225"/>
            <a:ext cx="2133600" cy="47625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976688C-85E5-45A7-B3BE-B0019830DAE5}"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60"/>
            <a:ext cx="8229600" cy="1143000"/>
          </a:xfrm>
        </p:spPr>
        <p:txBody>
          <a:bodyPr/>
          <a:lstStyle>
            <a:lvl1pPr>
              <a:defRPr sz="3200"/>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lvl1pPr marL="0">
              <a:defRPr/>
            </a:lvl1pPr>
            <a:lvl2pPr marL="0">
              <a:defRPr/>
            </a:lvl2pPr>
            <a:lvl3pPr marL="0">
              <a:defRPr/>
            </a:lvl3pPr>
            <a:lvl4pPr marL="0">
              <a:defRPr/>
            </a:lvl4pPr>
            <a:lvl5pPr marL="0">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A50021"/>
              </a:buClr>
              <a:buSzTx/>
              <a:buFont typeface="Wingdings" panose="05000000000000000000" pitchFamily="2" charset="2"/>
              <a:buNone/>
              <a:defRPr/>
            </a:pPr>
            <a:r>
              <a:rPr kumimoji="0" lang="zh-CN" altLang="en-US" sz="3200" b="0" i="0" u="none" strike="noStrike" kern="0" cap="none" spc="0" normalizeH="0" baseline="0" noProof="0" smtClean="0">
                <a:ln>
                  <a:noFill/>
                </a:ln>
                <a:solidFill>
                  <a:schemeClr val="bg2"/>
                </a:solidFill>
                <a:effectLst/>
                <a:uLnTx/>
                <a:uFillTx/>
                <a:latin typeface="+mn-lt"/>
                <a:ea typeface="+mn-ea"/>
                <a:cs typeface="+mn-cs"/>
              </a:rPr>
              <a:t>单击图标添加图片</a:t>
            </a:r>
            <a:endParaRPr kumimoji="0" lang="zh-CN" altLang="en-US" sz="3200" b="0" i="0" u="none" strike="noStrike" kern="0" cap="none" spc="0" normalizeH="0" baseline="0" noProof="0">
              <a:ln>
                <a:noFill/>
              </a:ln>
              <a:solidFill>
                <a:schemeClr val="bg2"/>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p:pic>
        <p:nvPicPr>
          <p:cNvPr id="1026" name="图片 11" descr="ppt4-2.JPG"/>
          <p:cNvPicPr>
            <a:picLocks noChangeAspect="1"/>
          </p:cNvPicPr>
          <p:nvPr/>
        </p:nvPicPr>
        <p:blipFill>
          <a:blip r:embed="rId12"/>
          <a:stretch>
            <a:fillRect/>
          </a:stretch>
        </p:blipFill>
        <p:spPr>
          <a:xfrm>
            <a:off x="0" y="0"/>
            <a:ext cx="9144000" cy="6858000"/>
          </a:xfrm>
          <a:prstGeom prst="rect">
            <a:avLst/>
          </a:prstGeom>
          <a:noFill/>
          <a:ln w="9525">
            <a:noFill/>
          </a:ln>
        </p:spPr>
      </p:pic>
      <p:sp>
        <p:nvSpPr>
          <p:cNvPr id="2076" name="Rectangle 28"/>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7" name="Rectangle 29"/>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78" name="Rectangle 30"/>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1293997C-41D2-43E9-9AAA-DB9115C2A8B6}" type="slidenum">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31"/>
          <p:cNvSpPr>
            <a:spLocks noGrp="1"/>
          </p:cNvSpPr>
          <p:nvPr>
            <p:ph type="title"/>
          </p:nvPr>
        </p:nvSpPr>
        <p:spPr>
          <a:xfrm>
            <a:off x="414338" y="488950"/>
            <a:ext cx="8229600" cy="654050"/>
          </a:xfrm>
          <a:prstGeom prst="rect">
            <a:avLst/>
          </a:prstGeom>
          <a:noFill/>
          <a:ln w="9525">
            <a:noFill/>
          </a:ln>
        </p:spPr>
        <p:txBody>
          <a:bodyPr anchor="ctr" anchorCtr="0"/>
          <a:p>
            <a:pPr lvl="0"/>
            <a:r>
              <a:rPr lang="zh-CN" altLang="en-US" dirty="0"/>
              <a:t>单击此处添加标题</a:t>
            </a:r>
            <a:endParaRPr lang="zh-CN" altLang="en-US" dirty="0"/>
          </a:p>
        </p:txBody>
      </p:sp>
      <p:sp>
        <p:nvSpPr>
          <p:cNvPr id="1031" name="Rectangle 32"/>
          <p:cNvSpPr>
            <a:spLocks noGrp="1"/>
          </p:cNvSpPr>
          <p:nvPr>
            <p:ph type="body" idx="1"/>
          </p:nvPr>
        </p:nvSpPr>
        <p:spPr>
          <a:xfrm>
            <a:off x="457200" y="1600200"/>
            <a:ext cx="8229600" cy="4525963"/>
          </a:xfrm>
          <a:prstGeom prst="rect">
            <a:avLst/>
          </a:prstGeom>
          <a:noFill/>
          <a:ln w="9525">
            <a:noFill/>
          </a:ln>
        </p:spPr>
        <p:txBody>
          <a:bodyPr/>
          <a:p>
            <a:pPr lvl="0"/>
            <a:endParaRPr lang="zh-CN" altLang="en-US" dirty="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a:solidFill>
            <a:schemeClr val="tx1"/>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4400">
          <a:solidFill>
            <a:srgbClr val="A50021"/>
          </a:solidFill>
          <a:latin typeface="Times New Roman" panose="02020603050405020304" pitchFamily="18" charset="0"/>
        </a:defRPr>
      </a:lvl6pPr>
      <a:lvl7pPr marL="914400" algn="l" rtl="0" eaLnBrk="1" fontAlgn="base" hangingPunct="1">
        <a:spcBef>
          <a:spcPct val="0"/>
        </a:spcBef>
        <a:spcAft>
          <a:spcPct val="0"/>
        </a:spcAft>
        <a:defRPr sz="4400">
          <a:solidFill>
            <a:srgbClr val="A50021"/>
          </a:solidFill>
          <a:latin typeface="Times New Roman" panose="02020603050405020304" pitchFamily="18" charset="0"/>
        </a:defRPr>
      </a:lvl7pPr>
      <a:lvl8pPr marL="1371600" algn="l" rtl="0" eaLnBrk="1" fontAlgn="base" hangingPunct="1">
        <a:spcBef>
          <a:spcPct val="0"/>
        </a:spcBef>
        <a:spcAft>
          <a:spcPct val="0"/>
        </a:spcAft>
        <a:defRPr sz="4400">
          <a:solidFill>
            <a:srgbClr val="A50021"/>
          </a:solidFill>
          <a:latin typeface="Times New Roman" panose="02020603050405020304" pitchFamily="18" charset="0"/>
        </a:defRPr>
      </a:lvl8pPr>
      <a:lvl9pPr marL="1828800" algn="l" rtl="0" eaLnBrk="1" fontAlgn="base" hangingPunct="1">
        <a:spcBef>
          <a:spcPct val="0"/>
        </a:spcBef>
        <a:spcAft>
          <a:spcPct val="0"/>
        </a:spcAft>
        <a:defRPr sz="4400">
          <a:solidFill>
            <a:srgbClr val="A50021"/>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vl6pPr marL="25146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6pPr>
      <a:lvl7pPr marL="29718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7pPr>
      <a:lvl8pPr marL="34290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8pPr>
      <a:lvl9pPr marL="3886200" indent="-228600" algn="l" rtl="0" eaLnBrk="1" fontAlgn="base" hangingPunct="1">
        <a:spcBef>
          <a:spcPct val="20000"/>
        </a:spcBef>
        <a:spcAft>
          <a:spcPct val="0"/>
        </a:spcAft>
        <a:buClr>
          <a:srgbClr val="A50021"/>
        </a:buClr>
        <a:buFont typeface="Wingdings" panose="05000000000000000000" pitchFamily="2" charset="2"/>
        <a:buChar char="q"/>
        <a:defRPr sz="2000">
          <a:solidFill>
            <a:schemeClr val="bg2"/>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noChangeArrowheads="1"/>
          </p:cNvSpPr>
          <p:nvPr>
            <p:ph type="ctrTitle" sz="quarter"/>
          </p:nvPr>
        </p:nvSpPr>
        <p:spPr>
          <a:xfrm>
            <a:off x="2428875" y="2143125"/>
            <a:ext cx="4357688" cy="1071563"/>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200" b="1" i="0" u="none" strike="noStrike" kern="0" cap="none" spc="0" normalizeH="0" baseline="0" noProof="0" dirty="0" smtClean="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j-cs"/>
              </a:rPr>
              <a:t>软件工程</a:t>
            </a:r>
            <a:br>
              <a:rPr kumimoji="0" lang="en-US" altLang="zh-CN" sz="4200" b="1" i="0" u="none" strike="noStrike" kern="0" cap="none" spc="0" normalizeH="0" baseline="0" noProof="0" dirty="0" smtClean="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j-cs"/>
              </a:rPr>
            </a:br>
            <a:endParaRPr kumimoji="0" lang="zh-CN" altLang="en-US" sz="1200" b="0" i="0" u="none" strike="noStrike" kern="0" cap="none" spc="0" normalizeH="0" baseline="0" noProof="0" dirty="0">
              <a:ln>
                <a:noFill/>
              </a:ln>
              <a:solidFill>
                <a:schemeClr val="accent4">
                  <a:lumMod val="20000"/>
                  <a:lumOff val="80000"/>
                </a:schemeClr>
              </a:solidFill>
              <a:effectLst/>
              <a:uLnTx/>
              <a:uFillTx/>
              <a:latin typeface="黑体" panose="02010609060101010101" pitchFamily="49" charset="-122"/>
              <a:ea typeface="黑体" panose="02010609060101010101" pitchFamily="49" charset="-122"/>
              <a:cs typeface="+mn-cs"/>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7" name="Rectangle 3"/>
          <p:cNvSpPr>
            <a:spLocks noGrp="1" noChangeArrowheads="1"/>
          </p:cNvSpPr>
          <p:nvPr>
            <p:ph idx="1"/>
          </p:nvPr>
        </p:nvSpPr>
        <p:spPr>
          <a:xfrm>
            <a:off x="571500" y="1500188"/>
            <a:ext cx="8143875"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第一章 软件工程学概述</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第二章 可行性研究</a:t>
            </a:r>
            <a:endPar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第三章 需求分析</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第四章 总体设计</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第五章 详细设计</a:t>
            </a:r>
            <a:endParaRPr kumimoji="0" lang="en-US" altLang="zh-CN" sz="2400" b="1" i="0" u="none" strike="noStrike" kern="0" cap="none" spc="0" normalizeH="0" baseline="0" noProof="0" dirty="0" smtClean="0">
              <a:ln>
                <a:noFill/>
              </a:ln>
              <a:solidFill>
                <a:srgbClr val="000000"/>
              </a:solidFill>
              <a:effectLst/>
              <a:uLnTx/>
              <a:uFillTx/>
              <a:latin typeface="+mj-lt"/>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第六章 编码与测试</a:t>
            </a:r>
            <a:endParaRPr kumimoji="0" lang="en-US" altLang="zh-CN" sz="2400" b="1" i="0" u="none" strike="noStrike" kern="0" cap="none" spc="0" normalizeH="0" baseline="0" noProof="0" dirty="0" smtClean="0">
              <a:ln>
                <a:noFill/>
              </a:ln>
              <a:solidFill>
                <a:srgbClr val="000000"/>
              </a:solidFill>
              <a:effectLst/>
              <a:uLnTx/>
              <a:uFillTx/>
              <a:latin typeface="+mj-lt"/>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Arial" panose="020B0604020202020204" pitchFamily="34" charset="0"/>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第七章 软件维护</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第八章 面向对象方法学</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第九章 面向对象分析设计与实现</a:t>
            </a:r>
            <a:endParaRPr kumimoji="0" lang="en-US" altLang="zh-CN"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1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rPr>
              <a:t>第十章 软件项目管理</a:t>
            </a:r>
            <a:endParaRPr kumimoji="0" lang="en-US" altLang="zh-CN" sz="2800" b="1" i="0" u="none" strike="noStrike" kern="0" cap="none" spc="0" normalizeH="0" baseline="0" noProof="0" dirty="0" smtClean="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7171" name="标题 4"/>
          <p:cNvSpPr>
            <a:spLocks noGrp="1"/>
          </p:cNvSpPr>
          <p:nvPr>
            <p:ph type="title"/>
          </p:nvPr>
        </p:nvSpPr>
        <p:spPr>
          <a:xfrm>
            <a:off x="571500" y="214313"/>
            <a:ext cx="7358063" cy="857250"/>
          </a:xfrm>
          <a:ln/>
        </p:spPr>
        <p:txBody>
          <a:bodyPr vert="horz" wrap="square" lIns="91440" tIns="45720" rIns="91440" bIns="45720" anchor="ctr" anchorCtr="0"/>
          <a:p>
            <a:pPr eaLnBrk="1" hangingPunct="1"/>
            <a:r>
              <a:rPr lang="zh-CN" altLang="en-US" b="1" dirty="0">
                <a:solidFill>
                  <a:srgbClr val="FFFFFF"/>
                </a:solidFill>
                <a:latin typeface="黑体" panose="02010609060101010101" pitchFamily="49" charset="-122"/>
                <a:ea typeface="黑体" panose="02010609060101010101" pitchFamily="49" charset="-122"/>
                <a:cs typeface="+mj-cs"/>
              </a:rPr>
              <a:t>主要内容</a:t>
            </a:r>
            <a:endParaRPr lang="zh-CN" altLang="en-US" sz="1200" dirty="0">
              <a:solidFill>
                <a:srgbClr val="FFFFFF"/>
              </a:solidFill>
              <a:latin typeface="黑体" panose="02010609060101010101" pitchFamily="49" charset="-122"/>
              <a:ea typeface="黑体" panose="02010609060101010101" pitchFamily="49" charset="-122"/>
              <a:cs typeface="+mj-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3"/>
          <p:cNvSpPr>
            <a:spLocks noGrp="1"/>
          </p:cNvSpPr>
          <p:nvPr>
            <p:ph idx="1"/>
          </p:nvPr>
        </p:nvSpPr>
        <p:spPr>
          <a:xfrm>
            <a:off x="571500" y="1500188"/>
            <a:ext cx="8143875" cy="5000625"/>
          </a:xfrm>
          <a:ln/>
        </p:spPr>
        <p:txBody>
          <a:bodyPr vert="horz" wrap="square" lIns="91440" tIns="45720" rIns="91440" bIns="45720" anchor="t" anchorCtr="0"/>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第一节 总体设计过程</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第二节 设计原理</a:t>
            </a:r>
            <a:endParaRPr lang="zh-CN" altLang="en-US"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第三节 总体设计准则</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第四节 描绘软件结构的图形工具 </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第五节 面向数据流的设计方法</a:t>
            </a:r>
            <a:endParaRPr lang="en-US" altLang="zh-CN" sz="2200" b="1" dirty="0">
              <a:latin typeface="宋体" panose="02010600030101010101" pitchFamily="2" charset="-122"/>
              <a:ea typeface="宋体" panose="02010600030101010101" pitchFamily="2" charset="-122"/>
              <a:cs typeface="+mn-cs"/>
            </a:endParaRPr>
          </a:p>
          <a:p>
            <a:pPr marL="6350" indent="-6350"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sp>
        <p:nvSpPr>
          <p:cNvPr id="8195" name="标题 4"/>
          <p:cNvSpPr>
            <a:spLocks noGrp="1"/>
          </p:cNvSpPr>
          <p:nvPr>
            <p:ph type="title"/>
          </p:nvPr>
        </p:nvSpPr>
        <p:spPr>
          <a:xfrm>
            <a:off x="571500" y="214313"/>
            <a:ext cx="7358063" cy="85725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br>
              <a:rPr lang="zh-CN" altLang="en-US" b="1" dirty="0">
                <a:solidFill>
                  <a:srgbClr val="FFFFFF"/>
                </a:solidFill>
                <a:latin typeface="黑体" panose="02010609060101010101" pitchFamily="49" charset="-122"/>
                <a:ea typeface="黑体" panose="02010609060101010101" pitchFamily="49" charset="-122"/>
                <a:cs typeface="+mj-cs"/>
              </a:rPr>
            </a:br>
            <a:endParaRPr lang="zh-CN" altLang="en-US" sz="1200" dirty="0">
              <a:solidFill>
                <a:srgbClr val="FFFFFF"/>
              </a:solidFill>
              <a:latin typeface="黑体" panose="02010609060101010101" pitchFamily="49" charset="-122"/>
              <a:ea typeface="黑体" panose="02010609060101010101" pitchFamily="49" charset="-122"/>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在软件需求分析阶段确定了要让所开发的软件“做什么”的问题，接下来就是实现软件的需求，解决“怎样做”的问题。</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软件设计就是处理“怎样做”的问题，它被定义为“应用各种技术和原理，对设备、过程或系统作出足够详细的描述，使之能够在物理上得以实现”。</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从工程管理的角度看来，软件设计可划分为总体设计和详细设计两个阶段。总体设计也称为概要设计，其基本目的是：</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概括地说“系统是如何实现的</a:t>
            </a:r>
            <a:r>
              <a:rPr kumimoji="0" lang="en-US" altLang="zh-CN" sz="22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smtClean="0">
              <a:ln>
                <a:noFill/>
              </a:ln>
              <a:solidFill>
                <a:schemeClr val="bg2"/>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smtClean="0">
              <a:ln>
                <a:noFill/>
              </a:ln>
              <a:solidFill>
                <a:schemeClr val="bg2"/>
              </a:solidFill>
              <a:effectLst/>
              <a:uLnTx/>
              <a:uFillTx/>
              <a:latin typeface="+mn-lt"/>
              <a:ea typeface="宋体" panose="02010600030101010101" pitchFamily="2" charset="-122"/>
              <a:cs typeface="+mn-cs"/>
            </a:endParaRP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ts val="1200"/>
              </a:spcBef>
              <a:spcAft>
                <a:spcPts val="120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总体设计的任务：</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划分出组成系统的物理元素 </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程序、文件、数据库、人工过程和文档等等</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设计软件结构。即确定系统中由那些模块组成，以及这些模块之间的相互关系。</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endParaRPr kumimoji="0" lang="zh-CN" altLang="en-US" sz="2200" b="1" i="0" u="none" strike="noStrike" kern="0" cap="none" spc="0" normalizeH="0" baseline="0" noProof="0" dirty="0" smtClean="0">
              <a:ln>
                <a:noFill/>
              </a:ln>
              <a:solidFill>
                <a:srgbClr val="FF0000"/>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smtClean="0">
              <a:ln>
                <a:noFill/>
              </a:ln>
              <a:solidFill>
                <a:schemeClr val="bg2"/>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endParaRPr kumimoji="0" lang="zh-CN" altLang="en-US" sz="2800" b="0" i="0" u="none" strike="noStrike" kern="0" cap="none" spc="0" normalizeH="0" baseline="0" noProof="0" dirty="0" smtClean="0">
              <a:ln>
                <a:noFill/>
              </a:ln>
              <a:solidFill>
                <a:schemeClr val="bg2"/>
              </a:solidFill>
              <a:effectLst/>
              <a:uLnTx/>
              <a:uFillTx/>
              <a:latin typeface="+mn-lt"/>
              <a:ea typeface="宋体" panose="0201060003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11267" name="内容占位符 2"/>
          <p:cNvSpPr>
            <a:spLocks noGrp="1"/>
          </p:cNvSpPr>
          <p:nvPr>
            <p:ph idx="1"/>
          </p:nvPr>
        </p:nvSpPr>
        <p:spPr>
          <a:xfrm>
            <a:off x="428625" y="1214438"/>
            <a:ext cx="822960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zh-CN" altLang="en-US" sz="2400" b="1" dirty="0">
                <a:latin typeface="黑体" panose="02010609060101010101" pitchFamily="49" charset="-122"/>
                <a:ea typeface="黑体" panose="02010609060101010101" pitchFamily="49" charset="-122"/>
                <a:cs typeface="+mn-cs"/>
              </a:rPr>
              <a:t>第一节  总体设计过程</a:t>
            </a:r>
            <a:endParaRPr lang="en-US" altLang="zh-CN" sz="1100" b="1" dirty="0">
              <a:solidFill>
                <a:srgbClr val="FF0000"/>
              </a:solidFill>
              <a:latin typeface="+mn-lt"/>
              <a:ea typeface="宋体" panose="02010600030101010101" pitchFamily="2" charset="-122"/>
              <a:cs typeface="+mn-cs"/>
            </a:endParaRPr>
          </a:p>
          <a:p>
            <a:pPr indent="0" eaLnBrk="1" hangingPunct="1">
              <a:lnSpc>
                <a:spcPct val="120000"/>
              </a:lnSpc>
              <a:buFont typeface="Wingdings" panose="05000000000000000000" pitchFamily="2" charset="2"/>
              <a:buNone/>
            </a:pPr>
            <a:r>
              <a:rPr lang="zh-CN" altLang="en-US" sz="2200" b="1" dirty="0">
                <a:latin typeface="黑体" panose="02010609060101010101" pitchFamily="49" charset="-122"/>
                <a:ea typeface="黑体" panose="02010609060101010101" pitchFamily="49" charset="-122"/>
                <a:cs typeface="+mn-cs"/>
              </a:rPr>
              <a:t>典型的总体设计过程包括下述</a:t>
            </a:r>
            <a:r>
              <a:rPr lang="en-US" altLang="zh-CN" sz="2200" b="1" dirty="0">
                <a:latin typeface="黑体" panose="02010609060101010101" pitchFamily="49" charset="-122"/>
                <a:ea typeface="黑体" panose="02010609060101010101" pitchFamily="49" charset="-122"/>
                <a:cs typeface="+mn-cs"/>
              </a:rPr>
              <a:t>9</a:t>
            </a:r>
            <a:r>
              <a:rPr lang="zh-CN" altLang="en-US" sz="2200" b="1" dirty="0">
                <a:latin typeface="黑体" panose="02010609060101010101" pitchFamily="49" charset="-122"/>
                <a:ea typeface="黑体" panose="02010609060101010101" pitchFamily="49" charset="-122"/>
                <a:cs typeface="+mn-cs"/>
              </a:rPr>
              <a:t>个步骤：</a:t>
            </a:r>
            <a:endParaRPr lang="en-US" altLang="zh-CN" sz="2200" b="1" dirty="0">
              <a:latin typeface="黑体" panose="02010609060101010101" pitchFamily="49" charset="-122"/>
              <a:ea typeface="黑体" panose="02010609060101010101" pitchFamily="49" charset="-122"/>
              <a:cs typeface="+mn-cs"/>
            </a:endParaRPr>
          </a:p>
        </p:txBody>
      </p:sp>
      <p:sp>
        <p:nvSpPr>
          <p:cNvPr id="11268" name="Rectangle 3"/>
          <p:cNvSpPr txBox="1"/>
          <p:nvPr/>
        </p:nvSpPr>
        <p:spPr>
          <a:xfrm>
            <a:off x="3000375" y="2286000"/>
            <a:ext cx="5143500" cy="4286250"/>
          </a:xfrm>
          <a:prstGeom prst="rect">
            <a:avLst/>
          </a:prstGeom>
          <a:noFill/>
          <a:ln w="9525">
            <a:noFill/>
          </a:ln>
        </p:spPr>
        <p:txBody>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1. </a:t>
            </a:r>
            <a:r>
              <a:rPr lang="zh-CN" altLang="en-US" sz="2200" b="1" dirty="0">
                <a:latin typeface="宋体" panose="02010600030101010101" pitchFamily="2" charset="-122"/>
                <a:ea typeface="宋体" panose="02010600030101010101" pitchFamily="2" charset="-122"/>
              </a:rPr>
              <a:t>设想供选择的方案</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2. </a:t>
            </a:r>
            <a:r>
              <a:rPr lang="zh-CN" altLang="en-US" sz="2200" b="1" dirty="0">
                <a:latin typeface="宋体" panose="02010600030101010101" pitchFamily="2" charset="-122"/>
                <a:ea typeface="宋体" panose="02010600030101010101" pitchFamily="2" charset="-122"/>
              </a:rPr>
              <a:t>选取合理的方案</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3. </a:t>
            </a:r>
            <a:r>
              <a:rPr lang="zh-CN" altLang="en-US" sz="2200" b="1" dirty="0">
                <a:latin typeface="宋体" panose="02010600030101010101" pitchFamily="2" charset="-122"/>
                <a:ea typeface="宋体" panose="02010600030101010101" pitchFamily="2" charset="-122"/>
              </a:rPr>
              <a:t>推荐最佳方案</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4. </a:t>
            </a:r>
            <a:r>
              <a:rPr lang="zh-CN" altLang="en-US" sz="2200" b="1" dirty="0">
                <a:latin typeface="宋体" panose="02010600030101010101" pitchFamily="2" charset="-122"/>
                <a:ea typeface="宋体" panose="02010600030101010101" pitchFamily="2" charset="-122"/>
              </a:rPr>
              <a:t>功能分解</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5. </a:t>
            </a:r>
            <a:r>
              <a:rPr lang="zh-CN" altLang="en-US" sz="2200" b="1" dirty="0">
                <a:latin typeface="宋体" panose="02010600030101010101" pitchFamily="2" charset="-122"/>
                <a:ea typeface="宋体" panose="02010600030101010101" pitchFamily="2" charset="-122"/>
              </a:rPr>
              <a:t>设计软件结构</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6. </a:t>
            </a:r>
            <a:r>
              <a:rPr lang="zh-CN" altLang="en-US" sz="2200" b="1" dirty="0">
                <a:latin typeface="宋体" panose="02010600030101010101" pitchFamily="2" charset="-122"/>
                <a:ea typeface="宋体" panose="02010600030101010101" pitchFamily="2" charset="-122"/>
              </a:rPr>
              <a:t>设计数据库</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7. </a:t>
            </a:r>
            <a:r>
              <a:rPr lang="zh-CN" altLang="en-US" sz="2200" b="1" dirty="0">
                <a:latin typeface="宋体" panose="02010600030101010101" pitchFamily="2" charset="-122"/>
                <a:ea typeface="宋体" panose="02010600030101010101" pitchFamily="2" charset="-122"/>
              </a:rPr>
              <a:t>制定测试计划</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8. </a:t>
            </a:r>
            <a:r>
              <a:rPr lang="zh-CN" altLang="en-US" sz="2200" b="1" dirty="0">
                <a:latin typeface="宋体" panose="02010600030101010101" pitchFamily="2" charset="-122"/>
                <a:ea typeface="宋体" panose="02010600030101010101" pitchFamily="2" charset="-122"/>
              </a:rPr>
              <a:t>书写文档</a:t>
            </a:r>
            <a:endParaRPr lang="zh-CN" altLang="en-US" sz="2200" b="1" dirty="0">
              <a:latin typeface="宋体" panose="02010600030101010101" pitchFamily="2" charset="-122"/>
              <a:ea typeface="宋体" panose="02010600030101010101" pitchFamily="2" charset="-122"/>
            </a:endParaRPr>
          </a:p>
          <a:p>
            <a:pPr marL="0" lvl="0" indent="363855" eaLnBrk="1" hangingPunct="1">
              <a:lnSpc>
                <a:spcPct val="120000"/>
              </a:lnSpc>
              <a:buFontTx/>
              <a:buNone/>
            </a:pPr>
            <a:r>
              <a:rPr lang="en-US" altLang="zh-CN" sz="2200" b="1" dirty="0">
                <a:latin typeface="宋体" panose="02010600030101010101" pitchFamily="2" charset="-122"/>
                <a:ea typeface="宋体" panose="02010600030101010101" pitchFamily="2" charset="-122"/>
              </a:rPr>
              <a:t>                9. </a:t>
            </a:r>
            <a:r>
              <a:rPr lang="zh-CN" altLang="en-US" sz="2200" b="1" dirty="0">
                <a:latin typeface="宋体" panose="02010600030101010101" pitchFamily="2" charset="-122"/>
                <a:ea typeface="宋体" panose="02010600030101010101" pitchFamily="2" charset="-122"/>
              </a:rPr>
              <a:t>审查和复审</a:t>
            </a:r>
            <a:endParaRPr lang="zh-CN" altLang="en-US" sz="2200" b="1" dirty="0">
              <a:latin typeface="宋体" panose="02010600030101010101" pitchFamily="2" charset="-122"/>
              <a:ea typeface="宋体" panose="02010600030101010101" pitchFamily="2" charset="-122"/>
            </a:endParaRPr>
          </a:p>
        </p:txBody>
      </p:sp>
      <p:pic>
        <p:nvPicPr>
          <p:cNvPr id="11269" name="Picture 4" descr="MCj03030360000[1]"/>
          <p:cNvPicPr>
            <a:picLocks noChangeAspect="1"/>
          </p:cNvPicPr>
          <p:nvPr/>
        </p:nvPicPr>
        <p:blipFill>
          <a:blip r:embed="rId1"/>
          <a:stretch>
            <a:fillRect/>
          </a:stretch>
        </p:blipFill>
        <p:spPr>
          <a:xfrm>
            <a:off x="582613" y="2924175"/>
            <a:ext cx="2706687" cy="33686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．设想供选择的方案</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）在数据流图的基础上，一个边界一个边界设想并列出供选择的方案。通常，选取的这些方案中至少应包括低成本、中成本和高成本的三种方案类型；</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）对每个合理方案要提供以下几方面资料：</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系统流程图；</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数据字典；</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成本／效益分析；</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实现这个系统的进度计划。</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实例分析：</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订货系统的数据流图</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ts val="2400"/>
              </a:spcBef>
              <a:spcAft>
                <a:spcPct val="0"/>
              </a:spcAft>
              <a:buClr>
                <a:srgbClr val="A50021"/>
              </a:buClr>
              <a:buSzPct val="8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当用数据流图辅助物理系统的设计时，以图中不同处理的定时要求为指南，能够在数据流图上画出许多组自动化边界，每组自动化边界可能意味着一个不同的物理系统，因此可以根据系统的逻辑模型考虑系统的物理实现。</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13315" name="Picture 4" descr="rj15"/>
          <p:cNvPicPr>
            <a:picLocks noChangeAspect="1"/>
          </p:cNvPicPr>
          <p:nvPr/>
        </p:nvPicPr>
        <p:blipFill>
          <a:blip r:embed="rId1"/>
          <a:stretch>
            <a:fillRect/>
          </a:stretch>
        </p:blipFill>
        <p:spPr>
          <a:xfrm>
            <a:off x="1571625" y="1714500"/>
            <a:ext cx="5429250" cy="3000375"/>
          </a:xfrm>
          <a:prstGeom prst="rect">
            <a:avLst/>
          </a:prstGeom>
          <a:noFill/>
          <a:ln w="9525">
            <a:noFill/>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zh-CN" altLang="en-US" sz="2200" b="1" dirty="0">
                <a:solidFill>
                  <a:srgbClr val="C00000"/>
                </a:solidFill>
                <a:latin typeface="宋体" panose="02010600030101010101" pitchFamily="2" charset="-122"/>
                <a:ea typeface="宋体" panose="02010600030101010101" pitchFamily="2" charset="-122"/>
                <a:cs typeface="+mn-cs"/>
              </a:rPr>
              <a:t>思考：从更新库存清单的角度看，下述设计方式的含义是什么？</a:t>
            </a:r>
            <a:endParaRPr lang="en-US" altLang="zh-CN" sz="2200" b="1" dirty="0">
              <a:solidFill>
                <a:srgbClr val="C00000"/>
              </a:solidFill>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spcBef>
                <a:spcPts val="180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这种划分自动化边界的方法暗示以批量方式更新库存清单</a:t>
            </a:r>
            <a:endParaRPr lang="zh-CN" altLang="en-US" sz="2200" b="1" dirty="0">
              <a:latin typeface="宋体" panose="02010600030101010101" pitchFamily="2" charset="-122"/>
              <a:ea typeface="宋体" panose="02010600030101010101" pitchFamily="2" charset="-122"/>
              <a:cs typeface="+mn-cs"/>
            </a:endParaRPr>
          </a:p>
        </p:txBody>
      </p:sp>
      <p:pic>
        <p:nvPicPr>
          <p:cNvPr id="14339" name="Picture 4" descr="rj16"/>
          <p:cNvPicPr>
            <a:picLocks noChangeAspect="1"/>
          </p:cNvPicPr>
          <p:nvPr/>
        </p:nvPicPr>
        <p:blipFill>
          <a:blip r:embed="rId1"/>
          <a:stretch>
            <a:fillRect/>
          </a:stretch>
        </p:blipFill>
        <p:spPr>
          <a:xfrm>
            <a:off x="1828800" y="1908175"/>
            <a:ext cx="6529388" cy="3449638"/>
          </a:xfrm>
          <a:prstGeom prst="rect">
            <a:avLst/>
          </a:prstGeom>
          <a:noFill/>
          <a:ln w="9525">
            <a:noFill/>
          </a:ln>
        </p:spPr>
      </p:pic>
      <p:graphicFrame>
        <p:nvGraphicFramePr>
          <p:cNvPr id="14340" name="Object 4154"/>
          <p:cNvGraphicFramePr>
            <a:graphicFrameLocks noChangeAspect="1"/>
          </p:cNvGraphicFramePr>
          <p:nvPr/>
        </p:nvGraphicFramePr>
        <p:xfrm>
          <a:off x="214313" y="1714500"/>
          <a:ext cx="1719262" cy="1143000"/>
        </p:xfrm>
        <a:graphic>
          <a:graphicData uri="http://schemas.openxmlformats.org/presentationml/2006/ole">
            <mc:AlternateContent xmlns:mc="http://schemas.openxmlformats.org/markup-compatibility/2006">
              <mc:Choice xmlns:v="urn:schemas-microsoft-com:vml" Requires="v">
                <p:oleObj spid="_x0000_s3076" name="" r:id="rId2" imgW="4046855" imgH="3352800" progId="MS_ClipArt_Gallery.2">
                  <p:embed/>
                </p:oleObj>
              </mc:Choice>
              <mc:Fallback>
                <p:oleObj name="" r:id="rId2" imgW="4046855" imgH="3352800" progId="MS_ClipArt_Gallery.2">
                  <p:embed/>
                  <p:pic>
                    <p:nvPicPr>
                      <p:cNvPr id="0" name="图片 3075"/>
                      <p:cNvPicPr/>
                      <p:nvPr/>
                    </p:nvPicPr>
                    <p:blipFill>
                      <a:blip r:embed="rId3"/>
                      <a:stretch>
                        <a:fillRect/>
                      </a:stretch>
                    </p:blipFill>
                    <p:spPr>
                      <a:xfrm>
                        <a:off x="214313" y="1714500"/>
                        <a:ext cx="1719262" cy="1143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charRg st="37" end="6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a:ln/>
        </p:spPr>
        <p:txBody>
          <a:bodyPr vert="horz" wrap="square" lIns="91440" tIns="45720" rIns="91440" bIns="45720" anchor="t" anchorCtr="0"/>
          <a:p>
            <a:pPr indent="0" eaLnBrk="1" hangingPunct="1">
              <a:lnSpc>
                <a:spcPct val="120000"/>
              </a:lnSpc>
              <a:buFont typeface="Wingdings" panose="05000000000000000000" pitchFamily="2" charset="2"/>
              <a:buNone/>
            </a:pPr>
            <a:r>
              <a:rPr lang="zh-CN" altLang="en-US" sz="2200" b="1" dirty="0">
                <a:solidFill>
                  <a:srgbClr val="C00000"/>
                </a:solidFill>
                <a:latin typeface="宋体" panose="02010600030101010101" pitchFamily="2" charset="-122"/>
                <a:ea typeface="宋体" panose="02010600030101010101" pitchFamily="2" charset="-122"/>
                <a:cs typeface="+mn-cs"/>
              </a:rPr>
              <a:t>思考：从更新库存清单的角度看，下述设计方式的含义又是什么？</a:t>
            </a:r>
            <a:endParaRPr lang="en-US" altLang="zh-CN" sz="2200" b="1" dirty="0">
              <a:solidFill>
                <a:srgbClr val="C00000"/>
              </a:solidFill>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eaLnBrk="1" hangingPunct="1">
              <a:lnSpc>
                <a:spcPct val="120000"/>
              </a:lnSpc>
              <a:spcBef>
                <a:spcPts val="1800"/>
              </a:spcBef>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这种划分自动化边界的方法建议以联机方式更新库存清单</a:t>
            </a:r>
            <a:endParaRPr lang="zh-CN" altLang="en-US" sz="2200" b="1" dirty="0">
              <a:latin typeface="宋体" panose="02010600030101010101" pitchFamily="2" charset="-122"/>
              <a:ea typeface="宋体" panose="02010600030101010101" pitchFamily="2" charset="-122"/>
              <a:cs typeface="+mn-cs"/>
            </a:endParaRPr>
          </a:p>
          <a:p>
            <a:pPr indent="0" eaLnBrk="1" hangingPunct="1">
              <a:lnSpc>
                <a:spcPct val="120000"/>
              </a:lnSpc>
              <a:spcBef>
                <a:spcPts val="1800"/>
              </a:spcBef>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pic>
        <p:nvPicPr>
          <p:cNvPr id="15363" name="Picture 4" descr="rj17"/>
          <p:cNvPicPr>
            <a:picLocks noChangeAspect="1"/>
          </p:cNvPicPr>
          <p:nvPr/>
        </p:nvPicPr>
        <p:blipFill>
          <a:blip r:embed="rId1"/>
          <a:stretch>
            <a:fillRect/>
          </a:stretch>
        </p:blipFill>
        <p:spPr>
          <a:xfrm>
            <a:off x="1687513" y="1865313"/>
            <a:ext cx="6456362" cy="3563937"/>
          </a:xfrm>
          <a:prstGeom prst="rect">
            <a:avLst/>
          </a:prstGeom>
          <a:noFill/>
          <a:ln w="9525">
            <a:noFill/>
          </a:ln>
        </p:spPr>
      </p:pic>
      <p:graphicFrame>
        <p:nvGraphicFramePr>
          <p:cNvPr id="15364" name="Object 4154"/>
          <p:cNvGraphicFramePr>
            <a:graphicFrameLocks noChangeAspect="1"/>
          </p:cNvGraphicFramePr>
          <p:nvPr/>
        </p:nvGraphicFramePr>
        <p:xfrm>
          <a:off x="214313" y="1714500"/>
          <a:ext cx="1719262" cy="1143000"/>
        </p:xfrm>
        <a:graphic>
          <a:graphicData uri="http://schemas.openxmlformats.org/presentationml/2006/ole">
            <mc:AlternateContent xmlns:mc="http://schemas.openxmlformats.org/markup-compatibility/2006">
              <mc:Choice xmlns:v="urn:schemas-microsoft-com:vml" Requires="v">
                <p:oleObj spid="_x0000_s3077" name="" r:id="rId2" imgW="4046855" imgH="3352800" progId="MS_ClipArt_Gallery.2">
                  <p:embed/>
                </p:oleObj>
              </mc:Choice>
              <mc:Fallback>
                <p:oleObj name="" r:id="rId2" imgW="4046855" imgH="3352800" progId="MS_ClipArt_Gallery.2">
                  <p:embed/>
                  <p:pic>
                    <p:nvPicPr>
                      <p:cNvPr id="0" name="图片 3076"/>
                      <p:cNvPicPr/>
                      <p:nvPr/>
                    </p:nvPicPr>
                    <p:blipFill>
                      <a:blip r:embed="rId3"/>
                      <a:stretch>
                        <a:fillRect/>
                      </a:stretch>
                    </p:blipFill>
                    <p:spPr>
                      <a:xfrm>
                        <a:off x="214313" y="1714500"/>
                        <a:ext cx="1719262" cy="11430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charRg st="38" end="6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选取合理的方案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从上一步得到的一系列供选择的方案中选取若干个合理的方案，通常至少选取低成本、中等成本和高成本的三种方案；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根据系统分析确定的目标，来判断哪些方案是合理的；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推荐最佳方案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综合分析对比各种合理方案的利弊，推荐一个最佳的方案，并为最佳方案制定详细的实现计划。</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4.</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功能分解</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需要从实现的角度把复杂的功能进一步分解。</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5.</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设计软件结构</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软件结构反映系统中模块的相互调用关系：顶层模块调用它的下层模块以实现程序的完整功能，每个下层模块再调用更下层的模块，从而完成程序的一个子功能，最下层的模块完成最具体的功能；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软件结构通过层次图或结构图来描绘，也可以直接从数据流图映射出软件结构。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6.</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设计数据库</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数据库设计是一项专门的技术，包括模式设计、子模式设计、完整性和安全性设计和优化处理等。 </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7.</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 制定测试计划</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在软件开发的早期阶段提前考虑软件的测试计划是很有必要的。这样能促使软件设计人员在设计时注意到软件的测试问题，从而有利于提高软件的可测试性。 </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8.</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书写文档</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系统说明、用户手册、测试计划、详细的实现计划、数据库设计结果。</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8.</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审查和复审</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先技术审查</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后管理复查</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第二节  设计原理</a:t>
            </a:r>
            <a:endParaRPr kumimoji="0" lang="en-US" altLang="zh-CN" sz="1100" b="1"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一、模块化</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模块是数据说明、可执行语句等程序对象的集合，它是单独命名的而且可通过名字来访问。例如，过程、函数、子程序、宏等等都可作为模块。</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理想模块的特点</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每个理想模块只解决一个问题；</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每个理想模块的功能都应该明确，使人容易理解；</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理想模块之间的联结关系简单，具有独立性；</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由理想模块构成的系统，容易使人理解，易于编程，易于测试，易于修改和维护。</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模块化和软件成本的关系</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采用模块化原理的优点</a:t>
            </a: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可以使软件结构清晰，容易设计、容易阅读和理解、容易测试和调试；</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提高软件的可靠性；</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262255"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有助于软件开发工程的组织管理。</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20483" name="Picture 2" descr="rj38"/>
          <p:cNvPicPr>
            <a:picLocks noChangeAspect="1"/>
          </p:cNvPicPr>
          <p:nvPr/>
        </p:nvPicPr>
        <p:blipFill>
          <a:blip r:embed="rId1"/>
          <a:stretch>
            <a:fillRect/>
          </a:stretch>
        </p:blipFill>
        <p:spPr>
          <a:xfrm>
            <a:off x="1714500" y="1857375"/>
            <a:ext cx="3500438" cy="1928813"/>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二、抽象</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2622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软件系统进行模块设计时，可有不同的抽象层次：</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在最高的抽象层次上，可以使用问题所处环境的语言概括地描述问题的解法；</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在较低的抽象层次上，则采用过程化的方法，把面向问题的术语和面向实现的术语结合起来叙述问题的解法；</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在最低的抽象层次上，用可直接实现的方式叙述问题的解法。</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在软件工程中，从系统定义到实现，每进展一步都可以看做是对软件解决方法的抽象化过程的一次细化。</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三、逐步求精</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逐步求精：为了能集中精力解决主要问题而尽量推迟对问题细节的考虑。</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逐步求精最初是由</a:t>
            </a:r>
            <a:r>
              <a:rPr kumimoji="0" lang="en-US" altLang="zh-CN" sz="2200" b="1" i="0" u="none" strike="noStrike" kern="0" cap="none" spc="0" normalizeH="0" baseline="0" noProof="0" dirty="0" err="1" smtClean="0">
                <a:ln>
                  <a:noFill/>
                </a:ln>
                <a:solidFill>
                  <a:schemeClr val="bg2"/>
                </a:solidFill>
                <a:effectLst/>
                <a:uLnTx/>
                <a:uFillTx/>
                <a:latin typeface="宋体" panose="02010600030101010101" pitchFamily="2" charset="-122"/>
                <a:ea typeface="宋体" panose="02010600030101010101" pitchFamily="2" charset="-122"/>
                <a:cs typeface="+mn-cs"/>
              </a:rPr>
              <a:t>Niklaus</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Wirth</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提出的一种自顶向下的设计策略。按照这种设计策略，程序的体系结构是通过逐步精化处理过程的层次而设计出来的。通过逐步分解对功能的宏观陈述而开发出层次结构，直至最终得出用程序设计语言表达的程序。</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四、信息隐藏和局部化</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信息隐藏是指每个模块的实现细节对于其它模块来说是隐藏的。也就是说，模块中所包含的信息（包括数据和过程）不允许其它不需要这些信息的模块访问。</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局部化是指把一些关系密切的软件元素物理地放的彼此靠近。</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五、模块独立性</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模块独立性是指软件系统中每个模块只涉及软件要求的具体的子功能</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而且和软件系统中其它的模块的接口是简单的。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若一个模块只具有单一的功能且与其它模块没有太多的联系</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则称此模块具有模块独立性。</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一般采用两个准则度量模块独立性。即模块间耦合和模块内聚。</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ts val="24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rPr>
              <a:t>模块独立的概念是模块化、抽象、信息隐藏和局部化概念的直接结果。</a:t>
            </a:r>
            <a:endPar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耦合是对一个软件结构内不同模块之间的互相连接的紧密程度的度量。</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耦合强弱取决于各个模块之间接口的复杂程度、调用模块的方式以及哪些信息通过接口。</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一般模块间可能的连接方式有</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7</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种，构成耦合的</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7</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种类型：非直接耦合、数据耦合、标记耦合、控制耦合、外部耦合、公共耦合、内容耦合。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耦合</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非直接耦合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两个模块之间没有直接关系，它们之间的联系完全是通过主模块的控制和调用来实现的。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非直接耦合的模块独立性最强。</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 name="Picture 5"/>
          <p:cNvPicPr>
            <a:picLocks noChangeAspect="1"/>
          </p:cNvPicPr>
          <p:nvPr/>
        </p:nvPicPr>
        <p:blipFill>
          <a:blip r:embed="rId1"/>
          <a:stretch>
            <a:fillRect/>
          </a:stretch>
        </p:blipFill>
        <p:spPr>
          <a:xfrm>
            <a:off x="4429125" y="3571875"/>
            <a:ext cx="3857625" cy="22050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5643563"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数据耦合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一个模块访问另一个模块时，彼此之间是通过简单数据参数 </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不是控制参数、公共数据结构或外部变量</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来交换输入、输出信息的，称此为数据耦合。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数据耦合是松散的耦合，模块间的独立性比较强，在软件程序结构中至少必须有这种耦合。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27651" name="Group 10"/>
          <p:cNvGrpSpPr/>
          <p:nvPr/>
        </p:nvGrpSpPr>
        <p:grpSpPr>
          <a:xfrm>
            <a:off x="6526213" y="1785938"/>
            <a:ext cx="2189162" cy="2795587"/>
            <a:chOff x="1510" y="680"/>
            <a:chExt cx="2681" cy="3144"/>
          </a:xfrm>
        </p:grpSpPr>
        <p:sp useBgFill="1">
          <p:nvSpPr>
            <p:cNvPr id="27652" name="Rectangle 11"/>
            <p:cNvSpPr/>
            <p:nvPr/>
          </p:nvSpPr>
          <p:spPr>
            <a:xfrm>
              <a:off x="1880" y="680"/>
              <a:ext cx="1904" cy="65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2000" dirty="0">
                <a:solidFill>
                  <a:srgbClr val="333333"/>
                </a:solidFill>
                <a:ea typeface="宋体" panose="02010600030101010101" pitchFamily="2" charset="-122"/>
              </a:endParaRPr>
            </a:p>
          </p:txBody>
        </p:sp>
        <p:sp>
          <p:nvSpPr>
            <p:cNvPr id="27653" name="Line 12"/>
            <p:cNvSpPr/>
            <p:nvPr/>
          </p:nvSpPr>
          <p:spPr>
            <a:xfrm>
              <a:off x="2832" y="1344"/>
              <a:ext cx="0" cy="1824"/>
            </a:xfrm>
            <a:prstGeom prst="line">
              <a:avLst/>
            </a:prstGeom>
            <a:ln w="25400" cap="flat" cmpd="sng">
              <a:solidFill>
                <a:srgbClr val="333333"/>
              </a:solidFill>
              <a:prstDash val="solid"/>
              <a:headEnd type="none" w="sm" len="sm"/>
              <a:tailEnd type="none" w="med" len="lg"/>
            </a:ln>
          </p:spPr>
        </p:sp>
        <p:sp>
          <p:nvSpPr>
            <p:cNvPr id="27654" name="Rectangle 13"/>
            <p:cNvSpPr/>
            <p:nvPr/>
          </p:nvSpPr>
          <p:spPr>
            <a:xfrm>
              <a:off x="2210" y="735"/>
              <a:ext cx="1399" cy="4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2000" b="1" dirty="0">
                  <a:solidFill>
                    <a:srgbClr val="333333"/>
                  </a:solidFill>
                  <a:latin typeface="仿宋_GB2312" pitchFamily="49" charset="-122"/>
                  <a:ea typeface="仿宋_GB2312" pitchFamily="49" charset="-122"/>
                </a:rPr>
                <a:t>开发票</a:t>
              </a:r>
              <a:endParaRPr lang="zh-CN" altLang="en-US" sz="2000" b="1" dirty="0">
                <a:solidFill>
                  <a:srgbClr val="333333"/>
                </a:solidFill>
                <a:latin typeface="仿宋_GB2312" pitchFamily="49" charset="-122"/>
                <a:ea typeface="仿宋_GB2312" pitchFamily="49" charset="-122"/>
              </a:endParaRPr>
            </a:p>
          </p:txBody>
        </p:sp>
        <p:sp useBgFill="1">
          <p:nvSpPr>
            <p:cNvPr id="27655" name="Rectangle 14"/>
            <p:cNvSpPr/>
            <p:nvPr/>
          </p:nvSpPr>
          <p:spPr>
            <a:xfrm>
              <a:off x="1832" y="3168"/>
              <a:ext cx="1952" cy="65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2000" dirty="0">
                <a:solidFill>
                  <a:srgbClr val="333333"/>
                </a:solidFill>
                <a:ea typeface="宋体" panose="02010600030101010101" pitchFamily="2" charset="-122"/>
              </a:endParaRPr>
            </a:p>
          </p:txBody>
        </p:sp>
        <p:sp>
          <p:nvSpPr>
            <p:cNvPr id="27656" name="Rectangle 15"/>
            <p:cNvSpPr/>
            <p:nvPr/>
          </p:nvSpPr>
          <p:spPr>
            <a:xfrm>
              <a:off x="1930" y="3223"/>
              <a:ext cx="1767" cy="45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a:spcBef>
                  <a:spcPct val="0"/>
                </a:spcBef>
                <a:buClrTx/>
                <a:buFontTx/>
                <a:buNone/>
              </a:pPr>
              <a:r>
                <a:rPr lang="zh-CN" altLang="en-US" sz="2000" b="1" dirty="0">
                  <a:solidFill>
                    <a:srgbClr val="333333"/>
                  </a:solidFill>
                  <a:latin typeface="仿宋_GB2312" pitchFamily="49" charset="-122"/>
                  <a:ea typeface="仿宋_GB2312" pitchFamily="49" charset="-122"/>
                </a:rPr>
                <a:t>计算水费</a:t>
              </a:r>
              <a:endParaRPr lang="zh-CN" altLang="en-US" sz="2000" b="1" dirty="0">
                <a:solidFill>
                  <a:srgbClr val="333333"/>
                </a:solidFill>
                <a:latin typeface="仿宋_GB2312" pitchFamily="49" charset="-122"/>
                <a:ea typeface="仿宋_GB2312" pitchFamily="49" charset="-122"/>
              </a:endParaRPr>
            </a:p>
          </p:txBody>
        </p:sp>
        <p:sp>
          <p:nvSpPr>
            <p:cNvPr id="27657" name="Line 16"/>
            <p:cNvSpPr/>
            <p:nvPr/>
          </p:nvSpPr>
          <p:spPr>
            <a:xfrm>
              <a:off x="2448" y="1680"/>
              <a:ext cx="0" cy="864"/>
            </a:xfrm>
            <a:prstGeom prst="line">
              <a:avLst/>
            </a:prstGeom>
            <a:ln w="25400" cap="flat" cmpd="sng">
              <a:solidFill>
                <a:srgbClr val="333333"/>
              </a:solidFill>
              <a:prstDash val="solid"/>
              <a:headEnd type="none" w="sm" len="sm"/>
              <a:tailEnd type="stealth" w="med" len="lg"/>
            </a:ln>
          </p:spPr>
        </p:sp>
        <p:sp>
          <p:nvSpPr>
            <p:cNvPr id="27658" name="Line 17"/>
            <p:cNvSpPr/>
            <p:nvPr/>
          </p:nvSpPr>
          <p:spPr>
            <a:xfrm flipV="1">
              <a:off x="3264" y="1728"/>
              <a:ext cx="0" cy="864"/>
            </a:xfrm>
            <a:prstGeom prst="line">
              <a:avLst/>
            </a:prstGeom>
            <a:ln w="25400" cap="flat" cmpd="sng">
              <a:solidFill>
                <a:srgbClr val="333333"/>
              </a:solidFill>
              <a:prstDash val="solid"/>
              <a:headEnd type="none" w="sm" len="sm"/>
              <a:tailEnd type="stealth" w="med" len="lg"/>
            </a:ln>
          </p:spPr>
        </p:sp>
        <p:sp>
          <p:nvSpPr>
            <p:cNvPr id="27659" name="Rectangle 18"/>
            <p:cNvSpPr/>
            <p:nvPr/>
          </p:nvSpPr>
          <p:spPr>
            <a:xfrm>
              <a:off x="1510" y="1651"/>
              <a:ext cx="875" cy="728"/>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单价</a:t>
              </a:r>
              <a:endParaRPr lang="zh-CN" altLang="en-US" sz="1800" b="1" dirty="0">
                <a:solidFill>
                  <a:srgbClr val="333333"/>
                </a:solidFill>
                <a:latin typeface="仿宋_GB2312" pitchFamily="49" charset="-122"/>
                <a:ea typeface="仿宋_GB2312" pitchFamily="49" charset="-122"/>
              </a:endParaRPr>
            </a:p>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数量</a:t>
              </a:r>
              <a:endParaRPr lang="zh-CN" altLang="en-US" sz="1800" b="1" dirty="0">
                <a:solidFill>
                  <a:srgbClr val="333333"/>
                </a:solidFill>
                <a:latin typeface="仿宋_GB2312" pitchFamily="49" charset="-122"/>
                <a:ea typeface="仿宋_GB2312" pitchFamily="49" charset="-122"/>
              </a:endParaRPr>
            </a:p>
          </p:txBody>
        </p:sp>
        <p:sp>
          <p:nvSpPr>
            <p:cNvPr id="27660" name="Rectangle 19"/>
            <p:cNvSpPr/>
            <p:nvPr/>
          </p:nvSpPr>
          <p:spPr>
            <a:xfrm>
              <a:off x="3347" y="1790"/>
              <a:ext cx="844" cy="41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金额</a:t>
              </a:r>
              <a:endParaRPr lang="zh-CN" altLang="en-US" sz="1800" b="1" dirty="0">
                <a:solidFill>
                  <a:srgbClr val="333333"/>
                </a:solidFill>
                <a:latin typeface="仿宋_GB2312" pitchFamily="49" charset="-122"/>
                <a:ea typeface="仿宋_GB2312" pitchFamily="49"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(3)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标记耦合</a:t>
            </a: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特征耦合</a:t>
            </a: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一组模块通过参数表传递记录信息，就是标记耦合。这组模块共享了这个记录，它是某一数据结构的子结构，而不是简单变量。</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在设计中应尽力避免这种耦合（但允许使用），它使在数据结构上的操作复杂化了。</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标记耦合举例：</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53657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“住户情况”是一个数据结构</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图中模块都与此数据结构有关。“计算水费”和“计算电费”本无关</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由于引用了此数据结构产生依赖关系</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它们之间也是标记耦合。</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grpSp>
        <p:nvGrpSpPr>
          <p:cNvPr id="29699" name="Group 3"/>
          <p:cNvGrpSpPr/>
          <p:nvPr/>
        </p:nvGrpSpPr>
        <p:grpSpPr>
          <a:xfrm>
            <a:off x="466725" y="2081213"/>
            <a:ext cx="4319588" cy="1847850"/>
            <a:chOff x="96" y="451"/>
            <a:chExt cx="5616" cy="1893"/>
          </a:xfrm>
        </p:grpSpPr>
        <p:sp useBgFill="1">
          <p:nvSpPr>
            <p:cNvPr id="29720" name="Rectangle 4"/>
            <p:cNvSpPr/>
            <p:nvPr/>
          </p:nvSpPr>
          <p:spPr>
            <a:xfrm>
              <a:off x="1736" y="488"/>
              <a:ext cx="2288" cy="41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333333"/>
                </a:solidFill>
                <a:ea typeface="宋体" panose="02010600030101010101" pitchFamily="2" charset="-122"/>
              </a:endParaRPr>
            </a:p>
          </p:txBody>
        </p:sp>
        <p:sp>
          <p:nvSpPr>
            <p:cNvPr id="5" name="Line 5"/>
            <p:cNvSpPr>
              <a:spLocks noChangeShapeType="1"/>
            </p:cNvSpPr>
            <p:nvPr/>
          </p:nvSpPr>
          <p:spPr bwMode="auto">
            <a:xfrm flipH="1">
              <a:off x="1345" y="911"/>
              <a:ext cx="671" cy="1008"/>
            </a:xfrm>
            <a:prstGeom prst="line">
              <a:avLst/>
            </a:prstGeom>
            <a:noFill/>
            <a:ln w="19050">
              <a:solidFill>
                <a:schemeClr val="accent4">
                  <a:lumMod val="75000"/>
                </a:schemeClr>
              </a:solidFill>
              <a:round/>
              <a:headEnd type="none" w="sm" len="sm"/>
              <a:tailEnd type="none" w="med" len="lg"/>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6" name="Line 6"/>
            <p:cNvSpPr>
              <a:spLocks noChangeShapeType="1"/>
            </p:cNvSpPr>
            <p:nvPr/>
          </p:nvSpPr>
          <p:spPr bwMode="auto">
            <a:xfrm>
              <a:off x="3696" y="911"/>
              <a:ext cx="576" cy="1008"/>
            </a:xfrm>
            <a:prstGeom prst="line">
              <a:avLst/>
            </a:prstGeom>
            <a:noFill/>
            <a:ln w="19050">
              <a:solidFill>
                <a:schemeClr val="accent4">
                  <a:lumMod val="75000"/>
                </a:schemeClr>
              </a:solidFill>
              <a:round/>
              <a:headEnd type="none" w="sm" len="sm"/>
              <a:tailEnd type="none" w="med" len="lg"/>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333333"/>
                </a:solidFill>
                <a:effectLst/>
                <a:uLnTx/>
                <a:uFillTx/>
                <a:latin typeface="Times New Roman" panose="02020603050405020304" pitchFamily="18" charset="0"/>
                <a:ea typeface="宋体" panose="02010600030101010101" pitchFamily="2" charset="-122"/>
                <a:cs typeface="+mn-cs"/>
              </a:endParaRPr>
            </a:p>
          </p:txBody>
        </p:sp>
        <p:sp>
          <p:nvSpPr>
            <p:cNvPr id="29723" name="Rectangle 7"/>
            <p:cNvSpPr/>
            <p:nvPr/>
          </p:nvSpPr>
          <p:spPr>
            <a:xfrm>
              <a:off x="2059" y="451"/>
              <a:ext cx="1826" cy="37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宋体" panose="02010600030101010101" pitchFamily="2" charset="-122"/>
                  <a:ea typeface="宋体" panose="02010600030101010101" pitchFamily="2" charset="-122"/>
                </a:rPr>
                <a:t>计算水电费</a:t>
              </a:r>
              <a:endParaRPr lang="zh-CN" altLang="en-US" sz="1800" b="1" dirty="0">
                <a:solidFill>
                  <a:srgbClr val="333333"/>
                </a:solidFill>
                <a:latin typeface="宋体" panose="02010600030101010101" pitchFamily="2" charset="-122"/>
                <a:ea typeface="宋体" panose="02010600030101010101" pitchFamily="2" charset="-122"/>
              </a:endParaRPr>
            </a:p>
          </p:txBody>
        </p:sp>
        <p:sp useBgFill="1">
          <p:nvSpPr>
            <p:cNvPr id="29724" name="Rectangle 8"/>
            <p:cNvSpPr/>
            <p:nvPr/>
          </p:nvSpPr>
          <p:spPr>
            <a:xfrm>
              <a:off x="296" y="1928"/>
              <a:ext cx="1664" cy="41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333333"/>
                </a:solidFill>
                <a:ea typeface="宋体" panose="02010600030101010101" pitchFamily="2" charset="-122"/>
              </a:endParaRPr>
            </a:p>
          </p:txBody>
        </p:sp>
        <p:sp>
          <p:nvSpPr>
            <p:cNvPr id="29725" name="Rectangle 9"/>
            <p:cNvSpPr/>
            <p:nvPr/>
          </p:nvSpPr>
          <p:spPr>
            <a:xfrm>
              <a:off x="422" y="1937"/>
              <a:ext cx="1437" cy="376"/>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宋体" panose="02010600030101010101" pitchFamily="2" charset="-122"/>
                  <a:ea typeface="宋体" panose="02010600030101010101" pitchFamily="2" charset="-122"/>
                </a:rPr>
                <a:t>计算水费</a:t>
              </a:r>
              <a:endParaRPr lang="zh-CN" altLang="en-US" sz="1800" b="1" dirty="0">
                <a:solidFill>
                  <a:srgbClr val="333333"/>
                </a:solidFill>
                <a:latin typeface="宋体" panose="02010600030101010101" pitchFamily="2" charset="-122"/>
                <a:ea typeface="宋体" panose="02010600030101010101" pitchFamily="2" charset="-122"/>
              </a:endParaRPr>
            </a:p>
          </p:txBody>
        </p:sp>
        <p:sp useBgFill="1">
          <p:nvSpPr>
            <p:cNvPr id="29726" name="Rectangle 10"/>
            <p:cNvSpPr/>
            <p:nvPr/>
          </p:nvSpPr>
          <p:spPr>
            <a:xfrm>
              <a:off x="3752" y="1928"/>
              <a:ext cx="1712" cy="41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333333"/>
                </a:solidFill>
                <a:ea typeface="宋体" panose="02010600030101010101" pitchFamily="2" charset="-122"/>
              </a:endParaRPr>
            </a:p>
          </p:txBody>
        </p:sp>
        <p:sp>
          <p:nvSpPr>
            <p:cNvPr id="29727" name="Rectangle 11"/>
            <p:cNvSpPr/>
            <p:nvPr/>
          </p:nvSpPr>
          <p:spPr>
            <a:xfrm>
              <a:off x="3925" y="1937"/>
              <a:ext cx="1451" cy="379"/>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宋体" panose="02010600030101010101" pitchFamily="2" charset="-122"/>
                  <a:ea typeface="宋体" panose="02010600030101010101" pitchFamily="2" charset="-122"/>
                </a:rPr>
                <a:t>计算电费</a:t>
              </a:r>
              <a:endParaRPr lang="zh-CN" altLang="en-US" sz="1800" b="1" dirty="0">
                <a:solidFill>
                  <a:srgbClr val="333333"/>
                </a:solidFill>
                <a:latin typeface="宋体" panose="02010600030101010101" pitchFamily="2" charset="-122"/>
                <a:ea typeface="宋体" panose="02010600030101010101" pitchFamily="2" charset="-122"/>
              </a:endParaRPr>
            </a:p>
          </p:txBody>
        </p:sp>
        <p:sp>
          <p:nvSpPr>
            <p:cNvPr id="29728" name="Line 12"/>
            <p:cNvSpPr/>
            <p:nvPr/>
          </p:nvSpPr>
          <p:spPr>
            <a:xfrm flipH="1">
              <a:off x="1344" y="1008"/>
              <a:ext cx="432" cy="624"/>
            </a:xfrm>
            <a:prstGeom prst="line">
              <a:avLst/>
            </a:prstGeom>
            <a:ln w="25400" cap="flat" cmpd="sng">
              <a:solidFill>
                <a:schemeClr val="tx2"/>
              </a:solidFill>
              <a:prstDash val="solid"/>
              <a:headEnd type="none" w="sm" len="sm"/>
              <a:tailEnd type="stealth" w="med" len="lg"/>
            </a:ln>
          </p:spPr>
        </p:sp>
        <p:sp>
          <p:nvSpPr>
            <p:cNvPr id="29729" name="Line 13"/>
            <p:cNvSpPr/>
            <p:nvPr/>
          </p:nvSpPr>
          <p:spPr>
            <a:xfrm flipV="1">
              <a:off x="1706" y="1119"/>
              <a:ext cx="384" cy="576"/>
            </a:xfrm>
            <a:prstGeom prst="line">
              <a:avLst/>
            </a:prstGeom>
            <a:ln w="25400" cap="flat" cmpd="sng">
              <a:solidFill>
                <a:srgbClr val="333333"/>
              </a:solidFill>
              <a:prstDash val="solid"/>
              <a:headEnd type="none" w="sm" len="sm"/>
              <a:tailEnd type="stealth" w="med" len="lg"/>
            </a:ln>
          </p:spPr>
        </p:sp>
        <p:sp>
          <p:nvSpPr>
            <p:cNvPr id="29730" name="Rectangle 14"/>
            <p:cNvSpPr/>
            <p:nvPr/>
          </p:nvSpPr>
          <p:spPr>
            <a:xfrm>
              <a:off x="96" y="975"/>
              <a:ext cx="1775" cy="379"/>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i="1" dirty="0">
                  <a:solidFill>
                    <a:srgbClr val="333333"/>
                  </a:solidFill>
                  <a:latin typeface="宋体" panose="02010600030101010101" pitchFamily="2" charset="-122"/>
                  <a:ea typeface="宋体" panose="02010600030101010101" pitchFamily="2" charset="-122"/>
                </a:rPr>
                <a:t>住户情况</a:t>
              </a:r>
              <a:endParaRPr lang="zh-CN" altLang="en-US" sz="1800" b="1" i="1" dirty="0">
                <a:solidFill>
                  <a:srgbClr val="333333"/>
                </a:solidFill>
                <a:latin typeface="宋体" panose="02010600030101010101" pitchFamily="2" charset="-122"/>
                <a:ea typeface="宋体" panose="02010600030101010101" pitchFamily="2" charset="-122"/>
              </a:endParaRPr>
            </a:p>
          </p:txBody>
        </p:sp>
        <p:sp>
          <p:nvSpPr>
            <p:cNvPr id="29731" name="Line 15"/>
            <p:cNvSpPr/>
            <p:nvPr/>
          </p:nvSpPr>
          <p:spPr>
            <a:xfrm>
              <a:off x="3936" y="960"/>
              <a:ext cx="384" cy="624"/>
            </a:xfrm>
            <a:prstGeom prst="line">
              <a:avLst/>
            </a:prstGeom>
            <a:ln w="25400" cap="flat" cmpd="sng">
              <a:solidFill>
                <a:schemeClr val="tx2"/>
              </a:solidFill>
              <a:prstDash val="solid"/>
              <a:headEnd type="none" w="sm" len="sm"/>
              <a:tailEnd type="stealth" w="med" len="lg"/>
            </a:ln>
          </p:spPr>
        </p:sp>
        <p:sp>
          <p:nvSpPr>
            <p:cNvPr id="29732" name="Line 16"/>
            <p:cNvSpPr/>
            <p:nvPr/>
          </p:nvSpPr>
          <p:spPr>
            <a:xfrm flipH="1" flipV="1">
              <a:off x="3648" y="1104"/>
              <a:ext cx="336" cy="624"/>
            </a:xfrm>
            <a:prstGeom prst="line">
              <a:avLst/>
            </a:prstGeom>
            <a:ln w="25400" cap="flat" cmpd="sng">
              <a:solidFill>
                <a:srgbClr val="333333"/>
              </a:solidFill>
              <a:prstDash val="solid"/>
              <a:headEnd type="none" w="sm" len="sm"/>
              <a:tailEnd type="stealth" w="med" len="lg"/>
            </a:ln>
          </p:spPr>
        </p:sp>
        <p:sp>
          <p:nvSpPr>
            <p:cNvPr id="29733" name="Rectangle 17"/>
            <p:cNvSpPr/>
            <p:nvPr/>
          </p:nvSpPr>
          <p:spPr>
            <a:xfrm>
              <a:off x="1997" y="1118"/>
              <a:ext cx="869" cy="379"/>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宋体" panose="02010600030101010101" pitchFamily="2" charset="-122"/>
                  <a:ea typeface="宋体" panose="02010600030101010101" pitchFamily="2" charset="-122"/>
                </a:rPr>
                <a:t>水费</a:t>
              </a:r>
              <a:endParaRPr lang="zh-CN" altLang="en-US" sz="1800" b="1" dirty="0">
                <a:solidFill>
                  <a:srgbClr val="333333"/>
                </a:solidFill>
                <a:latin typeface="宋体" panose="02010600030101010101" pitchFamily="2" charset="-122"/>
                <a:ea typeface="宋体" panose="02010600030101010101" pitchFamily="2" charset="-122"/>
              </a:endParaRPr>
            </a:p>
          </p:txBody>
        </p:sp>
        <p:sp>
          <p:nvSpPr>
            <p:cNvPr id="29734" name="Rectangle 18"/>
            <p:cNvSpPr/>
            <p:nvPr/>
          </p:nvSpPr>
          <p:spPr>
            <a:xfrm>
              <a:off x="2928" y="1358"/>
              <a:ext cx="1009" cy="37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宋体" panose="02010600030101010101" pitchFamily="2" charset="-122"/>
                  <a:ea typeface="宋体" panose="02010600030101010101" pitchFamily="2" charset="-122"/>
                </a:rPr>
                <a:t>电费</a:t>
              </a:r>
              <a:endParaRPr lang="zh-CN" altLang="en-US" sz="1800" b="1" dirty="0">
                <a:solidFill>
                  <a:srgbClr val="333333"/>
                </a:solidFill>
                <a:latin typeface="宋体" panose="02010600030101010101" pitchFamily="2" charset="-122"/>
                <a:ea typeface="宋体" panose="02010600030101010101" pitchFamily="2" charset="-122"/>
              </a:endParaRPr>
            </a:p>
          </p:txBody>
        </p:sp>
        <p:sp>
          <p:nvSpPr>
            <p:cNvPr id="29735" name="Rectangle 19"/>
            <p:cNvSpPr/>
            <p:nvPr/>
          </p:nvSpPr>
          <p:spPr>
            <a:xfrm>
              <a:off x="4176" y="975"/>
              <a:ext cx="1536" cy="379"/>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i="1" dirty="0">
                  <a:solidFill>
                    <a:srgbClr val="333333"/>
                  </a:solidFill>
                  <a:latin typeface="宋体" panose="02010600030101010101" pitchFamily="2" charset="-122"/>
                  <a:ea typeface="宋体" panose="02010600030101010101" pitchFamily="2" charset="-122"/>
                </a:rPr>
                <a:t>住户情况</a:t>
              </a:r>
              <a:endParaRPr lang="zh-CN" altLang="en-US" sz="1800" b="1" i="1" dirty="0">
                <a:solidFill>
                  <a:srgbClr val="333333"/>
                </a:solidFill>
                <a:latin typeface="宋体" panose="02010600030101010101" pitchFamily="2" charset="-122"/>
                <a:ea typeface="宋体" panose="02010600030101010101" pitchFamily="2" charset="-122"/>
              </a:endParaRPr>
            </a:p>
          </p:txBody>
        </p:sp>
      </p:grpSp>
      <p:grpSp>
        <p:nvGrpSpPr>
          <p:cNvPr id="3" name="Group 21"/>
          <p:cNvGrpSpPr/>
          <p:nvPr/>
        </p:nvGrpSpPr>
        <p:grpSpPr>
          <a:xfrm>
            <a:off x="5148263" y="2071688"/>
            <a:ext cx="3567112" cy="1889125"/>
            <a:chOff x="104" y="680"/>
            <a:chExt cx="5574" cy="3231"/>
          </a:xfrm>
        </p:grpSpPr>
        <p:sp useBgFill="1">
          <p:nvSpPr>
            <p:cNvPr id="29704" name="Rectangle 22"/>
            <p:cNvSpPr/>
            <p:nvPr/>
          </p:nvSpPr>
          <p:spPr>
            <a:xfrm>
              <a:off x="1592" y="680"/>
              <a:ext cx="2432" cy="65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2" name="Line 23"/>
            <p:cNvSpPr>
              <a:spLocks noChangeShapeType="1"/>
            </p:cNvSpPr>
            <p:nvPr/>
          </p:nvSpPr>
          <p:spPr bwMode="auto">
            <a:xfrm flipH="1">
              <a:off x="1007" y="1345"/>
              <a:ext cx="1153" cy="1822"/>
            </a:xfrm>
            <a:prstGeom prst="line">
              <a:avLst/>
            </a:prstGeom>
            <a:noFill/>
            <a:ln w="19050">
              <a:solidFill>
                <a:schemeClr val="accent4">
                  <a:lumMod val="75000"/>
                </a:schemeClr>
              </a:solidFill>
              <a:round/>
              <a:headEnd type="none" w="sm" len="sm"/>
              <a:tailEnd type="none" w="med" len="lg"/>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Line 24"/>
            <p:cNvSpPr>
              <a:spLocks noChangeShapeType="1"/>
            </p:cNvSpPr>
            <p:nvPr/>
          </p:nvSpPr>
          <p:spPr bwMode="auto">
            <a:xfrm>
              <a:off x="3505" y="1345"/>
              <a:ext cx="1054" cy="1871"/>
            </a:xfrm>
            <a:prstGeom prst="line">
              <a:avLst/>
            </a:prstGeom>
            <a:noFill/>
            <a:ln w="19050">
              <a:solidFill>
                <a:schemeClr val="accent4">
                  <a:lumMod val="75000"/>
                </a:schemeClr>
              </a:solidFill>
              <a:round/>
              <a:headEnd type="none" w="sm" len="sm"/>
              <a:tailEnd type="none" w="med" len="lg"/>
            </a:ln>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707" name="Rectangle 25"/>
            <p:cNvSpPr/>
            <p:nvPr/>
          </p:nvSpPr>
          <p:spPr>
            <a:xfrm>
              <a:off x="1669" y="734"/>
              <a:ext cx="2087" cy="62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计算水电费</a:t>
              </a:r>
              <a:endParaRPr lang="zh-CN" altLang="en-US" sz="1800" b="1" dirty="0">
                <a:solidFill>
                  <a:srgbClr val="333333"/>
                </a:solidFill>
                <a:latin typeface="仿宋_GB2312" pitchFamily="49" charset="-122"/>
                <a:ea typeface="仿宋_GB2312" pitchFamily="49" charset="-122"/>
              </a:endParaRPr>
            </a:p>
          </p:txBody>
        </p:sp>
        <p:sp useBgFill="1">
          <p:nvSpPr>
            <p:cNvPr id="29708" name="Rectangle 26"/>
            <p:cNvSpPr/>
            <p:nvPr/>
          </p:nvSpPr>
          <p:spPr>
            <a:xfrm>
              <a:off x="104" y="3224"/>
              <a:ext cx="1952" cy="65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9709" name="Rectangle 27"/>
            <p:cNvSpPr/>
            <p:nvPr/>
          </p:nvSpPr>
          <p:spPr>
            <a:xfrm>
              <a:off x="181" y="3278"/>
              <a:ext cx="1743" cy="63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计算水费</a:t>
              </a:r>
              <a:endParaRPr lang="zh-CN" altLang="en-US" sz="1800" b="1" dirty="0">
                <a:solidFill>
                  <a:srgbClr val="333333"/>
                </a:solidFill>
                <a:latin typeface="仿宋_GB2312" pitchFamily="49" charset="-122"/>
                <a:ea typeface="仿宋_GB2312" pitchFamily="49" charset="-122"/>
              </a:endParaRPr>
            </a:p>
          </p:txBody>
        </p:sp>
        <p:sp useBgFill="1">
          <p:nvSpPr>
            <p:cNvPr id="29710" name="Rectangle 28"/>
            <p:cNvSpPr/>
            <p:nvPr/>
          </p:nvSpPr>
          <p:spPr>
            <a:xfrm>
              <a:off x="3608" y="3224"/>
              <a:ext cx="1952" cy="656"/>
            </a:xfrm>
            <a:prstGeom prst="rect">
              <a:avLst/>
            </a:prstGeom>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chemeClr val="tx1"/>
                </a:solidFill>
                <a:ea typeface="宋体" panose="02010600030101010101" pitchFamily="2" charset="-122"/>
              </a:endParaRPr>
            </a:p>
          </p:txBody>
        </p:sp>
        <p:sp>
          <p:nvSpPr>
            <p:cNvPr id="29711" name="Rectangle 29"/>
            <p:cNvSpPr/>
            <p:nvPr/>
          </p:nvSpPr>
          <p:spPr>
            <a:xfrm>
              <a:off x="3686" y="3278"/>
              <a:ext cx="1727" cy="627"/>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计算电费</a:t>
              </a:r>
              <a:endParaRPr lang="zh-CN" altLang="en-US" sz="1800" b="1" dirty="0">
                <a:solidFill>
                  <a:srgbClr val="333333"/>
                </a:solidFill>
                <a:latin typeface="仿宋_GB2312" pitchFamily="49" charset="-122"/>
                <a:ea typeface="仿宋_GB2312" pitchFamily="49" charset="-122"/>
              </a:endParaRPr>
            </a:p>
          </p:txBody>
        </p:sp>
        <p:sp>
          <p:nvSpPr>
            <p:cNvPr id="29712" name="Line 30"/>
            <p:cNvSpPr/>
            <p:nvPr/>
          </p:nvSpPr>
          <p:spPr>
            <a:xfrm flipH="1">
              <a:off x="1152" y="1776"/>
              <a:ext cx="528" cy="768"/>
            </a:xfrm>
            <a:prstGeom prst="line">
              <a:avLst/>
            </a:prstGeom>
            <a:ln w="25400" cap="flat" cmpd="sng">
              <a:solidFill>
                <a:srgbClr val="C00000"/>
              </a:solidFill>
              <a:prstDash val="solid"/>
              <a:headEnd type="none" w="sm" len="sm"/>
              <a:tailEnd type="stealth" w="med" len="lg"/>
            </a:ln>
          </p:spPr>
        </p:sp>
        <p:sp>
          <p:nvSpPr>
            <p:cNvPr id="29713" name="Line 31"/>
            <p:cNvSpPr/>
            <p:nvPr/>
          </p:nvSpPr>
          <p:spPr>
            <a:xfrm flipV="1">
              <a:off x="1674" y="1920"/>
              <a:ext cx="432" cy="672"/>
            </a:xfrm>
            <a:prstGeom prst="line">
              <a:avLst/>
            </a:prstGeom>
            <a:ln w="25400" cap="flat" cmpd="sng">
              <a:solidFill>
                <a:srgbClr val="333333"/>
              </a:solidFill>
              <a:prstDash val="solid"/>
              <a:headEnd type="none" w="sm" len="sm"/>
              <a:tailEnd type="stealth" w="med" len="lg"/>
            </a:ln>
          </p:spPr>
        </p:sp>
        <p:sp>
          <p:nvSpPr>
            <p:cNvPr id="29714" name="Rectangle 32"/>
            <p:cNvSpPr/>
            <p:nvPr/>
          </p:nvSpPr>
          <p:spPr>
            <a:xfrm>
              <a:off x="193" y="1584"/>
              <a:ext cx="1102" cy="1566"/>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a:spcBef>
                  <a:spcPct val="0"/>
                </a:spcBef>
                <a:buClrTx/>
                <a:buFontTx/>
                <a:buNone/>
              </a:pPr>
              <a:r>
                <a:rPr lang="zh-CN" altLang="en-US" sz="1800" b="1" dirty="0">
                  <a:solidFill>
                    <a:srgbClr val="C00000"/>
                  </a:solidFill>
                  <a:latin typeface="仿宋_GB2312" pitchFamily="49" charset="-122"/>
                  <a:ea typeface="仿宋_GB2312" pitchFamily="49" charset="-122"/>
                </a:rPr>
                <a:t>本月</a:t>
              </a:r>
              <a:endParaRPr lang="zh-CN" altLang="en-US" sz="1800" b="1" dirty="0">
                <a:solidFill>
                  <a:srgbClr val="C00000"/>
                </a:solidFill>
                <a:latin typeface="仿宋_GB2312" pitchFamily="49" charset="-122"/>
                <a:ea typeface="仿宋_GB2312" pitchFamily="49" charset="-122"/>
              </a:endParaRPr>
            </a:p>
            <a:p>
              <a:pPr marL="0" lvl="0" indent="0">
                <a:spcBef>
                  <a:spcPct val="0"/>
                </a:spcBef>
                <a:buClrTx/>
                <a:buFontTx/>
                <a:buNone/>
              </a:pPr>
              <a:r>
                <a:rPr lang="zh-CN" altLang="en-US" sz="1800" b="1" dirty="0">
                  <a:solidFill>
                    <a:srgbClr val="C00000"/>
                  </a:solidFill>
                  <a:latin typeface="仿宋_GB2312" pitchFamily="49" charset="-122"/>
                  <a:ea typeface="仿宋_GB2312" pitchFamily="49" charset="-122"/>
                </a:rPr>
                <a:t>用水量</a:t>
              </a:r>
              <a:endParaRPr lang="zh-CN" altLang="en-US" sz="1800" b="1" dirty="0">
                <a:solidFill>
                  <a:srgbClr val="C00000"/>
                </a:solidFill>
                <a:latin typeface="仿宋_GB2312" pitchFamily="49" charset="-122"/>
                <a:ea typeface="仿宋_GB2312" pitchFamily="49" charset="-122"/>
              </a:endParaRPr>
            </a:p>
          </p:txBody>
        </p:sp>
        <p:sp>
          <p:nvSpPr>
            <p:cNvPr id="29715" name="Rectangle 33"/>
            <p:cNvSpPr/>
            <p:nvPr/>
          </p:nvSpPr>
          <p:spPr>
            <a:xfrm>
              <a:off x="4141" y="1527"/>
              <a:ext cx="1537" cy="109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a:spcBef>
                  <a:spcPct val="0"/>
                </a:spcBef>
                <a:buClrTx/>
                <a:buFontTx/>
                <a:buNone/>
              </a:pPr>
              <a:r>
                <a:rPr lang="zh-CN" altLang="en-US" sz="1800" b="1" dirty="0">
                  <a:solidFill>
                    <a:srgbClr val="C00000"/>
                  </a:solidFill>
                  <a:latin typeface="仿宋_GB2312" pitchFamily="49" charset="-122"/>
                  <a:ea typeface="仿宋_GB2312" pitchFamily="49" charset="-122"/>
                </a:rPr>
                <a:t>本月</a:t>
              </a:r>
              <a:endParaRPr lang="zh-CN" altLang="en-US" sz="1800" b="1" dirty="0">
                <a:solidFill>
                  <a:srgbClr val="C00000"/>
                </a:solidFill>
                <a:latin typeface="仿宋_GB2312" pitchFamily="49" charset="-122"/>
                <a:ea typeface="仿宋_GB2312" pitchFamily="49" charset="-122"/>
              </a:endParaRPr>
            </a:p>
            <a:p>
              <a:pPr marL="0" lvl="0" indent="0" algn="ctr">
                <a:spcBef>
                  <a:spcPct val="0"/>
                </a:spcBef>
                <a:buClrTx/>
                <a:buFontTx/>
                <a:buNone/>
              </a:pPr>
              <a:r>
                <a:rPr lang="zh-CN" altLang="en-US" sz="1800" b="1" dirty="0">
                  <a:solidFill>
                    <a:srgbClr val="C00000"/>
                  </a:solidFill>
                  <a:latin typeface="仿宋_GB2312" pitchFamily="49" charset="-122"/>
                  <a:ea typeface="仿宋_GB2312" pitchFamily="49" charset="-122"/>
                </a:rPr>
                <a:t>用电量</a:t>
              </a:r>
              <a:endParaRPr lang="zh-CN" altLang="en-US" sz="1800" b="1" dirty="0">
                <a:solidFill>
                  <a:srgbClr val="C00000"/>
                </a:solidFill>
                <a:latin typeface="仿宋_GB2312" pitchFamily="49" charset="-122"/>
                <a:ea typeface="仿宋_GB2312" pitchFamily="49" charset="-122"/>
              </a:endParaRPr>
            </a:p>
          </p:txBody>
        </p:sp>
        <p:sp>
          <p:nvSpPr>
            <p:cNvPr id="29716" name="Line 34"/>
            <p:cNvSpPr/>
            <p:nvPr/>
          </p:nvSpPr>
          <p:spPr>
            <a:xfrm>
              <a:off x="3936" y="1680"/>
              <a:ext cx="384" cy="672"/>
            </a:xfrm>
            <a:prstGeom prst="line">
              <a:avLst/>
            </a:prstGeom>
            <a:ln w="25400" cap="flat" cmpd="sng">
              <a:solidFill>
                <a:srgbClr val="C00000"/>
              </a:solidFill>
              <a:prstDash val="solid"/>
              <a:headEnd type="none" w="sm" len="sm"/>
              <a:tailEnd type="stealth" w="med" len="lg"/>
            </a:ln>
          </p:spPr>
        </p:sp>
        <p:sp>
          <p:nvSpPr>
            <p:cNvPr id="29717" name="Line 35"/>
            <p:cNvSpPr/>
            <p:nvPr/>
          </p:nvSpPr>
          <p:spPr>
            <a:xfrm flipH="1" flipV="1">
              <a:off x="3557" y="1872"/>
              <a:ext cx="384" cy="720"/>
            </a:xfrm>
            <a:prstGeom prst="line">
              <a:avLst/>
            </a:prstGeom>
            <a:ln w="25400" cap="flat" cmpd="sng">
              <a:solidFill>
                <a:srgbClr val="333333"/>
              </a:solidFill>
              <a:prstDash val="solid"/>
              <a:headEnd type="none" w="sm" len="sm"/>
              <a:tailEnd type="stealth" w="med" len="lg"/>
            </a:ln>
          </p:spPr>
        </p:sp>
        <p:sp>
          <p:nvSpPr>
            <p:cNvPr id="29718" name="Rectangle 36"/>
            <p:cNvSpPr/>
            <p:nvPr/>
          </p:nvSpPr>
          <p:spPr>
            <a:xfrm>
              <a:off x="1659" y="2373"/>
              <a:ext cx="1010" cy="628"/>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水费</a:t>
              </a:r>
              <a:endParaRPr lang="zh-CN" altLang="en-US" sz="1800" b="1" dirty="0">
                <a:solidFill>
                  <a:srgbClr val="333333"/>
                </a:solidFill>
                <a:latin typeface="仿宋_GB2312" pitchFamily="49" charset="-122"/>
                <a:ea typeface="仿宋_GB2312" pitchFamily="49" charset="-122"/>
              </a:endParaRPr>
            </a:p>
          </p:txBody>
        </p:sp>
        <p:sp>
          <p:nvSpPr>
            <p:cNvPr id="29719" name="Rectangle 37"/>
            <p:cNvSpPr/>
            <p:nvPr/>
          </p:nvSpPr>
          <p:spPr>
            <a:xfrm>
              <a:off x="2887" y="2320"/>
              <a:ext cx="1116" cy="627"/>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spcBef>
                  <a:spcPct val="0"/>
                </a:spcBef>
                <a:buClrTx/>
                <a:buFontTx/>
                <a:buNone/>
              </a:pPr>
              <a:r>
                <a:rPr lang="zh-CN" altLang="en-US" sz="1800" b="1" dirty="0">
                  <a:solidFill>
                    <a:srgbClr val="333333"/>
                  </a:solidFill>
                  <a:latin typeface="仿宋_GB2312" pitchFamily="49" charset="-122"/>
                  <a:ea typeface="仿宋_GB2312" pitchFamily="49" charset="-122"/>
                </a:rPr>
                <a:t>电费</a:t>
              </a:r>
              <a:endParaRPr lang="zh-CN" altLang="en-US" sz="1800" b="1" dirty="0">
                <a:solidFill>
                  <a:srgbClr val="333333"/>
                </a:solidFill>
                <a:latin typeface="仿宋_GB2312" pitchFamily="49" charset="-122"/>
                <a:ea typeface="仿宋_GB2312" pitchFamily="49" charset="-122"/>
              </a:endParaRPr>
            </a:p>
          </p:txBody>
        </p:sp>
      </p:grpSp>
      <p:sp>
        <p:nvSpPr>
          <p:cNvPr id="37" name="TextBox 36"/>
          <p:cNvSpPr txBox="1"/>
          <p:nvPr/>
        </p:nvSpPr>
        <p:spPr>
          <a:xfrm>
            <a:off x="5000625" y="1214438"/>
            <a:ext cx="3571875"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lnSpc>
                <a:spcPct val="120000"/>
              </a:lnSpc>
              <a:buSzPct val="60000"/>
              <a:buFontTx/>
              <a:buNone/>
            </a:pPr>
            <a:r>
              <a:rPr lang="zh-CN" altLang="en-US" sz="2200" b="1" dirty="0">
                <a:latin typeface="宋体" panose="02010600030101010101" pitchFamily="2" charset="-122"/>
                <a:ea typeface="宋体" panose="02010600030101010101" pitchFamily="2" charset="-122"/>
              </a:rPr>
              <a:t>将标记耦合修改为数据耦合：</a:t>
            </a:r>
            <a:endParaRPr lang="zh-CN" altLang="en-US" sz="2200" b="1" dirty="0">
              <a:latin typeface="宋体" panose="02010600030101010101" pitchFamily="2" charset="-122"/>
              <a:ea typeface="宋体" panose="02010600030101010101" pitchFamily="2" charset="-122"/>
            </a:endParaRPr>
          </a:p>
        </p:txBody>
      </p:sp>
      <p:graphicFrame>
        <p:nvGraphicFramePr>
          <p:cNvPr id="51202" name="Object 4154"/>
          <p:cNvGraphicFramePr>
            <a:graphicFrameLocks noChangeAspect="1"/>
          </p:cNvGraphicFramePr>
          <p:nvPr/>
        </p:nvGraphicFramePr>
        <p:xfrm>
          <a:off x="6929438" y="5500688"/>
          <a:ext cx="1719262" cy="1143000"/>
        </p:xfrm>
        <a:graphic>
          <a:graphicData uri="http://schemas.openxmlformats.org/presentationml/2006/ole">
            <mc:AlternateContent xmlns:mc="http://schemas.openxmlformats.org/markup-compatibility/2006">
              <mc:Choice xmlns:v="urn:schemas-microsoft-com:vml" Requires="v">
                <p:oleObj spid="_x0000_s3076" name="" r:id="rId1" imgW="4046855" imgH="3352800" progId="MS_ClipArt_Gallery.2">
                  <p:embed/>
                </p:oleObj>
              </mc:Choice>
              <mc:Fallback>
                <p:oleObj name="" r:id="rId1" imgW="4046855" imgH="3352800" progId="MS_ClipArt_Gallery.2">
                  <p:embed/>
                  <p:pic>
                    <p:nvPicPr>
                      <p:cNvPr id="0" name="图片 3075"/>
                      <p:cNvPicPr/>
                      <p:nvPr/>
                    </p:nvPicPr>
                    <p:blipFill>
                      <a:blip r:embed="rId2"/>
                      <a:stretch>
                        <a:fillRect/>
                      </a:stretch>
                    </p:blipFill>
                    <p:spPr>
                      <a:xfrm>
                        <a:off x="6929438" y="5500688"/>
                        <a:ext cx="1719262" cy="1143000"/>
                      </a:xfrm>
                      <a:prstGeom prst="rect">
                        <a:avLst/>
                      </a:prstGeom>
                      <a:noFill/>
                      <a:ln w="38100">
                        <a:noFill/>
                        <a:miter/>
                      </a:ln>
                    </p:spPr>
                  </p:pic>
                </p:oleObj>
              </mc:Fallback>
            </mc:AlternateContent>
          </a:graphicData>
        </a:graphic>
      </p:graphicFrame>
      <p:sp>
        <p:nvSpPr>
          <p:cNvPr id="39" name="TextBox 38"/>
          <p:cNvSpPr txBox="1"/>
          <p:nvPr/>
        </p:nvSpPr>
        <p:spPr>
          <a:xfrm>
            <a:off x="2357438" y="6000750"/>
            <a:ext cx="4357688" cy="498475"/>
          </a:xfrm>
          <a:prstGeom prst="rect">
            <a:avLst/>
          </a:prstGeom>
          <a:noFill/>
        </p:spPr>
        <p:txBody>
          <a:bodyPr>
            <a:spAutoFit/>
          </a:bodyPr>
          <a:lstStyle/>
          <a:p>
            <a:pPr marR="0" defTabSz="914400" eaLnBrk="1" hangingPunct="1">
              <a:lnSpc>
                <a:spcPct val="120000"/>
              </a:lnSpc>
              <a:spcBef>
                <a:spcPct val="20000"/>
              </a:spcBef>
              <a:buClr>
                <a:srgbClr val="A50021"/>
              </a:buClr>
              <a:buSzPct val="60000"/>
              <a:buFontTx/>
              <a:buNone/>
              <a:defRPr/>
            </a:pPr>
            <a:r>
              <a:rPr kumimoji="0" lang="zh-CN" altLang="en-US" sz="2200" b="1" kern="1200" cap="none" spc="0" normalizeH="0" baseline="0" noProof="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cs"/>
              </a:rPr>
              <a:t>如何将标记耦合修改为数据耦合？</a:t>
            </a:r>
            <a:endParaRPr kumimoji="0" lang="zh-CN" altLang="en-US" sz="2200" b="1" kern="1200" cap="none" spc="0" normalizeH="0" baseline="0" noProof="0"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par>
                          <p:cTn id="13" fill="hold">
                            <p:stCondLst>
                              <p:cond delay="0"/>
                            </p:stCondLst>
                            <p:childTnLst>
                              <p:par>
                                <p:cTn id="14" presetID="10" presetClass="entr" presetSubtype="0"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5000625"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(4)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控制耦合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如果一个模块通过传送开关、标志、名字等控制信息，明显地控制选择另一模块的功能，就是控制耦合。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控制耦合意味着控制模块必须知道所控制模块内的一些逻辑关系，这样会降低模块的独立性。</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0723" name="Picture 7"/>
          <p:cNvPicPr>
            <a:picLocks noChangeAspect="1"/>
          </p:cNvPicPr>
          <p:nvPr/>
        </p:nvPicPr>
        <p:blipFill>
          <a:blip r:embed="rId1"/>
          <a:stretch>
            <a:fillRect/>
          </a:stretch>
        </p:blipFill>
        <p:spPr>
          <a:xfrm>
            <a:off x="5929313" y="1571625"/>
            <a:ext cx="2559050" cy="3500438"/>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控制耦合举例：</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53657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a:t>
            </a:r>
            <a:r>
              <a:rPr kumimoji="0" lang="zh-CN" altLang="en-US" sz="18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18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zh-CN" altLang="en-US" sz="18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模块：计算平均分或最高分）</a:t>
            </a:r>
            <a:endParaRPr kumimoji="0" lang="en-US" altLang="zh-CN" sz="18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控制耦合增加了理解和编程的复杂性，调用模块必须知道被调模块的内部逻辑，增加了相互依赖。</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1747" name="Picture 15" descr="C:\Users\lenovo\Pictures\图片11.png"/>
          <p:cNvPicPr>
            <a:picLocks noChangeAspect="1"/>
          </p:cNvPicPr>
          <p:nvPr/>
        </p:nvPicPr>
        <p:blipFill>
          <a:blip r:embed="rId1"/>
          <a:stretch>
            <a:fillRect/>
          </a:stretch>
        </p:blipFill>
        <p:spPr>
          <a:xfrm>
            <a:off x="719138" y="1714500"/>
            <a:ext cx="7210425" cy="2876550"/>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去除模块间控制耦合的方法：</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将被调用模块内的判定上移到调用模块中进行；</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被调用模块分解成若干单一功能模块。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(5)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外部耦合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一组模块都访问同一全局简单变量而不是同一全局数据结构，而且不是通过参数表传递该全局变量的信息，则称之为外部耦合。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例如：</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语言程序中各个模块都访问被说明为</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extern</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类型的外部变量。</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600075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(6)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公共耦合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若一组模块都访问同一个公共数据环境，则它们之间的耦合就称为公共耦合。公共的数据环境可以是全局数据结构、共享的通信区、内存的公共覆盖区等。</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只有在模块之间共享的数据很多，而且通过参数表传递不方便时，才使用公共耦合，否则，还是使用模块独立性比较高的数据耦合较好些。 </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4819" name="Picture 1028"/>
          <p:cNvPicPr>
            <a:picLocks noChangeAspect="1"/>
          </p:cNvPicPr>
          <p:nvPr/>
        </p:nvPicPr>
        <p:blipFill>
          <a:blip r:embed="rId1"/>
          <a:stretch>
            <a:fillRect/>
          </a:stretch>
        </p:blipFill>
        <p:spPr>
          <a:xfrm>
            <a:off x="6643688" y="1714500"/>
            <a:ext cx="2062162" cy="263842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公共耦合的复杂程度随耦合模块的个数增加而显著增加。若只是两模块间有公共数据环境，则公共耦合有两种情况，即松散公共耦合和紧密公共耦合。</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ts val="24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rPr>
              <a:t>公共耦合会引起下列问题：</a:t>
            </a:r>
            <a:endPar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所有公共耦合模块都与某一个公共数据环境内部各项的物理安排有关，若修改某个数据的大小，将会影响到所有的模块；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无法控制各个模块对公共数据的存取，严重影响软件模块的可靠性和适应性；</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公共数据名的使用，明显降低了程序的可读性。</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rPr>
              <a:t>请慎用公共数据区和全程变量</a:t>
            </a:r>
            <a:r>
              <a:rPr kumimoji="0" lang="en-US" altLang="zh-CN"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5843" name="Picture 4"/>
          <p:cNvPicPr>
            <a:picLocks noChangeAspect="1"/>
          </p:cNvPicPr>
          <p:nvPr/>
        </p:nvPicPr>
        <p:blipFill>
          <a:blip r:embed="rId1"/>
          <a:stretch>
            <a:fillRect/>
          </a:stretch>
        </p:blipFill>
        <p:spPr>
          <a:xfrm>
            <a:off x="4429125" y="2214563"/>
            <a:ext cx="4071938" cy="14319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charRg st="68" end="8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123">
                                            <p:txEl>
                                              <p:charRg st="81" end="135"/>
                                            </p:txEl>
                                          </p:spTgt>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5123">
                                            <p:txEl>
                                              <p:charRg st="135" end="17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123">
                                            <p:txEl>
                                              <p:charRg st="170" end="19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123">
                                            <p:txEl>
                                              <p:charRg st="192" end="20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(7)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内容耦合</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如果发生下列情形，两个模块之间就发生了内容耦合：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一个模块直接访问另一个模块的内部数据；</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一个模块不通过正常入口转到另一模块内部；</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两个模块有一部分程序代码重迭；</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一个模块有多个入口。</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36867" name="Picture 5"/>
          <p:cNvPicPr>
            <a:picLocks noChangeAspect="1"/>
          </p:cNvPicPr>
          <p:nvPr/>
        </p:nvPicPr>
        <p:blipFill>
          <a:blip r:embed="rId1"/>
          <a:stretch>
            <a:fillRect/>
          </a:stretch>
        </p:blipFill>
        <p:spPr>
          <a:xfrm>
            <a:off x="1619250" y="4286250"/>
            <a:ext cx="6310313" cy="1716088"/>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内容占位符 2"/>
          <p:cNvSpPr>
            <a:spLocks noGrp="1"/>
          </p:cNvSpPr>
          <p:nvPr>
            <p:ph idx="1"/>
          </p:nvPr>
        </p:nvSpPr>
        <p:spPr>
          <a:xfrm>
            <a:off x="428625" y="1214438"/>
            <a:ext cx="8229600" cy="5000625"/>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耦合谱系：</a:t>
            </a: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模块独立性比较强的模块应是低耦合的模块。</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耦合是影响软件复杂程度的一个重要因素。应该采取下述设计原则：</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尽量使用数据耦合，少用控制耦合和标记耦合，限制公共耦合的范围，完全不用内容耦合。</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pic>
        <p:nvPicPr>
          <p:cNvPr id="37891" name="Picture 10"/>
          <p:cNvPicPr>
            <a:picLocks noChangeAspect="1"/>
          </p:cNvPicPr>
          <p:nvPr/>
        </p:nvPicPr>
        <p:blipFill>
          <a:blip r:embed="rId1"/>
          <a:stretch>
            <a:fillRect/>
          </a:stretch>
        </p:blipFill>
        <p:spPr>
          <a:xfrm>
            <a:off x="1000125" y="1857375"/>
            <a:ext cx="7286625" cy="1138238"/>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内聚</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内聚是模块功能强度</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一个模块内部各个元素彼此结合的紧密程度</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的度量；</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内聚是信息隐藏和局部化概念的自然扩展，它标志一个模块内部各成分彼此结合的紧密程度；</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一般模块的内聚性分为七个类型：</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190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功能内聚、顺序内聚、通信内聚、过程内聚、时间内聚、逻辑内聚、偶然内聚。</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功能内聚</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一个模块中各个部分都是完成某一具体功能必不可少的组成部分，或者说该模块中所有部分都是为了完成一项具体功能而协同工作，紧密联系，不可分割的。则称该模块为功能内聚模块。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功能内聚模块的优点是模块的内聚程度最高，容易修改和维护，模块间的耦合是简单的。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207168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顺序内聚</a:t>
            </a: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 </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亦称信息内聚，模块中所有处理元素和同一个功能密切相关，且这些处理必须顺序执行。通常，顺序内聚的模块，其前一处理元素的输出数据是后一处理元素的输入数据。</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 name="TextBox 3"/>
          <p:cNvSpPr txBox="1"/>
          <p:nvPr/>
        </p:nvSpPr>
        <p:spPr>
          <a:xfrm>
            <a:off x="357188" y="3857625"/>
            <a:ext cx="5000625" cy="2393950"/>
          </a:xfrm>
          <a:prstGeom prst="rect">
            <a:avLst/>
          </a:prstGeom>
          <a:noFill/>
        </p:spPr>
        <p:txBody>
          <a:bodyPr>
            <a:spAutoFit/>
          </a:bodyPr>
          <a:lstStyle/>
          <a:p>
            <a:pPr marR="0" defTabSz="914400" eaLnBrk="1" hangingPunct="1">
              <a:lnSpc>
                <a:spcPct val="120000"/>
              </a:lnSpc>
              <a:spcBef>
                <a:spcPct val="20000"/>
              </a:spcBef>
              <a:buClr>
                <a:srgbClr val="A50021"/>
              </a:buClr>
              <a:buSzPct val="80000"/>
              <a:buFontTx/>
              <a:buNone/>
              <a:tabLst>
                <a:tab pos="174625" algn="l"/>
              </a:tabLst>
              <a:defRPr/>
            </a:pPr>
            <a:r>
              <a:rPr kumimoji="0" lang="zh-CN" altLang="en-US" sz="2200" b="1" kern="1200" cap="none" spc="0" normalizeH="0" baseline="0" noProof="0" dirty="0">
                <a:solidFill>
                  <a:schemeClr val="bg2"/>
                </a:solidFill>
                <a:latin typeface="黑体" panose="02010609060101010101" pitchFamily="49" charset="-122"/>
                <a:ea typeface="黑体" panose="02010609060101010101" pitchFamily="49" charset="-122"/>
                <a:cs typeface="+mn-cs"/>
              </a:rPr>
              <a:t>（</a:t>
            </a:r>
            <a:r>
              <a:rPr kumimoji="0" lang="en-US" altLang="zh-CN" sz="2200" b="1" kern="1200" cap="none" spc="0" normalizeH="0" baseline="0" noProof="0" dirty="0">
                <a:solidFill>
                  <a:schemeClr val="bg2"/>
                </a:solidFill>
                <a:latin typeface="黑体" panose="02010609060101010101" pitchFamily="49" charset="-122"/>
                <a:ea typeface="黑体" panose="02010609060101010101" pitchFamily="49" charset="-122"/>
                <a:cs typeface="+mn-cs"/>
              </a:rPr>
              <a:t>3</a:t>
            </a:r>
            <a:r>
              <a:rPr kumimoji="0" lang="zh-CN" altLang="en-US" sz="2200" b="1" kern="1200" cap="none" spc="0" normalizeH="0" baseline="0" noProof="0" dirty="0">
                <a:solidFill>
                  <a:schemeClr val="bg2"/>
                </a:solidFill>
                <a:latin typeface="黑体" panose="02010609060101010101" pitchFamily="49" charset="-122"/>
                <a:ea typeface="黑体" panose="02010609060101010101" pitchFamily="49" charset="-122"/>
                <a:cs typeface="+mn-cs"/>
              </a:rPr>
              <a:t>）通信内聚</a:t>
            </a:r>
            <a:endParaRPr kumimoji="0" lang="en-US" altLang="zh-CN" sz="2200" b="1" kern="1200" cap="none" spc="0" normalizeH="0" baseline="0" noProof="0" dirty="0">
              <a:solidFill>
                <a:schemeClr val="bg2"/>
              </a:solidFill>
              <a:latin typeface="黑体" panose="02010609060101010101" pitchFamily="49" charset="-122"/>
              <a:ea typeface="黑体" panose="02010609060101010101" pitchFamily="49" charset="-122"/>
              <a:cs typeface="+mn-cs"/>
            </a:endParaRPr>
          </a:p>
          <a:p>
            <a:pPr marL="87630" marR="0" indent="361950" defTabSz="914400" eaLnBrk="1" hangingPunct="1">
              <a:lnSpc>
                <a:spcPct val="120000"/>
              </a:lnSpc>
              <a:spcBef>
                <a:spcPct val="20000"/>
              </a:spcBef>
              <a:buClr>
                <a:srgbClr val="A50021"/>
              </a:buClr>
              <a:buSzPct val="60000"/>
              <a:buFontTx/>
              <a:buNone/>
              <a:defRPr/>
            </a:pPr>
            <a:r>
              <a:rPr kumimoji="0" lang="zh-CN" altLang="en-US" sz="2200" b="1" kern="1200" cap="none" spc="0" normalizeH="0" baseline="0" noProof="0" dirty="0">
                <a:solidFill>
                  <a:schemeClr val="bg2"/>
                </a:solidFill>
                <a:latin typeface="宋体" panose="02010600030101010101" pitchFamily="2" charset="-122"/>
                <a:ea typeface="宋体" panose="02010600030101010101" pitchFamily="2" charset="-122"/>
                <a:cs typeface="+mn-cs"/>
              </a:rPr>
              <a:t>如果一个模块内各功能部分都使用了相同的输入数据，和（或）产生了相同的输出数据，则称之为通信内聚。</a:t>
            </a:r>
            <a:endParaRPr kumimoji="0" lang="zh-CN" altLang="en-US" sz="2200" b="1" kern="1200" cap="none" spc="0" normalizeH="0" baseline="0" noProof="0" dirty="0">
              <a:solidFill>
                <a:schemeClr val="bg2"/>
              </a:solidFill>
              <a:latin typeface="宋体" panose="02010600030101010101" pitchFamily="2" charset="-122"/>
              <a:ea typeface="宋体" panose="02010600030101010101" pitchFamily="2" charset="-122"/>
              <a:cs typeface="+mn-cs"/>
            </a:endParaRPr>
          </a:p>
          <a:p>
            <a:pPr marR="0" indent="363855" defTabSz="914400" eaLnBrk="1" hangingPunct="1">
              <a:lnSpc>
                <a:spcPct val="120000"/>
              </a:lnSpc>
              <a:buClrTx/>
              <a:buSzPct val="80000"/>
              <a:buFont typeface="Wingdings" panose="05000000000000000000" pitchFamily="2" charset="2"/>
              <a:buNone/>
              <a:defRPr/>
            </a:pPr>
            <a:endParaRPr kumimoji="0" lang="zh-CN" altLang="en-US" b="1" kern="1200" cap="none" spc="0" normalizeH="0" baseline="0" noProof="0" dirty="0">
              <a:latin typeface="宋体" panose="02010600030101010101" pitchFamily="2" charset="-122"/>
              <a:ea typeface="宋体" panose="02010600030101010101" pitchFamily="2" charset="-122"/>
              <a:cs typeface="+mn-cs"/>
            </a:endParaRPr>
          </a:p>
          <a:p>
            <a:pPr marR="0" defTabSz="914400" eaLnBrk="1" hangingPunct="1">
              <a:buClrTx/>
              <a:buSzTx/>
              <a:buFontTx/>
              <a:buNone/>
              <a:defRPr/>
            </a:pPr>
            <a:endParaRPr kumimoji="0" lang="zh-CN" altLang="en-US" kern="1200" cap="none" spc="0" normalizeH="0" baseline="0" noProof="0" dirty="0">
              <a:latin typeface="Times New Roman" panose="02020603050405020304" pitchFamily="18" charset="0"/>
              <a:ea typeface="宋体" panose="02010600030101010101" pitchFamily="2" charset="-122"/>
              <a:cs typeface="+mn-cs"/>
            </a:endParaRPr>
          </a:p>
        </p:txBody>
      </p:sp>
      <p:pic>
        <p:nvPicPr>
          <p:cNvPr id="40964" name="Picture 2"/>
          <p:cNvPicPr>
            <a:picLocks noChangeAspect="1"/>
          </p:cNvPicPr>
          <p:nvPr/>
        </p:nvPicPr>
        <p:blipFill>
          <a:blip r:embed="rId1"/>
          <a:stretch>
            <a:fillRect/>
          </a:stretch>
        </p:blipFill>
        <p:spPr>
          <a:xfrm>
            <a:off x="5214938" y="2857500"/>
            <a:ext cx="3590925" cy="3287713"/>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(4)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过程内聚</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如果一个模块内的处理元素是相关的，而且必须以特定次序执行，则称为过程内聚。 </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使用流程图做为工具设计软件时，常常通过研究流程图确定模块的划分，这样得到的往往是过程内聚的模块。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(5)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时间内聚</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624205"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     时间内聚又称为经典内聚。这种模块大多为多功能模块，但模块的各个功能的执行与时间有关，通常要求所有功能必须在同一时间段内执行。例如初始化模块、终止模块、紧急故障处理模块等均是时间性聚合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624205" marR="0" lvl="0" indent="-361950"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4786313" cy="2928938"/>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(6) </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逻辑内聚</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这种模块把几种相关的功能组合在一起，每次被调用时，由传送给模块的判定参数来确定该模块应执行哪一种功能。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43011" name="Picture 3"/>
          <p:cNvPicPr>
            <a:picLocks noChangeAspect="1"/>
          </p:cNvPicPr>
          <p:nvPr/>
        </p:nvPicPr>
        <p:blipFill>
          <a:blip r:embed="rId1"/>
          <a:stretch>
            <a:fillRect/>
          </a:stretch>
        </p:blipFill>
        <p:spPr>
          <a:xfrm>
            <a:off x="5929313" y="1643063"/>
            <a:ext cx="2454275" cy="2286000"/>
          </a:xfrm>
          <a:prstGeom prst="rect">
            <a:avLst/>
          </a:prstGeom>
          <a:noFill/>
          <a:ln w="9525">
            <a:noFill/>
          </a:ln>
        </p:spPr>
      </p:pic>
      <p:sp>
        <p:nvSpPr>
          <p:cNvPr id="5" name="TextBox 4"/>
          <p:cNvSpPr txBox="1"/>
          <p:nvPr/>
        </p:nvSpPr>
        <p:spPr>
          <a:xfrm>
            <a:off x="428625" y="4073525"/>
            <a:ext cx="8072438" cy="1784350"/>
          </a:xfrm>
          <a:prstGeom prst="rect">
            <a:avLst/>
          </a:prstGeom>
          <a:noFill/>
        </p:spPr>
        <p:txBody>
          <a:bodyPr>
            <a:spAutoFit/>
          </a:bodyPr>
          <a:lstStyle/>
          <a:p>
            <a:pPr marR="0" algn="just" defTabSz="914400" eaLnBrk="1" hangingPunct="1">
              <a:lnSpc>
                <a:spcPct val="120000"/>
              </a:lnSpc>
              <a:spcBef>
                <a:spcPct val="20000"/>
              </a:spcBef>
              <a:buClr>
                <a:srgbClr val="A50021"/>
              </a:buClr>
              <a:buSzPct val="80000"/>
              <a:buFontTx/>
              <a:buNone/>
              <a:defRPr/>
            </a:pPr>
            <a:r>
              <a:rPr kumimoji="0" lang="en-US" altLang="zh-CN" sz="2200" b="1" kern="1200" cap="none" spc="0" normalizeH="0" baseline="0" noProof="0" dirty="0">
                <a:solidFill>
                  <a:schemeClr val="bg2"/>
                </a:solidFill>
                <a:latin typeface="黑体" panose="02010609060101010101" pitchFamily="49" charset="-122"/>
                <a:ea typeface="黑体" panose="02010609060101010101" pitchFamily="49" charset="-122"/>
                <a:cs typeface="+mn-cs"/>
              </a:rPr>
              <a:t>(7)</a:t>
            </a:r>
            <a:r>
              <a:rPr kumimoji="0" lang="zh-CN" altLang="en-US" sz="2200" b="1" kern="1200" cap="none" spc="0" normalizeH="0" baseline="0" noProof="0" dirty="0">
                <a:solidFill>
                  <a:schemeClr val="bg2"/>
                </a:solidFill>
                <a:latin typeface="黑体" panose="02010609060101010101" pitchFamily="49" charset="-122"/>
                <a:ea typeface="黑体" panose="02010609060101010101" pitchFamily="49" charset="-122"/>
                <a:cs typeface="+mn-cs"/>
              </a:rPr>
              <a:t>巧合内聚</a:t>
            </a:r>
            <a:endParaRPr kumimoji="0" lang="zh-CN" altLang="en-US" sz="2200" b="1" kern="1200" cap="none" spc="0" normalizeH="0" baseline="0" noProof="0" dirty="0">
              <a:solidFill>
                <a:schemeClr val="bg2"/>
              </a:solidFill>
              <a:latin typeface="黑体" panose="02010609060101010101" pitchFamily="49" charset="-122"/>
              <a:ea typeface="黑体" panose="02010609060101010101" pitchFamily="49" charset="-122"/>
              <a:cs typeface="+mn-cs"/>
            </a:endParaRPr>
          </a:p>
          <a:p>
            <a:pPr marR="0" indent="363855" algn="just" defTabSz="914400" eaLnBrk="1" hangingPunct="1">
              <a:lnSpc>
                <a:spcPct val="120000"/>
              </a:lnSpc>
              <a:spcBef>
                <a:spcPct val="20000"/>
              </a:spcBef>
              <a:buClr>
                <a:srgbClr val="A50021"/>
              </a:buClr>
              <a:buSzPct val="80000"/>
              <a:buFontTx/>
              <a:buNone/>
              <a:defRPr/>
            </a:pPr>
            <a:r>
              <a:rPr kumimoji="0" lang="zh-CN" altLang="en-US" sz="2200" b="1" kern="1200" cap="none" spc="0" normalizeH="0" baseline="0" noProof="0" dirty="0">
                <a:solidFill>
                  <a:schemeClr val="bg2"/>
                </a:solidFill>
                <a:latin typeface="宋体" panose="02010600030101010101" pitchFamily="2" charset="-122"/>
                <a:ea typeface="宋体" panose="02010600030101010101" pitchFamily="2" charset="-122"/>
                <a:cs typeface="+mn-cs"/>
              </a:rPr>
              <a:t>亦称偶然内聚，当模块内各部分之间没有联系，或者即使有联系，这种联系也很松散，则称这种模块为巧合内聚模块，它是内聚程度最低的模块。</a:t>
            </a:r>
            <a:endParaRPr kumimoji="0" lang="zh-CN" altLang="en-US" sz="2200" b="1" kern="1200" cap="none" spc="0" normalizeH="0" baseline="0" noProof="0" dirty="0">
              <a:solidFill>
                <a:schemeClr val="bg2"/>
              </a:solidFill>
              <a:latin typeface="宋体" panose="02010600030101010101" pitchFamily="2" charset="-122"/>
              <a:ea typeface="宋体" panose="02010600030101010101" pitchFamily="2"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内容占位符 2"/>
          <p:cNvSpPr>
            <a:spLocks noGrp="1"/>
          </p:cNvSpPr>
          <p:nvPr>
            <p:ph idx="1"/>
          </p:nvPr>
        </p:nvSpPr>
        <p:spPr>
          <a:xfrm>
            <a:off x="428625" y="1214438"/>
            <a:ext cx="8229600" cy="5000625"/>
          </a:xfrm>
          <a:ln/>
        </p:spPr>
        <p:txBody>
          <a:bodyPr vert="horz" wrap="square" lIns="91440" tIns="45720" rIns="91440" bIns="45720" anchor="t" anchorCtr="0"/>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内聚谱系：</a:t>
            </a: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模块独立性比较强的模块应是高内聚的模块。</a:t>
            </a:r>
            <a:endParaRPr lang="zh-CN" altLang="en-US"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363855" eaLnBrk="1" hangingPunct="1">
              <a:lnSpc>
                <a:spcPct val="120000"/>
              </a:lnSpc>
              <a:buSzPct val="8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p:txBody>
      </p:sp>
      <p:pic>
        <p:nvPicPr>
          <p:cNvPr id="44035" name="Picture 8"/>
          <p:cNvPicPr>
            <a:picLocks noChangeAspect="1"/>
          </p:cNvPicPr>
          <p:nvPr/>
        </p:nvPicPr>
        <p:blipFill>
          <a:blip r:embed="rId1"/>
          <a:stretch>
            <a:fillRect/>
          </a:stretch>
        </p:blipFill>
        <p:spPr>
          <a:xfrm>
            <a:off x="1476375" y="1833563"/>
            <a:ext cx="6096000" cy="2493962"/>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第三节  总体设计准则</a:t>
            </a:r>
            <a:endParaRPr kumimoji="0" lang="en-US" altLang="zh-CN" sz="1100" b="1"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一、改进软件结构，提高模块独立性</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设计出软件的初步结构以后，应该审查分析这个结构，通过模块分解或合并，力求降低耦合提高内聚。</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二、模块规模适中，功能单一</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规模过大不易理解；规模过小，数量增加，系统接口复杂。一般一个模块内包含的语句在</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30-50</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条左右较好（指高级语言）。</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2928938"/>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三、模块的深度、宽度、扇出和扇入</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模块的深度表示软件结构中控制的层数；</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模块的宽度是软件结构内同一个层数上的模块总数的最大值； </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模块的扇出指一个模块直接控制</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调用</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的模块数目。经验表明，设计得好的系统平均扇出通常是</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或</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4</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（扇出上限通常是</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5-9</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模块的扇入是指一个模块的直接上级模块的个数。</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graphicFrame>
        <p:nvGraphicFramePr>
          <p:cNvPr id="46083" name="Object 4"/>
          <p:cNvGraphicFramePr>
            <a:graphicFrameLocks noChangeAspect="1"/>
          </p:cNvGraphicFramePr>
          <p:nvPr/>
        </p:nvGraphicFramePr>
        <p:xfrm>
          <a:off x="1000125" y="4214813"/>
          <a:ext cx="4108450" cy="2143125"/>
        </p:xfrm>
        <a:graphic>
          <a:graphicData uri="http://schemas.openxmlformats.org/presentationml/2006/ole">
            <mc:AlternateContent xmlns:mc="http://schemas.openxmlformats.org/markup-compatibility/2006">
              <mc:Choice xmlns:v="urn:schemas-microsoft-com:vml" Requires="v">
                <p:oleObj spid="_x0000_s3077" name="" r:id="rId1" imgW="4353560" imgH="2613660" progId="Word.Picture.8">
                  <p:embed/>
                </p:oleObj>
              </mc:Choice>
              <mc:Fallback>
                <p:oleObj name="" r:id="rId1" imgW="4353560" imgH="2613660" progId="Word.Picture.8">
                  <p:embed/>
                  <p:pic>
                    <p:nvPicPr>
                      <p:cNvPr id="0" name="图片 3076"/>
                      <p:cNvPicPr/>
                      <p:nvPr/>
                    </p:nvPicPr>
                    <p:blipFill>
                      <a:blip r:embed="rId2"/>
                      <a:stretch>
                        <a:fillRect/>
                      </a:stretch>
                    </p:blipFill>
                    <p:spPr>
                      <a:xfrm>
                        <a:off x="1000125" y="4214813"/>
                        <a:ext cx="4108450" cy="2143125"/>
                      </a:xfrm>
                      <a:prstGeom prst="rect">
                        <a:avLst/>
                      </a:prstGeom>
                      <a:noFill/>
                      <a:ln w="38100">
                        <a:noFill/>
                        <a:miter/>
                      </a:ln>
                    </p:spPr>
                  </p:pic>
                </p:oleObj>
              </mc:Fallback>
            </mc:AlternateContent>
          </a:graphicData>
        </a:graphic>
      </p:graphicFrame>
      <p:sp>
        <p:nvSpPr>
          <p:cNvPr id="46084" name="TextBox 5"/>
          <p:cNvSpPr txBox="1"/>
          <p:nvPr/>
        </p:nvSpPr>
        <p:spPr>
          <a:xfrm>
            <a:off x="5500688" y="4143375"/>
            <a:ext cx="3071812" cy="2124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just" eaLnBrk="1" hangingPunct="1">
              <a:lnSpc>
                <a:spcPct val="120000"/>
              </a:lnSpc>
              <a:buSzPct val="60000"/>
              <a:buFontTx/>
              <a:buNone/>
            </a:pPr>
            <a:r>
              <a:rPr lang="zh-CN" altLang="en-US" sz="2200" b="1" dirty="0">
                <a:solidFill>
                  <a:srgbClr val="C00000"/>
                </a:solidFill>
                <a:latin typeface="宋体" panose="02010600030101010101" pitchFamily="2" charset="-122"/>
                <a:ea typeface="宋体" panose="02010600030101010101" pitchFamily="2" charset="-122"/>
              </a:rPr>
              <a:t>经验证明，一个设计得很好的软件模块结构，通常顶层扇出比较高，中层扇出比较少，底层模块有高扇入。</a:t>
            </a:r>
            <a:endParaRPr lang="zh-CN" altLang="en-US" sz="2200" b="1" dirty="0">
              <a:solidFill>
                <a:srgbClr val="C00000"/>
              </a:solidFill>
              <a:latin typeface="宋体" panose="02010600030101010101" pitchFamily="2" charset="-122"/>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72063"/>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四、模块的作用域应该在控制域之内</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262255" marR="0" lvl="0" indent="-2622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模块的控制域：模块本身及其所有直接或间接从属于它的下级模块。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2622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模块的作用域：受该模块内一个判断影响的所有模块的集合。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2622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原则：</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2749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对于任何一个内部存在判断调用的模块，它的判断作用的范围应该是其控制范围的一个子集；</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536575" marR="0" lvl="0" indent="-2749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B.</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存在判断调用的模块，所在层次不要与那些属于判断作用范围的模块所在的层次相隔太远。</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8130" name="Group 22"/>
          <p:cNvGrpSpPr/>
          <p:nvPr/>
        </p:nvGrpSpPr>
        <p:grpSpPr>
          <a:xfrm>
            <a:off x="642938" y="1692275"/>
            <a:ext cx="2298700" cy="2773363"/>
            <a:chOff x="1296" y="1296"/>
            <a:chExt cx="2832" cy="1939"/>
          </a:xfrm>
        </p:grpSpPr>
        <p:sp>
          <p:nvSpPr>
            <p:cNvPr id="48174" name="Text Box 3"/>
            <p:cNvSpPr txBox="1"/>
            <p:nvPr/>
          </p:nvSpPr>
          <p:spPr>
            <a:xfrm>
              <a:off x="1824" y="1296"/>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A</a:t>
              </a:r>
              <a:endParaRPr lang="en-US" altLang="zh-CN" sz="1800" dirty="0">
                <a:solidFill>
                  <a:srgbClr val="000000"/>
                </a:solidFill>
                <a:ea typeface="宋体" panose="02010600030101010101" pitchFamily="2" charset="-122"/>
              </a:endParaRPr>
            </a:p>
          </p:txBody>
        </p:sp>
        <p:sp>
          <p:nvSpPr>
            <p:cNvPr id="48175" name="Text Box 4"/>
            <p:cNvSpPr txBox="1"/>
            <p:nvPr/>
          </p:nvSpPr>
          <p:spPr>
            <a:xfrm>
              <a:off x="1296" y="1729"/>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B</a:t>
              </a:r>
              <a:endParaRPr lang="en-US" altLang="zh-CN" sz="1800" dirty="0">
                <a:solidFill>
                  <a:srgbClr val="000000"/>
                </a:solidFill>
                <a:ea typeface="宋体" panose="02010600030101010101" pitchFamily="2" charset="-122"/>
              </a:endParaRPr>
            </a:p>
          </p:txBody>
        </p:sp>
        <p:sp>
          <p:nvSpPr>
            <p:cNvPr id="48176" name="Text Box 5"/>
            <p:cNvSpPr txBox="1"/>
            <p:nvPr/>
          </p:nvSpPr>
          <p:spPr>
            <a:xfrm>
              <a:off x="2399" y="1729"/>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C</a:t>
              </a:r>
              <a:endParaRPr lang="en-US" altLang="zh-CN" sz="1800" dirty="0">
                <a:solidFill>
                  <a:srgbClr val="000000"/>
                </a:solidFill>
                <a:ea typeface="宋体" panose="02010600030101010101" pitchFamily="2" charset="-122"/>
              </a:endParaRPr>
            </a:p>
          </p:txBody>
        </p:sp>
        <p:sp>
          <p:nvSpPr>
            <p:cNvPr id="48177" name="Text Box 6"/>
            <p:cNvSpPr txBox="1"/>
            <p:nvPr/>
          </p:nvSpPr>
          <p:spPr>
            <a:xfrm>
              <a:off x="1441" y="2306"/>
              <a:ext cx="671"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D</a:t>
              </a:r>
              <a:endParaRPr lang="en-US" altLang="zh-CN" sz="1800" dirty="0">
                <a:solidFill>
                  <a:srgbClr val="000000"/>
                </a:solidFill>
                <a:ea typeface="宋体" panose="02010600030101010101" pitchFamily="2" charset="-122"/>
              </a:endParaRPr>
            </a:p>
          </p:txBody>
        </p:sp>
        <p:sp>
          <p:nvSpPr>
            <p:cNvPr id="48178" name="Text Box 7"/>
            <p:cNvSpPr txBox="1"/>
            <p:nvPr/>
          </p:nvSpPr>
          <p:spPr>
            <a:xfrm>
              <a:off x="2831" y="2306"/>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E</a:t>
              </a:r>
              <a:endParaRPr lang="en-US" altLang="zh-CN" sz="1800" dirty="0">
                <a:solidFill>
                  <a:srgbClr val="000000"/>
                </a:solidFill>
                <a:ea typeface="宋体" panose="02010600030101010101" pitchFamily="2" charset="-122"/>
              </a:endParaRPr>
            </a:p>
          </p:txBody>
        </p:sp>
        <p:sp>
          <p:nvSpPr>
            <p:cNvPr id="48179" name="Text Box 8"/>
            <p:cNvSpPr txBox="1"/>
            <p:nvPr/>
          </p:nvSpPr>
          <p:spPr>
            <a:xfrm>
              <a:off x="2207" y="2977"/>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F</a:t>
              </a:r>
              <a:endParaRPr lang="en-US" altLang="zh-CN" sz="1800" dirty="0">
                <a:solidFill>
                  <a:srgbClr val="000000"/>
                </a:solidFill>
                <a:ea typeface="宋体" panose="02010600030101010101" pitchFamily="2" charset="-122"/>
              </a:endParaRPr>
            </a:p>
          </p:txBody>
        </p:sp>
        <p:sp>
          <p:nvSpPr>
            <p:cNvPr id="48180" name="Text Box 9"/>
            <p:cNvSpPr txBox="1"/>
            <p:nvPr/>
          </p:nvSpPr>
          <p:spPr>
            <a:xfrm>
              <a:off x="3455" y="2975"/>
              <a:ext cx="673" cy="258"/>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solidFill>
                    <a:srgbClr val="000000"/>
                  </a:solidFill>
                  <a:ea typeface="宋体" panose="02010600030101010101" pitchFamily="2" charset="-122"/>
                </a:rPr>
                <a:t>G</a:t>
              </a:r>
              <a:endParaRPr lang="en-US" altLang="zh-CN" sz="1800" dirty="0">
                <a:solidFill>
                  <a:srgbClr val="000000"/>
                </a:solidFill>
                <a:ea typeface="宋体" panose="02010600030101010101" pitchFamily="2" charset="-122"/>
              </a:endParaRPr>
            </a:p>
          </p:txBody>
        </p:sp>
        <p:sp>
          <p:nvSpPr>
            <p:cNvPr id="48181" name="AutoShape 10"/>
            <p:cNvSpPr/>
            <p:nvPr/>
          </p:nvSpPr>
          <p:spPr>
            <a:xfrm>
              <a:off x="3888" y="3024"/>
              <a:ext cx="144" cy="192"/>
            </a:xfrm>
            <a:prstGeom prst="diamond">
              <a:avLst/>
            </a:prstGeom>
            <a:solidFill>
              <a:schemeClr val="accent1"/>
            </a:solidFill>
            <a:ln w="9525" cap="flat" cmpd="sng">
              <a:solidFill>
                <a:srgbClr val="3333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000000"/>
                </a:solidFill>
                <a:ea typeface="宋体" panose="02010600030101010101" pitchFamily="2" charset="-122"/>
              </a:endParaRPr>
            </a:p>
          </p:txBody>
        </p:sp>
        <p:sp>
          <p:nvSpPr>
            <p:cNvPr id="48182" name="Line 11"/>
            <p:cNvSpPr/>
            <p:nvPr/>
          </p:nvSpPr>
          <p:spPr>
            <a:xfrm flipH="1">
              <a:off x="1440" y="2304"/>
              <a:ext cx="96" cy="96"/>
            </a:xfrm>
            <a:prstGeom prst="line">
              <a:avLst/>
            </a:prstGeom>
            <a:ln w="9525" cap="flat" cmpd="sng">
              <a:solidFill>
                <a:srgbClr val="333333"/>
              </a:solidFill>
              <a:prstDash val="solid"/>
              <a:headEnd type="none" w="med" len="med"/>
              <a:tailEnd type="none" w="med" len="med"/>
            </a:ln>
          </p:spPr>
        </p:sp>
        <p:sp>
          <p:nvSpPr>
            <p:cNvPr id="48183" name="Line 12"/>
            <p:cNvSpPr/>
            <p:nvPr/>
          </p:nvSpPr>
          <p:spPr>
            <a:xfrm flipH="1">
              <a:off x="1440" y="2304"/>
              <a:ext cx="144" cy="144"/>
            </a:xfrm>
            <a:prstGeom prst="line">
              <a:avLst/>
            </a:prstGeom>
            <a:ln w="9525" cap="flat" cmpd="sng">
              <a:solidFill>
                <a:srgbClr val="333333"/>
              </a:solidFill>
              <a:prstDash val="solid"/>
              <a:headEnd type="none" w="med" len="med"/>
              <a:tailEnd type="none" w="med" len="med"/>
            </a:ln>
          </p:spPr>
        </p:sp>
        <p:sp>
          <p:nvSpPr>
            <p:cNvPr id="48184" name="Line 13"/>
            <p:cNvSpPr/>
            <p:nvPr/>
          </p:nvSpPr>
          <p:spPr>
            <a:xfrm flipH="1">
              <a:off x="3456" y="2976"/>
              <a:ext cx="96" cy="96"/>
            </a:xfrm>
            <a:prstGeom prst="line">
              <a:avLst/>
            </a:prstGeom>
            <a:ln w="9525" cap="flat" cmpd="sng">
              <a:solidFill>
                <a:srgbClr val="333333"/>
              </a:solidFill>
              <a:prstDash val="solid"/>
              <a:headEnd type="none" w="med" len="med"/>
              <a:tailEnd type="none" w="med" len="med"/>
            </a:ln>
          </p:spPr>
        </p:sp>
        <p:sp>
          <p:nvSpPr>
            <p:cNvPr id="48185" name="Line 14"/>
            <p:cNvSpPr/>
            <p:nvPr/>
          </p:nvSpPr>
          <p:spPr>
            <a:xfrm flipH="1">
              <a:off x="3456" y="2976"/>
              <a:ext cx="144" cy="144"/>
            </a:xfrm>
            <a:prstGeom prst="line">
              <a:avLst/>
            </a:prstGeom>
            <a:ln w="9525" cap="flat" cmpd="sng">
              <a:solidFill>
                <a:srgbClr val="333333"/>
              </a:solidFill>
              <a:prstDash val="solid"/>
              <a:headEnd type="none" w="med" len="med"/>
              <a:tailEnd type="none" w="med" len="med"/>
            </a:ln>
          </p:spPr>
        </p:sp>
        <p:sp>
          <p:nvSpPr>
            <p:cNvPr id="48186" name="Line 15"/>
            <p:cNvSpPr/>
            <p:nvPr/>
          </p:nvSpPr>
          <p:spPr>
            <a:xfrm flipH="1">
              <a:off x="1680" y="1584"/>
              <a:ext cx="384" cy="144"/>
            </a:xfrm>
            <a:prstGeom prst="line">
              <a:avLst/>
            </a:prstGeom>
            <a:ln w="9525" cap="flat" cmpd="sng">
              <a:solidFill>
                <a:srgbClr val="333333"/>
              </a:solidFill>
              <a:prstDash val="solid"/>
              <a:headEnd type="none" w="med" len="med"/>
              <a:tailEnd type="triangle" w="med" len="med"/>
            </a:ln>
          </p:spPr>
        </p:sp>
        <p:sp>
          <p:nvSpPr>
            <p:cNvPr id="48187" name="Line 16"/>
            <p:cNvSpPr/>
            <p:nvPr/>
          </p:nvSpPr>
          <p:spPr>
            <a:xfrm>
              <a:off x="2256" y="1584"/>
              <a:ext cx="432" cy="144"/>
            </a:xfrm>
            <a:prstGeom prst="line">
              <a:avLst/>
            </a:prstGeom>
            <a:ln w="9525" cap="flat" cmpd="sng">
              <a:solidFill>
                <a:srgbClr val="333333"/>
              </a:solidFill>
              <a:prstDash val="solid"/>
              <a:headEnd type="none" w="med" len="med"/>
              <a:tailEnd type="triangle" w="med" len="med"/>
            </a:ln>
          </p:spPr>
        </p:sp>
        <p:sp>
          <p:nvSpPr>
            <p:cNvPr id="48188" name="Line 17"/>
            <p:cNvSpPr/>
            <p:nvPr/>
          </p:nvSpPr>
          <p:spPr>
            <a:xfrm flipH="1">
              <a:off x="1920" y="2016"/>
              <a:ext cx="720" cy="288"/>
            </a:xfrm>
            <a:prstGeom prst="line">
              <a:avLst/>
            </a:prstGeom>
            <a:ln w="9525" cap="flat" cmpd="sng">
              <a:solidFill>
                <a:srgbClr val="333333"/>
              </a:solidFill>
              <a:prstDash val="solid"/>
              <a:headEnd type="none" w="med" len="med"/>
              <a:tailEnd type="triangle" w="med" len="med"/>
            </a:ln>
          </p:spPr>
        </p:sp>
        <p:sp>
          <p:nvSpPr>
            <p:cNvPr id="48189" name="Line 18"/>
            <p:cNvSpPr/>
            <p:nvPr/>
          </p:nvSpPr>
          <p:spPr>
            <a:xfrm>
              <a:off x="2832" y="2016"/>
              <a:ext cx="336" cy="288"/>
            </a:xfrm>
            <a:prstGeom prst="line">
              <a:avLst/>
            </a:prstGeom>
            <a:ln w="9525" cap="flat" cmpd="sng">
              <a:solidFill>
                <a:srgbClr val="333333"/>
              </a:solidFill>
              <a:prstDash val="solid"/>
              <a:headEnd type="none" w="med" len="med"/>
              <a:tailEnd type="triangle" w="med" len="med"/>
            </a:ln>
          </p:spPr>
        </p:sp>
        <p:sp>
          <p:nvSpPr>
            <p:cNvPr id="48190" name="Line 19"/>
            <p:cNvSpPr/>
            <p:nvPr/>
          </p:nvSpPr>
          <p:spPr>
            <a:xfrm flipH="1">
              <a:off x="2592" y="2592"/>
              <a:ext cx="528" cy="384"/>
            </a:xfrm>
            <a:prstGeom prst="line">
              <a:avLst/>
            </a:prstGeom>
            <a:ln w="9525" cap="flat" cmpd="sng">
              <a:solidFill>
                <a:srgbClr val="333333"/>
              </a:solidFill>
              <a:prstDash val="solid"/>
              <a:headEnd type="none" w="med" len="med"/>
              <a:tailEnd type="triangle" w="med" len="med"/>
            </a:ln>
          </p:spPr>
        </p:sp>
        <p:sp>
          <p:nvSpPr>
            <p:cNvPr id="48191" name="Line 20"/>
            <p:cNvSpPr/>
            <p:nvPr/>
          </p:nvSpPr>
          <p:spPr>
            <a:xfrm>
              <a:off x="3312" y="2592"/>
              <a:ext cx="528" cy="384"/>
            </a:xfrm>
            <a:prstGeom prst="line">
              <a:avLst/>
            </a:prstGeom>
            <a:ln w="9525" cap="flat" cmpd="sng">
              <a:solidFill>
                <a:srgbClr val="333333"/>
              </a:solidFill>
              <a:prstDash val="solid"/>
              <a:headEnd type="none" w="med" len="med"/>
              <a:tailEnd type="triangle" w="med" len="med"/>
            </a:ln>
          </p:spPr>
        </p:sp>
      </p:grpSp>
      <p:grpSp>
        <p:nvGrpSpPr>
          <p:cNvPr id="48131" name="Group 25"/>
          <p:cNvGrpSpPr/>
          <p:nvPr/>
        </p:nvGrpSpPr>
        <p:grpSpPr>
          <a:xfrm>
            <a:off x="3090863" y="1619250"/>
            <a:ext cx="2730500" cy="2881313"/>
            <a:chOff x="1296" y="1288"/>
            <a:chExt cx="2832" cy="1928"/>
          </a:xfrm>
        </p:grpSpPr>
        <p:sp>
          <p:nvSpPr>
            <p:cNvPr id="48156" name="Text Box 26"/>
            <p:cNvSpPr txBox="1"/>
            <p:nvPr/>
          </p:nvSpPr>
          <p:spPr>
            <a:xfrm>
              <a:off x="1825" y="1288"/>
              <a:ext cx="671"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A</a:t>
              </a:r>
              <a:endParaRPr lang="en-US" altLang="zh-CN" sz="1800" dirty="0">
                <a:solidFill>
                  <a:srgbClr val="000000"/>
                </a:solidFill>
                <a:ea typeface="宋体" panose="02010600030101010101" pitchFamily="2" charset="-122"/>
              </a:endParaRPr>
            </a:p>
          </p:txBody>
        </p:sp>
        <p:sp>
          <p:nvSpPr>
            <p:cNvPr id="48157" name="Text Box 27"/>
            <p:cNvSpPr txBox="1"/>
            <p:nvPr/>
          </p:nvSpPr>
          <p:spPr>
            <a:xfrm>
              <a:off x="1296" y="1720"/>
              <a:ext cx="672"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B</a:t>
              </a:r>
              <a:endParaRPr lang="en-US" altLang="zh-CN" sz="1800" dirty="0">
                <a:solidFill>
                  <a:srgbClr val="000000"/>
                </a:solidFill>
                <a:ea typeface="宋体" panose="02010600030101010101" pitchFamily="2" charset="-122"/>
              </a:endParaRPr>
            </a:p>
          </p:txBody>
        </p:sp>
        <p:sp>
          <p:nvSpPr>
            <p:cNvPr id="48158" name="Text Box 28"/>
            <p:cNvSpPr txBox="1"/>
            <p:nvPr/>
          </p:nvSpPr>
          <p:spPr>
            <a:xfrm>
              <a:off x="2401" y="1720"/>
              <a:ext cx="672"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solidFill>
                    <a:srgbClr val="000000"/>
                  </a:solidFill>
                  <a:ea typeface="宋体" panose="02010600030101010101" pitchFamily="2" charset="-122"/>
                </a:rPr>
                <a:t>C</a:t>
              </a:r>
              <a:endParaRPr lang="en-US" altLang="zh-CN" sz="1800" dirty="0">
                <a:solidFill>
                  <a:srgbClr val="000000"/>
                </a:solidFill>
                <a:ea typeface="宋体" panose="02010600030101010101" pitchFamily="2" charset="-122"/>
              </a:endParaRPr>
            </a:p>
          </p:txBody>
        </p:sp>
        <p:sp>
          <p:nvSpPr>
            <p:cNvPr id="48159" name="Text Box 29"/>
            <p:cNvSpPr txBox="1"/>
            <p:nvPr/>
          </p:nvSpPr>
          <p:spPr>
            <a:xfrm>
              <a:off x="1439" y="2295"/>
              <a:ext cx="674"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D</a:t>
              </a:r>
              <a:endParaRPr lang="en-US" altLang="zh-CN" sz="1800" dirty="0">
                <a:solidFill>
                  <a:srgbClr val="000000"/>
                </a:solidFill>
                <a:ea typeface="宋体" panose="02010600030101010101" pitchFamily="2" charset="-122"/>
              </a:endParaRPr>
            </a:p>
          </p:txBody>
        </p:sp>
        <p:sp>
          <p:nvSpPr>
            <p:cNvPr id="48160" name="Text Box 30"/>
            <p:cNvSpPr txBox="1"/>
            <p:nvPr/>
          </p:nvSpPr>
          <p:spPr>
            <a:xfrm>
              <a:off x="2832" y="2295"/>
              <a:ext cx="672"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E</a:t>
              </a:r>
              <a:endParaRPr lang="en-US" altLang="zh-CN" sz="1800" dirty="0">
                <a:solidFill>
                  <a:srgbClr val="000000"/>
                </a:solidFill>
                <a:ea typeface="宋体" panose="02010600030101010101" pitchFamily="2" charset="-122"/>
              </a:endParaRPr>
            </a:p>
          </p:txBody>
        </p:sp>
        <p:sp>
          <p:nvSpPr>
            <p:cNvPr id="48161" name="Text Box 31"/>
            <p:cNvSpPr txBox="1"/>
            <p:nvPr/>
          </p:nvSpPr>
          <p:spPr>
            <a:xfrm>
              <a:off x="2207" y="2968"/>
              <a:ext cx="673"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F</a:t>
              </a:r>
              <a:endParaRPr lang="en-US" altLang="zh-CN" sz="1800" dirty="0">
                <a:solidFill>
                  <a:srgbClr val="000000"/>
                </a:solidFill>
                <a:ea typeface="宋体" panose="02010600030101010101" pitchFamily="2" charset="-122"/>
              </a:endParaRPr>
            </a:p>
          </p:txBody>
        </p:sp>
        <p:sp>
          <p:nvSpPr>
            <p:cNvPr id="48162" name="Text Box 32"/>
            <p:cNvSpPr txBox="1"/>
            <p:nvPr/>
          </p:nvSpPr>
          <p:spPr>
            <a:xfrm>
              <a:off x="3456" y="2969"/>
              <a:ext cx="672" cy="247"/>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G</a:t>
              </a:r>
              <a:endParaRPr lang="en-US" altLang="zh-CN" sz="1800" dirty="0">
                <a:solidFill>
                  <a:srgbClr val="000000"/>
                </a:solidFill>
                <a:ea typeface="宋体" panose="02010600030101010101" pitchFamily="2" charset="-122"/>
              </a:endParaRPr>
            </a:p>
          </p:txBody>
        </p:sp>
        <p:sp>
          <p:nvSpPr>
            <p:cNvPr id="48163" name="AutoShape 33"/>
            <p:cNvSpPr/>
            <p:nvPr/>
          </p:nvSpPr>
          <p:spPr>
            <a:xfrm>
              <a:off x="2832" y="1768"/>
              <a:ext cx="144" cy="192"/>
            </a:xfrm>
            <a:prstGeom prst="diamond">
              <a:avLst/>
            </a:prstGeom>
            <a:solidFill>
              <a:schemeClr val="accent1"/>
            </a:solidFill>
            <a:ln w="9525" cap="flat" cmpd="sng">
              <a:solidFill>
                <a:srgbClr val="3333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000000"/>
                </a:solidFill>
                <a:ea typeface="宋体" panose="02010600030101010101" pitchFamily="2" charset="-122"/>
              </a:endParaRPr>
            </a:p>
          </p:txBody>
        </p:sp>
        <p:sp>
          <p:nvSpPr>
            <p:cNvPr id="48164" name="Line 34"/>
            <p:cNvSpPr/>
            <p:nvPr/>
          </p:nvSpPr>
          <p:spPr>
            <a:xfrm flipH="1">
              <a:off x="2400" y="1720"/>
              <a:ext cx="144" cy="144"/>
            </a:xfrm>
            <a:prstGeom prst="line">
              <a:avLst/>
            </a:prstGeom>
            <a:ln w="9525" cap="flat" cmpd="sng">
              <a:solidFill>
                <a:srgbClr val="333333"/>
              </a:solidFill>
              <a:prstDash val="solid"/>
              <a:headEnd type="none" w="med" len="med"/>
              <a:tailEnd type="none" w="med" len="med"/>
            </a:ln>
          </p:spPr>
        </p:sp>
        <p:sp>
          <p:nvSpPr>
            <p:cNvPr id="48165" name="Line 35"/>
            <p:cNvSpPr/>
            <p:nvPr/>
          </p:nvSpPr>
          <p:spPr>
            <a:xfrm flipH="1">
              <a:off x="3456" y="2968"/>
              <a:ext cx="96" cy="96"/>
            </a:xfrm>
            <a:prstGeom prst="line">
              <a:avLst/>
            </a:prstGeom>
            <a:ln w="9525" cap="flat" cmpd="sng">
              <a:solidFill>
                <a:srgbClr val="333333"/>
              </a:solidFill>
              <a:prstDash val="solid"/>
              <a:headEnd type="none" w="med" len="med"/>
              <a:tailEnd type="none" w="med" len="med"/>
            </a:ln>
          </p:spPr>
        </p:sp>
        <p:sp>
          <p:nvSpPr>
            <p:cNvPr id="48166" name="Line 36"/>
            <p:cNvSpPr/>
            <p:nvPr/>
          </p:nvSpPr>
          <p:spPr>
            <a:xfrm flipH="1">
              <a:off x="3456" y="2968"/>
              <a:ext cx="144" cy="144"/>
            </a:xfrm>
            <a:prstGeom prst="line">
              <a:avLst/>
            </a:prstGeom>
            <a:ln w="9525" cap="flat" cmpd="sng">
              <a:solidFill>
                <a:srgbClr val="333333"/>
              </a:solidFill>
              <a:prstDash val="solid"/>
              <a:headEnd type="none" w="med" len="med"/>
              <a:tailEnd type="none" w="med" len="med"/>
            </a:ln>
          </p:spPr>
        </p:sp>
        <p:sp>
          <p:nvSpPr>
            <p:cNvPr id="48167" name="Line 37"/>
            <p:cNvSpPr/>
            <p:nvPr/>
          </p:nvSpPr>
          <p:spPr>
            <a:xfrm flipH="1">
              <a:off x="1680" y="1576"/>
              <a:ext cx="384" cy="144"/>
            </a:xfrm>
            <a:prstGeom prst="line">
              <a:avLst/>
            </a:prstGeom>
            <a:ln w="9525" cap="flat" cmpd="sng">
              <a:solidFill>
                <a:srgbClr val="333333"/>
              </a:solidFill>
              <a:prstDash val="solid"/>
              <a:headEnd type="none" w="med" len="med"/>
              <a:tailEnd type="triangle" w="med" len="med"/>
            </a:ln>
          </p:spPr>
        </p:sp>
        <p:sp>
          <p:nvSpPr>
            <p:cNvPr id="48168" name="Line 38"/>
            <p:cNvSpPr/>
            <p:nvPr/>
          </p:nvSpPr>
          <p:spPr>
            <a:xfrm>
              <a:off x="2256" y="1576"/>
              <a:ext cx="432" cy="144"/>
            </a:xfrm>
            <a:prstGeom prst="line">
              <a:avLst/>
            </a:prstGeom>
            <a:ln w="9525" cap="flat" cmpd="sng">
              <a:solidFill>
                <a:srgbClr val="333333"/>
              </a:solidFill>
              <a:prstDash val="solid"/>
              <a:headEnd type="none" w="med" len="med"/>
              <a:tailEnd type="triangle" w="med" len="med"/>
            </a:ln>
          </p:spPr>
        </p:sp>
        <p:sp>
          <p:nvSpPr>
            <p:cNvPr id="48169" name="Line 39"/>
            <p:cNvSpPr/>
            <p:nvPr/>
          </p:nvSpPr>
          <p:spPr>
            <a:xfrm flipH="1">
              <a:off x="1920" y="2008"/>
              <a:ext cx="720" cy="288"/>
            </a:xfrm>
            <a:prstGeom prst="line">
              <a:avLst/>
            </a:prstGeom>
            <a:ln w="9525" cap="flat" cmpd="sng">
              <a:solidFill>
                <a:srgbClr val="333333"/>
              </a:solidFill>
              <a:prstDash val="solid"/>
              <a:headEnd type="none" w="med" len="med"/>
              <a:tailEnd type="triangle" w="med" len="med"/>
            </a:ln>
          </p:spPr>
        </p:sp>
        <p:sp>
          <p:nvSpPr>
            <p:cNvPr id="48170" name="Line 40"/>
            <p:cNvSpPr/>
            <p:nvPr/>
          </p:nvSpPr>
          <p:spPr>
            <a:xfrm>
              <a:off x="2832" y="2008"/>
              <a:ext cx="336" cy="288"/>
            </a:xfrm>
            <a:prstGeom prst="line">
              <a:avLst/>
            </a:prstGeom>
            <a:ln w="9525" cap="flat" cmpd="sng">
              <a:solidFill>
                <a:srgbClr val="333333"/>
              </a:solidFill>
              <a:prstDash val="solid"/>
              <a:headEnd type="none" w="med" len="med"/>
              <a:tailEnd type="triangle" w="med" len="med"/>
            </a:ln>
          </p:spPr>
        </p:sp>
        <p:sp>
          <p:nvSpPr>
            <p:cNvPr id="48171" name="Line 41"/>
            <p:cNvSpPr/>
            <p:nvPr/>
          </p:nvSpPr>
          <p:spPr>
            <a:xfrm flipH="1">
              <a:off x="2592" y="2584"/>
              <a:ext cx="528" cy="384"/>
            </a:xfrm>
            <a:prstGeom prst="line">
              <a:avLst/>
            </a:prstGeom>
            <a:ln w="9525" cap="flat" cmpd="sng">
              <a:solidFill>
                <a:srgbClr val="333333"/>
              </a:solidFill>
              <a:prstDash val="solid"/>
              <a:headEnd type="none" w="med" len="med"/>
              <a:tailEnd type="triangle" w="med" len="med"/>
            </a:ln>
          </p:spPr>
        </p:sp>
        <p:sp>
          <p:nvSpPr>
            <p:cNvPr id="48172" name="Line 42"/>
            <p:cNvSpPr/>
            <p:nvPr/>
          </p:nvSpPr>
          <p:spPr>
            <a:xfrm>
              <a:off x="3312" y="2584"/>
              <a:ext cx="528" cy="384"/>
            </a:xfrm>
            <a:prstGeom prst="line">
              <a:avLst/>
            </a:prstGeom>
            <a:ln w="9525" cap="flat" cmpd="sng">
              <a:solidFill>
                <a:srgbClr val="333333"/>
              </a:solidFill>
              <a:prstDash val="solid"/>
              <a:headEnd type="none" w="med" len="med"/>
              <a:tailEnd type="triangle" w="med" len="med"/>
            </a:ln>
          </p:spPr>
        </p:sp>
        <p:sp>
          <p:nvSpPr>
            <p:cNvPr id="48173" name="Line 43"/>
            <p:cNvSpPr/>
            <p:nvPr/>
          </p:nvSpPr>
          <p:spPr>
            <a:xfrm flipV="1">
              <a:off x="2400" y="1720"/>
              <a:ext cx="192" cy="192"/>
            </a:xfrm>
            <a:prstGeom prst="line">
              <a:avLst/>
            </a:prstGeom>
            <a:ln w="9525" cap="flat" cmpd="sng">
              <a:solidFill>
                <a:srgbClr val="333333"/>
              </a:solidFill>
              <a:prstDash val="solid"/>
              <a:headEnd type="none" w="med" len="med"/>
              <a:tailEnd type="none" w="med" len="med"/>
            </a:ln>
          </p:spPr>
        </p:sp>
      </p:grpSp>
      <p:grpSp>
        <p:nvGrpSpPr>
          <p:cNvPr id="48132" name="Group 45"/>
          <p:cNvGrpSpPr/>
          <p:nvPr/>
        </p:nvGrpSpPr>
        <p:grpSpPr>
          <a:xfrm>
            <a:off x="5827713" y="1643063"/>
            <a:ext cx="2878137" cy="2838450"/>
            <a:chOff x="1296" y="1152"/>
            <a:chExt cx="2832" cy="1931"/>
          </a:xfrm>
        </p:grpSpPr>
        <p:sp>
          <p:nvSpPr>
            <p:cNvPr id="48136" name="Text Box 46"/>
            <p:cNvSpPr txBox="1"/>
            <p:nvPr/>
          </p:nvSpPr>
          <p:spPr>
            <a:xfrm>
              <a:off x="1826" y="1152"/>
              <a:ext cx="670"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A</a:t>
              </a:r>
              <a:endParaRPr lang="en-US" altLang="zh-CN" sz="1800" dirty="0">
                <a:solidFill>
                  <a:srgbClr val="000000"/>
                </a:solidFill>
                <a:ea typeface="宋体" panose="02010600030101010101" pitchFamily="2" charset="-122"/>
              </a:endParaRPr>
            </a:p>
          </p:txBody>
        </p:sp>
        <p:sp>
          <p:nvSpPr>
            <p:cNvPr id="48137" name="Text Box 47"/>
            <p:cNvSpPr txBox="1"/>
            <p:nvPr/>
          </p:nvSpPr>
          <p:spPr>
            <a:xfrm>
              <a:off x="1296" y="1585"/>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B</a:t>
              </a:r>
              <a:endParaRPr lang="en-US" altLang="zh-CN" sz="1800" dirty="0">
                <a:solidFill>
                  <a:srgbClr val="000000"/>
                </a:solidFill>
                <a:ea typeface="宋体" panose="02010600030101010101" pitchFamily="2" charset="-122"/>
              </a:endParaRPr>
            </a:p>
          </p:txBody>
        </p:sp>
        <p:sp>
          <p:nvSpPr>
            <p:cNvPr id="48138" name="Text Box 48"/>
            <p:cNvSpPr txBox="1"/>
            <p:nvPr/>
          </p:nvSpPr>
          <p:spPr>
            <a:xfrm>
              <a:off x="2400" y="1585"/>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C</a:t>
              </a:r>
              <a:endParaRPr lang="en-US" altLang="zh-CN" sz="1800" dirty="0">
                <a:solidFill>
                  <a:srgbClr val="000000"/>
                </a:solidFill>
                <a:ea typeface="宋体" panose="02010600030101010101" pitchFamily="2" charset="-122"/>
              </a:endParaRPr>
            </a:p>
          </p:txBody>
        </p:sp>
        <p:sp>
          <p:nvSpPr>
            <p:cNvPr id="48139" name="Text Box 49"/>
            <p:cNvSpPr txBox="1"/>
            <p:nvPr/>
          </p:nvSpPr>
          <p:spPr>
            <a:xfrm>
              <a:off x="1441" y="2160"/>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D</a:t>
              </a:r>
              <a:endParaRPr lang="en-US" altLang="zh-CN" sz="1800" dirty="0">
                <a:solidFill>
                  <a:srgbClr val="000000"/>
                </a:solidFill>
                <a:ea typeface="宋体" panose="02010600030101010101" pitchFamily="2" charset="-122"/>
              </a:endParaRPr>
            </a:p>
          </p:txBody>
        </p:sp>
        <p:sp>
          <p:nvSpPr>
            <p:cNvPr id="48140" name="Text Box 50"/>
            <p:cNvSpPr txBox="1"/>
            <p:nvPr/>
          </p:nvSpPr>
          <p:spPr>
            <a:xfrm>
              <a:off x="2831" y="2160"/>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solidFill>
                    <a:srgbClr val="000000"/>
                  </a:solidFill>
                  <a:ea typeface="宋体" panose="02010600030101010101" pitchFamily="2" charset="-122"/>
                </a:rPr>
                <a:t>E</a:t>
              </a:r>
              <a:endParaRPr lang="en-US" altLang="zh-CN" sz="1800" dirty="0">
                <a:solidFill>
                  <a:srgbClr val="000000"/>
                </a:solidFill>
                <a:ea typeface="宋体" panose="02010600030101010101" pitchFamily="2" charset="-122"/>
              </a:endParaRPr>
            </a:p>
          </p:txBody>
        </p:sp>
        <p:sp>
          <p:nvSpPr>
            <p:cNvPr id="48141" name="Text Box 51"/>
            <p:cNvSpPr txBox="1"/>
            <p:nvPr/>
          </p:nvSpPr>
          <p:spPr>
            <a:xfrm>
              <a:off x="2208" y="2832"/>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F</a:t>
              </a:r>
              <a:endParaRPr lang="en-US" altLang="zh-CN" sz="1800" dirty="0">
                <a:solidFill>
                  <a:srgbClr val="000000"/>
                </a:solidFill>
                <a:ea typeface="宋体" panose="02010600030101010101" pitchFamily="2" charset="-122"/>
              </a:endParaRPr>
            </a:p>
          </p:txBody>
        </p:sp>
        <p:sp>
          <p:nvSpPr>
            <p:cNvPr id="48142" name="Text Box 52"/>
            <p:cNvSpPr txBox="1"/>
            <p:nvPr/>
          </p:nvSpPr>
          <p:spPr>
            <a:xfrm>
              <a:off x="3456" y="2832"/>
              <a:ext cx="672" cy="251"/>
            </a:xfrm>
            <a:prstGeom prst="rect">
              <a:avLst/>
            </a:prstGeom>
            <a:noFill/>
            <a:ln w="12700" cap="flat" cmpd="sng">
              <a:solidFill>
                <a:srgbClr val="333333"/>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solidFill>
                    <a:srgbClr val="000000"/>
                  </a:solidFill>
                  <a:ea typeface="宋体" panose="02010600030101010101" pitchFamily="2" charset="-122"/>
                </a:rPr>
                <a:t>G</a:t>
              </a:r>
              <a:endParaRPr lang="en-US" altLang="zh-CN" sz="1800" dirty="0">
                <a:solidFill>
                  <a:srgbClr val="000000"/>
                </a:solidFill>
                <a:ea typeface="宋体" panose="02010600030101010101" pitchFamily="2" charset="-122"/>
              </a:endParaRPr>
            </a:p>
          </p:txBody>
        </p:sp>
        <p:sp>
          <p:nvSpPr>
            <p:cNvPr id="48143" name="AutoShape 53"/>
            <p:cNvSpPr/>
            <p:nvPr/>
          </p:nvSpPr>
          <p:spPr>
            <a:xfrm>
              <a:off x="3216" y="2208"/>
              <a:ext cx="144" cy="192"/>
            </a:xfrm>
            <a:prstGeom prst="diamond">
              <a:avLst/>
            </a:prstGeom>
            <a:solidFill>
              <a:schemeClr val="accent1"/>
            </a:solidFill>
            <a:ln w="9525" cap="flat" cmpd="sng">
              <a:solidFill>
                <a:srgbClr val="333333"/>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solidFill>
                  <a:srgbClr val="000000"/>
                </a:solidFill>
                <a:ea typeface="宋体" panose="02010600030101010101" pitchFamily="2" charset="-122"/>
              </a:endParaRPr>
            </a:p>
          </p:txBody>
        </p:sp>
        <p:sp>
          <p:nvSpPr>
            <p:cNvPr id="48144" name="Line 54"/>
            <p:cNvSpPr/>
            <p:nvPr/>
          </p:nvSpPr>
          <p:spPr>
            <a:xfrm flipH="1">
              <a:off x="2832" y="2160"/>
              <a:ext cx="144" cy="144"/>
            </a:xfrm>
            <a:prstGeom prst="line">
              <a:avLst/>
            </a:prstGeom>
            <a:ln w="9525" cap="flat" cmpd="sng">
              <a:solidFill>
                <a:srgbClr val="333333"/>
              </a:solidFill>
              <a:prstDash val="solid"/>
              <a:headEnd type="none" w="med" len="med"/>
              <a:tailEnd type="none" w="med" len="med"/>
            </a:ln>
          </p:spPr>
        </p:sp>
        <p:sp>
          <p:nvSpPr>
            <p:cNvPr id="48145" name="Line 55"/>
            <p:cNvSpPr/>
            <p:nvPr/>
          </p:nvSpPr>
          <p:spPr>
            <a:xfrm flipH="1">
              <a:off x="3456" y="2832"/>
              <a:ext cx="96" cy="96"/>
            </a:xfrm>
            <a:prstGeom prst="line">
              <a:avLst/>
            </a:prstGeom>
            <a:ln w="9525" cap="flat" cmpd="sng">
              <a:solidFill>
                <a:srgbClr val="333333"/>
              </a:solidFill>
              <a:prstDash val="solid"/>
              <a:headEnd type="none" w="med" len="med"/>
              <a:tailEnd type="none" w="med" len="med"/>
            </a:ln>
          </p:spPr>
        </p:sp>
        <p:sp>
          <p:nvSpPr>
            <p:cNvPr id="48146" name="Line 56"/>
            <p:cNvSpPr/>
            <p:nvPr/>
          </p:nvSpPr>
          <p:spPr>
            <a:xfrm flipH="1">
              <a:off x="3456" y="2832"/>
              <a:ext cx="144" cy="144"/>
            </a:xfrm>
            <a:prstGeom prst="line">
              <a:avLst/>
            </a:prstGeom>
            <a:ln w="9525" cap="flat" cmpd="sng">
              <a:solidFill>
                <a:srgbClr val="333333"/>
              </a:solidFill>
              <a:prstDash val="solid"/>
              <a:headEnd type="none" w="med" len="med"/>
              <a:tailEnd type="none" w="med" len="med"/>
            </a:ln>
          </p:spPr>
        </p:sp>
        <p:sp>
          <p:nvSpPr>
            <p:cNvPr id="48147" name="Line 57"/>
            <p:cNvSpPr/>
            <p:nvPr/>
          </p:nvSpPr>
          <p:spPr>
            <a:xfrm flipH="1">
              <a:off x="1680" y="1440"/>
              <a:ext cx="384" cy="144"/>
            </a:xfrm>
            <a:prstGeom prst="line">
              <a:avLst/>
            </a:prstGeom>
            <a:ln w="9525" cap="flat" cmpd="sng">
              <a:solidFill>
                <a:srgbClr val="333333"/>
              </a:solidFill>
              <a:prstDash val="solid"/>
              <a:headEnd type="none" w="med" len="med"/>
              <a:tailEnd type="triangle" w="med" len="med"/>
            </a:ln>
          </p:spPr>
        </p:sp>
        <p:sp>
          <p:nvSpPr>
            <p:cNvPr id="48148" name="Line 58"/>
            <p:cNvSpPr/>
            <p:nvPr/>
          </p:nvSpPr>
          <p:spPr>
            <a:xfrm>
              <a:off x="2256" y="1440"/>
              <a:ext cx="432" cy="144"/>
            </a:xfrm>
            <a:prstGeom prst="line">
              <a:avLst/>
            </a:prstGeom>
            <a:ln w="9525" cap="flat" cmpd="sng">
              <a:solidFill>
                <a:srgbClr val="333333"/>
              </a:solidFill>
              <a:prstDash val="solid"/>
              <a:headEnd type="none" w="med" len="med"/>
              <a:tailEnd type="triangle" w="med" len="med"/>
            </a:ln>
          </p:spPr>
        </p:sp>
        <p:sp>
          <p:nvSpPr>
            <p:cNvPr id="48149" name="Line 59"/>
            <p:cNvSpPr/>
            <p:nvPr/>
          </p:nvSpPr>
          <p:spPr>
            <a:xfrm flipH="1">
              <a:off x="1920" y="1872"/>
              <a:ext cx="720" cy="288"/>
            </a:xfrm>
            <a:prstGeom prst="line">
              <a:avLst/>
            </a:prstGeom>
            <a:ln w="9525" cap="flat" cmpd="sng">
              <a:solidFill>
                <a:srgbClr val="333333"/>
              </a:solidFill>
              <a:prstDash val="solid"/>
              <a:headEnd type="none" w="med" len="med"/>
              <a:tailEnd type="triangle" w="med" len="med"/>
            </a:ln>
          </p:spPr>
        </p:sp>
        <p:sp>
          <p:nvSpPr>
            <p:cNvPr id="48150" name="Line 60"/>
            <p:cNvSpPr/>
            <p:nvPr/>
          </p:nvSpPr>
          <p:spPr>
            <a:xfrm>
              <a:off x="2832" y="1872"/>
              <a:ext cx="336" cy="288"/>
            </a:xfrm>
            <a:prstGeom prst="line">
              <a:avLst/>
            </a:prstGeom>
            <a:ln w="9525" cap="flat" cmpd="sng">
              <a:solidFill>
                <a:srgbClr val="333333"/>
              </a:solidFill>
              <a:prstDash val="solid"/>
              <a:headEnd type="none" w="med" len="med"/>
              <a:tailEnd type="triangle" w="med" len="med"/>
            </a:ln>
          </p:spPr>
        </p:sp>
        <p:sp>
          <p:nvSpPr>
            <p:cNvPr id="48151" name="Line 61"/>
            <p:cNvSpPr/>
            <p:nvPr/>
          </p:nvSpPr>
          <p:spPr>
            <a:xfrm flipH="1">
              <a:off x="2592" y="2448"/>
              <a:ext cx="528" cy="384"/>
            </a:xfrm>
            <a:prstGeom prst="line">
              <a:avLst/>
            </a:prstGeom>
            <a:ln w="9525" cap="flat" cmpd="sng">
              <a:solidFill>
                <a:srgbClr val="333333"/>
              </a:solidFill>
              <a:prstDash val="solid"/>
              <a:headEnd type="none" w="med" len="med"/>
              <a:tailEnd type="triangle" w="med" len="med"/>
            </a:ln>
          </p:spPr>
        </p:sp>
        <p:sp>
          <p:nvSpPr>
            <p:cNvPr id="48152" name="Line 62"/>
            <p:cNvSpPr/>
            <p:nvPr/>
          </p:nvSpPr>
          <p:spPr>
            <a:xfrm>
              <a:off x="3312" y="2448"/>
              <a:ext cx="528" cy="384"/>
            </a:xfrm>
            <a:prstGeom prst="line">
              <a:avLst/>
            </a:prstGeom>
            <a:ln w="9525" cap="flat" cmpd="sng">
              <a:solidFill>
                <a:srgbClr val="333333"/>
              </a:solidFill>
              <a:prstDash val="solid"/>
              <a:headEnd type="none" w="med" len="med"/>
              <a:tailEnd type="triangle" w="med" len="med"/>
            </a:ln>
          </p:spPr>
        </p:sp>
        <p:sp>
          <p:nvSpPr>
            <p:cNvPr id="48153" name="Line 63"/>
            <p:cNvSpPr/>
            <p:nvPr/>
          </p:nvSpPr>
          <p:spPr>
            <a:xfrm flipV="1">
              <a:off x="2832" y="2160"/>
              <a:ext cx="192" cy="192"/>
            </a:xfrm>
            <a:prstGeom prst="line">
              <a:avLst/>
            </a:prstGeom>
            <a:ln w="9525" cap="flat" cmpd="sng">
              <a:solidFill>
                <a:srgbClr val="333333"/>
              </a:solidFill>
              <a:prstDash val="solid"/>
              <a:headEnd type="none" w="med" len="med"/>
              <a:tailEnd type="none" w="med" len="med"/>
            </a:ln>
          </p:spPr>
        </p:sp>
        <p:sp>
          <p:nvSpPr>
            <p:cNvPr id="48154" name="Line 64"/>
            <p:cNvSpPr/>
            <p:nvPr/>
          </p:nvSpPr>
          <p:spPr>
            <a:xfrm flipV="1">
              <a:off x="2208" y="2832"/>
              <a:ext cx="96" cy="96"/>
            </a:xfrm>
            <a:prstGeom prst="line">
              <a:avLst/>
            </a:prstGeom>
            <a:ln w="9525" cap="flat" cmpd="sng">
              <a:solidFill>
                <a:srgbClr val="333333"/>
              </a:solidFill>
              <a:prstDash val="solid"/>
              <a:headEnd type="none" w="med" len="med"/>
              <a:tailEnd type="none" w="med" len="med"/>
            </a:ln>
          </p:spPr>
        </p:sp>
        <p:sp>
          <p:nvSpPr>
            <p:cNvPr id="48155" name="Line 65"/>
            <p:cNvSpPr/>
            <p:nvPr/>
          </p:nvSpPr>
          <p:spPr>
            <a:xfrm flipV="1">
              <a:off x="2208" y="2832"/>
              <a:ext cx="144" cy="192"/>
            </a:xfrm>
            <a:prstGeom prst="line">
              <a:avLst/>
            </a:prstGeom>
            <a:ln w="9525" cap="flat" cmpd="sng">
              <a:solidFill>
                <a:srgbClr val="333333"/>
              </a:solidFill>
              <a:prstDash val="solid"/>
              <a:headEnd type="none" w="med" len="med"/>
              <a:tailEnd type="none" w="med" len="med"/>
            </a:ln>
          </p:spPr>
        </p:sp>
      </p:grpSp>
      <p:sp>
        <p:nvSpPr>
          <p:cNvPr id="48133" name="Text Box 21"/>
          <p:cNvSpPr txBox="1"/>
          <p:nvPr/>
        </p:nvSpPr>
        <p:spPr>
          <a:xfrm>
            <a:off x="428625" y="4799013"/>
            <a:ext cx="3095625"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solidFill>
                  <a:srgbClr val="000000"/>
                </a:solidFill>
                <a:latin typeface="仿宋_GB2312" pitchFamily="49" charset="-122"/>
                <a:ea typeface="仿宋_GB2312" pitchFamily="49" charset="-122"/>
              </a:rPr>
              <a:t>模块</a:t>
            </a:r>
            <a:r>
              <a:rPr lang="en-US" altLang="zh-CN" sz="2000" dirty="0">
                <a:solidFill>
                  <a:srgbClr val="000000"/>
                </a:solidFill>
                <a:latin typeface="仿宋_GB2312" pitchFamily="49" charset="-122"/>
                <a:ea typeface="仿宋_GB2312" pitchFamily="49" charset="-122"/>
              </a:rPr>
              <a:t>G</a:t>
            </a:r>
            <a:r>
              <a:rPr lang="zh-CN" altLang="en-US" sz="2000" dirty="0">
                <a:solidFill>
                  <a:srgbClr val="000000"/>
                </a:solidFill>
                <a:latin typeface="仿宋_GB2312" pitchFamily="49" charset="-122"/>
                <a:ea typeface="仿宋_GB2312" pitchFamily="49" charset="-122"/>
              </a:rPr>
              <a:t>中有一条判断调用</a:t>
            </a:r>
            <a:r>
              <a:rPr lang="en-US" altLang="zh-CN" sz="2000" dirty="0">
                <a:solidFill>
                  <a:srgbClr val="000000"/>
                </a:solidFill>
                <a:latin typeface="仿宋_GB2312" pitchFamily="49" charset="-122"/>
                <a:ea typeface="仿宋_GB2312" pitchFamily="49" charset="-122"/>
              </a:rPr>
              <a:t>D</a:t>
            </a:r>
            <a:r>
              <a:rPr lang="zh-CN" altLang="en-US" sz="2000" dirty="0">
                <a:solidFill>
                  <a:srgbClr val="000000"/>
                </a:solidFill>
                <a:latin typeface="仿宋_GB2312" pitchFamily="49" charset="-122"/>
                <a:ea typeface="仿宋_GB2312" pitchFamily="49" charset="-122"/>
              </a:rPr>
              <a:t>的语句，违反第1条原则</a:t>
            </a:r>
            <a:endParaRPr lang="zh-CN" altLang="en-US" sz="2000" dirty="0">
              <a:solidFill>
                <a:srgbClr val="000000"/>
              </a:solidFill>
              <a:latin typeface="仿宋_GB2312" pitchFamily="49" charset="-122"/>
              <a:ea typeface="仿宋_GB2312" pitchFamily="49" charset="-122"/>
            </a:endParaRPr>
          </a:p>
        </p:txBody>
      </p:sp>
      <p:sp>
        <p:nvSpPr>
          <p:cNvPr id="48134" name="Text Box 44"/>
          <p:cNvSpPr txBox="1"/>
          <p:nvPr/>
        </p:nvSpPr>
        <p:spPr>
          <a:xfrm>
            <a:off x="4067175" y="4786313"/>
            <a:ext cx="1944688"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dirty="0">
                <a:solidFill>
                  <a:srgbClr val="000000"/>
                </a:solidFill>
                <a:latin typeface="仿宋_GB2312" pitchFamily="49" charset="-122"/>
                <a:ea typeface="仿宋_GB2312" pitchFamily="49" charset="-122"/>
              </a:rPr>
              <a:t>违反第2条原则</a:t>
            </a:r>
            <a:endParaRPr lang="zh-CN" altLang="en-US" sz="1800" dirty="0">
              <a:solidFill>
                <a:srgbClr val="000000"/>
              </a:solidFill>
              <a:latin typeface="仿宋_GB2312" pitchFamily="49" charset="-122"/>
              <a:ea typeface="仿宋_GB2312" pitchFamily="49" charset="-122"/>
            </a:endParaRPr>
          </a:p>
        </p:txBody>
      </p:sp>
      <p:sp>
        <p:nvSpPr>
          <p:cNvPr id="48135" name="Text Box 66"/>
          <p:cNvSpPr txBox="1"/>
          <p:nvPr/>
        </p:nvSpPr>
        <p:spPr>
          <a:xfrm>
            <a:off x="7451725" y="4786313"/>
            <a:ext cx="14097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1800" dirty="0">
                <a:solidFill>
                  <a:srgbClr val="000000"/>
                </a:solidFill>
                <a:ea typeface="仿宋_GB2312" pitchFamily="49" charset="-122"/>
              </a:rPr>
              <a:t>正确</a:t>
            </a:r>
            <a:endParaRPr lang="zh-CN" altLang="en-US" sz="1800" dirty="0">
              <a:solidFill>
                <a:srgbClr val="000000"/>
              </a:solidFill>
              <a:ea typeface="仿宋_GB2312"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五、力争降低模块接口的复杂程度</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模块接口复杂是软件发生错误的一个主要原因。应该仔细设计模块接口，使得信息传递简单并且和模块的功能一致。</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六、设计单入口单出口的模块</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不要使模块间出现内容耦合。</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七、模块功能应该可以预测</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输入的数据相同就会产生同样的输出，这个模块的功能就是可以预测的。</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rPr>
              <a:t>以上列出的启发式规则多数是经验规律，对改进设计，提高软件质量，往往有重要的参考价值；但是，它们既不是设计的目标，也不是设计时必须遵循的原则。</a:t>
            </a:r>
            <a:endParaRPr kumimoji="0" lang="zh-CN" altLang="en-US" sz="2200" b="1" i="0" u="none" strike="noStrike" kern="0" cap="none" spc="0" normalizeH="0" baseline="0" noProof="0" dirty="0" smtClean="0">
              <a:ln>
                <a:noFill/>
              </a:ln>
              <a:solidFill>
                <a:srgbClr val="C00000"/>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第四节  描绘软件结构的图形工具 </a:t>
            </a:r>
            <a:endParaRPr kumimoji="0" lang="en-US" altLang="zh-CN" sz="1100" b="1"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一、层次图（</a:t>
            </a:r>
            <a:r>
              <a:rPr kumimoji="0" lang="en-US" altLang="zh-CN"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H</a:t>
            </a: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图）和</a:t>
            </a:r>
            <a:r>
              <a:rPr kumimoji="0" lang="en-US" altLang="zh-CN"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HIPO</a:t>
            </a: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图</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层次图</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层次图用来描绘软件的层次结构。层次图与前面学习的描绘数据结构的层次方框图在形式上相同，但表现的内容却完全不同：层次图中的一个矩形块代表一个模块，方框间的连线表示调用关系而不像层次方框图那样表示组成关系。</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0180" name="Picture 3"/>
          <p:cNvPicPr>
            <a:picLocks noChangeAspect="1"/>
          </p:cNvPicPr>
          <p:nvPr/>
        </p:nvPicPr>
        <p:blipFill>
          <a:blip r:embed="rId1"/>
          <a:stretch>
            <a:fillRect/>
          </a:stretch>
        </p:blipFill>
        <p:spPr>
          <a:xfrm>
            <a:off x="1785938" y="4419600"/>
            <a:ext cx="5715000" cy="200977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2.HIPO</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图</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HIPO</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图是“层次</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输入</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处理</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输出”的英文缩写。它在层次图的基础上，为除顶层外的每个方框都加上编号，以便于追踪模块在软件结构中的位置。与</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H</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图中每个方框相对应，有一张</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IPO</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图描绘该模块的处理过程。</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1203" name="Picture 3"/>
          <p:cNvPicPr>
            <a:picLocks noChangeAspect="1"/>
          </p:cNvPicPr>
          <p:nvPr/>
        </p:nvPicPr>
        <p:blipFill>
          <a:blip r:embed="rId1"/>
          <a:stretch>
            <a:fillRect/>
          </a:stretch>
        </p:blipFill>
        <p:spPr>
          <a:xfrm>
            <a:off x="1547813" y="3759200"/>
            <a:ext cx="6192837" cy="219075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二、结构图</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一个方框代表一个模块，框内注明模块的名字或主要功能；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方框之间的箭头表示模块的调用关系；</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尾端带有空心圆的短箭头表示数据信息，尾端带有实心圆的短箭头表示控制信息。</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2227" name="Picture 2" descr="rj42"/>
          <p:cNvPicPr>
            <a:picLocks noChangeAspect="1"/>
          </p:cNvPicPr>
          <p:nvPr/>
        </p:nvPicPr>
        <p:blipFill>
          <a:blip r:embed="rId1"/>
          <a:stretch>
            <a:fillRect/>
          </a:stretch>
        </p:blipFill>
        <p:spPr>
          <a:xfrm>
            <a:off x="2000250" y="3571875"/>
            <a:ext cx="5214938" cy="2627313"/>
          </a:xfrm>
          <a:prstGeom prst="rect">
            <a:avLst/>
          </a:prstGeom>
          <a:noFill/>
          <a:ln w="9525">
            <a:noFill/>
          </a:ln>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p:cNvSpPr>
          <p:nvPr>
            <p:ph type="title"/>
          </p:nvPr>
        </p:nvSpPr>
        <p:spPr>
          <a:xfrm>
            <a:off x="428625" y="142875"/>
            <a:ext cx="8686800" cy="1143000"/>
          </a:xfrm>
          <a:ln/>
        </p:spPr>
        <p:txBody>
          <a:bodyPr vert="horz" wrap="square" lIns="91440" tIns="45720" rIns="91440" bIns="45720" anchor="ctr" anchorCtr="0"/>
          <a:p>
            <a:pPr eaLnBrk="1" hangingPunct="1"/>
            <a:r>
              <a:rPr lang="zh-CN" altLang="en-US" sz="3000" b="1" dirty="0">
                <a:latin typeface="黑体" panose="02010609060101010101" pitchFamily="49" charset="-122"/>
                <a:ea typeface="黑体" panose="02010609060101010101" pitchFamily="49" charset="-122"/>
                <a:cs typeface="+mj-cs"/>
              </a:rPr>
              <a:t>第四章  总体设计</a:t>
            </a:r>
            <a:endParaRPr lang="zh-CN" altLang="en-US" sz="3000" b="1" dirty="0">
              <a:latin typeface="黑体" panose="02010609060101010101" pitchFamily="49" charset="-122"/>
              <a:ea typeface="宋体" panose="02010600030101010101" pitchFamily="2" charset="-122"/>
              <a:cs typeface="+mj-cs"/>
            </a:endParaRPr>
          </a:p>
        </p:txBody>
      </p:sp>
      <p:sp>
        <p:nvSpPr>
          <p:cNvPr id="5123" name="内容占位符 2"/>
          <p:cNvSpPr>
            <a:spLocks noGrp="1"/>
          </p:cNvSpPr>
          <p:nvPr>
            <p:ph idx="1"/>
          </p:nvPr>
        </p:nvSpPr>
        <p:spPr>
          <a:xfrm>
            <a:off x="428625" y="1214438"/>
            <a:ext cx="8229600" cy="5000625"/>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第五节  面向数据流的设计方法</a:t>
            </a:r>
            <a:endParaRPr kumimoji="0" lang="en-US" altLang="zh-CN" sz="1100" b="1" i="0" u="none" strike="noStrike" kern="0" cap="none" spc="0" normalizeH="0" baseline="0" noProof="0" dirty="0" smtClean="0">
              <a:ln>
                <a:noFill/>
              </a:ln>
              <a:solidFill>
                <a:srgbClr val="FF0000"/>
              </a:solidFill>
              <a:effectLst/>
              <a:uLnTx/>
              <a:uFillTx/>
              <a:latin typeface="+mn-lt"/>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面向数据流的设计方法的目标是给出设计软件结构的一个系统化的途径。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软件工程的需求分析阶段，信息流是一个关键考虑，通常用数据流图描绘信息在系统中加工和流动的情况。面向数据流的设计方法定义了一些不同的“映射”，利用这些映射可以把数据流图变换成软件结构。因为任何软件系统都可以用数据流图表示，所以面向数据流的设计方法理论上可以设计任何软件的结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通常所说的结构化设计方法</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简称</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SD</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方法</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，也就是基于数据流的设计方法。</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500062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一、概念</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变换流</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信息沿输入通路进入系统，同时由外部形式变换成内部形式，进入系统的信息通过变换中心，经过加工处理以后再沿输出通路变换成外部形式离开软件系统。当数据流图具有这些特征时，这种信息流称为变换流。</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4275" name="Picture 2" descr="rj45"/>
          <p:cNvPicPr>
            <a:picLocks noChangeAspect="1"/>
          </p:cNvPicPr>
          <p:nvPr/>
        </p:nvPicPr>
        <p:blipFill>
          <a:blip r:embed="rId1"/>
          <a:stretch>
            <a:fillRect/>
          </a:stretch>
        </p:blipFill>
        <p:spPr>
          <a:xfrm>
            <a:off x="5643563" y="2286000"/>
            <a:ext cx="3124200" cy="2286000"/>
          </a:xfrm>
          <a:prstGeom prst="rect">
            <a:avLst/>
          </a:prstGeom>
          <a:noFill/>
          <a:ln w="9525">
            <a:noFill/>
          </a:ln>
        </p:spPr>
      </p:pic>
      <p:sp>
        <p:nvSpPr>
          <p:cNvPr id="54276" name="TextBox 26"/>
          <p:cNvSpPr txBox="1"/>
          <p:nvPr/>
        </p:nvSpPr>
        <p:spPr>
          <a:xfrm>
            <a:off x="500063" y="5214938"/>
            <a:ext cx="8215312" cy="866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363855" eaLnBrk="1" hangingPunct="1">
              <a:lnSpc>
                <a:spcPct val="120000"/>
              </a:lnSpc>
              <a:buSzPct val="80000"/>
              <a:buFontTx/>
              <a:buNone/>
            </a:pPr>
            <a:r>
              <a:rPr lang="zh-CN" altLang="en-US" sz="2200" b="1" dirty="0">
                <a:solidFill>
                  <a:srgbClr val="C00000"/>
                </a:solidFill>
                <a:latin typeface="宋体" panose="02010600030101010101" pitchFamily="2" charset="-122"/>
                <a:ea typeface="宋体" panose="02010600030101010101" pitchFamily="2" charset="-122"/>
              </a:rPr>
              <a:t>特点：从同一数据源进入系统的数据，它在数据流图中流动的逻辑路径是相同的。</a:t>
            </a:r>
            <a:endParaRPr lang="zh-CN" altLang="en-US" sz="1800" dirty="0">
              <a:solidFill>
                <a:srgbClr val="C00000"/>
              </a:solidFill>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事务流</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数据沿输入通路到达一个处理</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，这个处理根据输入数据的类型在若干个动作序列中选出一个来执行。这种“以事务为中心的”的数据流，称为“事务流”。</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5299" name="Picture 2" descr="rj46"/>
          <p:cNvPicPr>
            <a:picLocks noChangeAspect="1"/>
          </p:cNvPicPr>
          <p:nvPr/>
        </p:nvPicPr>
        <p:blipFill>
          <a:blip r:embed="rId1"/>
          <a:stretch>
            <a:fillRect/>
          </a:stretch>
        </p:blipFill>
        <p:spPr>
          <a:xfrm>
            <a:off x="2643188" y="3140075"/>
            <a:ext cx="3500437" cy="2717800"/>
          </a:xfrm>
          <a:prstGeom prst="rect">
            <a:avLst/>
          </a:prstGeom>
          <a:noFill/>
          <a:ln w="9525">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3143250"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设计过程</a:t>
            </a:r>
            <a:endPar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右图说明了使用面向数据流方法逐步设计的过程。</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注意：任何设计过程都不是机械地一成不变的，设计首先需要人的判断力和创造精神，这更重要。</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6323" name="Picture 2" descr="rj47"/>
          <p:cNvPicPr>
            <a:picLocks noChangeAspect="1"/>
          </p:cNvPicPr>
          <p:nvPr/>
        </p:nvPicPr>
        <p:blipFill>
          <a:blip r:embed="rId1"/>
          <a:stretch>
            <a:fillRect/>
          </a:stretch>
        </p:blipFill>
        <p:spPr>
          <a:xfrm>
            <a:off x="3786188" y="1571625"/>
            <a:ext cx="4714875" cy="4897438"/>
          </a:xfrm>
          <a:prstGeom prst="rect">
            <a:avLst/>
          </a:prstGeom>
          <a:noFill/>
          <a:ln w="9525">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二、变换分析</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变换分析是一系列设计步骤的总称，经过这些步骤把具有变换流特点的数据流图按预先确定的模式映射成软件结构。变换分析方法如下：</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1.</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复查基本系统模型</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复查的目的是确保系统的输入数据和输出数据符合实际。</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2.</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复查并精化数据流图</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应该对需求分析阶段得出的数据流图认真复查，并且在必要时进行精化。不仅要确保数据流图给出了目标系统的正确的逻辑模型，而且应该使数据流图中每个处理都代表一个规模适中相对独立的子功能。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确定数据流图具有变换特性还是事务特性</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一般地说，一个系统中的所有信息流都可以认为是变换流。但是，当遇到有明显事务特性的信息流时，建议采用事务分析方法进行设计。</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4.</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确定输入流和输出流的边界，从而孤立出变换中心</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检查“输入流”的边界；</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检查“输出流”的边界；</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得到变换中心。</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5.</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完成“第一级分解”</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对于变换流的情况，数据流图被映射成一个特殊的软件结构，这个结构控制输入、变换和输出等信息处理过程。下图说明了第一级分解的方法。</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ts val="18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控制模块</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Cm</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协调下述从属的控制功能：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输入信息处理控制模块</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Ca,</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协调对所有输入数据的接收；</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变换中心控制模块</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管理对内部形式的数据的所有操作；</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输出信息处理控制模块</a:t>
            </a:r>
            <a:r>
              <a:rPr kumimoji="0" lang="en-US" altLang="zh-CN" sz="2200" b="1" i="0" u="none" strike="noStrike" kern="0" cap="none" spc="0" normalizeH="0" baseline="0" noProof="0" dirty="0" err="1" smtClean="0">
                <a:ln>
                  <a:noFill/>
                </a:ln>
                <a:solidFill>
                  <a:schemeClr val="bg2"/>
                </a:solidFill>
                <a:effectLst/>
                <a:uLnTx/>
                <a:uFillTx/>
                <a:latin typeface="宋体" panose="02010600030101010101" pitchFamily="2" charset="-122"/>
                <a:ea typeface="宋体" panose="02010600030101010101" pitchFamily="2" charset="-122"/>
                <a:cs typeface="+mn-cs"/>
              </a:rPr>
              <a:t>Ce</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，协调输出信息的产生过程。</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59395" name="Picture 2" descr="rj50"/>
          <p:cNvPicPr>
            <a:picLocks noChangeAspect="1"/>
          </p:cNvPicPr>
          <p:nvPr/>
        </p:nvPicPr>
        <p:blipFill>
          <a:blip r:embed="rId1"/>
          <a:stretch>
            <a:fillRect/>
          </a:stretch>
        </p:blipFill>
        <p:spPr>
          <a:xfrm>
            <a:off x="3714750" y="2571750"/>
            <a:ext cx="3714750" cy="1955800"/>
          </a:xfrm>
          <a:prstGeom prst="rect">
            <a:avLst/>
          </a:prstGeom>
          <a:noFill/>
          <a:ln w="9525">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6.</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完成“第二级分解”</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所谓第二级分解就是把数据流图中的每个处理映射成软件结构中一个适当的模块。完成第二级分解的方法</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从变换中心的边界开始沿着输入通路向外移动，把输入通路中每个处理逻辑映射成软件结构中</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Ca</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控制下的一个低层模块；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然后沿输出通路向外移动，把输出通路中每个处理逻辑映射成直接或间接受模块</a:t>
            </a:r>
            <a:r>
              <a:rPr kumimoji="0" lang="en-US" altLang="zh-CN" sz="2200" b="1" i="0" u="none" strike="noStrike" kern="0" cap="none" spc="0" normalizeH="0" baseline="0" noProof="0" dirty="0" err="1" smtClean="0">
                <a:ln>
                  <a:noFill/>
                </a:ln>
                <a:solidFill>
                  <a:schemeClr val="bg2"/>
                </a:solidFill>
                <a:effectLst/>
                <a:uLnTx/>
                <a:uFillTx/>
                <a:latin typeface="宋体" panose="02010600030101010101" pitchFamily="2" charset="-122"/>
                <a:ea typeface="宋体" panose="02010600030101010101" pitchFamily="2" charset="-122"/>
                <a:cs typeface="+mn-cs"/>
              </a:rPr>
              <a:t>Ce</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控制的一个低层模块；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最后把变换中心内的每个处理映射成受</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Ct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控制的一个模块。</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页脚占位符 3"/>
          <p:cNvSpPr txBox="1">
            <a:spLocks noGrp="1"/>
          </p:cNvSpPr>
          <p:nvPr>
            <p:ph type="ftr" sz="quarter" idx="11"/>
          </p:nvPr>
        </p:nvSpPr>
        <p:spPr>
          <a:xfrm>
            <a:off x="457200" y="6245225"/>
            <a:ext cx="2133600" cy="476250"/>
          </a:xfrm>
          <a:ln/>
        </p:spPr>
        <p:txBody>
          <a:bodyPr/>
          <a:p>
            <a:pPr marL="0" indent="0" eaLnBrk="1" hangingPunct="1">
              <a:spcBef>
                <a:spcPct val="0"/>
              </a:spcBef>
              <a:buClrTx/>
              <a:buFontTx/>
              <a:buNone/>
            </a:pPr>
            <a:fld id="{9A0DB2DC-4C9A-4742-B13C-FB6460FD3503}" type="slidenum">
              <a:rPr lang="en-US" altLang="zh-CN" sz="1400" dirty="0">
                <a:solidFill>
                  <a:schemeClr val="tx1"/>
                </a:solidFill>
                <a:ea typeface="宋体" panose="02010600030101010101" pitchFamily="2" charset="-122"/>
              </a:rPr>
            </a:fld>
            <a:endParaRPr lang="en-US" altLang="zh-CN" sz="1400" dirty="0">
              <a:solidFill>
                <a:schemeClr val="tx1"/>
              </a:solidFill>
              <a:ea typeface="宋体" panose="02010600030101010101" pitchFamily="2" charset="-122"/>
            </a:endParaRPr>
          </a:p>
        </p:txBody>
      </p:sp>
      <p:grpSp>
        <p:nvGrpSpPr>
          <p:cNvPr id="61443" name="Group 39"/>
          <p:cNvGrpSpPr/>
          <p:nvPr/>
        </p:nvGrpSpPr>
        <p:grpSpPr>
          <a:xfrm>
            <a:off x="1116013" y="1557338"/>
            <a:ext cx="6119812" cy="3455987"/>
            <a:chOff x="720" y="1293"/>
            <a:chExt cx="4176" cy="2649"/>
          </a:xfrm>
        </p:grpSpPr>
        <p:sp>
          <p:nvSpPr>
            <p:cNvPr id="61445" name="Oval 3"/>
            <p:cNvSpPr/>
            <p:nvPr/>
          </p:nvSpPr>
          <p:spPr>
            <a:xfrm>
              <a:off x="1104" y="2301"/>
              <a:ext cx="240" cy="240"/>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61446" name="Line 4"/>
            <p:cNvSpPr/>
            <p:nvPr/>
          </p:nvSpPr>
          <p:spPr>
            <a:xfrm>
              <a:off x="720" y="2397"/>
              <a:ext cx="384" cy="0"/>
            </a:xfrm>
            <a:prstGeom prst="line">
              <a:avLst/>
            </a:prstGeom>
            <a:ln w="9525" cap="flat" cmpd="sng">
              <a:solidFill>
                <a:srgbClr val="000000"/>
              </a:solidFill>
              <a:prstDash val="solid"/>
              <a:headEnd type="none" w="med" len="med"/>
              <a:tailEnd type="triangle" w="med" len="med"/>
            </a:ln>
          </p:spPr>
        </p:sp>
        <p:sp>
          <p:nvSpPr>
            <p:cNvPr id="61447" name="Text Box 5"/>
            <p:cNvSpPr txBox="1"/>
            <p:nvPr/>
          </p:nvSpPr>
          <p:spPr>
            <a:xfrm>
              <a:off x="1103" y="2253"/>
              <a:ext cx="241" cy="28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sp>
          <p:nvSpPr>
            <p:cNvPr id="61448" name="Oval 6"/>
            <p:cNvSpPr/>
            <p:nvPr/>
          </p:nvSpPr>
          <p:spPr>
            <a:xfrm>
              <a:off x="1488" y="1965"/>
              <a:ext cx="240" cy="240"/>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61449" name="Text Box 7"/>
            <p:cNvSpPr txBox="1"/>
            <p:nvPr/>
          </p:nvSpPr>
          <p:spPr>
            <a:xfrm>
              <a:off x="1488" y="1965"/>
              <a:ext cx="288" cy="28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ea typeface="宋体" panose="02010600030101010101" pitchFamily="2" charset="-122"/>
                </a:rPr>
                <a:t>D</a:t>
              </a:r>
              <a:endParaRPr lang="en-US" altLang="zh-CN" sz="1800" dirty="0">
                <a:ea typeface="宋体" panose="02010600030101010101" pitchFamily="2" charset="-122"/>
              </a:endParaRPr>
            </a:p>
          </p:txBody>
        </p:sp>
        <p:sp>
          <p:nvSpPr>
            <p:cNvPr id="61450" name="Line 8"/>
            <p:cNvSpPr/>
            <p:nvPr/>
          </p:nvSpPr>
          <p:spPr>
            <a:xfrm flipV="1">
              <a:off x="1296" y="2157"/>
              <a:ext cx="192" cy="192"/>
            </a:xfrm>
            <a:prstGeom prst="line">
              <a:avLst/>
            </a:prstGeom>
            <a:ln w="9525" cap="flat" cmpd="sng">
              <a:solidFill>
                <a:srgbClr val="000000"/>
              </a:solidFill>
              <a:prstDash val="solid"/>
              <a:headEnd type="none" w="med" len="med"/>
              <a:tailEnd type="triangle" w="med" len="med"/>
            </a:ln>
          </p:spPr>
        </p:sp>
        <p:sp>
          <p:nvSpPr>
            <p:cNvPr id="61451" name="Oval 9"/>
            <p:cNvSpPr/>
            <p:nvPr/>
          </p:nvSpPr>
          <p:spPr>
            <a:xfrm>
              <a:off x="2064" y="2109"/>
              <a:ext cx="240" cy="240"/>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61452" name="Text Box 10"/>
            <p:cNvSpPr txBox="1"/>
            <p:nvPr/>
          </p:nvSpPr>
          <p:spPr>
            <a:xfrm>
              <a:off x="2064" y="2061"/>
              <a:ext cx="240" cy="28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ea typeface="宋体" panose="02010600030101010101" pitchFamily="2" charset="-122"/>
                </a:rPr>
                <a:t>C</a:t>
              </a:r>
              <a:endParaRPr lang="en-US" altLang="zh-CN" sz="1800" dirty="0">
                <a:ea typeface="宋体" panose="02010600030101010101" pitchFamily="2" charset="-122"/>
              </a:endParaRPr>
            </a:p>
          </p:txBody>
        </p:sp>
        <p:sp>
          <p:nvSpPr>
            <p:cNvPr id="61453" name="Line 11"/>
            <p:cNvSpPr/>
            <p:nvPr/>
          </p:nvSpPr>
          <p:spPr>
            <a:xfrm>
              <a:off x="1728" y="2109"/>
              <a:ext cx="336" cy="96"/>
            </a:xfrm>
            <a:prstGeom prst="line">
              <a:avLst/>
            </a:prstGeom>
            <a:ln w="9525" cap="flat" cmpd="sng">
              <a:solidFill>
                <a:srgbClr val="000000"/>
              </a:solidFill>
              <a:prstDash val="solid"/>
              <a:headEnd type="none" w="med" len="med"/>
              <a:tailEnd type="triangle" w="med" len="med"/>
            </a:ln>
          </p:spPr>
        </p:sp>
        <p:sp>
          <p:nvSpPr>
            <p:cNvPr id="61454" name="Oval 12"/>
            <p:cNvSpPr/>
            <p:nvPr/>
          </p:nvSpPr>
          <p:spPr>
            <a:xfrm>
              <a:off x="1632" y="2637"/>
              <a:ext cx="240" cy="240"/>
            </a:xfrm>
            <a:prstGeom prst="ellipse">
              <a:avLst/>
            </a:prstGeom>
            <a:solidFill>
              <a:schemeClr val="accent1"/>
            </a:solidFill>
            <a:ln w="9525" cap="flat" cmpd="sng">
              <a:solidFill>
                <a:srgbClr val="000000"/>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endParaRPr lang="zh-CN" altLang="en-US" sz="1800" dirty="0">
                <a:ea typeface="宋体" panose="02010600030101010101" pitchFamily="2" charset="-122"/>
              </a:endParaRPr>
            </a:p>
          </p:txBody>
        </p:sp>
        <p:sp>
          <p:nvSpPr>
            <p:cNvPr id="61455" name="Text Box 13"/>
            <p:cNvSpPr txBox="1"/>
            <p:nvPr/>
          </p:nvSpPr>
          <p:spPr>
            <a:xfrm>
              <a:off x="1632" y="2589"/>
              <a:ext cx="240" cy="28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sp>
          <p:nvSpPr>
            <p:cNvPr id="61456" name="Line 14"/>
            <p:cNvSpPr/>
            <p:nvPr/>
          </p:nvSpPr>
          <p:spPr>
            <a:xfrm>
              <a:off x="1296" y="2493"/>
              <a:ext cx="336" cy="192"/>
            </a:xfrm>
            <a:prstGeom prst="line">
              <a:avLst/>
            </a:prstGeom>
            <a:ln w="9525" cap="flat" cmpd="sng">
              <a:solidFill>
                <a:srgbClr val="000000"/>
              </a:solidFill>
              <a:prstDash val="solid"/>
              <a:headEnd type="none" w="med" len="med"/>
              <a:tailEnd type="triangle" w="med" len="med"/>
            </a:ln>
          </p:spPr>
        </p:sp>
        <p:sp>
          <p:nvSpPr>
            <p:cNvPr id="61457" name="Line 15"/>
            <p:cNvSpPr/>
            <p:nvPr/>
          </p:nvSpPr>
          <p:spPr>
            <a:xfrm>
              <a:off x="1872" y="2781"/>
              <a:ext cx="384" cy="144"/>
            </a:xfrm>
            <a:prstGeom prst="line">
              <a:avLst/>
            </a:prstGeom>
            <a:ln w="9525" cap="flat" cmpd="sng">
              <a:solidFill>
                <a:srgbClr val="000000"/>
              </a:solidFill>
              <a:prstDash val="solid"/>
              <a:headEnd type="none" w="med" len="med"/>
              <a:tailEnd type="triangle" w="med" len="med"/>
            </a:ln>
          </p:spPr>
        </p:sp>
        <p:sp>
          <p:nvSpPr>
            <p:cNvPr id="61458" name="Line 16"/>
            <p:cNvSpPr/>
            <p:nvPr/>
          </p:nvSpPr>
          <p:spPr>
            <a:xfrm>
              <a:off x="2304" y="2301"/>
              <a:ext cx="384" cy="96"/>
            </a:xfrm>
            <a:prstGeom prst="line">
              <a:avLst/>
            </a:prstGeom>
            <a:ln w="9525" cap="flat" cmpd="sng">
              <a:solidFill>
                <a:srgbClr val="000000"/>
              </a:solidFill>
              <a:prstDash val="solid"/>
              <a:headEnd type="none" w="med" len="med"/>
              <a:tailEnd type="triangle" w="med" len="med"/>
            </a:ln>
          </p:spPr>
        </p:sp>
        <p:sp>
          <p:nvSpPr>
            <p:cNvPr id="61459" name="Line 17"/>
            <p:cNvSpPr/>
            <p:nvPr/>
          </p:nvSpPr>
          <p:spPr>
            <a:xfrm flipH="1">
              <a:off x="1824" y="2013"/>
              <a:ext cx="864" cy="1104"/>
            </a:xfrm>
            <a:prstGeom prst="line">
              <a:avLst/>
            </a:prstGeom>
            <a:ln w="9525" cap="rnd" cmpd="sng">
              <a:solidFill>
                <a:srgbClr val="FF0000"/>
              </a:solidFill>
              <a:prstDash val="sysDot"/>
              <a:headEnd type="none" w="med" len="med"/>
              <a:tailEnd type="none" w="med" len="med"/>
            </a:ln>
          </p:spPr>
        </p:sp>
        <p:sp>
          <p:nvSpPr>
            <p:cNvPr id="61460" name="Line 18"/>
            <p:cNvSpPr/>
            <p:nvPr/>
          </p:nvSpPr>
          <p:spPr>
            <a:xfrm flipH="1" flipV="1">
              <a:off x="1488" y="3021"/>
              <a:ext cx="336" cy="96"/>
            </a:xfrm>
            <a:prstGeom prst="line">
              <a:avLst/>
            </a:prstGeom>
            <a:ln w="9525" cap="rnd" cmpd="sng">
              <a:solidFill>
                <a:srgbClr val="FF0000"/>
              </a:solidFill>
              <a:prstDash val="sysDot"/>
              <a:headEnd type="none" w="med" len="med"/>
              <a:tailEnd type="triangle" w="med" len="med"/>
            </a:ln>
          </p:spPr>
        </p:sp>
        <p:sp>
          <p:nvSpPr>
            <p:cNvPr id="61461" name="Line 19"/>
            <p:cNvSpPr/>
            <p:nvPr/>
          </p:nvSpPr>
          <p:spPr>
            <a:xfrm flipH="1" flipV="1">
              <a:off x="2448" y="1821"/>
              <a:ext cx="240" cy="192"/>
            </a:xfrm>
            <a:prstGeom prst="line">
              <a:avLst/>
            </a:prstGeom>
            <a:ln w="9525" cap="rnd" cmpd="sng">
              <a:solidFill>
                <a:srgbClr val="FF0000"/>
              </a:solidFill>
              <a:prstDash val="sysDot"/>
              <a:headEnd type="none" w="med" len="med"/>
              <a:tailEnd type="triangle" w="med" len="med"/>
            </a:ln>
          </p:spPr>
        </p:sp>
        <p:sp>
          <p:nvSpPr>
            <p:cNvPr id="61462" name="Text Box 20"/>
            <p:cNvSpPr txBox="1"/>
            <p:nvPr/>
          </p:nvSpPr>
          <p:spPr>
            <a:xfrm>
              <a:off x="4224" y="1293"/>
              <a:ext cx="480"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C</a:t>
              </a:r>
              <a:r>
                <a:rPr lang="en-US" altLang="zh-CN" sz="1800" baseline="-25000" dirty="0">
                  <a:ea typeface="宋体" panose="02010600030101010101" pitchFamily="2" charset="-122"/>
                </a:rPr>
                <a:t>m</a:t>
              </a:r>
              <a:endParaRPr lang="en-US" altLang="zh-CN" sz="1800" dirty="0">
                <a:ea typeface="宋体" panose="02010600030101010101" pitchFamily="2" charset="-122"/>
              </a:endParaRPr>
            </a:p>
          </p:txBody>
        </p:sp>
        <p:sp>
          <p:nvSpPr>
            <p:cNvPr id="61463" name="Text Box 21"/>
            <p:cNvSpPr txBox="1"/>
            <p:nvPr/>
          </p:nvSpPr>
          <p:spPr>
            <a:xfrm>
              <a:off x="3744" y="1821"/>
              <a:ext cx="480"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C</a:t>
              </a:r>
              <a:r>
                <a:rPr lang="en-US" altLang="zh-CN" sz="1800" baseline="-25000" dirty="0">
                  <a:ea typeface="宋体" panose="02010600030101010101" pitchFamily="2" charset="-122"/>
                </a:rPr>
                <a:t>a</a:t>
              </a:r>
              <a:endParaRPr lang="en-US" altLang="zh-CN" sz="1800" dirty="0">
                <a:ea typeface="宋体" panose="02010600030101010101" pitchFamily="2" charset="-122"/>
              </a:endParaRPr>
            </a:p>
          </p:txBody>
        </p:sp>
        <p:sp>
          <p:nvSpPr>
            <p:cNvPr id="61464" name="Text Box 22"/>
            <p:cNvSpPr txBox="1"/>
            <p:nvPr/>
          </p:nvSpPr>
          <p:spPr>
            <a:xfrm>
              <a:off x="3312" y="2349"/>
              <a:ext cx="528"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C</a:t>
              </a:r>
              <a:endParaRPr lang="en-US" altLang="zh-CN" sz="1800" dirty="0">
                <a:ea typeface="宋体" panose="02010600030101010101" pitchFamily="2" charset="-122"/>
              </a:endParaRPr>
            </a:p>
          </p:txBody>
        </p:sp>
        <p:sp>
          <p:nvSpPr>
            <p:cNvPr id="61465" name="Text Box 23"/>
            <p:cNvSpPr txBox="1"/>
            <p:nvPr/>
          </p:nvSpPr>
          <p:spPr>
            <a:xfrm>
              <a:off x="4272" y="2349"/>
              <a:ext cx="528"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B</a:t>
              </a:r>
              <a:endParaRPr lang="en-US" altLang="zh-CN" sz="1800" dirty="0">
                <a:ea typeface="宋体" panose="02010600030101010101" pitchFamily="2" charset="-122"/>
              </a:endParaRPr>
            </a:p>
          </p:txBody>
        </p:sp>
        <p:sp>
          <p:nvSpPr>
            <p:cNvPr id="61466" name="Text Box 24"/>
            <p:cNvSpPr txBox="1"/>
            <p:nvPr/>
          </p:nvSpPr>
          <p:spPr>
            <a:xfrm>
              <a:off x="3312" y="2925"/>
              <a:ext cx="528"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D</a:t>
              </a:r>
              <a:endParaRPr lang="en-US" altLang="zh-CN" sz="1800" dirty="0">
                <a:ea typeface="宋体" panose="02010600030101010101" pitchFamily="2" charset="-122"/>
              </a:endParaRPr>
            </a:p>
          </p:txBody>
        </p:sp>
        <p:sp>
          <p:nvSpPr>
            <p:cNvPr id="61467" name="Text Box 25"/>
            <p:cNvSpPr txBox="1"/>
            <p:nvPr/>
          </p:nvSpPr>
          <p:spPr>
            <a:xfrm>
              <a:off x="3956" y="3659"/>
              <a:ext cx="529" cy="283"/>
            </a:xfrm>
            <a:prstGeom prst="rect">
              <a:avLst/>
            </a:prstGeom>
            <a:noFill/>
            <a:ln w="12700" cap="flat" cmpd="sng">
              <a:solidFill>
                <a:srgbClr val="00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spcBef>
                  <a:spcPct val="0"/>
                </a:spcBef>
                <a:buClrTx/>
                <a:buFontTx/>
                <a:buNone/>
              </a:pPr>
              <a:r>
                <a:rPr lang="en-US" altLang="zh-CN" sz="1800" dirty="0">
                  <a:ea typeface="宋体" panose="02010600030101010101" pitchFamily="2" charset="-122"/>
                </a:rPr>
                <a:t>A</a:t>
              </a:r>
              <a:endParaRPr lang="en-US" altLang="zh-CN" sz="1800" dirty="0">
                <a:ea typeface="宋体" panose="02010600030101010101" pitchFamily="2" charset="-122"/>
              </a:endParaRPr>
            </a:p>
          </p:txBody>
        </p:sp>
        <p:sp>
          <p:nvSpPr>
            <p:cNvPr id="61468" name="Line 26"/>
            <p:cNvSpPr/>
            <p:nvPr/>
          </p:nvSpPr>
          <p:spPr>
            <a:xfrm flipH="1">
              <a:off x="3984" y="1633"/>
              <a:ext cx="313" cy="188"/>
            </a:xfrm>
            <a:prstGeom prst="line">
              <a:avLst/>
            </a:prstGeom>
            <a:ln w="9525" cap="flat" cmpd="sng">
              <a:solidFill>
                <a:srgbClr val="000000"/>
              </a:solidFill>
              <a:prstDash val="solid"/>
              <a:headEnd type="none" w="med" len="med"/>
              <a:tailEnd type="none" w="med" len="med"/>
            </a:ln>
          </p:spPr>
        </p:sp>
        <p:sp>
          <p:nvSpPr>
            <p:cNvPr id="61469" name="Line 27"/>
            <p:cNvSpPr/>
            <p:nvPr/>
          </p:nvSpPr>
          <p:spPr>
            <a:xfrm>
              <a:off x="4464" y="1581"/>
              <a:ext cx="0" cy="192"/>
            </a:xfrm>
            <a:prstGeom prst="line">
              <a:avLst/>
            </a:prstGeom>
            <a:ln w="9525" cap="rnd" cmpd="sng">
              <a:solidFill>
                <a:srgbClr val="000000"/>
              </a:solidFill>
              <a:prstDash val="sysDot"/>
              <a:headEnd type="none" w="med" len="med"/>
              <a:tailEnd type="none" w="med" len="med"/>
            </a:ln>
          </p:spPr>
        </p:sp>
        <p:sp>
          <p:nvSpPr>
            <p:cNvPr id="61470" name="Line 28"/>
            <p:cNvSpPr/>
            <p:nvPr/>
          </p:nvSpPr>
          <p:spPr>
            <a:xfrm>
              <a:off x="4560" y="1581"/>
              <a:ext cx="336" cy="240"/>
            </a:xfrm>
            <a:prstGeom prst="line">
              <a:avLst/>
            </a:prstGeom>
            <a:ln w="9525" cap="rnd" cmpd="sng">
              <a:solidFill>
                <a:srgbClr val="000000"/>
              </a:solidFill>
              <a:prstDash val="sysDot"/>
              <a:headEnd type="none" w="med" len="med"/>
              <a:tailEnd type="none" w="med" len="med"/>
            </a:ln>
          </p:spPr>
        </p:sp>
        <p:sp>
          <p:nvSpPr>
            <p:cNvPr id="61471" name="Line 29"/>
            <p:cNvSpPr/>
            <p:nvPr/>
          </p:nvSpPr>
          <p:spPr>
            <a:xfrm flipH="1">
              <a:off x="3504" y="2180"/>
              <a:ext cx="403" cy="169"/>
            </a:xfrm>
            <a:prstGeom prst="line">
              <a:avLst/>
            </a:prstGeom>
            <a:ln w="9525" cap="flat" cmpd="sng">
              <a:solidFill>
                <a:srgbClr val="000000"/>
              </a:solidFill>
              <a:prstDash val="solid"/>
              <a:headEnd type="none" w="med" len="med"/>
              <a:tailEnd type="none" w="med" len="med"/>
            </a:ln>
          </p:spPr>
        </p:sp>
        <p:sp>
          <p:nvSpPr>
            <p:cNvPr id="61472" name="Line 30"/>
            <p:cNvSpPr/>
            <p:nvPr/>
          </p:nvSpPr>
          <p:spPr>
            <a:xfrm>
              <a:off x="4053" y="2180"/>
              <a:ext cx="459" cy="169"/>
            </a:xfrm>
            <a:prstGeom prst="line">
              <a:avLst/>
            </a:prstGeom>
            <a:ln w="9525" cap="flat" cmpd="sng">
              <a:solidFill>
                <a:srgbClr val="000000"/>
              </a:solidFill>
              <a:prstDash val="solid"/>
              <a:headEnd type="none" w="med" len="med"/>
              <a:tailEnd type="none" w="med" len="med"/>
            </a:ln>
          </p:spPr>
        </p:sp>
        <p:sp>
          <p:nvSpPr>
            <p:cNvPr id="61473" name="Line 31"/>
            <p:cNvSpPr/>
            <p:nvPr/>
          </p:nvSpPr>
          <p:spPr>
            <a:xfrm>
              <a:off x="3552" y="2637"/>
              <a:ext cx="0" cy="288"/>
            </a:xfrm>
            <a:prstGeom prst="line">
              <a:avLst/>
            </a:prstGeom>
            <a:ln w="9525" cap="flat" cmpd="sng">
              <a:solidFill>
                <a:srgbClr val="000000"/>
              </a:solidFill>
              <a:prstDash val="solid"/>
              <a:headEnd type="none" w="med" len="med"/>
              <a:tailEnd type="none" w="med" len="med"/>
            </a:ln>
          </p:spPr>
        </p:sp>
        <p:sp>
          <p:nvSpPr>
            <p:cNvPr id="61474" name="Line 32"/>
            <p:cNvSpPr/>
            <p:nvPr/>
          </p:nvSpPr>
          <p:spPr>
            <a:xfrm flipH="1">
              <a:off x="4248" y="2728"/>
              <a:ext cx="292" cy="932"/>
            </a:xfrm>
            <a:prstGeom prst="line">
              <a:avLst/>
            </a:prstGeom>
            <a:ln w="9525" cap="flat" cmpd="sng">
              <a:solidFill>
                <a:srgbClr val="000000"/>
              </a:solidFill>
              <a:prstDash val="solid"/>
              <a:headEnd type="none" w="med" len="med"/>
              <a:tailEnd type="none" w="med" len="med"/>
            </a:ln>
          </p:spPr>
        </p:sp>
        <p:sp>
          <p:nvSpPr>
            <p:cNvPr id="61475" name="Line 33"/>
            <p:cNvSpPr/>
            <p:nvPr/>
          </p:nvSpPr>
          <p:spPr>
            <a:xfrm>
              <a:off x="3614" y="3275"/>
              <a:ext cx="477" cy="356"/>
            </a:xfrm>
            <a:prstGeom prst="line">
              <a:avLst/>
            </a:prstGeom>
            <a:ln w="9525" cap="flat" cmpd="sng">
              <a:solidFill>
                <a:srgbClr val="000000"/>
              </a:solidFill>
              <a:prstDash val="solid"/>
              <a:headEnd type="none" w="med" len="med"/>
              <a:tailEnd type="none" w="med" len="med"/>
            </a:ln>
          </p:spPr>
        </p:sp>
      </p:grpSp>
      <p:sp>
        <p:nvSpPr>
          <p:cNvPr id="61444" name="Text Box 38"/>
          <p:cNvSpPr txBox="1"/>
          <p:nvPr/>
        </p:nvSpPr>
        <p:spPr>
          <a:xfrm>
            <a:off x="3276600" y="5461000"/>
            <a:ext cx="281940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eaLnBrk="1" hangingPunct="1">
              <a:spcBef>
                <a:spcPct val="0"/>
              </a:spcBef>
              <a:buClrTx/>
              <a:buFontTx/>
              <a:buNone/>
            </a:pPr>
            <a:r>
              <a:rPr lang="zh-CN" altLang="en-US" sz="2000" dirty="0">
                <a:ea typeface="仿宋_GB2312" pitchFamily="49" charset="-122"/>
              </a:rPr>
              <a:t>第二级分解的方法举例</a:t>
            </a:r>
            <a:endParaRPr lang="zh-CN" altLang="en-US" sz="2000" dirty="0">
              <a:ea typeface="仿宋_GB2312"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0"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7.</a:t>
            </a:r>
            <a:r>
              <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rPr>
              <a:t>根据设计原理和总体设计准则，对第一次分割得到的软件结构进一步精化</a:t>
            </a:r>
            <a:endParaRPr kumimoji="0" lang="zh-CN" altLang="en-US" sz="2200" b="1" i="0" u="none" strike="noStrike" kern="0" cap="none" spc="0" normalizeH="0" baseline="0" noProof="0" dirty="0" smtClean="0">
              <a:ln>
                <a:noFill/>
              </a:ln>
              <a:solidFill>
                <a:schemeClr val="bg2"/>
              </a:solidFill>
              <a:effectLst/>
              <a:uLnTx/>
              <a:uFillTx/>
              <a:latin typeface="黑体" panose="02010609060101010101" pitchFamily="49" charset="-122"/>
              <a:ea typeface="黑体" panose="02010609060101010101" pitchFamily="49"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为了得到一个易于实现、易于测试和易于维护的软件结构，根据软件设计的基本原则和其它启发性原则，对初步分割得到的模块进行再分解或合并。</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变换分析举例</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假设的汽车数字仪表板将完成下述功能：</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通过</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A/D</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转换实现传感器和微处理机接口；</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在发光二极管面板上显示数据</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如下第</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3</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条中的数据</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363855"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指示每小时英里数（</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mile</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h</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），行驶的里程，每加仑油行驶的英里数（</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mile</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Gal</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）等等；</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指示加速或减速；</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195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超速警告：如果车速超过</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120km</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h</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，则发出超速警告铃声。</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内容占位符 2"/>
          <p:cNvSpPr>
            <a:spLocks noGrp="1"/>
          </p:cNvSpPr>
          <p:nvPr>
            <p:ph idx="1"/>
          </p:nvPr>
        </p:nvSpPr>
        <p:spPr>
          <a:xfrm>
            <a:off x="428625" y="1214438"/>
            <a:ext cx="8143875" cy="4286250"/>
          </a:xfrm>
          <a:ln/>
        </p:spPr>
        <p:txBody>
          <a:bodyPr vert="horz" wrap="square" lIns="91440" tIns="45720" rIns="91440" bIns="45720" anchor="t" anchorCtr="0"/>
          <a:p>
            <a:pPr eaLnBrk="1" hangingPunct="1">
              <a:lnSpc>
                <a:spcPct val="120000"/>
              </a:lnSpc>
              <a:buFont typeface="Wingdings" panose="05000000000000000000" pitchFamily="2" charset="2"/>
              <a:buNone/>
            </a:pPr>
            <a:r>
              <a:rPr lang="zh-CN" altLang="en-US" sz="2400" b="1" dirty="0">
                <a:solidFill>
                  <a:srgbClr val="1E587C"/>
                </a:solidFill>
                <a:latin typeface="黑体" panose="02010609060101010101" pitchFamily="49" charset="-122"/>
                <a:ea typeface="黑体" panose="02010609060101010101" pitchFamily="49" charset="-122"/>
                <a:cs typeface="+mn-cs"/>
              </a:rPr>
              <a:t>变换分析举例</a:t>
            </a:r>
            <a:endParaRPr lang="zh-CN" altLang="en-US" sz="2400" b="1" dirty="0">
              <a:solidFill>
                <a:srgbClr val="1E587C"/>
              </a:solidFill>
              <a:latin typeface="黑体" panose="02010609060101010101" pitchFamily="49" charset="-122"/>
              <a:ea typeface="黑体" panose="02010609060101010101" pitchFamily="49" charset="-122"/>
              <a:cs typeface="+mn-cs"/>
            </a:endParaRPr>
          </a:p>
        </p:txBody>
      </p:sp>
      <p:grpSp>
        <p:nvGrpSpPr>
          <p:cNvPr id="64515" name="Group 5"/>
          <p:cNvGrpSpPr/>
          <p:nvPr/>
        </p:nvGrpSpPr>
        <p:grpSpPr>
          <a:xfrm>
            <a:off x="1143000" y="2176463"/>
            <a:ext cx="7239000" cy="3324225"/>
            <a:chOff x="528" y="1842"/>
            <a:chExt cx="4560" cy="2094"/>
          </a:xfrm>
        </p:grpSpPr>
        <p:sp>
          <p:nvSpPr>
            <p:cNvPr id="4" name="Rectangle 6"/>
            <p:cNvSpPr>
              <a:spLocks noChangeArrowheads="1"/>
            </p:cNvSpPr>
            <p:nvPr/>
          </p:nvSpPr>
          <p:spPr bwMode="auto">
            <a:xfrm>
              <a:off x="3264" y="1842"/>
              <a:ext cx="1793" cy="606"/>
            </a:xfrm>
            <a:prstGeom prst="rect">
              <a:avLst/>
            </a:prstGeom>
            <a:solidFill>
              <a:schemeClr val="accent1"/>
            </a:solidFill>
            <a:ln w="28575">
              <a:solidFill>
                <a:schemeClr val="accent4">
                  <a:lumMod val="75000"/>
                </a:schemeClr>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传动及油路系统</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Text Box 7"/>
            <p:cNvSpPr txBox="1">
              <a:spLocks noChangeArrowheads="1"/>
            </p:cNvSpPr>
            <p:nvPr/>
          </p:nvSpPr>
          <p:spPr bwMode="auto">
            <a:xfrm>
              <a:off x="3504" y="3360"/>
              <a:ext cx="480" cy="233"/>
            </a:xfrm>
            <a:prstGeom prst="rect">
              <a:avLst/>
            </a:prstGeom>
            <a:noFill/>
            <a:ln w="9525">
              <a:solidFill>
                <a:schemeClr val="accent4">
                  <a:lumMod val="75000"/>
                </a:schemeClr>
              </a:solidFill>
              <a:miter lim="800000"/>
            </a:ln>
          </p:spPr>
          <p:txBody>
            <a:bodyPr>
              <a:spAutoFit/>
            </a:bodyPr>
            <a:lstStyle/>
            <a:p>
              <a:pPr marR="0" defTabSz="914400" eaLnBrk="1" hangingPunct="1">
                <a:buClrTx/>
                <a:buSzTx/>
                <a:buFontTx/>
                <a:buNone/>
                <a:defRPr/>
              </a:pPr>
              <a:r>
                <a:rPr kumimoji="0" lang="en-US" altLang="zh-CN" kern="1200" cap="none" spc="0" normalizeH="0" baseline="0" noProof="0">
                  <a:solidFill>
                    <a:srgbClr val="000000"/>
                  </a:solidFill>
                  <a:latin typeface="Times New Roman" panose="02020603050405020304" pitchFamily="18" charset="0"/>
                  <a:ea typeface="宋体" panose="02010600030101010101" pitchFamily="2" charset="-122"/>
                  <a:cs typeface="+mn-cs"/>
                </a:rPr>
                <a:t>A/D</a:t>
              </a:r>
              <a:endParaRPr kumimoji="0" lang="en-US" altLang="zh-CN"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6" name="Text Box 8"/>
            <p:cNvSpPr txBox="1">
              <a:spLocks noChangeArrowheads="1"/>
            </p:cNvSpPr>
            <p:nvPr/>
          </p:nvSpPr>
          <p:spPr bwMode="auto">
            <a:xfrm>
              <a:off x="3264" y="2928"/>
              <a:ext cx="864" cy="237"/>
            </a:xfrm>
            <a:prstGeom prst="rect">
              <a:avLst/>
            </a:prstGeom>
            <a:noFill/>
            <a:ln w="9525">
              <a:solidFill>
                <a:schemeClr val="accent4">
                  <a:lumMod val="75000"/>
                </a:schemeClr>
              </a:solidFill>
              <a:miter lim="800000"/>
            </a:ln>
          </p:spPr>
          <p:txBody>
            <a:bodyPr>
              <a:spAutoFit/>
            </a:bodyPr>
            <a:lstStyle/>
            <a:p>
              <a:pPr marR="0" defTabSz="914400" eaLnBrk="1" hangingPunct="1">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转数计数器</a:t>
              </a:r>
              <a:endPar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p:txBody>
        </p:sp>
        <p:sp>
          <p:nvSpPr>
            <p:cNvPr id="7" name="Line 9"/>
            <p:cNvSpPr>
              <a:spLocks noChangeShapeType="1"/>
            </p:cNvSpPr>
            <p:nvPr/>
          </p:nvSpPr>
          <p:spPr bwMode="auto">
            <a:xfrm>
              <a:off x="3696" y="2432"/>
              <a:ext cx="0" cy="496"/>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Text Box 10"/>
            <p:cNvSpPr txBox="1">
              <a:spLocks noChangeArrowheads="1"/>
            </p:cNvSpPr>
            <p:nvPr/>
          </p:nvSpPr>
          <p:spPr bwMode="auto">
            <a:xfrm>
              <a:off x="4224" y="2928"/>
              <a:ext cx="864" cy="237"/>
            </a:xfrm>
            <a:prstGeom prst="rect">
              <a:avLst/>
            </a:prstGeom>
            <a:noFill/>
            <a:ln w="9525">
              <a:solidFill>
                <a:schemeClr val="accent4">
                  <a:lumMod val="75000"/>
                </a:schemeClr>
              </a:solidFill>
              <a:miter lim="800000"/>
            </a:ln>
          </p:spPr>
          <p:txBody>
            <a:bodyPr>
              <a:spAutoFit/>
            </a:bodyPr>
            <a:lstStyle/>
            <a:p>
              <a:pPr marR="0" defTabSz="914400" eaLnBrk="1" hangingPunct="1">
                <a:buClrTx/>
                <a:buSzTx/>
                <a:buFontTx/>
                <a:buNone/>
                <a:defRPr/>
              </a:pPr>
              <a:r>
                <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rPr>
                <a:t>流量传感器</a:t>
              </a:r>
              <a:endParaRPr kumimoji="0" lang="zh-CN" altLang="en-US" kern="1200" cap="none" spc="0" normalizeH="0" baseline="0" noProof="0" dirty="0">
                <a:solidFill>
                  <a:srgbClr val="000000"/>
                </a:solidFill>
                <a:latin typeface="Times New Roman" panose="02020603050405020304" pitchFamily="18" charset="0"/>
                <a:ea typeface="宋体" panose="02010600030101010101" pitchFamily="2" charset="-122"/>
                <a:cs typeface="+mn-cs"/>
              </a:endParaRPr>
            </a:p>
          </p:txBody>
        </p:sp>
        <p:sp>
          <p:nvSpPr>
            <p:cNvPr id="9" name="Line 11"/>
            <p:cNvSpPr>
              <a:spLocks noChangeShapeType="1"/>
            </p:cNvSpPr>
            <p:nvPr/>
          </p:nvSpPr>
          <p:spPr bwMode="auto">
            <a:xfrm>
              <a:off x="4560" y="2448"/>
              <a:ext cx="0" cy="48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Rectangle 12"/>
            <p:cNvSpPr>
              <a:spLocks noChangeArrowheads="1"/>
            </p:cNvSpPr>
            <p:nvPr/>
          </p:nvSpPr>
          <p:spPr bwMode="auto">
            <a:xfrm>
              <a:off x="528" y="3216"/>
              <a:ext cx="2256" cy="720"/>
            </a:xfrm>
            <a:prstGeom prst="rect">
              <a:avLst/>
            </a:prstGeom>
            <a:solidFill>
              <a:schemeClr val="accent1"/>
            </a:solidFill>
            <a:ln w="28575">
              <a:solidFill>
                <a:schemeClr val="accent4">
                  <a:lumMod val="75000"/>
                </a:schemeClr>
              </a:solidFill>
              <a:miter lim="800000"/>
            </a:ln>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微处理机</a:t>
              </a: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Line 13"/>
            <p:cNvSpPr>
              <a:spLocks noChangeShapeType="1"/>
            </p:cNvSpPr>
            <p:nvPr/>
          </p:nvSpPr>
          <p:spPr bwMode="auto">
            <a:xfrm>
              <a:off x="3696" y="3158"/>
              <a:ext cx="0" cy="192"/>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 name="Line 14"/>
            <p:cNvSpPr>
              <a:spLocks noChangeShapeType="1"/>
            </p:cNvSpPr>
            <p:nvPr/>
          </p:nvSpPr>
          <p:spPr bwMode="auto">
            <a:xfrm flipH="1">
              <a:off x="2784" y="3504"/>
              <a:ext cx="720" cy="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 name="Text Box 15"/>
            <p:cNvSpPr txBox="1">
              <a:spLocks noChangeArrowheads="1"/>
            </p:cNvSpPr>
            <p:nvPr/>
          </p:nvSpPr>
          <p:spPr bwMode="auto">
            <a:xfrm>
              <a:off x="614" y="1934"/>
              <a:ext cx="554" cy="237"/>
            </a:xfrm>
            <a:prstGeom prst="rect">
              <a:avLst/>
            </a:prstGeom>
            <a:noFill/>
            <a:ln w="9525">
              <a:solidFill>
                <a:schemeClr val="accent4">
                  <a:lumMod val="75000"/>
                </a:schemeClr>
              </a:solidFill>
              <a:miter lim="800000"/>
            </a:ln>
          </p:spPr>
          <p:txBody>
            <a:bodyPr wrap="none">
              <a:spAutoFit/>
            </a:bodyPr>
            <a:lstStyle/>
            <a:p>
              <a:pPr marR="0" defTabSz="914400" eaLnBrk="1" hangingPunct="1">
                <a:buClrTx/>
                <a:buSzTx/>
                <a:buFontTx/>
                <a:buNone/>
                <a:defRPr/>
              </a:pP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里程表</a:t>
              </a:r>
              <a:endPar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14" name="Text Box 16"/>
            <p:cNvSpPr txBox="1">
              <a:spLocks noChangeArrowheads="1"/>
            </p:cNvSpPr>
            <p:nvPr/>
          </p:nvSpPr>
          <p:spPr bwMode="auto">
            <a:xfrm>
              <a:off x="624" y="2304"/>
              <a:ext cx="554" cy="237"/>
            </a:xfrm>
            <a:prstGeom prst="rect">
              <a:avLst/>
            </a:prstGeom>
            <a:noFill/>
            <a:ln w="9525">
              <a:solidFill>
                <a:schemeClr val="accent4">
                  <a:lumMod val="75000"/>
                </a:schemeClr>
              </a:solidFill>
              <a:miter lim="800000"/>
            </a:ln>
          </p:spPr>
          <p:txBody>
            <a:bodyPr wrap="none">
              <a:spAutoFit/>
            </a:bodyPr>
            <a:lstStyle/>
            <a:p>
              <a:pPr marR="0" defTabSz="914400" eaLnBrk="1" hangingPunct="1">
                <a:buClrTx/>
                <a:buSzTx/>
                <a:buFontTx/>
                <a:buNone/>
                <a:defRPr/>
              </a:pP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车速表</a:t>
              </a:r>
              <a:endPar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15" name="Text Box 17"/>
            <p:cNvSpPr txBox="1">
              <a:spLocks noChangeArrowheads="1"/>
            </p:cNvSpPr>
            <p:nvPr/>
          </p:nvSpPr>
          <p:spPr bwMode="auto">
            <a:xfrm>
              <a:off x="624" y="2736"/>
              <a:ext cx="554" cy="237"/>
            </a:xfrm>
            <a:prstGeom prst="rect">
              <a:avLst/>
            </a:prstGeom>
            <a:noFill/>
            <a:ln w="9525">
              <a:solidFill>
                <a:schemeClr val="accent4">
                  <a:lumMod val="75000"/>
                </a:schemeClr>
              </a:solidFill>
              <a:miter lim="800000"/>
            </a:ln>
          </p:spPr>
          <p:txBody>
            <a:bodyPr wrap="none">
              <a:spAutoFit/>
            </a:bodyPr>
            <a:lstStyle/>
            <a:p>
              <a:pPr marR="0" defTabSz="914400" eaLnBrk="1" hangingPunct="1">
                <a:buClrTx/>
                <a:buSzTx/>
                <a:buFontTx/>
                <a:buNone/>
                <a:defRPr/>
              </a:pP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油效表</a:t>
              </a:r>
              <a:endPar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16" name="Line 18"/>
            <p:cNvSpPr>
              <a:spLocks noChangeShapeType="1"/>
            </p:cNvSpPr>
            <p:nvPr/>
          </p:nvSpPr>
          <p:spPr bwMode="auto">
            <a:xfrm flipV="1">
              <a:off x="1632" y="2016"/>
              <a:ext cx="0" cy="1200"/>
            </a:xfrm>
            <a:prstGeom prst="line">
              <a:avLst/>
            </a:prstGeom>
            <a:noFill/>
            <a:ln w="9525">
              <a:solidFill>
                <a:schemeClr val="accent4">
                  <a:lumMod val="75000"/>
                </a:schemeClr>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Line 19"/>
            <p:cNvSpPr>
              <a:spLocks noChangeShapeType="1"/>
            </p:cNvSpPr>
            <p:nvPr/>
          </p:nvSpPr>
          <p:spPr bwMode="auto">
            <a:xfrm flipH="1">
              <a:off x="1200" y="2016"/>
              <a:ext cx="432" cy="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Line 20"/>
            <p:cNvSpPr>
              <a:spLocks noChangeShapeType="1"/>
            </p:cNvSpPr>
            <p:nvPr/>
          </p:nvSpPr>
          <p:spPr bwMode="auto">
            <a:xfrm flipH="1">
              <a:off x="1200" y="2448"/>
              <a:ext cx="240" cy="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 name="Line 21"/>
            <p:cNvSpPr>
              <a:spLocks noChangeShapeType="1"/>
            </p:cNvSpPr>
            <p:nvPr/>
          </p:nvSpPr>
          <p:spPr bwMode="auto">
            <a:xfrm>
              <a:off x="4560" y="3168"/>
              <a:ext cx="0" cy="336"/>
            </a:xfrm>
            <a:prstGeom prst="line">
              <a:avLst/>
            </a:prstGeom>
            <a:noFill/>
            <a:ln w="9525">
              <a:solidFill>
                <a:schemeClr val="accent4">
                  <a:lumMod val="75000"/>
                </a:schemeClr>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Line 22"/>
            <p:cNvSpPr>
              <a:spLocks noChangeShapeType="1"/>
            </p:cNvSpPr>
            <p:nvPr/>
          </p:nvSpPr>
          <p:spPr bwMode="auto">
            <a:xfrm flipH="1">
              <a:off x="3984" y="3504"/>
              <a:ext cx="576" cy="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 name="Text Box 23"/>
            <p:cNvSpPr txBox="1">
              <a:spLocks noChangeArrowheads="1"/>
            </p:cNvSpPr>
            <p:nvPr/>
          </p:nvSpPr>
          <p:spPr bwMode="auto">
            <a:xfrm>
              <a:off x="2112" y="2352"/>
              <a:ext cx="1026" cy="237"/>
            </a:xfrm>
            <a:prstGeom prst="rect">
              <a:avLst/>
            </a:prstGeom>
            <a:noFill/>
            <a:ln w="9525">
              <a:solidFill>
                <a:schemeClr val="accent4">
                  <a:lumMod val="75000"/>
                </a:schemeClr>
              </a:solidFill>
              <a:miter lim="800000"/>
            </a:ln>
          </p:spPr>
          <p:txBody>
            <a:bodyPr wrap="none">
              <a:spAutoFit/>
            </a:bodyPr>
            <a:lstStyle/>
            <a:p>
              <a:pPr marR="0" defTabSz="914400" eaLnBrk="1" hangingPunct="1">
                <a:buClrTx/>
                <a:buSzTx/>
                <a:buFontTx/>
                <a:buNone/>
                <a:defRPr/>
              </a:pP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加速</a:t>
              </a:r>
              <a:r>
                <a:rPr kumimoji="0" lang="en-US" altLang="zh-CN" kern="1200" cap="none" spc="0" normalizeH="0" baseline="0" noProof="0">
                  <a:solidFill>
                    <a:srgbClr val="000000"/>
                  </a:solidFill>
                  <a:latin typeface="Times New Roman" panose="02020603050405020304" pitchFamily="18" charset="0"/>
                  <a:ea typeface="宋体" panose="02010600030101010101" pitchFamily="2" charset="-122"/>
                  <a:cs typeface="+mn-cs"/>
                </a:rPr>
                <a:t>/</a:t>
              </a: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减速指示</a:t>
              </a:r>
              <a:endPar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22" name="Text Box 24"/>
            <p:cNvSpPr txBox="1">
              <a:spLocks noChangeArrowheads="1"/>
            </p:cNvSpPr>
            <p:nvPr/>
          </p:nvSpPr>
          <p:spPr bwMode="auto">
            <a:xfrm>
              <a:off x="1776" y="2016"/>
              <a:ext cx="698" cy="237"/>
            </a:xfrm>
            <a:prstGeom prst="rect">
              <a:avLst/>
            </a:prstGeom>
            <a:noFill/>
            <a:ln w="9525">
              <a:solidFill>
                <a:schemeClr val="accent4">
                  <a:lumMod val="75000"/>
                </a:schemeClr>
              </a:solidFill>
              <a:miter lim="800000"/>
            </a:ln>
          </p:spPr>
          <p:txBody>
            <a:bodyPr wrap="none">
              <a:spAutoFit/>
            </a:bodyPr>
            <a:lstStyle/>
            <a:p>
              <a:pPr marR="0" defTabSz="914400" eaLnBrk="1" hangingPunct="1">
                <a:buClrTx/>
                <a:buSzTx/>
                <a:buFontTx/>
                <a:buNone/>
                <a:defRPr/>
              </a:pPr>
              <a:r>
                <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rPr>
                <a:t>超速报警</a:t>
              </a:r>
              <a:endParaRPr kumimoji="0" lang="zh-CN" altLang="en-US" kern="1200" cap="none" spc="0" normalizeH="0" baseline="0" noProof="0">
                <a:solidFill>
                  <a:srgbClr val="000000"/>
                </a:solidFill>
                <a:latin typeface="Times New Roman" panose="02020603050405020304" pitchFamily="18" charset="0"/>
                <a:ea typeface="宋体" panose="02010600030101010101" pitchFamily="2" charset="-122"/>
                <a:cs typeface="+mn-cs"/>
              </a:endParaRPr>
            </a:p>
          </p:txBody>
        </p:sp>
        <p:sp>
          <p:nvSpPr>
            <p:cNvPr id="23" name="Line 25"/>
            <p:cNvSpPr>
              <a:spLocks noChangeShapeType="1"/>
            </p:cNvSpPr>
            <p:nvPr/>
          </p:nvSpPr>
          <p:spPr bwMode="auto">
            <a:xfrm flipV="1">
              <a:off x="1968" y="2256"/>
              <a:ext cx="0" cy="96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Line 26"/>
            <p:cNvSpPr>
              <a:spLocks noChangeShapeType="1"/>
            </p:cNvSpPr>
            <p:nvPr/>
          </p:nvSpPr>
          <p:spPr bwMode="auto">
            <a:xfrm flipV="1">
              <a:off x="2352" y="2592"/>
              <a:ext cx="0" cy="624"/>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 name="Line 27"/>
            <p:cNvSpPr>
              <a:spLocks noChangeShapeType="1"/>
            </p:cNvSpPr>
            <p:nvPr/>
          </p:nvSpPr>
          <p:spPr bwMode="auto">
            <a:xfrm>
              <a:off x="1440" y="2448"/>
              <a:ext cx="0" cy="768"/>
            </a:xfrm>
            <a:prstGeom prst="line">
              <a:avLst/>
            </a:prstGeom>
            <a:noFill/>
            <a:ln w="9525">
              <a:solidFill>
                <a:schemeClr val="accent4">
                  <a:lumMod val="75000"/>
                </a:schemeClr>
              </a:solidFill>
              <a:roun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Line 28"/>
            <p:cNvSpPr>
              <a:spLocks noChangeShapeType="1"/>
            </p:cNvSpPr>
            <p:nvPr/>
          </p:nvSpPr>
          <p:spPr bwMode="auto">
            <a:xfrm flipV="1">
              <a:off x="864" y="2976"/>
              <a:ext cx="0" cy="240"/>
            </a:xfrm>
            <a:prstGeom prst="line">
              <a:avLst/>
            </a:prstGeom>
            <a:noFill/>
            <a:ln w="9525">
              <a:solidFill>
                <a:schemeClr val="accent4">
                  <a:lumMod val="75000"/>
                </a:schemeClr>
              </a:solidFill>
              <a:round/>
              <a:tailEnd type="triangle" w="med" len="med"/>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内容占位符 2"/>
          <p:cNvSpPr>
            <a:spLocks noGrp="1"/>
          </p:cNvSpPr>
          <p:nvPr>
            <p:ph idx="1"/>
          </p:nvPr>
        </p:nvSpPr>
        <p:spPr>
          <a:xfrm>
            <a:off x="428625" y="1214438"/>
            <a:ext cx="8143875" cy="4286250"/>
          </a:xfrm>
          <a:ln/>
        </p:spPr>
        <p:txBody>
          <a:bodyPr vert="horz" wrap="square" lIns="91440" tIns="45720" rIns="91440" bIns="45720" anchor="t" anchorCtr="0"/>
          <a:p>
            <a:pPr indent="0" algn="just" eaLnBrk="1" hangingPunct="1">
              <a:lnSpc>
                <a:spcPct val="120000"/>
              </a:lnSpc>
              <a:buSzPct val="6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数字仪表板系统的数据流图</a:t>
            </a:r>
            <a:endParaRPr lang="zh-CN" altLang="en-US" sz="2200" b="1" dirty="0">
              <a:latin typeface="宋体" panose="02010600030101010101" pitchFamily="2" charset="-122"/>
              <a:ea typeface="宋体" panose="02010600030101010101" pitchFamily="2" charset="-122"/>
              <a:cs typeface="+mn-cs"/>
            </a:endParaRPr>
          </a:p>
        </p:txBody>
      </p:sp>
      <p:pic>
        <p:nvPicPr>
          <p:cNvPr id="65539" name="Picture 4" descr="0311"/>
          <p:cNvPicPr/>
          <p:nvPr/>
        </p:nvPicPr>
        <p:blipFill>
          <a:blip r:embed="rId1"/>
          <a:stretch>
            <a:fillRect/>
          </a:stretch>
        </p:blipFill>
        <p:spPr>
          <a:xfrm>
            <a:off x="1712913" y="1643063"/>
            <a:ext cx="6840537" cy="4859337"/>
          </a:xfrm>
          <a:prstGeom prst="rect">
            <a:avLst/>
          </a:prstGeom>
          <a:noFill/>
          <a:ln w="9525">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内容占位符 2"/>
          <p:cNvSpPr>
            <a:spLocks noGrp="1"/>
          </p:cNvSpPr>
          <p:nvPr>
            <p:ph idx="1"/>
          </p:nvPr>
        </p:nvSpPr>
        <p:spPr>
          <a:xfrm>
            <a:off x="428625" y="1214438"/>
            <a:ext cx="8143875" cy="4286250"/>
          </a:xfrm>
          <a:ln/>
        </p:spPr>
        <p:txBody>
          <a:bodyPr vert="horz" wrap="square" lIns="91440" tIns="45720" rIns="91440" bIns="45720" anchor="t" anchorCtr="0"/>
          <a:p>
            <a:pPr indent="0" algn="just" eaLnBrk="1" hangingPunct="1">
              <a:lnSpc>
                <a:spcPct val="120000"/>
              </a:lnSpc>
              <a:buSzPct val="6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具有边界的数据流图</a:t>
            </a:r>
            <a:endParaRPr lang="zh-CN" altLang="en-US"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pic>
        <p:nvPicPr>
          <p:cNvPr id="66563" name="Picture 1028" descr="0312"/>
          <p:cNvPicPr preferRelativeResize="0"/>
          <p:nvPr/>
        </p:nvPicPr>
        <p:blipFill>
          <a:blip r:embed="rId1"/>
          <a:stretch>
            <a:fillRect/>
          </a:stretch>
        </p:blipFill>
        <p:spPr>
          <a:xfrm>
            <a:off x="1714500" y="1643063"/>
            <a:ext cx="6840538" cy="4859337"/>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内容占位符 2"/>
          <p:cNvSpPr>
            <a:spLocks noGrp="1"/>
          </p:cNvSpPr>
          <p:nvPr>
            <p:ph idx="1"/>
          </p:nvPr>
        </p:nvSpPr>
        <p:spPr>
          <a:xfrm>
            <a:off x="428625" y="1214438"/>
            <a:ext cx="8143875" cy="4286250"/>
          </a:xfrm>
          <a:ln/>
        </p:spPr>
        <p:txBody>
          <a:bodyPr vert="horz" wrap="square" lIns="91440" tIns="45720" rIns="91440" bIns="45720" anchor="t" anchorCtr="0"/>
          <a:p>
            <a:pPr indent="0" algn="just" eaLnBrk="1" hangingPunct="1">
              <a:lnSpc>
                <a:spcPct val="120000"/>
              </a:lnSpc>
              <a:buSzPct val="6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第一级分解</a:t>
            </a: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r>
              <a:rPr lang="zh-CN" altLang="en-US" sz="2200" b="1" dirty="0">
                <a:latin typeface="宋体" panose="02010600030101010101" pitchFamily="2" charset="-122"/>
                <a:ea typeface="宋体" panose="02010600030101010101" pitchFamily="2" charset="-122"/>
                <a:cs typeface="+mn-cs"/>
              </a:rPr>
              <a:t>第二级分解的方法</a:t>
            </a:r>
            <a:endParaRPr lang="en-US" altLang="zh-CN"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a:p>
            <a:pPr indent="0" algn="just" eaLnBrk="1" hangingPunct="1">
              <a:lnSpc>
                <a:spcPct val="120000"/>
              </a:lnSpc>
              <a:buSzPct val="60000"/>
              <a:buFont typeface="Wingdings" panose="05000000000000000000" pitchFamily="2" charset="2"/>
              <a:buNone/>
            </a:pPr>
            <a:endParaRPr lang="zh-CN" altLang="en-US" sz="2200" b="1" dirty="0">
              <a:latin typeface="宋体" panose="02010600030101010101" pitchFamily="2" charset="-122"/>
              <a:ea typeface="宋体" panose="02010600030101010101" pitchFamily="2" charset="-122"/>
              <a:cs typeface="+mn-cs"/>
            </a:endParaRPr>
          </a:p>
        </p:txBody>
      </p:sp>
      <p:pic>
        <p:nvPicPr>
          <p:cNvPr id="67587" name="Picture 2" descr="rj51"/>
          <p:cNvPicPr>
            <a:picLocks noChangeAspect="1"/>
          </p:cNvPicPr>
          <p:nvPr/>
        </p:nvPicPr>
        <p:blipFill>
          <a:blip r:embed="rId1"/>
          <a:stretch>
            <a:fillRect/>
          </a:stretch>
        </p:blipFill>
        <p:spPr>
          <a:xfrm>
            <a:off x="2714625" y="1285875"/>
            <a:ext cx="3286125" cy="2058988"/>
          </a:xfrm>
          <a:prstGeom prst="rect">
            <a:avLst/>
          </a:prstGeom>
          <a:noFill/>
          <a:ln w="9525">
            <a:noFill/>
          </a:ln>
        </p:spPr>
      </p:pic>
      <p:pic>
        <p:nvPicPr>
          <p:cNvPr id="67588" name="Picture 3" descr="rj52"/>
          <p:cNvPicPr>
            <a:picLocks noChangeAspect="1"/>
          </p:cNvPicPr>
          <p:nvPr/>
        </p:nvPicPr>
        <p:blipFill>
          <a:blip r:embed="rId2"/>
          <a:stretch>
            <a:fillRect/>
          </a:stretch>
        </p:blipFill>
        <p:spPr>
          <a:xfrm>
            <a:off x="3571875" y="3714750"/>
            <a:ext cx="3500438" cy="2717800"/>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5072063"/>
          </a:xfrm>
        </p:spPr>
        <p:txBody>
          <a:bodyPr vert="horz" wrap="square" lIns="91440" tIns="45720" rIns="91440" bIns="45720" numCol="1" anchor="t" anchorCtr="0" compatLnSpc="1"/>
          <a:lstStyle/>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第二级分解：未经精化</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rPr>
              <a:t>   </a:t>
            </a:r>
            <a:r>
              <a:rPr kumimoji="0" lang="zh-CN" altLang="en-US"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rPr>
              <a:t>输入结构            变换结构                 输出结构</a:t>
            </a:r>
            <a:endPar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68611" name="Picture 3"/>
          <p:cNvPicPr>
            <a:picLocks noChangeAspect="1"/>
          </p:cNvPicPr>
          <p:nvPr/>
        </p:nvPicPr>
        <p:blipFill>
          <a:blip r:embed="rId1"/>
          <a:stretch>
            <a:fillRect/>
          </a:stretch>
        </p:blipFill>
        <p:spPr>
          <a:xfrm>
            <a:off x="642938" y="1628775"/>
            <a:ext cx="8001000" cy="3943350"/>
          </a:xfrm>
          <a:prstGeom prst="rect">
            <a:avLst/>
          </a:prstGeom>
          <a:noFill/>
          <a:ln w="9525">
            <a:noFill/>
          </a:ln>
        </p:spPr>
      </p:pic>
      <p:sp>
        <p:nvSpPr>
          <p:cNvPr id="2" name="任意多边形 1"/>
          <p:cNvSpPr/>
          <p:nvPr/>
        </p:nvSpPr>
        <p:spPr>
          <a:xfrm>
            <a:off x="419100" y="3686175"/>
            <a:ext cx="1308100" cy="1330325"/>
          </a:xfrm>
          <a:custGeom>
            <a:avLst/>
            <a:gdLst>
              <a:gd name="connsiteX0" fmla="*/ 974174 w 1308003"/>
              <a:gd name="connsiteY0" fmla="*/ 43542 h 1329968"/>
              <a:gd name="connsiteX1" fmla="*/ 843546 w 1308003"/>
              <a:gd name="connsiteY1" fmla="*/ 14514 h 1329968"/>
              <a:gd name="connsiteX2" fmla="*/ 770974 w 1308003"/>
              <a:gd name="connsiteY2" fmla="*/ 0 h 1329968"/>
              <a:gd name="connsiteX3" fmla="*/ 480689 w 1308003"/>
              <a:gd name="connsiteY3" fmla="*/ 14514 h 1329968"/>
              <a:gd name="connsiteX4" fmla="*/ 393603 w 1308003"/>
              <a:gd name="connsiteY4" fmla="*/ 72571 h 1329968"/>
              <a:gd name="connsiteX5" fmla="*/ 350060 w 1308003"/>
              <a:gd name="connsiteY5" fmla="*/ 87085 h 1329968"/>
              <a:gd name="connsiteX6" fmla="*/ 262974 w 1308003"/>
              <a:gd name="connsiteY6" fmla="*/ 130628 h 1329968"/>
              <a:gd name="connsiteX7" fmla="*/ 175889 w 1308003"/>
              <a:gd name="connsiteY7" fmla="*/ 203200 h 1329968"/>
              <a:gd name="connsiteX8" fmla="*/ 132346 w 1308003"/>
              <a:gd name="connsiteY8" fmla="*/ 217714 h 1329968"/>
              <a:gd name="connsiteX9" fmla="*/ 103317 w 1308003"/>
              <a:gd name="connsiteY9" fmla="*/ 261257 h 1329968"/>
              <a:gd name="connsiteX10" fmla="*/ 59774 w 1308003"/>
              <a:gd name="connsiteY10" fmla="*/ 304800 h 1329968"/>
              <a:gd name="connsiteX11" fmla="*/ 45260 w 1308003"/>
              <a:gd name="connsiteY11" fmla="*/ 348342 h 1329968"/>
              <a:gd name="connsiteX12" fmla="*/ 16232 w 1308003"/>
              <a:gd name="connsiteY12" fmla="*/ 391885 h 1329968"/>
              <a:gd name="connsiteX13" fmla="*/ 1717 w 1308003"/>
              <a:gd name="connsiteY13" fmla="*/ 464457 h 1329968"/>
              <a:gd name="connsiteX14" fmla="*/ 30746 w 1308003"/>
              <a:gd name="connsiteY14" fmla="*/ 885371 h 1329968"/>
              <a:gd name="connsiteX15" fmla="*/ 59774 w 1308003"/>
              <a:gd name="connsiteY15" fmla="*/ 972457 h 1329968"/>
              <a:gd name="connsiteX16" fmla="*/ 74289 w 1308003"/>
              <a:gd name="connsiteY16" fmla="*/ 1016000 h 1329968"/>
              <a:gd name="connsiteX17" fmla="*/ 146860 w 1308003"/>
              <a:gd name="connsiteY17" fmla="*/ 1103085 h 1329968"/>
              <a:gd name="connsiteX18" fmla="*/ 175889 w 1308003"/>
              <a:gd name="connsiteY18" fmla="*/ 1146628 h 1329968"/>
              <a:gd name="connsiteX19" fmla="*/ 262974 w 1308003"/>
              <a:gd name="connsiteY19" fmla="*/ 1204685 h 1329968"/>
              <a:gd name="connsiteX20" fmla="*/ 422632 w 1308003"/>
              <a:gd name="connsiteY20" fmla="*/ 1262742 h 1329968"/>
              <a:gd name="connsiteX21" fmla="*/ 480689 w 1308003"/>
              <a:gd name="connsiteY21" fmla="*/ 1277257 h 1329968"/>
              <a:gd name="connsiteX22" fmla="*/ 683889 w 1308003"/>
              <a:gd name="connsiteY22" fmla="*/ 1306285 h 1329968"/>
              <a:gd name="connsiteX23" fmla="*/ 901603 w 1308003"/>
              <a:gd name="connsiteY23" fmla="*/ 1306285 h 1329968"/>
              <a:gd name="connsiteX24" fmla="*/ 945146 w 1308003"/>
              <a:gd name="connsiteY24" fmla="*/ 1262742 h 1329968"/>
              <a:gd name="connsiteX25" fmla="*/ 988689 w 1308003"/>
              <a:gd name="connsiteY25" fmla="*/ 1248228 h 1329968"/>
              <a:gd name="connsiteX26" fmla="*/ 1075774 w 1308003"/>
              <a:gd name="connsiteY26" fmla="*/ 1204685 h 1329968"/>
              <a:gd name="connsiteX27" fmla="*/ 1119317 w 1308003"/>
              <a:gd name="connsiteY27" fmla="*/ 1117600 h 1329968"/>
              <a:gd name="connsiteX28" fmla="*/ 1148346 w 1308003"/>
              <a:gd name="connsiteY28" fmla="*/ 1030514 h 1329968"/>
              <a:gd name="connsiteX29" fmla="*/ 1162860 w 1308003"/>
              <a:gd name="connsiteY29" fmla="*/ 986971 h 1329968"/>
              <a:gd name="connsiteX30" fmla="*/ 1220917 w 1308003"/>
              <a:gd name="connsiteY30" fmla="*/ 899885 h 1329968"/>
              <a:gd name="connsiteX31" fmla="*/ 1264460 w 1308003"/>
              <a:gd name="connsiteY31" fmla="*/ 812800 h 1329968"/>
              <a:gd name="connsiteX32" fmla="*/ 1278974 w 1308003"/>
              <a:gd name="connsiteY32" fmla="*/ 754742 h 1329968"/>
              <a:gd name="connsiteX33" fmla="*/ 1308003 w 1308003"/>
              <a:gd name="connsiteY33" fmla="*/ 566057 h 1329968"/>
              <a:gd name="connsiteX34" fmla="*/ 1293489 w 1308003"/>
              <a:gd name="connsiteY34" fmla="*/ 275771 h 1329968"/>
              <a:gd name="connsiteX35" fmla="*/ 1235432 w 1308003"/>
              <a:gd name="connsiteY35" fmla="*/ 188685 h 1329968"/>
              <a:gd name="connsiteX36" fmla="*/ 1148346 w 1308003"/>
              <a:gd name="connsiteY36" fmla="*/ 130628 h 1329968"/>
              <a:gd name="connsiteX37" fmla="*/ 1061260 w 1308003"/>
              <a:gd name="connsiteY37" fmla="*/ 87085 h 1329968"/>
              <a:gd name="connsiteX38" fmla="*/ 974174 w 1308003"/>
              <a:gd name="connsiteY38" fmla="*/ 72571 h 1329968"/>
              <a:gd name="connsiteX39" fmla="*/ 974174 w 1308003"/>
              <a:gd name="connsiteY39" fmla="*/ 43542 h 132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08003" h="1329968">
                <a:moveTo>
                  <a:pt x="974174" y="43542"/>
                </a:moveTo>
                <a:cubicBezTo>
                  <a:pt x="755280" y="-236"/>
                  <a:pt x="1028037" y="55511"/>
                  <a:pt x="843546" y="14514"/>
                </a:cubicBezTo>
                <a:cubicBezTo>
                  <a:pt x="819464" y="9163"/>
                  <a:pt x="795165" y="4838"/>
                  <a:pt x="770974" y="0"/>
                </a:cubicBezTo>
                <a:cubicBezTo>
                  <a:pt x="674212" y="4838"/>
                  <a:pt x="575828" y="-3782"/>
                  <a:pt x="480689" y="14514"/>
                </a:cubicBezTo>
                <a:cubicBezTo>
                  <a:pt x="446429" y="21102"/>
                  <a:pt x="426701" y="61539"/>
                  <a:pt x="393603" y="72571"/>
                </a:cubicBezTo>
                <a:lnTo>
                  <a:pt x="350060" y="87085"/>
                </a:lnTo>
                <a:cubicBezTo>
                  <a:pt x="225267" y="170282"/>
                  <a:pt x="383162" y="70533"/>
                  <a:pt x="262974" y="130628"/>
                </a:cubicBezTo>
                <a:cubicBezTo>
                  <a:pt x="168005" y="178113"/>
                  <a:pt x="272185" y="139003"/>
                  <a:pt x="175889" y="203200"/>
                </a:cubicBezTo>
                <a:cubicBezTo>
                  <a:pt x="163159" y="211687"/>
                  <a:pt x="146860" y="212876"/>
                  <a:pt x="132346" y="217714"/>
                </a:cubicBezTo>
                <a:cubicBezTo>
                  <a:pt x="122670" y="232228"/>
                  <a:pt x="114484" y="247856"/>
                  <a:pt x="103317" y="261257"/>
                </a:cubicBezTo>
                <a:cubicBezTo>
                  <a:pt x="90176" y="277026"/>
                  <a:pt x="71160" y="287721"/>
                  <a:pt x="59774" y="304800"/>
                </a:cubicBezTo>
                <a:cubicBezTo>
                  <a:pt x="51288" y="317530"/>
                  <a:pt x="52102" y="334658"/>
                  <a:pt x="45260" y="348342"/>
                </a:cubicBezTo>
                <a:cubicBezTo>
                  <a:pt x="37459" y="363944"/>
                  <a:pt x="25908" y="377371"/>
                  <a:pt x="16232" y="391885"/>
                </a:cubicBezTo>
                <a:cubicBezTo>
                  <a:pt x="11394" y="416076"/>
                  <a:pt x="1717" y="439787"/>
                  <a:pt x="1717" y="464457"/>
                </a:cubicBezTo>
                <a:cubicBezTo>
                  <a:pt x="1717" y="618718"/>
                  <a:pt x="-10603" y="747539"/>
                  <a:pt x="30746" y="885371"/>
                </a:cubicBezTo>
                <a:cubicBezTo>
                  <a:pt x="39538" y="914679"/>
                  <a:pt x="50098" y="943428"/>
                  <a:pt x="59774" y="972457"/>
                </a:cubicBezTo>
                <a:cubicBezTo>
                  <a:pt x="64612" y="986971"/>
                  <a:pt x="65802" y="1003270"/>
                  <a:pt x="74289" y="1016000"/>
                </a:cubicBezTo>
                <a:cubicBezTo>
                  <a:pt x="146359" y="1124104"/>
                  <a:pt x="53732" y="991333"/>
                  <a:pt x="146860" y="1103085"/>
                </a:cubicBezTo>
                <a:cubicBezTo>
                  <a:pt x="158027" y="1116486"/>
                  <a:pt x="162761" y="1135141"/>
                  <a:pt x="175889" y="1146628"/>
                </a:cubicBezTo>
                <a:cubicBezTo>
                  <a:pt x="202145" y="1169602"/>
                  <a:pt x="233946" y="1185333"/>
                  <a:pt x="262974" y="1204685"/>
                </a:cubicBezTo>
                <a:cubicBezTo>
                  <a:pt x="339714" y="1255845"/>
                  <a:pt x="289591" y="1229482"/>
                  <a:pt x="422632" y="1262742"/>
                </a:cubicBezTo>
                <a:cubicBezTo>
                  <a:pt x="441984" y="1267580"/>
                  <a:pt x="460941" y="1274436"/>
                  <a:pt x="480689" y="1277257"/>
                </a:cubicBezTo>
                <a:lnTo>
                  <a:pt x="683889" y="1306285"/>
                </a:lnTo>
                <a:cubicBezTo>
                  <a:pt x="767501" y="1334157"/>
                  <a:pt x="770061" y="1341363"/>
                  <a:pt x="901603" y="1306285"/>
                </a:cubicBezTo>
                <a:cubicBezTo>
                  <a:pt x="921436" y="1300996"/>
                  <a:pt x="928067" y="1274128"/>
                  <a:pt x="945146" y="1262742"/>
                </a:cubicBezTo>
                <a:cubicBezTo>
                  <a:pt x="957876" y="1254255"/>
                  <a:pt x="975005" y="1255070"/>
                  <a:pt x="988689" y="1248228"/>
                </a:cubicBezTo>
                <a:cubicBezTo>
                  <a:pt x="1101245" y="1191951"/>
                  <a:pt x="966320" y="1241172"/>
                  <a:pt x="1075774" y="1204685"/>
                </a:cubicBezTo>
                <a:cubicBezTo>
                  <a:pt x="1128714" y="1045871"/>
                  <a:pt x="1044281" y="1286430"/>
                  <a:pt x="1119317" y="1117600"/>
                </a:cubicBezTo>
                <a:cubicBezTo>
                  <a:pt x="1131744" y="1089638"/>
                  <a:pt x="1138670" y="1059543"/>
                  <a:pt x="1148346" y="1030514"/>
                </a:cubicBezTo>
                <a:cubicBezTo>
                  <a:pt x="1153184" y="1016000"/>
                  <a:pt x="1154373" y="999701"/>
                  <a:pt x="1162860" y="986971"/>
                </a:cubicBezTo>
                <a:cubicBezTo>
                  <a:pt x="1182212" y="957942"/>
                  <a:pt x="1209884" y="932983"/>
                  <a:pt x="1220917" y="899885"/>
                </a:cubicBezTo>
                <a:cubicBezTo>
                  <a:pt x="1240948" y="839794"/>
                  <a:pt x="1226945" y="869072"/>
                  <a:pt x="1264460" y="812800"/>
                </a:cubicBezTo>
                <a:cubicBezTo>
                  <a:pt x="1269298" y="793447"/>
                  <a:pt x="1275941" y="774458"/>
                  <a:pt x="1278974" y="754742"/>
                </a:cubicBezTo>
                <a:cubicBezTo>
                  <a:pt x="1312408" y="537421"/>
                  <a:pt x="1275252" y="697062"/>
                  <a:pt x="1308003" y="566057"/>
                </a:cubicBezTo>
                <a:cubicBezTo>
                  <a:pt x="1303165" y="469295"/>
                  <a:pt x="1301882" y="372290"/>
                  <a:pt x="1293489" y="275771"/>
                </a:cubicBezTo>
                <a:cubicBezTo>
                  <a:pt x="1289975" y="235366"/>
                  <a:pt x="1266324" y="212712"/>
                  <a:pt x="1235432" y="188685"/>
                </a:cubicBezTo>
                <a:cubicBezTo>
                  <a:pt x="1207893" y="167266"/>
                  <a:pt x="1177375" y="149980"/>
                  <a:pt x="1148346" y="130628"/>
                </a:cubicBezTo>
                <a:cubicBezTo>
                  <a:pt x="1109205" y="104534"/>
                  <a:pt x="1106326" y="97100"/>
                  <a:pt x="1061260" y="87085"/>
                </a:cubicBezTo>
                <a:cubicBezTo>
                  <a:pt x="1032532" y="80701"/>
                  <a:pt x="1003203" y="77409"/>
                  <a:pt x="974174" y="72571"/>
                </a:cubicBezTo>
                <a:lnTo>
                  <a:pt x="974174" y="43542"/>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 name="任意多边形 2"/>
          <p:cNvSpPr/>
          <p:nvPr/>
        </p:nvSpPr>
        <p:spPr>
          <a:xfrm>
            <a:off x="2466975" y="3465513"/>
            <a:ext cx="1625600" cy="1439863"/>
          </a:xfrm>
          <a:custGeom>
            <a:avLst/>
            <a:gdLst>
              <a:gd name="connsiteX0" fmla="*/ 754742 w 1625600"/>
              <a:gd name="connsiteY0" fmla="*/ 119573 h 1440373"/>
              <a:gd name="connsiteX1" fmla="*/ 682171 w 1625600"/>
              <a:gd name="connsiteY1" fmla="*/ 90544 h 1440373"/>
              <a:gd name="connsiteX2" fmla="*/ 551542 w 1625600"/>
              <a:gd name="connsiteY2" fmla="*/ 47001 h 1440373"/>
              <a:gd name="connsiteX3" fmla="*/ 449942 w 1625600"/>
              <a:gd name="connsiteY3" fmla="*/ 32487 h 1440373"/>
              <a:gd name="connsiteX4" fmla="*/ 159657 w 1625600"/>
              <a:gd name="connsiteY4" fmla="*/ 17973 h 1440373"/>
              <a:gd name="connsiteX5" fmla="*/ 116114 w 1625600"/>
              <a:gd name="connsiteY5" fmla="*/ 47001 h 1440373"/>
              <a:gd name="connsiteX6" fmla="*/ 43542 w 1625600"/>
              <a:gd name="connsiteY6" fmla="*/ 134087 h 1440373"/>
              <a:gd name="connsiteX7" fmla="*/ 14514 w 1625600"/>
              <a:gd name="connsiteY7" fmla="*/ 221173 h 1440373"/>
              <a:gd name="connsiteX8" fmla="*/ 0 w 1625600"/>
              <a:gd name="connsiteY8" fmla="*/ 264715 h 1440373"/>
              <a:gd name="connsiteX9" fmla="*/ 14514 w 1625600"/>
              <a:gd name="connsiteY9" fmla="*/ 395344 h 1440373"/>
              <a:gd name="connsiteX10" fmla="*/ 29028 w 1625600"/>
              <a:gd name="connsiteY10" fmla="*/ 467915 h 1440373"/>
              <a:gd name="connsiteX11" fmla="*/ 43542 w 1625600"/>
              <a:gd name="connsiteY11" fmla="*/ 555001 h 1440373"/>
              <a:gd name="connsiteX12" fmla="*/ 58057 w 1625600"/>
              <a:gd name="connsiteY12" fmla="*/ 671115 h 1440373"/>
              <a:gd name="connsiteX13" fmla="*/ 101600 w 1625600"/>
              <a:gd name="connsiteY13" fmla="*/ 801744 h 1440373"/>
              <a:gd name="connsiteX14" fmla="*/ 145142 w 1625600"/>
              <a:gd name="connsiteY14" fmla="*/ 888830 h 1440373"/>
              <a:gd name="connsiteX15" fmla="*/ 159657 w 1625600"/>
              <a:gd name="connsiteY15" fmla="*/ 932373 h 1440373"/>
              <a:gd name="connsiteX16" fmla="*/ 217714 w 1625600"/>
              <a:gd name="connsiteY16" fmla="*/ 1019458 h 1440373"/>
              <a:gd name="connsiteX17" fmla="*/ 232228 w 1625600"/>
              <a:gd name="connsiteY17" fmla="*/ 1063001 h 1440373"/>
              <a:gd name="connsiteX18" fmla="*/ 348342 w 1625600"/>
              <a:gd name="connsiteY18" fmla="*/ 1193630 h 1440373"/>
              <a:gd name="connsiteX19" fmla="*/ 420914 w 1625600"/>
              <a:gd name="connsiteY19" fmla="*/ 1266201 h 1440373"/>
              <a:gd name="connsiteX20" fmla="*/ 449942 w 1625600"/>
              <a:gd name="connsiteY20" fmla="*/ 1309744 h 1440373"/>
              <a:gd name="connsiteX21" fmla="*/ 580571 w 1625600"/>
              <a:gd name="connsiteY21" fmla="*/ 1382315 h 1440373"/>
              <a:gd name="connsiteX22" fmla="*/ 638628 w 1625600"/>
              <a:gd name="connsiteY22" fmla="*/ 1396830 h 1440373"/>
              <a:gd name="connsiteX23" fmla="*/ 899885 w 1625600"/>
              <a:gd name="connsiteY23" fmla="*/ 1440373 h 1440373"/>
              <a:gd name="connsiteX24" fmla="*/ 1175657 w 1625600"/>
              <a:gd name="connsiteY24" fmla="*/ 1425858 h 1440373"/>
              <a:gd name="connsiteX25" fmla="*/ 1219200 w 1625600"/>
              <a:gd name="connsiteY25" fmla="*/ 1411344 h 1440373"/>
              <a:gd name="connsiteX26" fmla="*/ 1277257 w 1625600"/>
              <a:gd name="connsiteY26" fmla="*/ 1396830 h 1440373"/>
              <a:gd name="connsiteX27" fmla="*/ 1320800 w 1625600"/>
              <a:gd name="connsiteY27" fmla="*/ 1367801 h 1440373"/>
              <a:gd name="connsiteX28" fmla="*/ 1407885 w 1625600"/>
              <a:gd name="connsiteY28" fmla="*/ 1324258 h 1440373"/>
              <a:gd name="connsiteX29" fmla="*/ 1436914 w 1625600"/>
              <a:gd name="connsiteY29" fmla="*/ 1280715 h 1440373"/>
              <a:gd name="connsiteX30" fmla="*/ 1480457 w 1625600"/>
              <a:gd name="connsiteY30" fmla="*/ 1251687 h 1440373"/>
              <a:gd name="connsiteX31" fmla="*/ 1494971 w 1625600"/>
              <a:gd name="connsiteY31" fmla="*/ 1208144 h 1440373"/>
              <a:gd name="connsiteX32" fmla="*/ 1524000 w 1625600"/>
              <a:gd name="connsiteY32" fmla="*/ 1164601 h 1440373"/>
              <a:gd name="connsiteX33" fmla="*/ 1582057 w 1625600"/>
              <a:gd name="connsiteY33" fmla="*/ 1033973 h 1440373"/>
              <a:gd name="connsiteX34" fmla="*/ 1625600 w 1625600"/>
              <a:gd name="connsiteY34" fmla="*/ 845287 h 1440373"/>
              <a:gd name="connsiteX35" fmla="*/ 1596571 w 1625600"/>
              <a:gd name="connsiteY35" fmla="*/ 496944 h 1440373"/>
              <a:gd name="connsiteX36" fmla="*/ 1582057 w 1625600"/>
              <a:gd name="connsiteY36" fmla="*/ 453401 h 1440373"/>
              <a:gd name="connsiteX37" fmla="*/ 1538514 w 1625600"/>
              <a:gd name="connsiteY37" fmla="*/ 409858 h 1440373"/>
              <a:gd name="connsiteX38" fmla="*/ 1509485 w 1625600"/>
              <a:gd name="connsiteY38" fmla="*/ 366315 h 1440373"/>
              <a:gd name="connsiteX39" fmla="*/ 1465942 w 1625600"/>
              <a:gd name="connsiteY39" fmla="*/ 351801 h 1440373"/>
              <a:gd name="connsiteX40" fmla="*/ 1407885 w 1625600"/>
              <a:gd name="connsiteY40" fmla="*/ 322773 h 1440373"/>
              <a:gd name="connsiteX41" fmla="*/ 1335314 w 1625600"/>
              <a:gd name="connsiteY41" fmla="*/ 279230 h 1440373"/>
              <a:gd name="connsiteX42" fmla="*/ 1204685 w 1625600"/>
              <a:gd name="connsiteY42" fmla="*/ 235687 h 1440373"/>
              <a:gd name="connsiteX43" fmla="*/ 1161142 w 1625600"/>
              <a:gd name="connsiteY43" fmla="*/ 221173 h 1440373"/>
              <a:gd name="connsiteX44" fmla="*/ 1103085 w 1625600"/>
              <a:gd name="connsiteY44" fmla="*/ 206658 h 1440373"/>
              <a:gd name="connsiteX45" fmla="*/ 972457 w 1625600"/>
              <a:gd name="connsiteY45" fmla="*/ 163115 h 1440373"/>
              <a:gd name="connsiteX46" fmla="*/ 914400 w 1625600"/>
              <a:gd name="connsiteY46" fmla="*/ 148601 h 1440373"/>
              <a:gd name="connsiteX47" fmla="*/ 827314 w 1625600"/>
              <a:gd name="connsiteY47" fmla="*/ 119573 h 1440373"/>
              <a:gd name="connsiteX48" fmla="*/ 783771 w 1625600"/>
              <a:gd name="connsiteY48" fmla="*/ 105058 h 1440373"/>
              <a:gd name="connsiteX49" fmla="*/ 754742 w 1625600"/>
              <a:gd name="connsiteY49" fmla="*/ 119573 h 1440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625600" h="1440373">
                <a:moveTo>
                  <a:pt x="754742" y="119573"/>
                </a:moveTo>
                <a:cubicBezTo>
                  <a:pt x="730552" y="109897"/>
                  <a:pt x="706656" y="99448"/>
                  <a:pt x="682171" y="90544"/>
                </a:cubicBezTo>
                <a:cubicBezTo>
                  <a:pt x="682133" y="90530"/>
                  <a:pt x="573333" y="54265"/>
                  <a:pt x="551542" y="47001"/>
                </a:cubicBezTo>
                <a:cubicBezTo>
                  <a:pt x="519087" y="36183"/>
                  <a:pt x="483809" y="37325"/>
                  <a:pt x="449942" y="32487"/>
                </a:cubicBezTo>
                <a:cubicBezTo>
                  <a:pt x="298436" y="-18016"/>
                  <a:pt x="393378" y="1278"/>
                  <a:pt x="159657" y="17973"/>
                </a:cubicBezTo>
                <a:cubicBezTo>
                  <a:pt x="145143" y="27649"/>
                  <a:pt x="129515" y="35834"/>
                  <a:pt x="116114" y="47001"/>
                </a:cubicBezTo>
                <a:cubicBezTo>
                  <a:pt x="74206" y="81924"/>
                  <a:pt x="72085" y="91274"/>
                  <a:pt x="43542" y="134087"/>
                </a:cubicBezTo>
                <a:lnTo>
                  <a:pt x="14514" y="221173"/>
                </a:lnTo>
                <a:lnTo>
                  <a:pt x="0" y="264715"/>
                </a:lnTo>
                <a:cubicBezTo>
                  <a:pt x="4838" y="308258"/>
                  <a:pt x="8318" y="351973"/>
                  <a:pt x="14514" y="395344"/>
                </a:cubicBezTo>
                <a:cubicBezTo>
                  <a:pt x="18003" y="419765"/>
                  <a:pt x="24615" y="443644"/>
                  <a:pt x="29028" y="467915"/>
                </a:cubicBezTo>
                <a:cubicBezTo>
                  <a:pt x="34292" y="496869"/>
                  <a:pt x="39380" y="525868"/>
                  <a:pt x="43542" y="555001"/>
                </a:cubicBezTo>
                <a:cubicBezTo>
                  <a:pt x="49058" y="593615"/>
                  <a:pt x="49884" y="632975"/>
                  <a:pt x="58057" y="671115"/>
                </a:cubicBezTo>
                <a:cubicBezTo>
                  <a:pt x="58062" y="671139"/>
                  <a:pt x="94339" y="779961"/>
                  <a:pt x="101600" y="801744"/>
                </a:cubicBezTo>
                <a:cubicBezTo>
                  <a:pt x="138083" y="911191"/>
                  <a:pt x="88869" y="776283"/>
                  <a:pt x="145142" y="888830"/>
                </a:cubicBezTo>
                <a:cubicBezTo>
                  <a:pt x="151984" y="902514"/>
                  <a:pt x="152227" y="918999"/>
                  <a:pt x="159657" y="932373"/>
                </a:cubicBezTo>
                <a:cubicBezTo>
                  <a:pt x="176600" y="962870"/>
                  <a:pt x="217714" y="1019458"/>
                  <a:pt x="217714" y="1019458"/>
                </a:cubicBezTo>
                <a:cubicBezTo>
                  <a:pt x="222552" y="1033972"/>
                  <a:pt x="225386" y="1049317"/>
                  <a:pt x="232228" y="1063001"/>
                </a:cubicBezTo>
                <a:cubicBezTo>
                  <a:pt x="258127" y="1114800"/>
                  <a:pt x="309879" y="1155166"/>
                  <a:pt x="348342" y="1193630"/>
                </a:cubicBezTo>
                <a:cubicBezTo>
                  <a:pt x="445097" y="1290386"/>
                  <a:pt x="304807" y="1188798"/>
                  <a:pt x="420914" y="1266201"/>
                </a:cubicBezTo>
                <a:cubicBezTo>
                  <a:pt x="430590" y="1280715"/>
                  <a:pt x="436814" y="1298257"/>
                  <a:pt x="449942" y="1309744"/>
                </a:cubicBezTo>
                <a:cubicBezTo>
                  <a:pt x="500349" y="1353850"/>
                  <a:pt x="525597" y="1366608"/>
                  <a:pt x="580571" y="1382315"/>
                </a:cubicBezTo>
                <a:cubicBezTo>
                  <a:pt x="599751" y="1387795"/>
                  <a:pt x="619704" y="1390522"/>
                  <a:pt x="638628" y="1396830"/>
                </a:cubicBezTo>
                <a:cubicBezTo>
                  <a:pt x="803861" y="1451908"/>
                  <a:pt x="602682" y="1417510"/>
                  <a:pt x="899885" y="1440373"/>
                </a:cubicBezTo>
                <a:cubicBezTo>
                  <a:pt x="991809" y="1435535"/>
                  <a:pt x="1083984" y="1434192"/>
                  <a:pt x="1175657" y="1425858"/>
                </a:cubicBezTo>
                <a:cubicBezTo>
                  <a:pt x="1190894" y="1424473"/>
                  <a:pt x="1204489" y="1415547"/>
                  <a:pt x="1219200" y="1411344"/>
                </a:cubicBezTo>
                <a:cubicBezTo>
                  <a:pt x="1238380" y="1405864"/>
                  <a:pt x="1257905" y="1401668"/>
                  <a:pt x="1277257" y="1396830"/>
                </a:cubicBezTo>
                <a:cubicBezTo>
                  <a:pt x="1291771" y="1387154"/>
                  <a:pt x="1305198" y="1375602"/>
                  <a:pt x="1320800" y="1367801"/>
                </a:cubicBezTo>
                <a:cubicBezTo>
                  <a:pt x="1440983" y="1307709"/>
                  <a:pt x="1283095" y="1407452"/>
                  <a:pt x="1407885" y="1324258"/>
                </a:cubicBezTo>
                <a:cubicBezTo>
                  <a:pt x="1417561" y="1309744"/>
                  <a:pt x="1424579" y="1293050"/>
                  <a:pt x="1436914" y="1280715"/>
                </a:cubicBezTo>
                <a:cubicBezTo>
                  <a:pt x="1449249" y="1268380"/>
                  <a:pt x="1469560" y="1265308"/>
                  <a:pt x="1480457" y="1251687"/>
                </a:cubicBezTo>
                <a:cubicBezTo>
                  <a:pt x="1490014" y="1239740"/>
                  <a:pt x="1488129" y="1221828"/>
                  <a:pt x="1494971" y="1208144"/>
                </a:cubicBezTo>
                <a:cubicBezTo>
                  <a:pt x="1502772" y="1192542"/>
                  <a:pt x="1514324" y="1179115"/>
                  <a:pt x="1524000" y="1164601"/>
                </a:cubicBezTo>
                <a:cubicBezTo>
                  <a:pt x="1558544" y="1060966"/>
                  <a:pt x="1536054" y="1102974"/>
                  <a:pt x="1582057" y="1033973"/>
                </a:cubicBezTo>
                <a:cubicBezTo>
                  <a:pt x="1617068" y="893925"/>
                  <a:pt x="1603260" y="956979"/>
                  <a:pt x="1625600" y="845287"/>
                </a:cubicBezTo>
                <a:cubicBezTo>
                  <a:pt x="1615683" y="646966"/>
                  <a:pt x="1633430" y="625954"/>
                  <a:pt x="1596571" y="496944"/>
                </a:cubicBezTo>
                <a:cubicBezTo>
                  <a:pt x="1592368" y="482233"/>
                  <a:pt x="1590544" y="466131"/>
                  <a:pt x="1582057" y="453401"/>
                </a:cubicBezTo>
                <a:cubicBezTo>
                  <a:pt x="1570671" y="436322"/>
                  <a:pt x="1551655" y="425627"/>
                  <a:pt x="1538514" y="409858"/>
                </a:cubicBezTo>
                <a:cubicBezTo>
                  <a:pt x="1527347" y="396457"/>
                  <a:pt x="1523107" y="377212"/>
                  <a:pt x="1509485" y="366315"/>
                </a:cubicBezTo>
                <a:cubicBezTo>
                  <a:pt x="1497538" y="356758"/>
                  <a:pt x="1480004" y="357828"/>
                  <a:pt x="1465942" y="351801"/>
                </a:cubicBezTo>
                <a:cubicBezTo>
                  <a:pt x="1446055" y="343278"/>
                  <a:pt x="1426799" y="333281"/>
                  <a:pt x="1407885" y="322773"/>
                </a:cubicBezTo>
                <a:cubicBezTo>
                  <a:pt x="1383224" y="309073"/>
                  <a:pt x="1361244" y="290343"/>
                  <a:pt x="1335314" y="279230"/>
                </a:cubicBezTo>
                <a:cubicBezTo>
                  <a:pt x="1293127" y="261150"/>
                  <a:pt x="1248228" y="250201"/>
                  <a:pt x="1204685" y="235687"/>
                </a:cubicBezTo>
                <a:cubicBezTo>
                  <a:pt x="1190171" y="230849"/>
                  <a:pt x="1175985" y="224884"/>
                  <a:pt x="1161142" y="221173"/>
                </a:cubicBezTo>
                <a:cubicBezTo>
                  <a:pt x="1141790" y="216335"/>
                  <a:pt x="1122192" y="212390"/>
                  <a:pt x="1103085" y="206658"/>
                </a:cubicBezTo>
                <a:cubicBezTo>
                  <a:pt x="1103027" y="206641"/>
                  <a:pt x="994257" y="170382"/>
                  <a:pt x="972457" y="163115"/>
                </a:cubicBezTo>
                <a:cubicBezTo>
                  <a:pt x="953533" y="156807"/>
                  <a:pt x="933507" y="154333"/>
                  <a:pt x="914400" y="148601"/>
                </a:cubicBezTo>
                <a:cubicBezTo>
                  <a:pt x="885092" y="139809"/>
                  <a:pt x="856343" y="129249"/>
                  <a:pt x="827314" y="119573"/>
                </a:cubicBezTo>
                <a:cubicBezTo>
                  <a:pt x="812800" y="114735"/>
                  <a:pt x="799071" y="105058"/>
                  <a:pt x="783771" y="105058"/>
                </a:cubicBezTo>
                <a:lnTo>
                  <a:pt x="754742" y="119573"/>
                </a:ln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4" name="任意多边形 3"/>
          <p:cNvSpPr/>
          <p:nvPr/>
        </p:nvSpPr>
        <p:spPr>
          <a:xfrm>
            <a:off x="5065713" y="3409950"/>
            <a:ext cx="928688" cy="1525588"/>
          </a:xfrm>
          <a:custGeom>
            <a:avLst/>
            <a:gdLst>
              <a:gd name="connsiteX0" fmla="*/ 551543 w 928914"/>
              <a:gd name="connsiteY0" fmla="*/ 16096 h 1525582"/>
              <a:gd name="connsiteX1" fmla="*/ 261257 w 928914"/>
              <a:gd name="connsiteY1" fmla="*/ 30611 h 1525582"/>
              <a:gd name="connsiteX2" fmla="*/ 217714 w 928914"/>
              <a:gd name="connsiteY2" fmla="*/ 45125 h 1525582"/>
              <a:gd name="connsiteX3" fmla="*/ 174171 w 928914"/>
              <a:gd name="connsiteY3" fmla="*/ 88668 h 1525582"/>
              <a:gd name="connsiteX4" fmla="*/ 101600 w 928914"/>
              <a:gd name="connsiteY4" fmla="*/ 248325 h 1525582"/>
              <a:gd name="connsiteX5" fmla="*/ 72571 w 928914"/>
              <a:gd name="connsiteY5" fmla="*/ 553125 h 1525582"/>
              <a:gd name="connsiteX6" fmla="*/ 58057 w 928914"/>
              <a:gd name="connsiteY6" fmla="*/ 596668 h 1525582"/>
              <a:gd name="connsiteX7" fmla="*/ 29028 w 928914"/>
              <a:gd name="connsiteY7" fmla="*/ 698268 h 1525582"/>
              <a:gd name="connsiteX8" fmla="*/ 14514 w 928914"/>
              <a:gd name="connsiteY8" fmla="*/ 785354 h 1525582"/>
              <a:gd name="connsiteX9" fmla="*/ 0 w 928914"/>
              <a:gd name="connsiteY9" fmla="*/ 857925 h 1525582"/>
              <a:gd name="connsiteX10" fmla="*/ 14514 w 928914"/>
              <a:gd name="connsiteY10" fmla="*/ 1264325 h 1525582"/>
              <a:gd name="connsiteX11" fmla="*/ 29028 w 928914"/>
              <a:gd name="connsiteY11" fmla="*/ 1307868 h 1525582"/>
              <a:gd name="connsiteX12" fmla="*/ 58057 w 928914"/>
              <a:gd name="connsiteY12" fmla="*/ 1423982 h 1525582"/>
              <a:gd name="connsiteX13" fmla="*/ 72571 w 928914"/>
              <a:gd name="connsiteY13" fmla="*/ 1467525 h 1525582"/>
              <a:gd name="connsiteX14" fmla="*/ 159657 w 928914"/>
              <a:gd name="connsiteY14" fmla="*/ 1525582 h 1525582"/>
              <a:gd name="connsiteX15" fmla="*/ 290285 w 928914"/>
              <a:gd name="connsiteY15" fmla="*/ 1511068 h 1525582"/>
              <a:gd name="connsiteX16" fmla="*/ 333828 w 928914"/>
              <a:gd name="connsiteY16" fmla="*/ 1496554 h 1525582"/>
              <a:gd name="connsiteX17" fmla="*/ 449943 w 928914"/>
              <a:gd name="connsiteY17" fmla="*/ 1482039 h 1525582"/>
              <a:gd name="connsiteX18" fmla="*/ 522514 w 928914"/>
              <a:gd name="connsiteY18" fmla="*/ 1453011 h 1525582"/>
              <a:gd name="connsiteX19" fmla="*/ 566057 w 928914"/>
              <a:gd name="connsiteY19" fmla="*/ 1438496 h 1525582"/>
              <a:gd name="connsiteX20" fmla="*/ 667657 w 928914"/>
              <a:gd name="connsiteY20" fmla="*/ 1380439 h 1525582"/>
              <a:gd name="connsiteX21" fmla="*/ 754743 w 928914"/>
              <a:gd name="connsiteY21" fmla="*/ 1293354 h 1525582"/>
              <a:gd name="connsiteX22" fmla="*/ 783771 w 928914"/>
              <a:gd name="connsiteY22" fmla="*/ 1249811 h 1525582"/>
              <a:gd name="connsiteX23" fmla="*/ 812800 w 928914"/>
              <a:gd name="connsiteY23" fmla="*/ 1104668 h 1525582"/>
              <a:gd name="connsiteX24" fmla="*/ 827314 w 928914"/>
              <a:gd name="connsiteY24" fmla="*/ 1046611 h 1525582"/>
              <a:gd name="connsiteX25" fmla="*/ 841828 w 928914"/>
              <a:gd name="connsiteY25" fmla="*/ 872439 h 1525582"/>
              <a:gd name="connsiteX26" fmla="*/ 856343 w 928914"/>
              <a:gd name="connsiteY26" fmla="*/ 654725 h 1525582"/>
              <a:gd name="connsiteX27" fmla="*/ 885371 w 928914"/>
              <a:gd name="connsiteY27" fmla="*/ 509582 h 1525582"/>
              <a:gd name="connsiteX28" fmla="*/ 914400 w 928914"/>
              <a:gd name="connsiteY28" fmla="*/ 364439 h 1525582"/>
              <a:gd name="connsiteX29" fmla="*/ 928914 w 928914"/>
              <a:gd name="connsiteY29" fmla="*/ 320896 h 1525582"/>
              <a:gd name="connsiteX30" fmla="*/ 914400 w 928914"/>
              <a:gd name="connsiteY30" fmla="*/ 175754 h 1525582"/>
              <a:gd name="connsiteX31" fmla="*/ 783771 w 928914"/>
              <a:gd name="connsiteY31" fmla="*/ 103182 h 1525582"/>
              <a:gd name="connsiteX32" fmla="*/ 725714 w 928914"/>
              <a:gd name="connsiteY32" fmla="*/ 74154 h 1525582"/>
              <a:gd name="connsiteX33" fmla="*/ 653143 w 928914"/>
              <a:gd name="connsiteY33" fmla="*/ 59639 h 1525582"/>
              <a:gd name="connsiteX34" fmla="*/ 464457 w 928914"/>
              <a:gd name="connsiteY34" fmla="*/ 16096 h 1525582"/>
              <a:gd name="connsiteX35" fmla="*/ 391885 w 928914"/>
              <a:gd name="connsiteY35" fmla="*/ 1582 h 1525582"/>
              <a:gd name="connsiteX36" fmla="*/ 188685 w 928914"/>
              <a:gd name="connsiteY36" fmla="*/ 1582 h 1525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928914" h="1525582">
                <a:moveTo>
                  <a:pt x="551543" y="16096"/>
                </a:moveTo>
                <a:cubicBezTo>
                  <a:pt x="454781" y="20934"/>
                  <a:pt x="357776" y="22218"/>
                  <a:pt x="261257" y="30611"/>
                </a:cubicBezTo>
                <a:cubicBezTo>
                  <a:pt x="246015" y="31936"/>
                  <a:pt x="230444" y="36638"/>
                  <a:pt x="217714" y="45125"/>
                </a:cubicBezTo>
                <a:cubicBezTo>
                  <a:pt x="200635" y="56511"/>
                  <a:pt x="188685" y="74154"/>
                  <a:pt x="174171" y="88668"/>
                </a:cubicBezTo>
                <a:cubicBezTo>
                  <a:pt x="109272" y="218466"/>
                  <a:pt x="129798" y="163729"/>
                  <a:pt x="101600" y="248325"/>
                </a:cubicBezTo>
                <a:cubicBezTo>
                  <a:pt x="96136" y="319347"/>
                  <a:pt x="87462" y="471222"/>
                  <a:pt x="72571" y="553125"/>
                </a:cubicBezTo>
                <a:cubicBezTo>
                  <a:pt x="69834" y="568178"/>
                  <a:pt x="62260" y="581957"/>
                  <a:pt x="58057" y="596668"/>
                </a:cubicBezTo>
                <a:cubicBezTo>
                  <a:pt x="21615" y="724216"/>
                  <a:pt x="63823" y="593887"/>
                  <a:pt x="29028" y="698268"/>
                </a:cubicBezTo>
                <a:cubicBezTo>
                  <a:pt x="24190" y="727297"/>
                  <a:pt x="19778" y="756400"/>
                  <a:pt x="14514" y="785354"/>
                </a:cubicBezTo>
                <a:cubicBezTo>
                  <a:pt x="10101" y="809625"/>
                  <a:pt x="0" y="833256"/>
                  <a:pt x="0" y="857925"/>
                </a:cubicBezTo>
                <a:cubicBezTo>
                  <a:pt x="0" y="993478"/>
                  <a:pt x="5787" y="1129053"/>
                  <a:pt x="14514" y="1264325"/>
                </a:cubicBezTo>
                <a:cubicBezTo>
                  <a:pt x="15499" y="1279593"/>
                  <a:pt x="25002" y="1293108"/>
                  <a:pt x="29028" y="1307868"/>
                </a:cubicBezTo>
                <a:cubicBezTo>
                  <a:pt x="39525" y="1346358"/>
                  <a:pt x="48381" y="1385277"/>
                  <a:pt x="58057" y="1423982"/>
                </a:cubicBezTo>
                <a:cubicBezTo>
                  <a:pt x="61768" y="1438825"/>
                  <a:pt x="61753" y="1456707"/>
                  <a:pt x="72571" y="1467525"/>
                </a:cubicBezTo>
                <a:cubicBezTo>
                  <a:pt x="97241" y="1492195"/>
                  <a:pt x="159657" y="1525582"/>
                  <a:pt x="159657" y="1525582"/>
                </a:cubicBezTo>
                <a:cubicBezTo>
                  <a:pt x="203200" y="1520744"/>
                  <a:pt x="247070" y="1518270"/>
                  <a:pt x="290285" y="1511068"/>
                </a:cubicBezTo>
                <a:cubicBezTo>
                  <a:pt x="305376" y="1508553"/>
                  <a:pt x="318775" y="1499291"/>
                  <a:pt x="333828" y="1496554"/>
                </a:cubicBezTo>
                <a:cubicBezTo>
                  <a:pt x="372205" y="1489576"/>
                  <a:pt x="411238" y="1486877"/>
                  <a:pt x="449943" y="1482039"/>
                </a:cubicBezTo>
                <a:cubicBezTo>
                  <a:pt x="474133" y="1472363"/>
                  <a:pt x="498119" y="1462159"/>
                  <a:pt x="522514" y="1453011"/>
                </a:cubicBezTo>
                <a:cubicBezTo>
                  <a:pt x="536839" y="1447639"/>
                  <a:pt x="551995" y="1444523"/>
                  <a:pt x="566057" y="1438496"/>
                </a:cubicBezTo>
                <a:cubicBezTo>
                  <a:pt x="617622" y="1416396"/>
                  <a:pt x="623925" y="1409594"/>
                  <a:pt x="667657" y="1380439"/>
                </a:cubicBezTo>
                <a:cubicBezTo>
                  <a:pt x="736067" y="1277822"/>
                  <a:pt x="646724" y="1401372"/>
                  <a:pt x="754743" y="1293354"/>
                </a:cubicBezTo>
                <a:cubicBezTo>
                  <a:pt x="767078" y="1281019"/>
                  <a:pt x="774095" y="1264325"/>
                  <a:pt x="783771" y="1249811"/>
                </a:cubicBezTo>
                <a:cubicBezTo>
                  <a:pt x="813578" y="1160388"/>
                  <a:pt x="786115" y="1251433"/>
                  <a:pt x="812800" y="1104668"/>
                </a:cubicBezTo>
                <a:cubicBezTo>
                  <a:pt x="816368" y="1085042"/>
                  <a:pt x="822476" y="1065963"/>
                  <a:pt x="827314" y="1046611"/>
                </a:cubicBezTo>
                <a:cubicBezTo>
                  <a:pt x="832152" y="988554"/>
                  <a:pt x="837524" y="930538"/>
                  <a:pt x="841828" y="872439"/>
                </a:cubicBezTo>
                <a:cubicBezTo>
                  <a:pt x="847201" y="799905"/>
                  <a:pt x="847677" y="726939"/>
                  <a:pt x="856343" y="654725"/>
                </a:cubicBezTo>
                <a:cubicBezTo>
                  <a:pt x="862222" y="605737"/>
                  <a:pt x="875695" y="557963"/>
                  <a:pt x="885371" y="509582"/>
                </a:cubicBezTo>
                <a:cubicBezTo>
                  <a:pt x="885373" y="509573"/>
                  <a:pt x="914397" y="364447"/>
                  <a:pt x="914400" y="364439"/>
                </a:cubicBezTo>
                <a:lnTo>
                  <a:pt x="928914" y="320896"/>
                </a:lnTo>
                <a:cubicBezTo>
                  <a:pt x="924076" y="272515"/>
                  <a:pt x="928699" y="222226"/>
                  <a:pt x="914400" y="175754"/>
                </a:cubicBezTo>
                <a:cubicBezTo>
                  <a:pt x="899502" y="127335"/>
                  <a:pt x="815375" y="113717"/>
                  <a:pt x="783771" y="103182"/>
                </a:cubicBezTo>
                <a:cubicBezTo>
                  <a:pt x="763245" y="96340"/>
                  <a:pt x="746240" y="80996"/>
                  <a:pt x="725714" y="74154"/>
                </a:cubicBezTo>
                <a:cubicBezTo>
                  <a:pt x="702311" y="66353"/>
                  <a:pt x="676943" y="66130"/>
                  <a:pt x="653143" y="59639"/>
                </a:cubicBezTo>
                <a:cubicBezTo>
                  <a:pt x="438825" y="1188"/>
                  <a:pt x="702312" y="55739"/>
                  <a:pt x="464457" y="16096"/>
                </a:cubicBezTo>
                <a:cubicBezTo>
                  <a:pt x="440123" y="12040"/>
                  <a:pt x="416521" y="2879"/>
                  <a:pt x="391885" y="1582"/>
                </a:cubicBezTo>
                <a:cubicBezTo>
                  <a:pt x="324245" y="-1978"/>
                  <a:pt x="256418" y="1582"/>
                  <a:pt x="188685" y="158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任意多边形 4"/>
          <p:cNvSpPr/>
          <p:nvPr/>
        </p:nvSpPr>
        <p:spPr>
          <a:xfrm>
            <a:off x="6604000" y="3657600"/>
            <a:ext cx="777875" cy="1016000"/>
          </a:xfrm>
          <a:custGeom>
            <a:avLst/>
            <a:gdLst>
              <a:gd name="connsiteX0" fmla="*/ 595086 w 777505"/>
              <a:gd name="connsiteY0" fmla="*/ 72571 h 1016000"/>
              <a:gd name="connsiteX1" fmla="*/ 508000 w 777505"/>
              <a:gd name="connsiteY1" fmla="*/ 43543 h 1016000"/>
              <a:gd name="connsiteX2" fmla="*/ 406400 w 777505"/>
              <a:gd name="connsiteY2" fmla="*/ 29029 h 1016000"/>
              <a:gd name="connsiteX3" fmla="*/ 333829 w 777505"/>
              <a:gd name="connsiteY3" fmla="*/ 14514 h 1016000"/>
              <a:gd name="connsiteX4" fmla="*/ 232229 w 777505"/>
              <a:gd name="connsiteY4" fmla="*/ 0 h 1016000"/>
              <a:gd name="connsiteX5" fmla="*/ 116114 w 777505"/>
              <a:gd name="connsiteY5" fmla="*/ 14514 h 1016000"/>
              <a:gd name="connsiteX6" fmla="*/ 43543 w 777505"/>
              <a:gd name="connsiteY6" fmla="*/ 101600 h 1016000"/>
              <a:gd name="connsiteX7" fmla="*/ 29029 w 777505"/>
              <a:gd name="connsiteY7" fmla="*/ 145143 h 1016000"/>
              <a:gd name="connsiteX8" fmla="*/ 0 w 777505"/>
              <a:gd name="connsiteY8" fmla="*/ 275771 h 1016000"/>
              <a:gd name="connsiteX9" fmla="*/ 14514 w 777505"/>
              <a:gd name="connsiteY9" fmla="*/ 870857 h 1016000"/>
              <a:gd name="connsiteX10" fmla="*/ 72571 w 777505"/>
              <a:gd name="connsiteY10" fmla="*/ 1001486 h 1016000"/>
              <a:gd name="connsiteX11" fmla="*/ 116114 w 777505"/>
              <a:gd name="connsiteY11" fmla="*/ 1016000 h 1016000"/>
              <a:gd name="connsiteX12" fmla="*/ 304800 w 777505"/>
              <a:gd name="connsiteY12" fmla="*/ 986971 h 1016000"/>
              <a:gd name="connsiteX13" fmla="*/ 391886 w 777505"/>
              <a:gd name="connsiteY13" fmla="*/ 928914 h 1016000"/>
              <a:gd name="connsiteX14" fmla="*/ 449943 w 777505"/>
              <a:gd name="connsiteY14" fmla="*/ 899886 h 1016000"/>
              <a:gd name="connsiteX15" fmla="*/ 493486 w 777505"/>
              <a:gd name="connsiteY15" fmla="*/ 870857 h 1016000"/>
              <a:gd name="connsiteX16" fmla="*/ 595086 w 777505"/>
              <a:gd name="connsiteY16" fmla="*/ 812800 h 1016000"/>
              <a:gd name="connsiteX17" fmla="*/ 682171 w 777505"/>
              <a:gd name="connsiteY17" fmla="*/ 740229 h 1016000"/>
              <a:gd name="connsiteX18" fmla="*/ 725714 w 777505"/>
              <a:gd name="connsiteY18" fmla="*/ 638629 h 1016000"/>
              <a:gd name="connsiteX19" fmla="*/ 754743 w 777505"/>
              <a:gd name="connsiteY19" fmla="*/ 551543 h 1016000"/>
              <a:gd name="connsiteX20" fmla="*/ 754743 w 777505"/>
              <a:gd name="connsiteY20" fmla="*/ 232229 h 1016000"/>
              <a:gd name="connsiteX21" fmla="*/ 667657 w 777505"/>
              <a:gd name="connsiteY21" fmla="*/ 174171 h 1016000"/>
              <a:gd name="connsiteX22" fmla="*/ 609600 w 777505"/>
              <a:gd name="connsiteY22" fmla="*/ 130629 h 1016000"/>
              <a:gd name="connsiteX23" fmla="*/ 522514 w 777505"/>
              <a:gd name="connsiteY23" fmla="*/ 101600 h 1016000"/>
              <a:gd name="connsiteX24" fmla="*/ 449943 w 777505"/>
              <a:gd name="connsiteY24" fmla="*/ 87086 h 10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77505" h="1016000">
                <a:moveTo>
                  <a:pt x="595086" y="72571"/>
                </a:moveTo>
                <a:cubicBezTo>
                  <a:pt x="566057" y="62895"/>
                  <a:pt x="537815" y="50423"/>
                  <a:pt x="508000" y="43543"/>
                </a:cubicBezTo>
                <a:cubicBezTo>
                  <a:pt x="474666" y="35851"/>
                  <a:pt x="440145" y="34653"/>
                  <a:pt x="406400" y="29029"/>
                </a:cubicBezTo>
                <a:cubicBezTo>
                  <a:pt x="382066" y="24973"/>
                  <a:pt x="358163" y="18570"/>
                  <a:pt x="333829" y="14514"/>
                </a:cubicBezTo>
                <a:cubicBezTo>
                  <a:pt x="300084" y="8890"/>
                  <a:pt x="266096" y="4838"/>
                  <a:pt x="232229" y="0"/>
                </a:cubicBezTo>
                <a:cubicBezTo>
                  <a:pt x="193524" y="4838"/>
                  <a:pt x="152772" y="1184"/>
                  <a:pt x="116114" y="14514"/>
                </a:cubicBezTo>
                <a:cubicBezTo>
                  <a:pt x="91527" y="23455"/>
                  <a:pt x="57365" y="80866"/>
                  <a:pt x="43543" y="101600"/>
                </a:cubicBezTo>
                <a:cubicBezTo>
                  <a:pt x="38705" y="116114"/>
                  <a:pt x="33232" y="130432"/>
                  <a:pt x="29029" y="145143"/>
                </a:cubicBezTo>
                <a:cubicBezTo>
                  <a:pt x="15361" y="192981"/>
                  <a:pt x="9979" y="225874"/>
                  <a:pt x="0" y="275771"/>
                </a:cubicBezTo>
                <a:cubicBezTo>
                  <a:pt x="4838" y="474133"/>
                  <a:pt x="1875" y="672839"/>
                  <a:pt x="14514" y="870857"/>
                </a:cubicBezTo>
                <a:cubicBezTo>
                  <a:pt x="15826" y="891419"/>
                  <a:pt x="45516" y="979842"/>
                  <a:pt x="72571" y="1001486"/>
                </a:cubicBezTo>
                <a:cubicBezTo>
                  <a:pt x="84518" y="1011043"/>
                  <a:pt x="101600" y="1011162"/>
                  <a:pt x="116114" y="1016000"/>
                </a:cubicBezTo>
                <a:cubicBezTo>
                  <a:pt x="137479" y="1013864"/>
                  <a:pt x="258869" y="1012489"/>
                  <a:pt x="304800" y="986971"/>
                </a:cubicBezTo>
                <a:cubicBezTo>
                  <a:pt x="335298" y="970028"/>
                  <a:pt x="362857" y="948266"/>
                  <a:pt x="391886" y="928914"/>
                </a:cubicBezTo>
                <a:cubicBezTo>
                  <a:pt x="409889" y="916912"/>
                  <a:pt x="431157" y="910621"/>
                  <a:pt x="449943" y="899886"/>
                </a:cubicBezTo>
                <a:cubicBezTo>
                  <a:pt x="465089" y="891231"/>
                  <a:pt x="478340" y="879512"/>
                  <a:pt x="493486" y="870857"/>
                </a:cubicBezTo>
                <a:cubicBezTo>
                  <a:pt x="538660" y="845043"/>
                  <a:pt x="556506" y="844950"/>
                  <a:pt x="595086" y="812800"/>
                </a:cubicBezTo>
                <a:cubicBezTo>
                  <a:pt x="706838" y="719672"/>
                  <a:pt x="574067" y="812299"/>
                  <a:pt x="682171" y="740229"/>
                </a:cubicBezTo>
                <a:cubicBezTo>
                  <a:pt x="728899" y="600052"/>
                  <a:pt x="653965" y="818002"/>
                  <a:pt x="725714" y="638629"/>
                </a:cubicBezTo>
                <a:cubicBezTo>
                  <a:pt x="737078" y="610219"/>
                  <a:pt x="754743" y="551543"/>
                  <a:pt x="754743" y="551543"/>
                </a:cubicBezTo>
                <a:cubicBezTo>
                  <a:pt x="772802" y="443186"/>
                  <a:pt x="795354" y="348260"/>
                  <a:pt x="754743" y="232229"/>
                </a:cubicBezTo>
                <a:cubicBezTo>
                  <a:pt x="743218" y="199299"/>
                  <a:pt x="695568" y="195104"/>
                  <a:pt x="667657" y="174171"/>
                </a:cubicBezTo>
                <a:cubicBezTo>
                  <a:pt x="648305" y="159657"/>
                  <a:pt x="631236" y="141447"/>
                  <a:pt x="609600" y="130629"/>
                </a:cubicBezTo>
                <a:cubicBezTo>
                  <a:pt x="582231" y="116945"/>
                  <a:pt x="551543" y="111276"/>
                  <a:pt x="522514" y="101600"/>
                </a:cubicBezTo>
                <a:cubicBezTo>
                  <a:pt x="469793" y="84026"/>
                  <a:pt x="494270" y="87086"/>
                  <a:pt x="449943" y="8708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9634" name="Group 4"/>
          <p:cNvGrpSpPr/>
          <p:nvPr/>
        </p:nvGrpSpPr>
        <p:grpSpPr>
          <a:xfrm>
            <a:off x="293688" y="1714500"/>
            <a:ext cx="8675687" cy="4608513"/>
            <a:chOff x="2630" y="3069"/>
            <a:chExt cx="7440" cy="4311"/>
          </a:xfrm>
        </p:grpSpPr>
        <p:pic>
          <p:nvPicPr>
            <p:cNvPr id="69639" name="Picture 5" descr="0319"/>
            <p:cNvPicPr>
              <a:picLocks noChangeAspect="1"/>
            </p:cNvPicPr>
            <p:nvPr/>
          </p:nvPicPr>
          <p:blipFill>
            <a:blip r:embed="rId1"/>
            <a:stretch>
              <a:fillRect/>
            </a:stretch>
          </p:blipFill>
          <p:spPr>
            <a:xfrm>
              <a:off x="2630" y="3069"/>
              <a:ext cx="7440" cy="3735"/>
            </a:xfrm>
            <a:prstGeom prst="rect">
              <a:avLst/>
            </a:prstGeom>
            <a:noFill/>
            <a:ln w="9525">
              <a:noFill/>
            </a:ln>
          </p:spPr>
        </p:pic>
        <p:sp>
          <p:nvSpPr>
            <p:cNvPr id="10" name="Text Box 6"/>
            <p:cNvSpPr txBox="1">
              <a:spLocks noChangeArrowheads="1"/>
            </p:cNvSpPr>
            <p:nvPr/>
          </p:nvSpPr>
          <p:spPr bwMode="auto">
            <a:xfrm>
              <a:off x="4130" y="6885"/>
              <a:ext cx="4438" cy="495"/>
            </a:xfrm>
            <a:prstGeom prst="rect">
              <a:avLst/>
            </a:prstGeom>
            <a:noFill/>
            <a:ln w="9525">
              <a:noFill/>
              <a:miter lim="800000"/>
            </a:ln>
            <a:effectLst/>
          </p:spPr>
          <p:txBody>
            <a:bodyPr/>
            <a:lstStyle/>
            <a:p>
              <a:pPr marR="0" algn="ctr" defTabSz="914400">
                <a:buClrTx/>
                <a:buSzTx/>
                <a:buFontTx/>
                <a:buNone/>
                <a:defRPr/>
              </a:pPr>
              <a:r>
                <a:rPr kumimoji="0" lang="zh-CN" altLang="en-US" b="1" kern="1200" cap="none" spc="0" normalizeH="0" baseline="0" noProof="0" dirty="0">
                  <a:solidFill>
                    <a:srgbClr val="3333FF"/>
                  </a:solidFill>
                  <a:effectLst>
                    <a:outerShdw blurRad="38100" dist="38100" dir="2700000" algn="tl">
                      <a:srgbClr val="C0C0C0"/>
                    </a:outerShdw>
                  </a:effectLst>
                  <a:latin typeface="Times New Roman" panose="02020603050405020304" pitchFamily="18" charset="0"/>
                  <a:ea typeface="楷体_GB2312" pitchFamily="49" charset="-122"/>
                  <a:cs typeface="+mn-cs"/>
                </a:rPr>
                <a:t>精化后的数字仪表板系统的软件结构</a:t>
              </a:r>
              <a:endParaRPr kumimoji="0" lang="zh-CN" altLang="en-US" b="1" kern="1200" cap="none" spc="0" normalizeH="0" baseline="0" noProof="0" dirty="0">
                <a:solidFill>
                  <a:srgbClr val="3333FF"/>
                </a:solidFill>
                <a:effectLst>
                  <a:outerShdw blurRad="38100" dist="38100" dir="2700000" algn="tl">
                    <a:srgbClr val="C0C0C0"/>
                  </a:outerShdw>
                </a:effectLst>
                <a:latin typeface="Times New Roman" panose="02020603050405020304" pitchFamily="18" charset="0"/>
                <a:ea typeface="楷体_GB2312" pitchFamily="49" charset="-122"/>
                <a:cs typeface="+mn-cs"/>
              </a:endParaRPr>
            </a:p>
            <a:p>
              <a:pPr marR="0" algn="ctr" defTabSz="914400">
                <a:buClrTx/>
                <a:buSzTx/>
                <a:buFontTx/>
                <a:buNone/>
                <a:defRPr/>
              </a:pPr>
              <a:endParaRPr kumimoji="0" lang="zh-CN" altLang="en-US" sz="2000" kern="1200" cap="none" spc="0" normalizeH="0" baseline="0" noProof="0" dirty="0">
                <a:latin typeface="Times New Roman" panose="02020603050405020304" pitchFamily="18" charset="0"/>
                <a:ea typeface="宋体" panose="02010600030101010101" pitchFamily="2" charset="-122"/>
                <a:cs typeface="+mn-cs"/>
              </a:endParaRPr>
            </a:p>
          </p:txBody>
        </p:sp>
      </p:grpSp>
      <p:sp>
        <p:nvSpPr>
          <p:cNvPr id="5123" name="内容占位符 2"/>
          <p:cNvSpPr>
            <a:spLocks noGrp="1"/>
          </p:cNvSpPr>
          <p:nvPr>
            <p:ph idx="1"/>
          </p:nvPr>
        </p:nvSpPr>
        <p:spPr>
          <a:xfrm>
            <a:off x="428625" y="1214438"/>
            <a:ext cx="8143875" cy="5072063"/>
          </a:xfrm>
        </p:spPr>
        <p:txBody>
          <a:bodyPr vert="horz" wrap="square" lIns="91440" tIns="45720" rIns="91440" bIns="45720" numCol="1" anchor="t" anchorCtr="0" compatLnSpc="1"/>
          <a:lstStyle/>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精化后的数字仪表板系统的软件结构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rPr>
              <a:t>   </a:t>
            </a:r>
            <a:endParaRPr kumimoji="0" lang="en-US" altLang="zh-CN" sz="1800" b="1" i="0" u="none" strike="noStrike" kern="0" cap="none" spc="0" normalizeH="0" baseline="0" noProof="0" dirty="0" smtClean="0">
              <a:ln>
                <a:noFill/>
              </a:ln>
              <a:solidFill>
                <a:schemeClr val="bg2"/>
              </a:solidFill>
              <a:effectLst/>
              <a:uLnTx/>
              <a:uFillTx/>
              <a:latin typeface="仿宋" panose="02010609060101010101" charset="-122"/>
              <a:ea typeface="仿宋" panose="02010609060101010101"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0"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
        <p:nvSpPr>
          <p:cNvPr id="4" name="Freeform 9"/>
          <p:cNvSpPr/>
          <p:nvPr/>
        </p:nvSpPr>
        <p:spPr>
          <a:xfrm>
            <a:off x="2185988" y="3730625"/>
            <a:ext cx="1631950" cy="2160588"/>
          </a:xfrm>
          <a:custGeom>
            <a:avLst/>
            <a:gdLst>
              <a:gd name="txL" fmla="*/ 0 w 945"/>
              <a:gd name="txT" fmla="*/ 0 h 1361"/>
              <a:gd name="txR" fmla="*/ 945 w 945"/>
              <a:gd name="txB" fmla="*/ 1361 h 136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945" h="1361">
                <a:moveTo>
                  <a:pt x="212" y="53"/>
                </a:moveTo>
                <a:cubicBezTo>
                  <a:pt x="121" y="68"/>
                  <a:pt x="136" y="0"/>
                  <a:pt x="121" y="189"/>
                </a:cubicBezTo>
                <a:cubicBezTo>
                  <a:pt x="106" y="378"/>
                  <a:pt x="0" y="1013"/>
                  <a:pt x="121" y="1187"/>
                </a:cubicBezTo>
                <a:cubicBezTo>
                  <a:pt x="242" y="1361"/>
                  <a:pt x="749" y="1331"/>
                  <a:pt x="847" y="1233"/>
                </a:cubicBezTo>
                <a:cubicBezTo>
                  <a:pt x="945" y="1135"/>
                  <a:pt x="741" y="787"/>
                  <a:pt x="711" y="598"/>
                </a:cubicBezTo>
                <a:cubicBezTo>
                  <a:pt x="681" y="409"/>
                  <a:pt x="757" y="190"/>
                  <a:pt x="666" y="99"/>
                </a:cubicBezTo>
                <a:cubicBezTo>
                  <a:pt x="575" y="8"/>
                  <a:pt x="303" y="38"/>
                  <a:pt x="212" y="53"/>
                </a:cubicBezTo>
                <a:close/>
              </a:path>
            </a:pathLst>
          </a:custGeom>
          <a:noFill/>
          <a:ln w="9525" cap="flat" cmpd="sng">
            <a:solidFill>
              <a:srgbClr val="FF0000">
                <a:alpha val="100000"/>
              </a:srgbClr>
            </a:solidFill>
            <a:prstDash val="solid"/>
            <a:round/>
            <a:headEnd type="none" w="med" len="med"/>
            <a:tailEnd type="none" w="med" len="med"/>
          </a:ln>
        </p:spPr>
        <p:txBody>
          <a:bodyPr/>
          <a:p>
            <a:endParaRPr lang="zh-CN" altLang="en-US"/>
          </a:p>
        </p:txBody>
      </p:sp>
      <p:sp>
        <p:nvSpPr>
          <p:cNvPr id="5" name="Freeform 10"/>
          <p:cNvSpPr/>
          <p:nvPr/>
        </p:nvSpPr>
        <p:spPr>
          <a:xfrm>
            <a:off x="5059363" y="3778250"/>
            <a:ext cx="1595437" cy="2279650"/>
          </a:xfrm>
          <a:custGeom>
            <a:avLst/>
            <a:gdLst>
              <a:gd name="txL" fmla="*/ 0 w 1005"/>
              <a:gd name="txT" fmla="*/ 0 h 1436"/>
              <a:gd name="txR" fmla="*/ 1005 w 1005"/>
              <a:gd name="txB" fmla="*/ 1436 h 1436"/>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005" h="1436">
                <a:moveTo>
                  <a:pt x="219" y="106"/>
                </a:moveTo>
                <a:cubicBezTo>
                  <a:pt x="113" y="212"/>
                  <a:pt x="143" y="545"/>
                  <a:pt x="128" y="741"/>
                </a:cubicBezTo>
                <a:cubicBezTo>
                  <a:pt x="113" y="937"/>
                  <a:pt x="0" y="1187"/>
                  <a:pt x="128" y="1285"/>
                </a:cubicBezTo>
                <a:cubicBezTo>
                  <a:pt x="256" y="1383"/>
                  <a:pt x="793" y="1436"/>
                  <a:pt x="899" y="1330"/>
                </a:cubicBezTo>
                <a:cubicBezTo>
                  <a:pt x="1005" y="1224"/>
                  <a:pt x="786" y="854"/>
                  <a:pt x="763" y="650"/>
                </a:cubicBezTo>
                <a:cubicBezTo>
                  <a:pt x="740" y="446"/>
                  <a:pt x="854" y="197"/>
                  <a:pt x="763" y="106"/>
                </a:cubicBezTo>
                <a:cubicBezTo>
                  <a:pt x="672" y="15"/>
                  <a:pt x="325" y="0"/>
                  <a:pt x="219" y="106"/>
                </a:cubicBezTo>
                <a:close/>
              </a:path>
            </a:pathLst>
          </a:custGeom>
          <a:noFill/>
          <a:ln w="9525" cap="flat" cmpd="sng">
            <a:solidFill>
              <a:srgbClr val="FF0000">
                <a:alpha val="100000"/>
              </a:srgbClr>
            </a:solidFill>
            <a:prstDash val="solid"/>
            <a:round/>
            <a:headEnd type="none" w="med" len="med"/>
            <a:tailEnd type="none" w="med" len="med"/>
          </a:ln>
        </p:spPr>
        <p:txBody>
          <a:bodyPr/>
          <a:p>
            <a:endParaRPr lang="zh-CN" altLang="en-US"/>
          </a:p>
        </p:txBody>
      </p:sp>
      <p:sp>
        <p:nvSpPr>
          <p:cNvPr id="6" name="任意多边形 5"/>
          <p:cNvSpPr/>
          <p:nvPr/>
        </p:nvSpPr>
        <p:spPr>
          <a:xfrm>
            <a:off x="71438" y="3643313"/>
            <a:ext cx="1189037" cy="1208087"/>
          </a:xfrm>
          <a:custGeom>
            <a:avLst/>
            <a:gdLst>
              <a:gd name="txL" fmla="*/ 0 w 1187986"/>
              <a:gd name="txT" fmla="*/ 0 h 1208183"/>
              <a:gd name="txR" fmla="*/ 1187986 w 1187986"/>
              <a:gd name="txB" fmla="*/ 1208183 h 1208183"/>
            </a:gdLst>
            <a:ahLst/>
            <a:cxnLst>
              <a:cxn ang="0">
                <a:pos x="109974" y="324555"/>
              </a:cxn>
              <a:cxn ang="0">
                <a:pos x="210628" y="49508"/>
              </a:cxn>
              <a:cxn ang="0">
                <a:pos x="534958" y="27508"/>
              </a:cxn>
              <a:cxn ang="0">
                <a:pos x="948755" y="60507"/>
              </a:cxn>
              <a:cxn ang="0">
                <a:pos x="1161250" y="247539"/>
              </a:cxn>
              <a:cxn ang="0">
                <a:pos x="1194799" y="709634"/>
              </a:cxn>
              <a:cxn ang="0">
                <a:pos x="1183614" y="940673"/>
              </a:cxn>
              <a:cxn ang="0">
                <a:pos x="1060594" y="1138708"/>
              </a:cxn>
              <a:cxn ang="0">
                <a:pos x="803367" y="1204721"/>
              </a:cxn>
              <a:cxn ang="0">
                <a:pos x="288913" y="1149721"/>
              </a:cxn>
              <a:cxn ang="0">
                <a:pos x="132343" y="1006689"/>
              </a:cxn>
              <a:cxn ang="0">
                <a:pos x="9317" y="753641"/>
              </a:cxn>
              <a:cxn ang="0">
                <a:pos x="76423" y="412571"/>
              </a:cxn>
              <a:cxn ang="0">
                <a:pos x="109974" y="324555"/>
              </a:cxn>
            </a:cxnLst>
            <a:rect l="txL" t="txT" r="txR" b="txB"/>
            <a:pathLst>
              <a:path w="1187986" h="1208183">
                <a:moveTo>
                  <a:pt x="108333" y="324997"/>
                </a:moveTo>
                <a:cubicBezTo>
                  <a:pt x="130367" y="264404"/>
                  <a:pt x="137712" y="99152"/>
                  <a:pt x="207485" y="49576"/>
                </a:cubicBezTo>
                <a:cubicBezTo>
                  <a:pt x="277259" y="0"/>
                  <a:pt x="405789" y="25706"/>
                  <a:pt x="526974" y="27542"/>
                </a:cubicBezTo>
                <a:cubicBezTo>
                  <a:pt x="648159" y="29378"/>
                  <a:pt x="831774" y="23869"/>
                  <a:pt x="934598" y="60592"/>
                </a:cubicBezTo>
                <a:cubicBezTo>
                  <a:pt x="1037422" y="97315"/>
                  <a:pt x="1103524" y="139546"/>
                  <a:pt x="1143919" y="247879"/>
                </a:cubicBezTo>
                <a:cubicBezTo>
                  <a:pt x="1184314" y="356212"/>
                  <a:pt x="1173297" y="594911"/>
                  <a:pt x="1176969" y="710588"/>
                </a:cubicBezTo>
                <a:cubicBezTo>
                  <a:pt x="1180641" y="826265"/>
                  <a:pt x="1187986" y="870333"/>
                  <a:pt x="1165952" y="941942"/>
                </a:cubicBezTo>
                <a:cubicBezTo>
                  <a:pt x="1143918" y="1013551"/>
                  <a:pt x="1107196" y="1096178"/>
                  <a:pt x="1044767" y="1140245"/>
                </a:cubicBezTo>
                <a:cubicBezTo>
                  <a:pt x="982338" y="1184312"/>
                  <a:pt x="918073" y="1204511"/>
                  <a:pt x="791379" y="1206347"/>
                </a:cubicBezTo>
                <a:cubicBezTo>
                  <a:pt x="664685" y="1208183"/>
                  <a:pt x="394772" y="1184313"/>
                  <a:pt x="284603" y="1151262"/>
                </a:cubicBezTo>
                <a:cubicBezTo>
                  <a:pt x="174434" y="1118211"/>
                  <a:pt x="176271" y="1074144"/>
                  <a:pt x="130367" y="1008043"/>
                </a:cubicBezTo>
                <a:cubicBezTo>
                  <a:pt x="84463" y="941942"/>
                  <a:pt x="18362" y="853807"/>
                  <a:pt x="9181" y="754655"/>
                </a:cubicBezTo>
                <a:cubicBezTo>
                  <a:pt x="0" y="655503"/>
                  <a:pt x="55085" y="486578"/>
                  <a:pt x="75283" y="413132"/>
                </a:cubicBezTo>
                <a:cubicBezTo>
                  <a:pt x="95481" y="339686"/>
                  <a:pt x="86299" y="385590"/>
                  <a:pt x="108333" y="324997"/>
                </a:cubicBezTo>
                <a:close/>
              </a:path>
            </a:pathLst>
          </a:custGeom>
          <a:noFill/>
          <a:ln w="9525" cap="flat" cmpd="sng">
            <a:solidFill>
              <a:srgbClr val="FF0000">
                <a:alpha val="100000"/>
              </a:srgbClr>
            </a:solidFill>
            <a:prstDash val="solid"/>
            <a:round/>
            <a:headEnd type="none" w="med" len="med"/>
            <a:tailEnd type="none" w="med" len="med"/>
          </a:ln>
        </p:spPr>
        <p:txBody>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8" presetClass="entr" presetSubtype="1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amond(in)">
                                      <p:cBhvr>
                                        <p:cTn id="10" dur="2000"/>
                                        <p:tgtEl>
                                          <p:spTgt spid="4"/>
                                        </p:tgtEl>
                                      </p:cBhvr>
                                    </p:animEffect>
                                  </p:childTnLst>
                                </p:cTn>
                              </p:par>
                            </p:childTnLst>
                          </p:cTn>
                        </p:par>
                        <p:par>
                          <p:cTn id="11" fill="hold">
                            <p:stCondLst>
                              <p:cond delay="2000"/>
                            </p:stCondLst>
                            <p:childTnLst>
                              <p:par>
                                <p:cTn id="12" presetID="3" presetClass="entr" presetSubtype="1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linds(horizontal)">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三、事务分析</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事务分析的设计步骤和变换分析的设计步骤大部分相同或类似，主要差别仅在由数据流程图到软件结构的映射方法不同。由事务流映射成的软件结构包括一个接收分支和一个发送分支：</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映射出接收分支结构的方法和变换分析映射出输入结构的方法相似，即从事务中心的边界开始，把沿着接收流通路的处理逻辑映射成模块。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发送分支的结构包含一个调度模块，它控制下层的所有活动模块；然后把数据流程图中的每一个活动流通路映射成与它的特征相对应的结构。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事务分析的映射方法</a:t>
            </a: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l"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pic>
        <p:nvPicPr>
          <p:cNvPr id="71683" name="Picture 2" descr="rj57"/>
          <p:cNvPicPr>
            <a:picLocks noChangeAspect="1"/>
          </p:cNvPicPr>
          <p:nvPr/>
        </p:nvPicPr>
        <p:blipFill>
          <a:blip r:embed="rId1"/>
          <a:stretch>
            <a:fillRect/>
          </a:stretch>
        </p:blipFill>
        <p:spPr>
          <a:xfrm>
            <a:off x="1643063" y="1857375"/>
            <a:ext cx="6072187" cy="4714875"/>
          </a:xfrm>
          <a:prstGeom prst="rect">
            <a:avLst/>
          </a:prstGeom>
          <a:noFill/>
          <a:ln w="9525">
            <a:no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四、设计优化</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80000"/>
              <a:buFont typeface="Wingdings" panose="05000000000000000000" pitchFamily="2" charset="2"/>
              <a:buNone/>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考虑设计优化问题时应该记住，“一个不能工作的‘最佳设计’的价值是值得怀疑的”。软件设计人员应该致力于开发能够满足所有功能和性能要求，而且按照设计原理和总体设计准则衡量是值得接收的软件。应该在设计的早期阶段尽量对软件结构进行精化。可以导出不同的软件结构，然后对它们进行评价和比较，力求得到“最好”的结果。</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3" name="内容占位符 2"/>
          <p:cNvSpPr>
            <a:spLocks noGrp="1"/>
          </p:cNvSpPr>
          <p:nvPr>
            <p:ph idx="1"/>
          </p:nvPr>
        </p:nvSpPr>
        <p:spPr>
          <a:xfrm>
            <a:off x="428625" y="1214438"/>
            <a:ext cx="8143875" cy="4286250"/>
          </a:xfrm>
        </p:spPr>
        <p:txBody>
          <a:bodyPr vert="horz" wrap="square" lIns="91440" tIns="45720" rIns="91440" bIns="45720" numCol="1" anchor="t" anchorCtr="0" compatLnSpc="1"/>
          <a:lstStyle/>
          <a:p>
            <a:pPr marL="0" marR="0" lvl="0" indent="-342900" algn="l" defTabSz="914400" rtl="0" eaLnBrk="1" fontAlgn="base" latinLnBrk="0" hangingPunct="1">
              <a:lnSpc>
                <a:spcPct val="120000"/>
              </a:lnSpc>
              <a:spcBef>
                <a:spcPct val="20000"/>
              </a:spcBef>
              <a:spcAft>
                <a:spcPct val="0"/>
              </a:spcAft>
              <a:buClr>
                <a:srgbClr val="A50021"/>
              </a:buClr>
              <a:buSzTx/>
              <a:buFont typeface="Wingdings" panose="05000000000000000000" pitchFamily="2" charset="2"/>
              <a:buNone/>
              <a:defRPr/>
            </a:pPr>
            <a:r>
              <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rPr>
              <a:t>五、面向数据流设计小结</a:t>
            </a:r>
            <a:endParaRPr kumimoji="0" lang="zh-CN" altLang="en-US" sz="2400" b="1" i="0" u="none" strike="noStrike" kern="0" cap="none" spc="0" normalizeH="0" baseline="0" noProof="0" dirty="0" smtClean="0">
              <a:ln>
                <a:noFill/>
              </a:ln>
              <a:solidFill>
                <a:srgbClr val="1E587C"/>
              </a:solidFill>
              <a:effectLst/>
              <a:uLnTx/>
              <a:uFillTx/>
              <a:latin typeface="黑体" panose="02010609060101010101" pitchFamily="49" charset="-122"/>
              <a:ea typeface="黑体" panose="02010609060101010101" pitchFamily="49"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对于一个大系统，常常把变换分析和事务分析应用到同一个数据流图的不同部分，由此得到的子结构形成“构件”，可以利用它们构造完整的软件结构；</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应该灵活运用，合并不必要的控制模块，分解功能过分复杂的控制模块。</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a:p>
            <a:pPr marL="0" marR="0" lvl="0" indent="363855" algn="just" defTabSz="914400" rtl="0" eaLnBrk="1" fontAlgn="base" latinLnBrk="0" hangingPunct="1">
              <a:lnSpc>
                <a:spcPct val="120000"/>
              </a:lnSpc>
              <a:spcBef>
                <a:spcPct val="20000"/>
              </a:spcBef>
              <a:spcAft>
                <a:spcPct val="0"/>
              </a:spcAft>
              <a:buClr>
                <a:srgbClr val="A50021"/>
              </a:buClr>
              <a:buSzPct val="60000"/>
              <a:buFont typeface="Wingdings" panose="05000000000000000000" pitchFamily="2" charset="2"/>
              <a:buChar char="l"/>
              <a:defRPr/>
            </a:pP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由于任何软件系统都可以用数据流图表示，因此，面向数据流的设计方法理论上可以设计任何软件的结构。通常所说的结构化设计方法（简称</a:t>
            </a:r>
            <a:r>
              <a:rPr kumimoji="0" lang="en-US" altLang="zh-CN"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SD</a:t>
            </a:r>
            <a:r>
              <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rPr>
              <a:t>方法）也是基于数据流的设计方法。</a:t>
            </a:r>
            <a:endParaRPr kumimoji="0" lang="zh-CN" altLang="en-US" sz="2200" b="1" i="0" u="none" strike="noStrike" kern="0" cap="none" spc="0" normalizeH="0" baseline="0" noProof="0" dirty="0" smtClean="0">
              <a:ln>
                <a:noFill/>
              </a:ln>
              <a:solidFill>
                <a:schemeClr val="bg2"/>
              </a:solidFill>
              <a:effectLst/>
              <a:uLnTx/>
              <a:uFillTx/>
              <a:latin typeface="宋体" panose="02010600030101010101" pitchFamily="2" charset="-122"/>
              <a:ea typeface="宋体" panose="02010600030101010101" pitchFamily="2" charset="-122"/>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灯片编号占位符 3"/>
          <p:cNvSpPr txBox="1">
            <a:spLocks noGrp="1"/>
          </p:cNvSpPr>
          <p:nvPr>
            <p:ph type="sldNum" sz="quarter" idx="12"/>
          </p:nvPr>
        </p:nvSpPr>
        <p:spPr>
          <a:xfrm>
            <a:off x="8328025" y="6529388"/>
            <a:ext cx="673100" cy="152400"/>
          </a:xfrm>
          <a:ln/>
        </p:spPr>
        <p:txBody>
          <a:bodyPr/>
          <a:p>
            <a:pPr marL="0" indent="0" eaLnBrk="1" hangingPunct="1">
              <a:spcBef>
                <a:spcPct val="0"/>
              </a:spcBef>
              <a:buClrTx/>
              <a:buFontTx/>
              <a:buNone/>
            </a:pPr>
            <a:fld id="{9A0DB2DC-4C9A-4742-B13C-FB6460FD3503}" type="slidenum">
              <a:rPr lang="en-US" altLang="en-US" sz="1400" dirty="0">
                <a:solidFill>
                  <a:schemeClr val="tx1"/>
                </a:solidFill>
                <a:latin typeface="Arial" panose="020B0604020202020204" pitchFamily="34" charset="0"/>
                <a:ea typeface="宋体" panose="02010600030101010101" pitchFamily="2" charset="-122"/>
              </a:rPr>
            </a:fld>
            <a:endParaRPr lang="en-US" altLang="en-US" sz="1400" dirty="0">
              <a:solidFill>
                <a:schemeClr val="tx1"/>
              </a:solidFill>
              <a:latin typeface="Arial" panose="020B0604020202020204" pitchFamily="34" charset="0"/>
              <a:ea typeface="宋体" panose="02010600030101010101" pitchFamily="2" charset="-122"/>
            </a:endParaRPr>
          </a:p>
        </p:txBody>
      </p:sp>
      <p:pic>
        <p:nvPicPr>
          <p:cNvPr id="74755" name="Picture 2" descr="ThankYou_Graphic_White"/>
          <p:cNvPicPr>
            <a:picLocks noChangeAspect="1"/>
          </p:cNvPicPr>
          <p:nvPr/>
        </p:nvPicPr>
        <p:blipFill>
          <a:blip r:embed="rId1">
            <a:lum bright="17999" contrast="-6000"/>
          </a:blip>
          <a:stretch>
            <a:fillRect/>
          </a:stretch>
        </p:blipFill>
        <p:spPr>
          <a:xfrm>
            <a:off x="725488" y="1300163"/>
            <a:ext cx="7515225" cy="4105275"/>
          </a:xfrm>
          <a:prstGeom prst="rect">
            <a:avLst/>
          </a:prstGeom>
          <a:noFill/>
          <a:ln w="9525">
            <a:noFill/>
          </a:ln>
        </p:spPr>
      </p:pic>
      <p:sp>
        <p:nvSpPr>
          <p:cNvPr id="1543171" name="AutoShape 3"/>
          <p:cNvSpPr/>
          <p:nvPr/>
        </p:nvSpPr>
        <p:spPr>
          <a:xfrm>
            <a:off x="7848600" y="1854200"/>
            <a:ext cx="279400" cy="279400"/>
          </a:xfrm>
          <a:prstGeom prst="star4">
            <a:avLst>
              <a:gd name="adj" fmla="val 12500"/>
            </a:avLst>
          </a:prstGeom>
          <a:solidFill>
            <a:schemeClr val="bg1"/>
          </a:solidFill>
          <a:ln w="9525" cap="flat" cmpd="sng">
            <a:solidFill>
              <a:schemeClr val="tx2"/>
            </a:solidFill>
            <a:prstDash val="solid"/>
            <a:miter/>
            <a:headEnd type="none" w="med" len="med"/>
            <a:tailEnd type="none" w="med" len="med"/>
          </a:ln>
        </p:spPr>
        <p:txBody>
          <a:bodyPr wrap="none" anchor="ctr" anchorCtr="0">
            <a:spAutoFit/>
          </a:bodyPr>
          <a:lstStyle>
            <a:lvl1pPr marL="342900" indent="-342900" algn="l" rtl="0" eaLnBrk="0" fontAlgn="base" hangingPunct="0">
              <a:spcBef>
                <a:spcPct val="20000"/>
              </a:spcBef>
              <a:spcAft>
                <a:spcPct val="0"/>
              </a:spcAft>
              <a:buClr>
                <a:srgbClr val="A50021"/>
              </a:buClr>
              <a:buFont typeface="Wingdings" panose="05000000000000000000" pitchFamily="2" charset="2"/>
              <a:buChar char="•"/>
              <a:defRPr sz="2800">
                <a:solidFill>
                  <a:schemeClr val="bg2"/>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q"/>
              <a:defRPr sz="2400">
                <a:solidFill>
                  <a:schemeClr val="bg2"/>
                </a:solidFill>
                <a:latin typeface="+mn-lt"/>
              </a:defRPr>
            </a:lvl2pPr>
            <a:lvl3pPr marL="11430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3pPr>
            <a:lvl4pPr marL="1600200" indent="-228600" algn="l" rtl="0" eaLnBrk="0" fontAlgn="base" hangingPunct="0">
              <a:spcBef>
                <a:spcPct val="20000"/>
              </a:spcBef>
              <a:spcAft>
                <a:spcPct val="0"/>
              </a:spcAft>
              <a:buClr>
                <a:srgbClr val="A50021"/>
              </a:buClr>
              <a:buFont typeface="Wingdings" panose="05000000000000000000" pitchFamily="2" charset="2"/>
              <a:buChar char="q"/>
              <a:defRPr sz="2000">
                <a:solidFill>
                  <a:schemeClr val="bg2"/>
                </a:solidFill>
                <a:latin typeface="+mn-lt"/>
              </a:defRPr>
            </a:lvl4pPr>
            <a:lvl5pPr marL="2057400" indent="-228600" algn="l" rtl="0" eaLnBrk="0" fontAlgn="base" hangingPunct="0">
              <a:spcBef>
                <a:spcPct val="20000"/>
              </a:spcBef>
              <a:spcAft>
                <a:spcPct val="0"/>
              </a:spcAft>
              <a:buClr>
                <a:srgbClr val="A50021"/>
              </a:buClr>
              <a:buFont typeface="Wingdings" panose="05000000000000000000" pitchFamily="2" charset="2"/>
              <a:buChar char="q"/>
              <a:defRPr sz="1600">
                <a:solidFill>
                  <a:schemeClr val="bg2"/>
                </a:solidFill>
                <a:latin typeface="+mn-lt"/>
              </a:defRPr>
            </a:lvl5pPr>
          </a:lstStyle>
          <a:p>
            <a:pPr marL="0" lvl="0" indent="0" algn="ctr" eaLnBrk="1" hangingPunct="1">
              <a:lnSpc>
                <a:spcPct val="90000"/>
              </a:lnSpc>
              <a:spcBef>
                <a:spcPct val="0"/>
              </a:spcBef>
              <a:buClr>
                <a:schemeClr val="accent2"/>
              </a:buClr>
              <a:buNone/>
            </a:pPr>
            <a:endParaRPr lang="zh-CN" altLang="en-US" sz="1800" dirty="0">
              <a:solidFill>
                <a:schemeClr val="tx1"/>
              </a:solidFill>
              <a:ea typeface="宋体" panose="02010600030101010101"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grpId="0" nodeType="afterEffect">
                                  <p:stCondLst>
                                    <p:cond delay="0"/>
                                  </p:stCondLst>
                                  <p:childTnLst>
                                    <p:set>
                                      <p:cBhvr>
                                        <p:cTn id="6" dur="1" fill="hold">
                                          <p:stCondLst>
                                            <p:cond delay="0"/>
                                          </p:stCondLst>
                                        </p:cTn>
                                        <p:tgtEl>
                                          <p:spTgt spid="1543171"/>
                                        </p:tgtEl>
                                        <p:attrNameLst>
                                          <p:attrName>style.visibility</p:attrName>
                                        </p:attrNameLst>
                                      </p:cBhvr>
                                      <p:to>
                                        <p:strVal val="visible"/>
                                      </p:to>
                                    </p:set>
                                    <p:anim calcmode="lin" valueType="num">
                                      <p:cBhvr>
                                        <p:cTn id="7" dur="5000" fill="hold"/>
                                        <p:tgtEl>
                                          <p:spTgt spid="1543171"/>
                                        </p:tgtEl>
                                        <p:attrNameLst>
                                          <p:attrName>ppt_w</p:attrName>
                                        </p:attrNameLst>
                                      </p:cBhvr>
                                      <p:tavLst>
                                        <p:tav tm="0" fmla="#ppt_w*sin(2.5*pi*$)">
                                          <p:val>
                                            <p:fltVal val="0.000000"/>
                                          </p:val>
                                        </p:tav>
                                        <p:tav tm="100000">
                                          <p:val>
                                            <p:fltVal val="1.000000"/>
                                          </p:val>
                                        </p:tav>
                                      </p:tavLst>
                                    </p:anim>
                                    <p:anim calcmode="lin" valueType="num">
                                      <p:cBhvr>
                                        <p:cTn id="8" dur="5000" fill="hold"/>
                                        <p:tgtEl>
                                          <p:spTgt spid="15431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3171" grpId="0" animBg="1"/>
    </p:bldLst>
  </p:timing>
</p:sld>
</file>

<file path=ppt/tags/tag1.xml><?xml version="1.0" encoding="utf-8"?>
<p:tagLst xmlns:p="http://schemas.openxmlformats.org/presentationml/2006/main">
  <p:tag name="commondata" val="eyJoZGlkIjoiNzkwNDM3YzQ0ZDhkY2VjMjU5MWM0ZGUyYTM4ZWE3YTIifQ=="/>
</p:tagLst>
</file>

<file path=ppt/theme/theme1.xml><?xml version="1.0" encoding="utf-8"?>
<a:theme xmlns:a="http://schemas.openxmlformats.org/drawingml/2006/main" name="CHS Template">
  <a:themeElements>
    <a:clrScheme name="默认设计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fontScheme name="默认设计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默认设计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默认设计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默认设计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CHS Template</Template>
  <TotalTime>0</TotalTime>
  <Words>7906</Words>
  <Application>WPS 演示</Application>
  <PresentationFormat>全屏显示(4:3)</PresentationFormat>
  <Paragraphs>724</Paragraphs>
  <Slides>68</Slides>
  <Notes>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68</vt:i4>
      </vt:variant>
    </vt:vector>
  </HeadingPairs>
  <TitlesOfParts>
    <vt:vector size="85" baseType="lpstr">
      <vt:lpstr>Arial</vt:lpstr>
      <vt:lpstr>宋体</vt:lpstr>
      <vt:lpstr>Wingdings</vt:lpstr>
      <vt:lpstr>Times New Roman</vt:lpstr>
      <vt:lpstr>黑体</vt:lpstr>
      <vt:lpstr>Calibri</vt:lpstr>
      <vt:lpstr>仿宋_GB2312</vt:lpstr>
      <vt:lpstr>仿宋</vt:lpstr>
      <vt:lpstr>楷体_GB2312</vt:lpstr>
      <vt:lpstr>新宋体</vt:lpstr>
      <vt:lpstr>微软雅黑</vt:lpstr>
      <vt:lpstr>Arial Unicode MS</vt:lpstr>
      <vt:lpstr>CHS Template</vt:lpstr>
      <vt:lpstr>MS_ClipArt_Gallery.2</vt:lpstr>
      <vt:lpstr>MS_ClipArt_Gallery.2</vt:lpstr>
      <vt:lpstr>MS_ClipArt_Gallery.2</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中国石油大学教育发展中心</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upol</dc:creator>
  <cp:lastModifiedBy>VRChe</cp:lastModifiedBy>
  <cp:revision>480</cp:revision>
  <dcterms:created xsi:type="dcterms:W3CDTF">2012-04-17T06:46:03Z</dcterms:created>
  <dcterms:modified xsi:type="dcterms:W3CDTF">2024-09-18T13:51:50Z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TC010596822052</vt:lpwstr>
  </property>
  <property fmtid="{D5CDD505-2E9C-101B-9397-08002B2CF9AE}" pid="3" name="ICV">
    <vt:lpwstr>F45858BF4F3A475EA659CD2364DD65E9_12</vt:lpwstr>
  </property>
  <property fmtid="{D5CDD505-2E9C-101B-9397-08002B2CF9AE}" pid="4" name="KSOProductBuildVer">
    <vt:lpwstr>2052-12.1.0.17857</vt:lpwstr>
  </property>
</Properties>
</file>